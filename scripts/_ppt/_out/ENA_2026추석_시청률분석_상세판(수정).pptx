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7" r:id="rId51"/>
    <p:sldId id="308" r:id="rId52"/>
    <p:sldId id="306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363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65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95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66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9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88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3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45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13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00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07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3D77B-03D9-4D18-939F-65B86E7B55B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9FE29-94BE-49D1-95D9-D280ED9D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614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bc.com/broad/enews/view.html?idx=519273" TargetMode="External"/><Relationship Id="rId3" Type="http://schemas.openxmlformats.org/officeDocument/2006/relationships/hyperlink" Target="https://www.edaily.co.kr/News/Read?mediaCodeNo=257&amp;newsId=01354646645584384" TargetMode="External"/><Relationship Id="rId7" Type="http://schemas.openxmlformats.org/officeDocument/2006/relationships/hyperlink" Target="https://www.newsis.com/view/NISX20260927_000380420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etoday.co.kr/news/view/2628325" TargetMode="External"/><Relationship Id="rId5" Type="http://schemas.openxmlformats.org/officeDocument/2006/relationships/hyperlink" Target="https://www.etoday.co.kr/news/view/2628407" TargetMode="External"/><Relationship Id="rId10" Type="http://schemas.openxmlformats.org/officeDocument/2006/relationships/hyperlink" Target="https://nielsenkorea.co.kr/tv_terrestrial_day.asp?area=01&amp;sub_menu=1_1" TargetMode="External"/><Relationship Id="rId4" Type="http://schemas.openxmlformats.org/officeDocument/2006/relationships/hyperlink" Target="https://www.news1.kr/entertain/broadcast-tv/6301566" TargetMode="External"/><Relationship Id="rId9" Type="http://schemas.openxmlformats.org/officeDocument/2006/relationships/hyperlink" Target="https://enews.imbc.com/M/Detail/519332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bc.com/broad/enews/view.html?idx=519273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nielsenkorea.co.kr/tv_terrestrial_day.asp?area=01&amp;sub_menu=1_1" TargetMode="External"/><Relationship Id="rId4" Type="http://schemas.openxmlformats.org/officeDocument/2006/relationships/hyperlink" Target="https://enews.imbc.com/M/Detail/519332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325" y="876300"/>
            <a:ext cx="2857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mtClean="0">
                <a:solidFill>
                  <a:srgbClr val="FFFFFF"/>
                </a:solidFill>
                <a:latin typeface="KT Flow Thin" pitchFamily="2" charset="-127"/>
                <a:ea typeface="KT Flow Thin" pitchFamily="2" charset="-127"/>
                <a:sym typeface="KT Flow Thin" pitchFamily="2" charset="-127"/>
              </a:rPr>
              <a:t>매일 새로운</a:t>
            </a:r>
            <a:endParaRPr lang="ko-KR" altLang="en-US">
              <a:solidFill>
                <a:srgbClr val="FFFFFF"/>
              </a:solidFill>
              <a:latin typeface="KT Flow Thin" pitchFamily="2" charset="-127"/>
              <a:ea typeface="KT Flow Thin" pitchFamily="2" charset="-127"/>
              <a:sym typeface="KT Flow Thin" pitchFamily="2" charset="-127"/>
            </a:endParaRPr>
          </a:p>
        </p:txBody>
      </p:sp>
      <p:pic>
        <p:nvPicPr>
          <p:cNvPr id="4" name="그림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904875"/>
            <a:ext cx="747713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" y="1333500"/>
            <a:ext cx="9525000" cy="1428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ko-KR" sz="4350" spc="-1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2026 </a:t>
            </a:r>
            <a:r>
              <a:rPr lang="ko-KR" altLang="en-US" sz="4350" spc="-1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추석 연휴기간</a:t>
            </a:r>
          </a:p>
          <a:p>
            <a:pPr>
              <a:lnSpc>
                <a:spcPct val="106000"/>
              </a:lnSpc>
            </a:pPr>
            <a:r>
              <a:rPr lang="ko-KR" altLang="en-US" sz="4350" spc="-1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시청률 분석</a:t>
            </a:r>
            <a:endParaRPr lang="ko-KR" altLang="en-US" sz="4350" spc="-1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325" y="2838450"/>
            <a:ext cx="95250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특집 성과 → 당사 </a:t>
            </a:r>
            <a:r>
              <a:rPr lang="en-US" altLang="ko-KR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효과 → 다음 명절 수급</a:t>
            </a:r>
            <a:r>
              <a:rPr lang="en-US" altLang="ko-KR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전략</a:t>
            </a:r>
            <a:endParaRPr lang="ko-KR" altLang="en-US" sz="14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9532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4772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개인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2049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+40.1%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772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19087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34327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 시장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327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+17.0%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4327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초과는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68642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882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 초과 채널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3882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</a:t>
            </a:r>
            <a:r>
              <a:rPr lang="ko-KR" altLang="en-US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3882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 +39.4% (skyUHD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조건부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818197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33437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 편성 효과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3437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8.53</a:t>
            </a:r>
            <a:r>
              <a:rPr lang="ko-KR" altLang="en-US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3437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〈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95325" y="4400550"/>
            <a:ext cx="28575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38200" y="4400550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75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메시지  </a:t>
            </a:r>
            <a:r>
              <a:rPr lang="ko-KR" altLang="en-US" sz="127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물량이 아니라 그 자리에 무엇이 있었는가</a:t>
            </a:r>
            <a:r>
              <a:rPr lang="en-US" altLang="ko-KR" sz="127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(Slot)</a:t>
            </a:r>
            <a:r>
              <a:rPr lang="ko-KR" altLang="en-US" sz="127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 성패를 갈랐다</a:t>
            </a:r>
            <a:endParaRPr lang="ko-KR" altLang="en-US" sz="127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5325" y="52959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대상 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09/23(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전야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)~09/27(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09/24~09/27 · 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기준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/ ENA Story·OLIFE·ONCE·skyUHD </a:t>
            </a:r>
            <a:r>
              <a:rPr lang="ko-KR" altLang="en-US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863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863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5325" y="550545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dirty="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KT ENA </a:t>
            </a:r>
            <a:r>
              <a:rPr lang="ko-KR" altLang="en-US" sz="900" dirty="0" err="1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편성기획</a:t>
            </a:r>
            <a:r>
              <a:rPr lang="en-US" altLang="ko-KR" sz="900" dirty="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900" dirty="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팀 </a:t>
            </a:r>
            <a:r>
              <a:rPr lang="en-US" altLang="ko-KR" sz="900" dirty="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2026.09.28</a:t>
            </a:r>
            <a:endParaRPr lang="ko-KR" altLang="en-US" sz="900" dirty="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919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914400" y="952500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257300" y="866775"/>
            <a:ext cx="3810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pc="8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Contents</a:t>
            </a:r>
            <a:endParaRPr lang="ko-KR" altLang="en-US" sz="1050" spc="8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123950"/>
            <a:ext cx="5715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45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목차</a:t>
            </a:r>
            <a:endParaRPr lang="ko-KR" altLang="en-US" sz="3450" spc="-1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914400" y="26670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20383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01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20574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Executive Summary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0200" y="23241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 줄 결론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환경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판정 기준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914400" y="340995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78130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02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200" y="280035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경쟁사 특집 성과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306705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방송사별 사례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변수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장르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914400" y="41529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5242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03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00200" y="35433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</a:t>
            </a:r>
            <a:r>
              <a:rPr lang="en-US" altLang="ko-KR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7</a:t>
            </a:r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 채널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38100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대비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배수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채널별 심층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예능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6248400" y="26670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48400" y="20383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04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34200" y="20574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확인된 패턴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34200" y="23241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13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패턴과 근거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6248400" y="340995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48400" y="278130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05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34200" y="280035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수급</a:t>
            </a:r>
            <a:r>
              <a:rPr lang="en-US" altLang="ko-KR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전략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34200" y="306705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Matrix 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 우선순위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운영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원칙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채널별 가이드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6248400" y="41529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48400" y="35242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06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4200" y="35433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결론 </a:t>
            </a:r>
            <a:r>
              <a:rPr lang="en-US" altLang="ko-KR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부록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34200" y="38100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최종 결론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확인 항목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지표 정의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출처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210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0" y="3619500"/>
            <a:ext cx="51435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altLang="ko-KR" sz="18000" spc="-800" smtClean="0">
                <a:solidFill>
                  <a:srgbClr val="F3F3FD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01</a:t>
            </a:r>
            <a:endParaRPr lang="ko-KR" altLang="en-US" sz="18000" spc="-800">
              <a:solidFill>
                <a:srgbClr val="F3F3FD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pic>
        <p:nvPicPr>
          <p:cNvPr id="3" name="그림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914400" y="2781300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7300" y="2695575"/>
            <a:ext cx="5715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pc="8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Chapter 01</a:t>
            </a:r>
            <a:endParaRPr lang="ko-KR" altLang="en-US" sz="1050" spc="8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009900"/>
            <a:ext cx="85725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Executive Summary</a:t>
            </a:r>
            <a:endParaRPr lang="ko-KR" altLang="en-US" sz="4200" spc="-1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6667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시장은 커졌지만 당사의 성장은 시장을 따라가지 못했다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 줄 결론과 판정 기준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  <a:endParaRPr lang="ko-KR" altLang="en-US" sz="13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907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01 · EXECUTIVE SUMMARY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연휴 시장은 커졌지만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당사의 성장은 시장을 따라가지 못했다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승부처는 편성 물량이 아니라 주요 슬롯에 어떤 콘텐츠가 있었는가였음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성장률을 넘긴 당사 채널은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(skyUHD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절대값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조건부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>
            <a:outerShdw blurRad="209550" dist="76200" dir="5400000" rotWithShape="0">
              <a:srgbClr val="2C24CE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0485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개인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2049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850" y="1733550"/>
            <a:ext cx="22669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55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+40.1%</a:t>
            </a:r>
            <a:endParaRPr lang="ko-KR" altLang="en-US" sz="255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있는 시간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·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없는 시간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</a:t>
            </a:r>
            <a:endParaRPr lang="ko-KR" altLang="en-US" sz="8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37185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4330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 시장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43300" y="1733550"/>
            <a:ext cx="22669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5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+17.0%</a:t>
            </a:r>
            <a:endParaRPr lang="ko-KR" altLang="en-US" sz="25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4330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초과 채널은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Story(+39.4%)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하나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21030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38175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종합 승자 </a:t>
            </a:r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1750" y="1733550"/>
            <a:ext cx="226695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</a:t>
            </a:r>
            <a:r>
              <a:rPr lang="ko-KR" altLang="en-US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위→</a:t>
            </a:r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</a:t>
            </a:r>
            <a:r>
              <a:rPr lang="ko-KR" altLang="en-US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175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3.499 ·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점유율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41.2%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904875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22020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최고 사례 </a:t>
            </a:r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20200" y="1733550"/>
            <a:ext cx="22669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550" spc="-60" smtClean="0">
                <a:solidFill>
                  <a:srgbClr val="7826DC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+39.4%</a:t>
            </a:r>
            <a:endParaRPr lang="ko-KR" altLang="en-US" sz="2550" spc="-60">
              <a:solidFill>
                <a:srgbClr val="7826DC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2020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 +26.7% · ATS +9.9%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 상승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33400" y="268605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685800" y="293370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38300" y="280035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+40.1%,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연휴 시장은 확실히 커짐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확대분은 아시안게임 중계 시간대에 집중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평년 명절과 같은 선에 놓지 않음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82000" y="280035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·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비중계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33400" y="350520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685800" y="37528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경쟁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38300" y="361950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개인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위로 종합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KBS1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여자농구 결승 한 편으로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tvN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특집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5/5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성공에도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2000" y="361950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0.698 · KBS1 0.453 · tvN 0.365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33400" y="432435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685800" y="457200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38300" y="443865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성장률을 넘긴 곳은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Story(+39.4%)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하나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ENA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+23%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 미달이나 연휴 마지막날 등위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위로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중 최고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82000" y="443865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+42.3% ·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+26.2% · 09/27 0.149(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0.107)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33400" y="514350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685800" y="53911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신규 편성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38300" y="525780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예능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편이 자리에 따라 정반대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부진했던 일요일 자리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4.98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성장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검증받은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재방이 지키던 금요일 자리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0.25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감소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82000" y="525780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편성물 본방 평균 대비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실측 대비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33400" y="6000750"/>
            <a:ext cx="11125200" cy="419100"/>
          </a:xfrm>
          <a:prstGeom prst="roundRect">
            <a:avLst>
              <a:gd name="adj" fmla="val 2272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23900" y="6076950"/>
            <a:ext cx="1074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한 문장 결론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명절은 ‘특집을 얼마나 늘릴까’가 아니라 ‘시청 이유가 있는 콘텐츠를 어느 자리에 놓을까’의 문제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794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01 · ENVIRONMENT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2026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추석은 ‘평년 명절’과 다른 경기장이었다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언론 보도로 확인되는 외부 환경과 내부 실측 데이터가 같은 방향을 가리킴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5905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704850" y="16002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19150" y="1571625"/>
            <a:ext cx="5448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언론 보도 ①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가변 편성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마이데일리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09/24)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1809750"/>
            <a:ext cx="5562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경기 진행에 따라 프라임 편성이 유동적으로 바뀔 수 있어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방송사들이 대형 신규 파일럿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제작보다 가변 편성 대응을 택했다는 분석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이번 연휴는 「무엇을 새로 만들어 걸었는가」보다 「있는 것을 어느 자리에 놓았는가」의 판이었음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3400" y="2609850"/>
            <a:ext cx="5905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704850" y="2781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19150" y="2752725"/>
            <a:ext cx="5448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언론 보도 ②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특선영화 축소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이투데이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09/24)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850" y="2990850"/>
            <a:ext cx="5562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여파로 추석 특선영화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프로그램 수가 예년보다 적었고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지상파 특선영화는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중심으로 집중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나머지는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tvN·OCN·JTBC·EBS1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이동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3400" y="3676650"/>
            <a:ext cx="5905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704850" y="3848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19150" y="3819525"/>
            <a:ext cx="5448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내부 실측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시장을 연 것은 중계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850" y="4057650"/>
            <a:ext cx="5562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있는 시간의 개인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vs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없는 시간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2049 3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사는 중계 시간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+20.5%,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비중계 시간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-17.3%.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 대형 이벤트가 시장 확대를 주도했고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중계가 없던 시간대에서 당사는 역성장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3400" y="4876800"/>
            <a:ext cx="59055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23900" y="4953000"/>
            <a:ext cx="552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해석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이번 추석 명절은 ‘아시안게임이 겹친 특수 명절’이라는 전제 위에서 읽어야 함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없는 명절이면 시장 확대는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안팎에 머물었을 가능성이 큼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667500" y="1428750"/>
            <a:ext cx="4991100" cy="401955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96100" y="1600200"/>
            <a:ext cx="457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주요 ‘시청 이유’가 발생한 시점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경기 시각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방송 시각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067550" y="2057400"/>
            <a:ext cx="0" cy="3162300"/>
          </a:xfrm>
          <a:prstGeom prst="line">
            <a:avLst/>
          </a:prstGeom>
          <a:ln w="19050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7010400" y="2019300"/>
            <a:ext cx="114300" cy="114300"/>
          </a:xfrm>
          <a:prstGeom prst="ellipse">
            <a:avLst/>
          </a:prstGeom>
          <a:solidFill>
            <a:srgbClr val="6F69E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7258050" y="19621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 19:39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86750" y="198120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KBS2 〈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이승철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3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 연속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86750" y="217170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1.007 · 3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1.047 (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축구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매치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1.757)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7010400" y="2571750"/>
            <a:ext cx="114300" cy="114300"/>
          </a:xfrm>
          <a:prstGeom prst="ellipse">
            <a:avLst/>
          </a:prstGeom>
          <a:solidFill>
            <a:srgbClr val="7C7C8C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258050" y="25146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 16:00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86750" y="253365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준결승 한국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중국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86750" y="272415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3.9%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7010400" y="3124200"/>
            <a:ext cx="114300" cy="114300"/>
          </a:xfrm>
          <a:prstGeom prst="ellipse">
            <a:avLst/>
          </a:prstGeom>
          <a:solidFill>
            <a:srgbClr val="7C7C8C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258050" y="30670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 22:05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86750" y="308610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육상 남녀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100m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결승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86750" y="327660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5.5%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사실상 공백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7010400" y="3676650"/>
            <a:ext cx="114300" cy="114300"/>
          </a:xfrm>
          <a:prstGeom prst="ellipse">
            <a:avLst/>
          </a:prstGeom>
          <a:solidFill>
            <a:srgbClr val="2C24C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258050" y="36195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19:20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86750" y="363855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결승 한국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일본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86750" y="382905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10.0%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순간 최고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19.3%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2049 2.734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7010400" y="4229100"/>
            <a:ext cx="114300" cy="114300"/>
          </a:xfrm>
          <a:prstGeom prst="ellipse">
            <a:avLst/>
          </a:prstGeom>
          <a:solidFill>
            <a:srgbClr val="2C24C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258050" y="41719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22:31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86750" y="419100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〈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왕과 사는 남자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TV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86750" y="438150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중계 지연으로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 밀려도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3.499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41.2%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7010400" y="4781550"/>
            <a:ext cx="114300" cy="114300"/>
          </a:xfrm>
          <a:prstGeom prst="ellipse">
            <a:avLst/>
          </a:prstGeom>
          <a:solidFill>
            <a:srgbClr val="7C7C8C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7258050" y="47244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 18:30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86750" y="474345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야구 금메달 결정전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86750" y="493395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2.866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〈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0.392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근거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마이데일리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이투데이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뉴시스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이데일리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 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DB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948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01 · METHOD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성과는 ‘절대 시청률’이 아니라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축을 교차해 판정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비교 기준은 ‘직전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 평균’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편성 비교는 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추정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보정값은 사용하지 않음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35433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742950" y="1638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01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6350" y="16573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닐슨 등위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6350" y="1905000"/>
            <a:ext cx="2667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일자별 등위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 평균 등위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950" y="2209800"/>
            <a:ext cx="312420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전체 채널 판에서 자리를 올렸는가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닐슨 집계값을 그대로 쓰며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4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평균을 반올림한 정수로 표기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2049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채널은 개인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가구 채널은 유료방송가입가구 등위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305300" y="1428750"/>
            <a:ext cx="35433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514850" y="1638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02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0" y="16573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시장 대비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48250" y="1905000"/>
            <a:ext cx="2667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증감률 − 시장 총 시청량 증감률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4850" y="2209800"/>
            <a:ext cx="312420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커진 시장에서 제 몫 이상을 가져왔는가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100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함의하는 해당 타깃의 시장 전체 시청률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8077200" y="1428750"/>
            <a:ext cx="35433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8286750" y="1638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03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20150" y="16573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시간대 배수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20150" y="1905000"/>
            <a:ext cx="2667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그 시간대 실적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÷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실측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6750" y="2209800"/>
            <a:ext cx="312420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그 자리를 특집으로 바꿔 시청이 늘었는가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요일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時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단위 기준선에 편성이 점유한 분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分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만큼 가중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1.00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기준값과 동일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33400" y="3543300"/>
            <a:ext cx="11125200" cy="1866900"/>
          </a:xfrm>
          <a:prstGeom prst="roundRect">
            <a:avLst>
              <a:gd name="adj" fmla="val 6122"/>
            </a:avLst>
          </a:prstGeom>
          <a:solidFill>
            <a:srgbClr val="F7F7FA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62000" y="3695700"/>
            <a:ext cx="381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기준값과 집계 규칙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0" y="3962400"/>
            <a:ext cx="5143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기준값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직전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요일의 닐슨 실측 평균</a:t>
            </a:r>
          </a:p>
          <a:p>
            <a:pPr>
              <a:lnSpc>
                <a:spcPct val="130000"/>
              </a:lnSpc>
            </a:pPr>
            <a:r>
              <a:rPr lang="ko-KR" altLang="en-US" sz="9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</a:t>
            </a:r>
            <a:r>
              <a:rPr lang="en-US" altLang="ko-KR" sz="9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→ 09/03·10·17  /  09/25 → 09/04·11·18  /  09/26 → 09/05·12·19  /  09/27 → 09/06·13·20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방송일 경계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02:00~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익일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01:59 ·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평일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토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공휴일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18~23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구분 새벽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02~08 /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09~13 /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14~18 /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86500" y="3962400"/>
            <a:ext cx="51816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•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KPI 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ENA·ENA Play·ENA Drama =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/ ENA Story·OLIFE·ONCE·skyUHD =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시청률은 소수점 셋째 자리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정수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반올림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표기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•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아시안게임 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경기 시작시각과 방송사 중계 편성시각을 분리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경쟁에는 편성시각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이벤트 강도에는 공식 경기시각 사용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공표치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모집단이 달라 직접 비교하지 않고 경쟁환경 설명에만 사용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33400" y="5619750"/>
            <a:ext cx="11125200" cy="419100"/>
          </a:xfrm>
          <a:prstGeom prst="roundRect">
            <a:avLst>
              <a:gd name="adj" fmla="val 2272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23900" y="5695950"/>
            <a:ext cx="1074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원칙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특집을 많이 걸었더라도 등위가 그대로면 승자로 보지 않음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당사와 경쟁사에 같은 방법을 적용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3898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0" y="3619500"/>
            <a:ext cx="51435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altLang="ko-KR" sz="18000" spc="-800" smtClean="0">
                <a:solidFill>
                  <a:srgbClr val="F3F3FD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02</a:t>
            </a:r>
            <a:endParaRPr lang="ko-KR" altLang="en-US" sz="18000" spc="-800">
              <a:solidFill>
                <a:srgbClr val="F3F3FD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pic>
        <p:nvPicPr>
          <p:cNvPr id="3" name="그림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914400" y="2781300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7300" y="2695575"/>
            <a:ext cx="5715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pc="8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Chapter 02</a:t>
            </a:r>
            <a:endParaRPr lang="ko-KR" altLang="en-US" sz="1050" spc="8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009900"/>
            <a:ext cx="85725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경쟁사 특집 성과</a:t>
            </a:r>
            <a:endParaRPr lang="ko-KR" altLang="en-US" sz="4200" spc="-1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6667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SBS·KBS1·tvN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각각 다른 방식으로 성과를 만들었고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시장을 연 것은 아시안게임 중계였다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  <a:endParaRPr lang="ko-KR" altLang="en-US" sz="13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44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NIELSEN RANK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경쟁 판에서 자리를 올린 채널은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SBS·KBS1,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만 한 계단 상승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vs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(09/24~27).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일자별 등위 평균을 반올림한 정수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변동은 정수 등위 차이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3906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실측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500" y="139065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 </a:t>
            </a:r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(09/24~27)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V="1">
            <a:off x="3200400" y="167640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200400" y="167640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200400" y="2125980"/>
            <a:ext cx="4953000" cy="44958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3200400" y="2125980"/>
            <a:ext cx="4953000" cy="22479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3200400" y="235077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3200400" y="2800350"/>
            <a:ext cx="4953000" cy="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200400" y="3025140"/>
            <a:ext cx="4953000" cy="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200400" y="3249930"/>
            <a:ext cx="4953000" cy="0"/>
          </a:xfrm>
          <a:prstGeom prst="line">
            <a:avLst/>
          </a:prstGeom>
          <a:ln w="33338">
            <a:solidFill>
              <a:srgbClr val="3C32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3200400" y="3474720"/>
            <a:ext cx="4953000" cy="44958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00400" y="347472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200400" y="3699510"/>
            <a:ext cx="4953000" cy="22479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V="1">
            <a:off x="3200400" y="414909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3200400" y="4149090"/>
            <a:ext cx="4953000" cy="22479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3200400" y="459867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3200400" y="482346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3200400" y="5048250"/>
            <a:ext cx="4953000" cy="44958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00400" y="5273040"/>
            <a:ext cx="4953000" cy="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3200400" y="549783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3200400" y="4598670"/>
            <a:ext cx="4953000" cy="112395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V="1">
            <a:off x="3200400" y="5947410"/>
            <a:ext cx="4953000" cy="224790"/>
          </a:xfrm>
          <a:prstGeom prst="line">
            <a:avLst/>
          </a:prstGeom>
          <a:ln w="33338">
            <a:solidFill>
              <a:srgbClr val="00A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3200400" y="5947410"/>
            <a:ext cx="4953000" cy="224790"/>
          </a:xfrm>
          <a:prstGeom prst="line">
            <a:avLst/>
          </a:prstGeom>
          <a:ln w="33338">
            <a:solidFill>
              <a:srgbClr val="EE2A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3400" y="16002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9650" y="16002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57450" y="16002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0.411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3162300" y="16383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533400" y="182499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9650" y="18249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57450" y="18249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0.387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3162300" y="18630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533400" y="204978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9650" y="20497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57450" y="20497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0.309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162300" y="20878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533400" y="227457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9650" y="22745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KBS2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7450" y="22745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0.222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3162300" y="23126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533400" y="249936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09650" y="24993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7450" y="24993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3162300" y="25374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533400" y="272415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7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9650" y="27241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57450" y="27241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162300" y="27622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533400" y="294894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9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9650" y="29489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every1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57450" y="29489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0.109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3162300" y="29870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33400" y="317373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11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9650" y="31737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63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57450" y="31737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3162300" y="3211830"/>
            <a:ext cx="76200" cy="76200"/>
          </a:xfrm>
          <a:prstGeom prst="ellipse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33400" y="339852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09650" y="33985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드라마넷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457450" y="33985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3162300" y="34366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533400" y="362331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9650" y="36233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Plus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457450" y="36233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3162300" y="366141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533400" y="38481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16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09650" y="38481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STORY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457450" y="38481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3162300" y="38862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533400" y="407289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16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09650" y="40728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 JOY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457450" y="40728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3162300" y="41109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533400" y="429768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09650" y="42976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457450" y="42976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3162300" y="43357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533400" y="452247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09650" y="45224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457450" y="45224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3162300" y="45605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533400" y="474726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09650" y="47472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CHOSUN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457450" y="47472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3162300" y="47853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533400" y="497205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09650" y="49720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funE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457450" y="49720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3" name="타원 92"/>
          <p:cNvSpPr/>
          <p:nvPr/>
        </p:nvSpPr>
        <p:spPr>
          <a:xfrm>
            <a:off x="3162300" y="50101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533400" y="519684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27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09650" y="51968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SHOW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457450" y="51968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3162300" y="52349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533400" y="542163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27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9650" y="54216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457450" y="54216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3162300" y="545973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533400" y="564642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31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009650" y="56464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Mnet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457450" y="56464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3162300" y="56845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533400" y="587121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09650" y="58712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63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457450" y="58712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3162300" y="5909310"/>
            <a:ext cx="76200" cy="76200"/>
          </a:xfrm>
          <a:prstGeom prst="ellipse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3400" y="60960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41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009650" y="60960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63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457450" y="60960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3" name="타원 112"/>
          <p:cNvSpPr/>
          <p:nvPr/>
        </p:nvSpPr>
        <p:spPr>
          <a:xfrm>
            <a:off x="3162300" y="6134100"/>
            <a:ext cx="76200" cy="76200"/>
          </a:xfrm>
          <a:prstGeom prst="ellipse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8115300" y="16383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8305800" y="16002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0.698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915400" y="16002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0344150" y="160020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0953750" y="160020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9" name="타원 118"/>
          <p:cNvSpPr/>
          <p:nvPr/>
        </p:nvSpPr>
        <p:spPr>
          <a:xfrm>
            <a:off x="8115300" y="18630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/>
          <p:cNvSpPr txBox="1"/>
          <p:nvPr/>
        </p:nvSpPr>
        <p:spPr>
          <a:xfrm>
            <a:off x="8305800" y="18249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0.595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8915400" y="18249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344150" y="182499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0953750" y="182499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4" name="타원 123"/>
          <p:cNvSpPr/>
          <p:nvPr/>
        </p:nvSpPr>
        <p:spPr>
          <a:xfrm>
            <a:off x="8115300" y="20878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8305800" y="20497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0.453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915400" y="20497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0344150" y="204978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953750" y="204978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8115300" y="23126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/>
          <p:cNvSpPr txBox="1"/>
          <p:nvPr/>
        </p:nvSpPr>
        <p:spPr>
          <a:xfrm>
            <a:off x="8305800" y="22745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0.365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915400" y="22745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0344150" y="227457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953750" y="227457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4" name="타원 133"/>
          <p:cNvSpPr/>
          <p:nvPr/>
        </p:nvSpPr>
        <p:spPr>
          <a:xfrm>
            <a:off x="8115300" y="25374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8305800" y="24993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0.273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915400" y="24993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KBS2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344150" y="249936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0953750" y="249936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8115300" y="27622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8305800" y="27241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915400" y="27241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0344150" y="272415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0953750" y="272415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8115300" y="29870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8305800" y="29489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8915400" y="29489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every1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0344150" y="294894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9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0953750" y="294894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8115300" y="3211830"/>
            <a:ext cx="76200" cy="76200"/>
          </a:xfrm>
          <a:prstGeom prst="ellipse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8305800" y="31737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915400" y="31737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63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10344150" y="317373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953750" y="317373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4" name="타원 153"/>
          <p:cNvSpPr/>
          <p:nvPr/>
        </p:nvSpPr>
        <p:spPr>
          <a:xfrm>
            <a:off x="8115300" y="34366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/>
          <p:cNvSpPr txBox="1"/>
          <p:nvPr/>
        </p:nvSpPr>
        <p:spPr>
          <a:xfrm>
            <a:off x="8305800" y="33985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915400" y="33985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STORY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0344150" y="339852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0953750" y="339852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9" name="타원 158"/>
          <p:cNvSpPr/>
          <p:nvPr/>
        </p:nvSpPr>
        <p:spPr>
          <a:xfrm>
            <a:off x="8115300" y="366141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/>
          <p:cNvSpPr txBox="1"/>
          <p:nvPr/>
        </p:nvSpPr>
        <p:spPr>
          <a:xfrm>
            <a:off x="8305800" y="36233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8915400" y="36233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드라마넷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0344150" y="362331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0953750" y="362331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8115300" y="38862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8305800" y="38481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915400" y="38481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Plus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0344150" y="384810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0953750" y="384810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9" name="타원 168"/>
          <p:cNvSpPr/>
          <p:nvPr/>
        </p:nvSpPr>
        <p:spPr>
          <a:xfrm>
            <a:off x="8115300" y="41109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TextBox 169"/>
          <p:cNvSpPr txBox="1"/>
          <p:nvPr/>
        </p:nvSpPr>
        <p:spPr>
          <a:xfrm>
            <a:off x="8305800" y="40728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0.069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8915400" y="40728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0344150" y="407289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0953750" y="407289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4" name="타원 173"/>
          <p:cNvSpPr/>
          <p:nvPr/>
        </p:nvSpPr>
        <p:spPr>
          <a:xfrm>
            <a:off x="8115300" y="43357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/>
          <p:cNvSpPr txBox="1"/>
          <p:nvPr/>
        </p:nvSpPr>
        <p:spPr>
          <a:xfrm>
            <a:off x="8305800" y="42976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8915400" y="42976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 JOY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10344150" y="429768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0953750" y="429768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9" name="타원 178"/>
          <p:cNvSpPr/>
          <p:nvPr/>
        </p:nvSpPr>
        <p:spPr>
          <a:xfrm>
            <a:off x="8115300" y="45605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8305800" y="45224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8915400" y="45224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CHOSUN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0344150" y="452247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10953750" y="452247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4" name="타원 183"/>
          <p:cNvSpPr/>
          <p:nvPr/>
        </p:nvSpPr>
        <p:spPr>
          <a:xfrm>
            <a:off x="8115300" y="47853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/>
          <p:cNvSpPr txBox="1"/>
          <p:nvPr/>
        </p:nvSpPr>
        <p:spPr>
          <a:xfrm>
            <a:off x="8305800" y="47472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8915400" y="47472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funE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0344150" y="474726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0953750" y="474726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8115300" y="50101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/>
          <p:cNvSpPr txBox="1"/>
          <p:nvPr/>
        </p:nvSpPr>
        <p:spPr>
          <a:xfrm>
            <a:off x="8305800" y="49720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8915400" y="49720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10344150" y="497205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0953750" y="497205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4" name="타원 193"/>
          <p:cNvSpPr/>
          <p:nvPr/>
        </p:nvSpPr>
        <p:spPr>
          <a:xfrm>
            <a:off x="8115300" y="52349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TextBox 194"/>
          <p:cNvSpPr txBox="1"/>
          <p:nvPr/>
        </p:nvSpPr>
        <p:spPr>
          <a:xfrm>
            <a:off x="8305800" y="51968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915400" y="51968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SHOW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0344150" y="519684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953750" y="519684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9" name="타원 198"/>
          <p:cNvSpPr/>
          <p:nvPr/>
        </p:nvSpPr>
        <p:spPr>
          <a:xfrm>
            <a:off x="8115300" y="545973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TextBox 199"/>
          <p:cNvSpPr txBox="1"/>
          <p:nvPr/>
        </p:nvSpPr>
        <p:spPr>
          <a:xfrm>
            <a:off x="8305800" y="54216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8915400" y="54216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Mnet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0344150" y="542163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10953750" y="542163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4" name="타원 203"/>
          <p:cNvSpPr/>
          <p:nvPr/>
        </p:nvSpPr>
        <p:spPr>
          <a:xfrm>
            <a:off x="8115300" y="56845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TextBox 204"/>
          <p:cNvSpPr txBox="1"/>
          <p:nvPr/>
        </p:nvSpPr>
        <p:spPr>
          <a:xfrm>
            <a:off x="8305800" y="56464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8915400" y="56464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0344150" y="564642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26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10953750" y="564642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9" name="타원 208"/>
          <p:cNvSpPr/>
          <p:nvPr/>
        </p:nvSpPr>
        <p:spPr>
          <a:xfrm>
            <a:off x="8115300" y="5909310"/>
            <a:ext cx="76200" cy="76200"/>
          </a:xfrm>
          <a:prstGeom prst="ellipse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/>
          <p:cNvSpPr txBox="1"/>
          <p:nvPr/>
        </p:nvSpPr>
        <p:spPr>
          <a:xfrm>
            <a:off x="8305800" y="58712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8915400" y="58712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63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0344150" y="587121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10953750" y="587121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4" name="타원 213"/>
          <p:cNvSpPr/>
          <p:nvPr/>
        </p:nvSpPr>
        <p:spPr>
          <a:xfrm>
            <a:off x="8115300" y="6134100"/>
            <a:ext cx="76200" cy="76200"/>
          </a:xfrm>
          <a:prstGeom prst="ellipse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/>
          <p:cNvSpPr txBox="1"/>
          <p:nvPr/>
        </p:nvSpPr>
        <p:spPr>
          <a:xfrm>
            <a:off x="8305800" y="60960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8915400" y="60960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63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10344150" y="609600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50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0953750" y="609600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15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533400" y="6248400"/>
            <a:ext cx="11125200" cy="247650"/>
          </a:xfrm>
          <a:prstGeom prst="roundRect">
            <a:avLst>
              <a:gd name="adj" fmla="val 3846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TextBox 219"/>
          <p:cNvSpPr txBox="1"/>
          <p:nvPr/>
        </p:nvSpPr>
        <p:spPr>
          <a:xfrm>
            <a:off x="723900" y="6324600"/>
            <a:ext cx="10744200" cy="95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2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(09/24·26·27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KBS1 5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상승폭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Mnet 31→25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11→10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ENA Drama 35→50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전체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42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중 상위권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당사만 표기</a:t>
            </a:r>
            <a:endParaRPr lang="ko-KR" altLang="en-US" sz="75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일간 등위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09/24~09/27 4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08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102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HOUSEHOLD CHANNELS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유료가구 판</a:t>
            </a:r>
            <a:r>
              <a:rPr lang="en-US" altLang="ko-KR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 가구 채널 </a:t>
            </a:r>
            <a:r>
              <a:rPr lang="en-US" altLang="ko-KR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</a:t>
            </a:r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중 등위를 올린 곳은 </a:t>
            </a:r>
            <a:r>
              <a:rPr lang="en-US" altLang="ko-KR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Story·skyUHD, OLIFE·ONCE</a:t>
            </a:r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는 하락</a:t>
            </a:r>
            <a:endParaRPr lang="ko-KR" altLang="en-US" sz="190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 닐슨 시청률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ENA Story·OLIFE·ONCE·skyUHD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이 판에서 판정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상위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위권과 함께 표기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460498"/>
              </p:ext>
            </p:extLst>
          </p:nvPr>
        </p:nvGraphicFramePr>
        <p:xfrm>
          <a:off x="533400" y="1428750"/>
          <a:ext cx="7105650" cy="285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0">
                  <a:extLst>
                    <a:ext uri="{9D8B030D-6E8A-4147-A177-3AD203B41FA5}">
                      <a16:colId xmlns:a16="http://schemas.microsoft.com/office/drawing/2014/main" xmlns="" val="251941865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xmlns="" val="52238343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964495397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xmlns="" val="5337802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xmlns="" val="218820017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xmlns="" val="26905668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425757063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140235888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16638861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390933616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8555018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 </a:t>
                      </a: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</a:t>
                      </a: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 실측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 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변동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09/23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09/24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09/25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09/26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09/27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6134354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2.647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2.003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867735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SBS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1.927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1.257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9802708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MBC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1.850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1.324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7C7C8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—</a:t>
                      </a:r>
                      <a:endParaRPr lang="ko-KR" altLang="en-US" sz="825" b="0" i="0">
                        <a:solidFill>
                          <a:srgbClr val="7C7C8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176527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1.588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1.518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3913698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tvN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1.013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0.767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8027494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MBN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0.668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0.563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367186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 CHOSUN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0.630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0.633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4542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JTBC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0.534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0.535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414058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MBC every1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0.442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0.342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706317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A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0.452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0.451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7C7C8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—</a:t>
                      </a:r>
                      <a:endParaRPr lang="ko-KR" altLang="en-US" sz="825" b="0" i="0">
                        <a:solidFill>
                          <a:srgbClr val="7C7C8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0942434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</a:t>
                      </a:r>
                      <a:endParaRPr lang="ko-KR" altLang="en-US" sz="825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37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7519391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Story</a:t>
                      </a:r>
                      <a:endParaRPr lang="ko-KR" altLang="en-US" sz="825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467241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002D5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ONCE</a:t>
                      </a:r>
                      <a:endParaRPr lang="ko-KR" altLang="en-US" sz="825" b="0" i="0">
                        <a:solidFill>
                          <a:srgbClr val="002D5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76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805642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skyUHD</a:t>
                      </a:r>
                      <a:endParaRPr lang="ko-KR" altLang="en-US" sz="825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187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14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166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16831008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7810500" y="1428750"/>
            <a:ext cx="3848100" cy="398145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981950" y="1543050"/>
            <a:ext cx="3524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가구 채널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= 100)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81950" y="1733550"/>
            <a:ext cx="3524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막대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대비 상대 길이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점선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7981950" y="19621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4450" y="19812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→ 0.065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96500" y="19431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+39.4%</a:t>
            </a:r>
            <a:endParaRPr lang="ko-KR" altLang="en-US" sz="135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981950" y="22479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7981950" y="2362200"/>
            <a:ext cx="1314450" cy="114300"/>
          </a:xfrm>
          <a:prstGeom prst="roundRect">
            <a:avLst>
              <a:gd name="adj" fmla="val 33333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9096375" y="22098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81950" y="25336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Reach·ATS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 상승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72→61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+31.2%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7981950" y="28003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E24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825">
              <a:solidFill>
                <a:srgbClr val="1E24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34450" y="28194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0.114 → 0.106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96500" y="27813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-6.8%</a:t>
            </a:r>
            <a:endParaRPr lang="ko-KR" altLang="en-US" sz="13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7981950" y="30861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7981950" y="3200400"/>
            <a:ext cx="885825" cy="114300"/>
          </a:xfrm>
          <a:prstGeom prst="roundRect">
            <a:avLst>
              <a:gd name="adj" fmla="val 33333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/>
          <p:nvPr/>
        </p:nvCxnSpPr>
        <p:spPr>
          <a:xfrm>
            <a:off x="9096375" y="30480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81950" y="33718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0.88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방어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0.176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당사 최고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7981950" y="36385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34450" y="36576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0.053 → 0.048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96500" y="36195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-8.6%</a:t>
            </a:r>
            <a:endParaRPr lang="ko-KR" altLang="en-US" sz="13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7981950" y="39243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981950" y="4038600"/>
            <a:ext cx="866775" cy="114300"/>
          </a:xfrm>
          <a:prstGeom prst="roundRect">
            <a:avLst>
              <a:gd name="adj" fmla="val 33333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/>
          <p:cNvCxnSpPr/>
          <p:nvPr/>
        </p:nvCxnSpPr>
        <p:spPr>
          <a:xfrm>
            <a:off x="9096375" y="38862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81950" y="42100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 김탁구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0.51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잔류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34%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7981950" y="44767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skyUHD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34450" y="44958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 → 0.004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96500" y="44577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+155.1%</a:t>
            </a:r>
            <a:endParaRPr lang="ko-KR" altLang="en-US" sz="135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7981950" y="47625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7981950" y="4876800"/>
            <a:ext cx="1905000" cy="114300"/>
          </a:xfrm>
          <a:prstGeom prst="roundRect">
            <a:avLst>
              <a:gd name="adj" fmla="val 33333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/>
          <p:cNvCxnSpPr/>
          <p:nvPr/>
        </p:nvCxnSpPr>
        <p:spPr>
          <a:xfrm>
            <a:off x="9096375" y="47244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81950" y="50482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절대값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· 09/24 〈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이상한 변호사 우영우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몰아보기로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최고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166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33400" y="5562600"/>
            <a:ext cx="11125200" cy="819150"/>
          </a:xfrm>
          <a:prstGeom prst="roundRect">
            <a:avLst>
              <a:gd name="adj" fmla="val 11628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23900" y="5638800"/>
            <a:ext cx="10744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판정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판은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 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고정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SBS 4→3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가구 채널 중 시장 성장률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(+17.0%)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넘긴 곳은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Story(+39.4%)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skyUHD(+155.1%,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 절대값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참고치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OLIFE(-6.8%)·ONCE(-8.6%)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시장이 커진 연휴에 오히려 역성장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채널의 명절 대응은 ‘명절 상황형 큐레이션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(ENA Story)’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‘검증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 몰아보기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(skyUHD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우영우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)’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통했고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‘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간판 신규 회차 대체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(OLIFE)’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‘구작 장편 프라임 통과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(ONCE)’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실패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유료방송가입가구 일간 시청률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09/24~09/27 4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반올림 정수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 단위는 수기 집계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(0927)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반영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07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COMPETITIVE RESULT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경쟁사에서는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SBS·KBS1·tvN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 각각 다른 방식으로 성과를 만들었다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‘종합 우위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)’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‘특집 자체의 고른 성공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 건수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)’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분리해 보는 것이 핵심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02133"/>
              </p:ext>
            </p:extLst>
          </p:nvPr>
        </p:nvGraphicFramePr>
        <p:xfrm>
          <a:off x="533400" y="1428750"/>
          <a:ext cx="111252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xmlns="" val="2063084528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074876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87127681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xmlns="" val="2420221937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xmlns="" val="227993178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xmlns="" val="40701556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xmlns="" val="38976025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769505133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xmlns="" val="325977103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증감*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성공 건수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특집 평균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특집 배수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 분량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유형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읽을 포인트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9819786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SBS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+80.4%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2→1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2/7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1.259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1.98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462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한 방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왕과 사는 남자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3.499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 편이 채널 전체를 견인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기안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84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에디션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6.98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배는 경쟁사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400102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KBS1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+169.8%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5→3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0.123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1.25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4A43D8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단일 이벤트</a:t>
                      </a:r>
                      <a:endParaRPr lang="ko-KR" altLang="en-US" sz="900" b="0" i="0">
                        <a:solidFill>
                          <a:srgbClr val="4A43D8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여자농구 결승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2.734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 채널 상승의 핵심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자체는 평균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529595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tvN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+18.2%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3→4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5/5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0.856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1.71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447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1F9D6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고른 성공</a:t>
                      </a:r>
                      <a:endParaRPr lang="ko-KR" altLang="en-US" sz="900" b="0" i="0">
                        <a:solidFill>
                          <a:srgbClr val="1F9D6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최초 공개 영화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5/5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전부 기준 초과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3%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이상 한 방은 없어 등위는 하락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2927553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KBS2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+22.8%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5→5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3/6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0.505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1.30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6F69E2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대형 기획</a:t>
                      </a:r>
                      <a:endParaRPr lang="ko-KR" altLang="en-US" sz="900" b="0" i="0">
                        <a:solidFill>
                          <a:srgbClr val="6F69E2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이승철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0.476 → 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1.007 → 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1.047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회차별 상승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3607788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MBC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+44.8%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2→2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0.168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0.37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의존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비중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69.4%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최고인데 특집은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전패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성적은 중계가 만듦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77109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JTBC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+4.8%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7→6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4/5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0.178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1.71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446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98A1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빈자리 효율</a:t>
                      </a:r>
                      <a:endParaRPr lang="ko-KR" altLang="en-US" sz="900" b="0" i="0">
                        <a:solidFill>
                          <a:srgbClr val="D98A1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헌트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3.36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·〈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빅토리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2.54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빈 슬롯의 재방 효율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490229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MBN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+51.4%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27→23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1/4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0.062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0.88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7C7C8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미연결</a:t>
                      </a:r>
                      <a:endParaRPr lang="ko-KR" altLang="en-US" sz="900" b="0" i="0">
                        <a:solidFill>
                          <a:srgbClr val="7C7C8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더 나은 미래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홈런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1.70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배가 유일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〈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동치미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8767437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533400" y="4953000"/>
            <a:ext cx="11125200" cy="628650"/>
          </a:xfrm>
          <a:prstGeom prst="roundRect">
            <a:avLst>
              <a:gd name="adj" fmla="val 1515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3900" y="5029200"/>
            <a:ext cx="107442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3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종합 판정 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=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큰 종합 우위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성공률은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2/7) / KBS1 =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강한 단일 이벤트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tvN =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안정적인 특집 운영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하락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‘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모든 카드가 잘됨’과 ‘시장 우위 확보’는 다른 문제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 방이 있는 채널이 우위를 가져감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프로그램명에 명절 표기가 없어 특집 집계에서 제외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20→26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5695950"/>
            <a:ext cx="11125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프로그램명에 추석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표기가 있거나 특선영화로 편성된 건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중계 별도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배수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이상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2049 4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 반올림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*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증감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표기 시청률 기준 재산출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 보고서의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+87.8%·MBC +6.7%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표기 시청률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(0.698/0.387, 0.595/0.411)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맞지 않아 수정함</a:t>
            </a:r>
            <a:endParaRPr lang="ko-KR" altLang="en-US" sz="788">
              <a:solidFill>
                <a:srgbClr val="D63B3B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268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COMPETITIVE CASE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SBS | ‘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중계 → 영화’ 연결로 저녁 시청 수요를 연속 확보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중 성공은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건이지만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강한 카드 하나를 정확한 순간에 붙인 것이 종합 우위를 결정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2609850" cy="914400"/>
          </a:xfrm>
          <a:prstGeom prst="roundRect">
            <a:avLst>
              <a:gd name="adj" fmla="val 125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>
            <a:outerShdw blurRad="209550" dist="76200" dir="5400000" rotWithShape="0">
              <a:srgbClr val="2C24CE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0485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특집 효과 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평균 배수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850" y="1733550"/>
            <a:ext cx="226695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1.98</a:t>
            </a:r>
            <a:r>
              <a:rPr lang="ko-KR" altLang="en-US" sz="225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25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20574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평균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1.259 · 2/7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성공</a:t>
            </a:r>
            <a:endParaRPr lang="ko-KR" altLang="en-US" sz="8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371850" y="1428750"/>
            <a:ext cx="26098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4330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 프로그램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43300" y="1733550"/>
            <a:ext cx="226695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3.499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43300" y="20574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09/26 22:31 ·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41.2%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210300" y="1428750"/>
            <a:ext cx="26098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38175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 단독 점유율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1750" y="1733550"/>
            <a:ext cx="226695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41.2%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1750" y="20574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→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9048750" y="1428750"/>
            <a:ext cx="26098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22020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편성 비중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20200" y="1733550"/>
            <a:ext cx="226695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68.5%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20200" y="20574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67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평균 </a:t>
            </a:r>
            <a:r>
              <a:rPr lang="en-US" altLang="ko-KR" sz="67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1.005 · </a:t>
            </a:r>
            <a:r>
              <a:rPr lang="ko-KR" altLang="en-US" sz="67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밖 </a:t>
            </a:r>
            <a:r>
              <a:rPr lang="en-US" altLang="ko-KR" sz="67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0.493 (</a:t>
            </a:r>
            <a:r>
              <a:rPr lang="ko-KR" altLang="en-US" sz="67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지상파 중 중계 의존 최저</a:t>
            </a:r>
            <a:r>
              <a:rPr lang="en-US" altLang="ko-KR" sz="67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67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346270"/>
              </p:ext>
            </p:extLst>
          </p:nvPr>
        </p:nvGraphicFramePr>
        <p:xfrm>
          <a:off x="533400" y="2514600"/>
          <a:ext cx="6572250" cy="171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xmlns="" val="148228472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xmlns="" val="1168043275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xmlns="" val="1207634357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xmlns="" val="387242402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xmlns="" val="191064409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xmlns="" val="75290284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25663711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방송일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시작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프로그램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점유율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판정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92105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22:31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추석특선영화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왕과 사는 남자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TV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최초 공개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3.499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41.2%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2.42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성공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7923098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12:12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추석스페셜 기안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84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에디션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0.356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8.1%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6.98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성공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7243683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22:32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THE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이은결 추석특집 매직콘서트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1.244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14.2%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0.75</a:t>
                      </a:r>
                      <a:r>
                        <a:rPr lang="ko-KR" altLang="en-US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미달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6393246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23:32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THE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이은결 추석특집 매직콘서트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0.819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10.8%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0.78</a:t>
                      </a:r>
                      <a:r>
                        <a:rPr lang="ko-KR" altLang="en-US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미달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8706437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22:51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명절에도 틈만 나면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7.3%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0.86</a:t>
                      </a:r>
                      <a:r>
                        <a:rPr lang="ko-KR" altLang="en-US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미달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34532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23:04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추석에도 함께할지니 비서진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0.299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4.9%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0.47</a:t>
                      </a:r>
                      <a:r>
                        <a:rPr lang="ko-KR" altLang="en-US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미달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1574617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06:04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추석특선다큐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3.4%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0.12</a:t>
                      </a:r>
                      <a:r>
                        <a:rPr lang="ko-KR" altLang="en-US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미달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319486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06:01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추석특선다큐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2.3%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0.05</a:t>
                      </a:r>
                      <a:r>
                        <a:rPr lang="ko-KR" altLang="en-US" sz="863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미달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2041169"/>
                  </a:ext>
                </a:extLst>
              </a:tr>
            </a:tbl>
          </a:graphicData>
        </a:graphic>
      </p:graphicFrame>
      <p:sp>
        <p:nvSpPr>
          <p:cNvPr id="24" name="모서리가 둥근 직사각형 23"/>
          <p:cNvSpPr/>
          <p:nvPr/>
        </p:nvSpPr>
        <p:spPr>
          <a:xfrm>
            <a:off x="7334250" y="2514600"/>
            <a:ext cx="43243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7505700" y="2686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620000" y="2657475"/>
            <a:ext cx="38671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왜 먹혔나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05700" y="2895600"/>
            <a:ext cx="3981450" cy="933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야구 중계를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22:22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까지 이어간 뒤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22:31 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시작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당초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21:30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편성이었으나 현지 폭우로 약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 밀린 상황에서도 전국 가구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11.0%·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11.8%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연휴 전체 프로그램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중계가 모은 시청 수요를 후속 콘텐츠가 받아가는 구조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7334250" y="4057650"/>
            <a:ext cx="43243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505700" y="4229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7620000" y="4200525"/>
            <a:ext cx="38671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인사이트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05700" y="4438650"/>
            <a:ext cx="398145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대형 특집이면 모두 성공하는 것이 아님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이은결 매직콘서트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0.75~0.78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추석특선다큐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0.05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배는 사실상 빈 편성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카드의 힘과 연결 타이밍이 핵심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기안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84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에디션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6.98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배는 경쟁사 전체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546735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23900" y="554355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수급 관점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영화는 ‘최신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화제성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·TV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 공개’가 확보된 작품을 강한 슬롯의 후속 카드로 설계할 가치가 큼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〈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2026-02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약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1,692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 명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역대 한국영화 흥행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근거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이데일리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뉴스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 09/27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이투데이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/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 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11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5038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COMPETITIVE CASES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tvN·KBS2 | ‘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고르게 성공한 영화 편성’과 ‘회차를 쌓아 올린 단독 기획’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둘 다 중계권 밖에서 프라임 대안을 만든 사례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등위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3→4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위로 하락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KBS2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유지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544830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723900" y="1600200"/>
            <a:ext cx="609600" cy="247650"/>
          </a:xfrm>
          <a:prstGeom prst="roundRect">
            <a:avLst>
              <a:gd name="adj" fmla="val 50000"/>
            </a:avLst>
          </a:prstGeom>
          <a:solidFill>
            <a:srgbClr val="1414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tvN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8750" y="1600200"/>
            <a:ext cx="4000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5/5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건 성공 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배수 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1.71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 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특집 평균 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0.856</a:t>
            </a:r>
            <a:endParaRPr lang="ko-KR" altLang="en-US" sz="10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103698"/>
              </p:ext>
            </p:extLst>
          </p:nvPr>
        </p:nvGraphicFramePr>
        <p:xfrm>
          <a:off x="723900" y="1962150"/>
          <a:ext cx="4991100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xmlns="" val="97844549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xmlns="" val="1691661418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xmlns="" val="1871328627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xmlns="" val="174679291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xmlns="" val="1468975768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방송일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시작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프로그램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모두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 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최초 공개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4493221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22:11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닥터 스트레인지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 (1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1.262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3.18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830486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23:15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닥터 스트레인지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 (2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1.192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3.43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384355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19:31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가디언즈 오브 갤럭시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 (2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0.975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1.12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9596405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22:20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어쩔수가없다 확장판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0.618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1.00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18825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18:28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가디언즈 오브 갤럭시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 (1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0.508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1.01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51881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3900" y="3676650"/>
            <a:ext cx="5067300" cy="1238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  <a:spcAft>
                <a:spcPts val="300"/>
              </a:spcAft>
            </a:pP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중계권 없이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영화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편으로 연휴를 채워 전부 기준값 초과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닥터 스트레인지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심야인데도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3.18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·3.43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09/26 21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포핸즈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2.110 —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 종료 직후 슬롯을 받아냄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3→4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유료가구는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6→5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안정적으로 잘했지만 시장이 커진 만큼은 못 가져감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‘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모든 카드가 잘됨’ ≠ ‘시장 우위’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723900" y="5010150"/>
            <a:ext cx="5067300" cy="990600"/>
          </a:xfrm>
          <a:prstGeom prst="roundRect">
            <a:avLst>
              <a:gd name="adj" fmla="val 9615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914400" y="5086350"/>
            <a:ext cx="46863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시사점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‘일관성 모델’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TV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최신성이 확보된 영화는 중계 없는 저녁과 심야에서도 자체 시청 이유를 유지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영화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(2015·2017)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정반대 조건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210300" y="1428750"/>
            <a:ext cx="544830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6400800" y="1600200"/>
            <a:ext cx="609600" cy="247650"/>
          </a:xfrm>
          <a:prstGeom prst="roundRect">
            <a:avLst>
              <a:gd name="adj" fmla="val 50000"/>
            </a:avLst>
          </a:prstGeom>
          <a:solidFill>
            <a:srgbClr val="1414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KBS2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05650" y="16002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3/6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건 성공 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배수 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1.30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 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〈</a:t>
            </a:r>
            <a:r>
              <a:rPr lang="ko-KR" altLang="en-US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한가위 대기획 이승철</a:t>
            </a:r>
            <a:r>
              <a:rPr lang="en-US" altLang="ko-KR" sz="10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</a:t>
            </a:r>
            <a:endParaRPr lang="ko-KR" altLang="en-US" sz="10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76698"/>
              </p:ext>
            </p:extLst>
          </p:nvPr>
        </p:nvGraphicFramePr>
        <p:xfrm>
          <a:off x="6400800" y="1962150"/>
          <a:ext cx="5067300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xmlns="" val="318531604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xmlns="" val="2372165087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xmlns="" val="4643817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131024419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347159448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xmlns="" val="369679799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방송일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시작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프로그램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점유율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144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19:39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이승철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0.476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4.8%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0.78</a:t>
                      </a: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722420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20:28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이승철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1.007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10.2%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1.43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6080041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21:17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이승철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1.047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10.8%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1.53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68667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22:41~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스페셜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1~3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0.112~0.275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0.39~3.25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504166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00:48~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스페셜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1~3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재방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0.060~0.315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0.39~1.70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92753173"/>
                  </a:ext>
                </a:extLst>
              </a:tr>
            </a:tbl>
          </a:graphicData>
        </a:graphic>
      </p:graphicFrame>
      <p:sp>
        <p:nvSpPr>
          <p:cNvPr id="18" name="모서리가 둥근 직사각형 17"/>
          <p:cNvSpPr/>
          <p:nvPr/>
        </p:nvSpPr>
        <p:spPr>
          <a:xfrm>
            <a:off x="6572250" y="4112029"/>
            <a:ext cx="762000" cy="288521"/>
          </a:xfrm>
          <a:prstGeom prst="roundRect">
            <a:avLst>
              <a:gd name="adj" fmla="val 13205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477000" y="3902479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0.476</a:t>
            </a:r>
            <a:endParaRPr lang="ko-KR" altLang="en-US" sz="8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7000" y="443865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19:39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7715250" y="3790171"/>
            <a:ext cx="762000" cy="610379"/>
          </a:xfrm>
          <a:prstGeom prst="roundRect">
            <a:avLst>
              <a:gd name="adj" fmla="val 6242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7620000" y="3580621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1.007</a:t>
            </a:r>
            <a:endParaRPr lang="ko-KR" altLang="en-US" sz="8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20000" y="443865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20:28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8858250" y="3765925"/>
            <a:ext cx="762000" cy="634625"/>
          </a:xfrm>
          <a:prstGeom prst="roundRect">
            <a:avLst>
              <a:gd name="adj" fmla="val 6004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8763000" y="3556375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1.047</a:t>
            </a:r>
            <a:endParaRPr lang="ko-KR" altLang="en-US" sz="8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63000" y="443865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21:17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96500" y="3733800"/>
            <a:ext cx="142875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축구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매치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한국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에콰도르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1.757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맞붙어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2·3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동시간대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뉴스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공표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2.9% → 2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4.4% → 3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4.2%)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6400800" y="5010150"/>
            <a:ext cx="5067300" cy="990600"/>
          </a:xfrm>
          <a:prstGeom prst="roundRect">
            <a:avLst>
              <a:gd name="adj" fmla="val 9615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6591300" y="5086350"/>
            <a:ext cx="46863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시사점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스타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×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대형 기획을 회차로 쌓으면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부가 기준 미달이어도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2·3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부에서 뒤집힘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반대로 심야로 돌린 스페셜은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0.39~3.25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편차가 큼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콘텐츠도 자리가 결과를 가름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등위는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3→4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하락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뉴스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 09/25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공표치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모집단이 달라 직접 비교하지 않음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4872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COMPETITIVE CASES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KBS1·MBC·JTBC·MBN | ‘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이벤트 강도’와 ‘특집 성과’를 분리해야 한다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채널이 올랐다고 특집이 잘된 것은 아니며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특집이 잘돼도 채널 전체가 오르지 않을 수 있음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2609850" cy="44767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53340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33400" y="1714500"/>
            <a:ext cx="2609850" cy="228600"/>
          </a:xfrm>
          <a:prstGeom prst="rect">
            <a:avLst/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0485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KBS1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850" y="2076450"/>
            <a:ext cx="2286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상승폭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(5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위→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850" y="228600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+169.8%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850" y="27813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결승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2.734 (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전국 가구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10.0% · 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순간 최고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19.3%)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704850" y="32385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4850" y="3352800"/>
            <a:ext cx="2286000" cy="238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평균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0.123 (2/4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가요무대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6.04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이춘희 한가위 대잔치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2.57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배가 선전했을 뿐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독립영화관 장손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평균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0.799 vs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밖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0.246 (3.2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격차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371850" y="1428750"/>
            <a:ext cx="2609850" cy="44767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37185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371850" y="1714500"/>
            <a:ext cx="2609850" cy="228600"/>
          </a:xfrm>
          <a:prstGeom prst="rect">
            <a:avLst/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54330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MBC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43300" y="2076450"/>
            <a:ext cx="2286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비중 최고 </a:t>
            </a:r>
            <a:r>
              <a:rPr lang="en-US" altLang="ko-KR" sz="9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9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특집 </a:t>
            </a:r>
            <a:r>
              <a:rPr lang="en-US" altLang="ko-KR" sz="9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0/5 </a:t>
            </a:r>
            <a:r>
              <a:rPr lang="ko-KR" altLang="en-US" sz="9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전패</a:t>
            </a:r>
            <a:endParaRPr lang="ko-KR" altLang="en-US" sz="900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43300" y="228600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69.4%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43300" y="27813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시간 평균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0.829 vs 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밖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0.491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3543300" y="32385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43300" y="3352800"/>
            <a:ext cx="2286000" cy="238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유지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자리는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내줌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나은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추석에도 나 혼자 산다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1.061·2.16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표기 특집으로는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0/5), 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라디오스타 추석특집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0.12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성적의 거의 전부를 중계가 만듦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6210300" y="1428750"/>
            <a:ext cx="2609850" cy="44767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621030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D98A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210300" y="1714500"/>
            <a:ext cx="2609850" cy="228600"/>
          </a:xfrm>
          <a:prstGeom prst="rect">
            <a:avLst/>
          </a:prstGeom>
          <a:solidFill>
            <a:srgbClr val="D98A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638175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JTBC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81750" y="2076450"/>
            <a:ext cx="2286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98A1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체급 안에서 알뜰한 운용 </a:t>
            </a:r>
            <a:r>
              <a:rPr lang="en-US" altLang="ko-KR" sz="900" smtClean="0">
                <a:solidFill>
                  <a:srgbClr val="D98A1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(4/5 </a:t>
            </a:r>
            <a:r>
              <a:rPr lang="ko-KR" altLang="en-US" sz="900" smtClean="0">
                <a:solidFill>
                  <a:srgbClr val="D98A1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성공</a:t>
            </a:r>
            <a:r>
              <a:rPr lang="en-US" altLang="ko-KR" sz="900" smtClean="0">
                <a:solidFill>
                  <a:srgbClr val="D98A1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D98A1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81750" y="228600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1.71</a:t>
            </a:r>
            <a:r>
              <a:rPr lang="ko-KR" altLang="en-US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81750" y="27813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헌트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3.36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〈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빅토리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2.54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6381750" y="32385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81750" y="3352800"/>
            <a:ext cx="2286000" cy="238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절대 수치는 낮지만 등위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7→6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최고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톡파원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25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 추석 스페셜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0.360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기준 미달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오히려 심야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낮에 돌린 특선영화 재방이 효율이 좋았음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빈 시간대를 재방권으로 메운 판단이 적중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9048750" y="1428750"/>
            <a:ext cx="2609850" cy="44767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904875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7C7C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9048750" y="1714500"/>
            <a:ext cx="2609850" cy="228600"/>
          </a:xfrm>
          <a:prstGeom prst="rect">
            <a:avLst/>
          </a:prstGeom>
          <a:solidFill>
            <a:srgbClr val="7C7C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922020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MBN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220200" y="2076450"/>
            <a:ext cx="2286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편성은 했으나 성적으로 이어지지 않음</a:t>
            </a:r>
            <a:endParaRPr lang="ko-KR" altLang="en-US" sz="90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20200" y="228600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1/4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20200" y="27813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더 나은 미래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홈런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1.70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배가 유일한 성과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9220200" y="32385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20200" y="3352800"/>
            <a:ext cx="2286000" cy="238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속풀이쇼 동치미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0.000.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27→23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올랐으나 특집 배수는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0.88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프로그램명에 명절 표기가 없어 집계 제외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금쪽같은 오둥이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록의 전설 콘서트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미분류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533400" y="6038850"/>
            <a:ext cx="11125200" cy="381000"/>
          </a:xfrm>
          <a:prstGeom prst="roundRect">
            <a:avLst>
              <a:gd name="adj" fmla="val 25000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723900" y="6115050"/>
            <a:ext cx="10744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3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 </a:t>
            </a:r>
            <a:r>
              <a:rPr lang="en-US" altLang="ko-KR" sz="93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비중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69.4%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최고이나 특집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0/5·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그대로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성적이 좋다고 특집이 통한 것은 아님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다음 명절에 벤치마킹할 것은 ‘채널 체급’보다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일관성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·JTBC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빈자리 효율</a:t>
            </a:r>
            <a:endParaRPr lang="ko-KR" altLang="en-US" sz="938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 여자농구 결승 전국 가구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10.0%(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뉴시스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703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ASIAN GAMES FACTOR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중계라는 변수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아시안게임이 없었다면 시장 확대는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+19.2%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수준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일의 각 시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時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지상파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중계 여부로 나눠 시장과 당사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사를 비교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89512"/>
              </p:ext>
            </p:extLst>
          </p:nvPr>
        </p:nvGraphicFramePr>
        <p:xfrm>
          <a:off x="533400" y="1428750"/>
          <a:ext cx="6858000" cy="95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xmlns="" val="257830393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xmlns="" val="176740764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43448121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21624955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30287549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xmlns="" val="84360351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xmlns="" val="63933866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해당 시간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기준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연휴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증감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당사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2049 3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사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판단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8396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중계가 있던 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60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4.56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6.71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+47.2%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+20.5%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시장 급팽창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7095206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중계가 없던 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36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2.62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3.12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+19.2%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-17.3%</a:t>
                      </a:r>
                      <a:endParaRPr lang="ko-KR" altLang="en-US" sz="93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역성장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631403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프라임 중 중계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15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7.70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10.60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+37.5%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+21.5%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밀렸으나 소폭 상승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600365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프라임 중 비중계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8.69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9.99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+15.0%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-4.5%</a:t>
                      </a:r>
                      <a:endParaRPr lang="ko-KR" altLang="en-US" sz="93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없이도 하락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1486758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3314700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지상파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중 하나라도 해당 시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時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이상을 중계로 덮으면 ‘중계가 있던 시간’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프로그램 행의 시청률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점유율이 함의하는 값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7620000" y="1428750"/>
            <a:ext cx="403860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810500" y="1562100"/>
            <a:ext cx="3714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지상파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 중계 편성 비중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10500" y="1866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8343900" y="1895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8343900" y="1895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306050" y="1866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69.4%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44200" y="1866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0.829 / 0.491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0500" y="2247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8343900" y="2276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8343900" y="2276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306050" y="2247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68.5%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44200" y="2247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1.005 / 0.493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0500" y="2628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KBS2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343900" y="2657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8343900" y="2657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0306050" y="2628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59.8%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44200" y="2628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0.427 / 0.184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10500" y="3009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KBS1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8343900" y="3038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8343900" y="3038475"/>
            <a:ext cx="28575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0306050" y="3009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39%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744200" y="3009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0.799 / 0.246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10500" y="3390900"/>
            <a:ext cx="3714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평균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밖 평균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2049). MBC·SBS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편성의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2/3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이상을 중계에 씀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810000"/>
            <a:ext cx="35433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981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952875"/>
            <a:ext cx="3086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① 시장 확대는 사실상 중계가 만듦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4191000"/>
            <a:ext cx="320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시간의 시장은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커진 반면 없던 시간은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대부분이 저녁 중계 시간대에 집중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4324350" y="3810000"/>
            <a:ext cx="35433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4495800" y="3981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610100" y="3952875"/>
            <a:ext cx="3086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② 당사는 중계 없는 시간에도 빠짐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95800" y="4191000"/>
            <a:ext cx="320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2049 3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사는 중계 시간대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+20.5%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시장을 일부 따라갔으나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중계가 없던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36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시간에는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-17.3%.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비중계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시간에서도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-4.5% —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부진을 중계 탓으로만 돌릴 수 없음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8115300" y="3810000"/>
            <a:ext cx="35433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8286750" y="3981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401050" y="3952875"/>
            <a:ext cx="3086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③ 다음 명절에 대한 함의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86750" y="4191000"/>
            <a:ext cx="320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없는 평범한 명절이면 시장 확대는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안팎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그 조건에서 이번과 같은 편성을 반복하면 시장이 커져도 점유를 잃음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중계를 빼고 보면 남는 문제는 프라임 콘텐츠 경쟁력 그 자체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0000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723900" y="5695950"/>
            <a:ext cx="107442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따라서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‘대형 중계 시간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 채널 포기’가 아니라 ‘고정비가 큰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프라임만 선택 회피’가 전략적 대안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회피 대상은 연휴 전체가 아니라 대형 이벤트가 겹친 저녁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아이치나고야 아시안게임」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「나고야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」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「여기는 나고야」 블록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4711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GENRE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명절 장르만 보면 ‘특선영화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&gt;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공연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음악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&gt;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예능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드라마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&gt;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교양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다큐’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특집 편성만 대상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영화도 작품별 편차가 크므로 ‘영화 장르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성공’으로 해석하면 안 됨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2609850" cy="2857500"/>
          </a:xfrm>
          <a:prstGeom prst="roundRect">
            <a:avLst>
              <a:gd name="adj" fmla="val 5109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>
            <a:outerShdw blurRad="209550" dist="76200" dir="5400000" rotWithShape="0">
              <a:srgbClr val="2C24CE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23900" y="1581150"/>
            <a:ext cx="22288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특선영화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3900" y="1847850"/>
            <a:ext cx="22288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863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863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805</a:t>
            </a:r>
            <a:r>
              <a:rPr lang="ko-KR" altLang="en-US" sz="863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endParaRPr lang="ko-KR" altLang="en-US" sz="863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3900" y="211455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평균 시청률</a:t>
            </a:r>
            <a:endParaRPr lang="ko-KR" altLang="en-US" sz="825">
              <a:solidFill>
                <a:srgbClr val="CDCBF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900" y="226695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1.015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900" y="27432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배수 </a:t>
            </a:r>
            <a:r>
              <a:rPr lang="en-US" altLang="ko-KR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</a:t>
            </a:r>
            <a:r>
              <a:rPr lang="en-US" altLang="ko-KR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대비</a:t>
            </a:r>
            <a:r>
              <a:rPr lang="en-US" altLang="ko-KR" sz="788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CDCBF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3900" y="289560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1.93</a:t>
            </a:r>
            <a:r>
              <a:rPr lang="ko-KR" altLang="en-US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3900" y="33528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 </a:t>
            </a:r>
            <a:r>
              <a:rPr lang="en-US" altLang="ko-KR" sz="863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3.499</a:t>
            </a:r>
            <a:endParaRPr lang="ko-KR" altLang="en-US" sz="863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3900" y="3543300"/>
            <a:ext cx="222885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825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825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SBS · TV </a:t>
            </a:r>
            <a:r>
              <a:rPr lang="ko-KR" altLang="en-US" sz="825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</a:t>
            </a:r>
            <a:r>
              <a:rPr lang="en-US" altLang="ko-KR" sz="825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25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825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0.508~3.499</a:t>
            </a:r>
            <a:endParaRPr lang="ko-KR" altLang="en-US" sz="825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371850" y="1428750"/>
            <a:ext cx="2609850" cy="285750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562350" y="1581150"/>
            <a:ext cx="22288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공연</a:t>
            </a:r>
            <a:r>
              <a:rPr lang="en-US" altLang="ko-KR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음악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2350" y="1847850"/>
            <a:ext cx="22288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315</a:t>
            </a:r>
            <a:r>
              <a:rPr lang="ko-KR" altLang="en-US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endParaRPr lang="ko-KR" altLang="en-US" sz="86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62350" y="211455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평균 시청률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2350" y="226695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0.580</a:t>
            </a:r>
            <a:endParaRPr lang="ko-KR" altLang="en-US" sz="2400" spc="-6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2350" y="27432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배수 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대비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2350" y="289560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4A43D8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2.17</a:t>
            </a:r>
            <a:r>
              <a:rPr lang="ko-KR" altLang="en-US" sz="2400" spc="-60" smtClean="0">
                <a:solidFill>
                  <a:srgbClr val="4A43D8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400" spc="-60">
              <a:solidFill>
                <a:srgbClr val="4A43D8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62350" y="33528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 </a:t>
            </a:r>
            <a:r>
              <a:rPr lang="en-US" altLang="ko-KR" sz="863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1.244</a:t>
            </a:r>
            <a:endParaRPr lang="ko-KR" altLang="en-US" sz="863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2350" y="3543300"/>
            <a:ext cx="222885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이은결 매직콘서트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SBS · 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가요무대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6.04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6210300" y="1428750"/>
            <a:ext cx="2609850" cy="285750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0" y="1581150"/>
            <a:ext cx="22288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예능</a:t>
            </a:r>
            <a:r>
              <a:rPr lang="en-US" altLang="ko-KR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드라마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1847850"/>
            <a:ext cx="22288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26</a:t>
            </a:r>
            <a:r>
              <a:rPr lang="ko-KR" altLang="en-US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1,607</a:t>
            </a:r>
            <a:r>
              <a:rPr lang="ko-KR" altLang="en-US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endParaRPr lang="ko-KR" altLang="en-US" sz="86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211455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평균 시청률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0" y="226695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0.298</a:t>
            </a:r>
            <a:endParaRPr lang="ko-KR" altLang="en-US" sz="2400" spc="-6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27432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배수 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대비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0" y="289560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6F69E2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1.19</a:t>
            </a:r>
            <a:r>
              <a:rPr lang="ko-KR" altLang="en-US" sz="2400" spc="-60" smtClean="0">
                <a:solidFill>
                  <a:srgbClr val="6F69E2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400" spc="-60">
              <a:solidFill>
                <a:srgbClr val="6F69E2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33528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 </a:t>
            </a:r>
            <a:r>
              <a:rPr lang="en-US" altLang="ko-KR" sz="863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1.061</a:t>
            </a:r>
            <a:endParaRPr lang="ko-KR" altLang="en-US" sz="863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0" y="3543300"/>
            <a:ext cx="222885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추석에도 나 혼자 산다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MBC · 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이승철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3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1.047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9048750" y="1428750"/>
            <a:ext cx="2609850" cy="285750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9239250" y="1581150"/>
            <a:ext cx="22288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교양</a:t>
            </a:r>
            <a:r>
              <a:rPr lang="en-US" altLang="ko-KR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다큐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39250" y="1847850"/>
            <a:ext cx="22288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145</a:t>
            </a:r>
            <a:r>
              <a:rPr lang="ko-KR" altLang="en-US" sz="86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endParaRPr lang="ko-KR" altLang="en-US" sz="86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39250" y="211455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평균 시청률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239250" y="226695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0.019</a:t>
            </a:r>
            <a:endParaRPr lang="ko-KR" altLang="en-US" sz="2400" spc="-6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39250" y="27432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배수 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대비</a:t>
            </a:r>
            <a:r>
              <a:rPr lang="en-US" altLang="ko-KR" sz="788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39250" y="2895600"/>
            <a:ext cx="2228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7C7C8C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0.13</a:t>
            </a:r>
            <a:r>
              <a:rPr lang="ko-KR" altLang="en-US" sz="2400" spc="-60" smtClean="0">
                <a:solidFill>
                  <a:srgbClr val="7C7C8C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400" spc="-60">
              <a:solidFill>
                <a:srgbClr val="7C7C8C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39250" y="3352800"/>
            <a:ext cx="2228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 </a:t>
            </a:r>
            <a:r>
              <a:rPr lang="en-US" altLang="ko-KR" sz="863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0.034</a:t>
            </a:r>
            <a:endParaRPr lang="ko-KR" altLang="en-US" sz="863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39250" y="3543300"/>
            <a:ext cx="222885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추석특선다큐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SBS ·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기준값의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분의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수준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533400" y="4476750"/>
            <a:ext cx="111252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723900" y="4591050"/>
            <a:ext cx="2857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경쟁사 특집 편성 분량 구성 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(2,872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723900" y="4819650"/>
            <a:ext cx="2992469" cy="1905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800100" y="4838700"/>
            <a:ext cx="2859119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특선영화 </a:t>
            </a:r>
            <a:r>
              <a:rPr lang="en-US" altLang="ko-KR" sz="788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28%</a:t>
            </a:r>
            <a:endParaRPr lang="ko-KR" altLang="en-US" sz="788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3735419" y="4819650"/>
            <a:ext cx="1159370" cy="190500"/>
          </a:xfrm>
          <a:prstGeom prst="roundRect">
            <a:avLst>
              <a:gd name="adj" fmla="val 15000"/>
            </a:avLst>
          </a:prstGeom>
          <a:solidFill>
            <a:srgbClr val="4A43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3811619" y="4838700"/>
            <a:ext cx="102602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공연</a:t>
            </a:r>
            <a:r>
              <a:rPr lang="en-US" altLang="ko-KR" sz="788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88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음악 </a:t>
            </a:r>
            <a:r>
              <a:rPr lang="en-US" altLang="ko-KR" sz="788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11%</a:t>
            </a:r>
            <a:endParaRPr lang="ko-KR" altLang="en-US" sz="788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4913839" y="4819650"/>
            <a:ext cx="5992763" cy="190500"/>
          </a:xfrm>
          <a:prstGeom prst="roundRect">
            <a:avLst>
              <a:gd name="adj" fmla="val 15000"/>
            </a:avLst>
          </a:prstGeom>
          <a:solidFill>
            <a:srgbClr val="A6A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4990039" y="4838700"/>
            <a:ext cx="5859414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예능</a:t>
            </a:r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드라마 </a:t>
            </a:r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56%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10925652" y="4819650"/>
            <a:ext cx="523398" cy="190500"/>
          </a:xfrm>
          <a:prstGeom prst="roundRect">
            <a:avLst>
              <a:gd name="adj" fmla="val 15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533400" y="5334000"/>
            <a:ext cx="11125200" cy="666750"/>
          </a:xfrm>
          <a:prstGeom prst="roundRect">
            <a:avLst>
              <a:gd name="adj" fmla="val 14286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723900" y="5410200"/>
            <a:ext cx="107442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자사 해석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편이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배를 크게 밑돈 것을 ‘명절에 영화가 안 통한다’로 읽으면 안 됨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전체에서 영화는 가장 강한 장르였음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반대로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교양의 부진은 경쟁사 교양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다큐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배와 같은 방향이라 장르 자체의 한계로 봐야 함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0401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FILM SOURCING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특선영화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12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흥행 규모보다 ‘채널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슬롯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최신성’이 성적을 갈랐다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막대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괄호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개봉연도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국내 누적 관객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TV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여부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편성은 채널 색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478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왕과 사는 남자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16192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· 9/26 22:31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500" y="14478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 · 1,692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500" y="16097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953000" y="1485900"/>
            <a:ext cx="53340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363200" y="15049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3.499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33400" y="17716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3400" y="18097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닥터 스트레인지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 (1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19812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9/25 22:11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57500" y="18097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2022 · 588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57500" y="19716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4953000" y="1847850"/>
            <a:ext cx="192405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953250" y="18669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1.262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533400" y="21336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" y="21717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닥터 스트레인지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 (2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3400" y="23431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9/25 23:15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57500" y="21717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2022 · 588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57500" y="23336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953000" y="2209800"/>
            <a:ext cx="1819275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48475" y="22288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1.192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533400" y="24955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3400" y="25336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가디언즈 오브 갤럭시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 (2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27051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9/26 19:31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7500" y="25336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2023 · 421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57500" y="26955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953000" y="2571750"/>
            <a:ext cx="14859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6515100" y="25908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0.975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533400" y="28575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3400" y="28956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어쩔수가없다 확장판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3400" y="30670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9/24 22:20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57500" y="28956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2025 · 250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57500" y="30575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953000" y="2933700"/>
            <a:ext cx="942975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5972175" y="29527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0.618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533400" y="32194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3400" y="32575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가디언즈 오브 갤럭시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 (1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3400" y="34290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9/26 18:28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57500" y="3257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2023 · 421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57500" y="34194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4953000" y="3295650"/>
            <a:ext cx="771525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5800725" y="33147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0.508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533400" y="35814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3400" y="36195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도굴 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400" y="37909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· 9/26 11:12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57500" y="36195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2020 · 154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57500" y="37814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953000" y="3657600"/>
            <a:ext cx="333375" cy="209550"/>
          </a:xfrm>
          <a:prstGeom prst="roundRect">
            <a:avLst>
              <a:gd name="adj" fmla="val 1363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5362575" y="36766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0.220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0.82)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533400" y="39433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3400" y="39814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헌트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41529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 · 9/25 02:00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57500" y="39814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2022 · 435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57500" y="41433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4953000" y="4019550"/>
            <a:ext cx="285750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5314950" y="40386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0.188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533400" y="43053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3400" y="43434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빅토리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33400" y="45148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 · 9/25 13:48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57500" y="43434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2024 · 66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57500" y="45053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953000" y="4381500"/>
            <a:ext cx="238125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267325" y="44005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0.159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533400" y="46672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33400" y="47053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도굴 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3400" y="48768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· 9/25 22:48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57500" y="47053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2020 · 154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857500" y="48672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4953000" y="4743450"/>
            <a:ext cx="219075" cy="209550"/>
          </a:xfrm>
          <a:prstGeom prst="roundRect">
            <a:avLst>
              <a:gd name="adj" fmla="val 1363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5248275" y="47625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0.144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0.55)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76" name="직선 연결선 75"/>
          <p:cNvCxnSpPr/>
          <p:nvPr/>
        </p:nvCxnSpPr>
        <p:spPr>
          <a:xfrm>
            <a:off x="533400" y="50292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33400" y="50673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아이 캔 스피크</a:t>
            </a:r>
            <a:endParaRPr lang="ko-KR" altLang="en-US" sz="938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3400" y="52387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· 9/26 14:31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57500" y="50673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2017 · 328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857500" y="52292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4953000" y="5105400"/>
            <a:ext cx="28575" cy="2095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5057775" y="51244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0.006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0.04)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83" name="직선 연결선 82"/>
          <p:cNvCxnSpPr/>
          <p:nvPr/>
        </p:nvCxnSpPr>
        <p:spPr>
          <a:xfrm>
            <a:off x="533400" y="53911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3400" y="54292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검은 사제들</a:t>
            </a:r>
            <a:endParaRPr lang="ko-KR" altLang="en-US" sz="938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400" y="56007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· 9/26 06:55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857500" y="54292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2015 · 544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857500" y="55911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953000" y="5467350"/>
            <a:ext cx="28575" cy="2095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5057775" y="54864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0.003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0.17)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334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7239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타사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20955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22860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타사 재방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3524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3714750" y="58102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4286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4476750" y="5810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5715000" y="5715000"/>
            <a:ext cx="59436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5905500" y="5791200"/>
            <a:ext cx="5562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편은 전부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SBS·tvN,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편은 전부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JTBC·ENA·ENA Play —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체급과 공개 방식이 완전히 겹침</a:t>
            </a:r>
            <a:endParaRPr lang="ko-KR" altLang="en-US" sz="863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개봉연도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관객은 영화진흥위원회 통계 및 언론 보도 인용 근사치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반올림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괄호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얇은 글씨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)=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채널만 표기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경쟁사는 가구 데이터 미보유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9612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FILM SOURCING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영화 성과의 대부분은 채널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슬롯 선택에서 나왔다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누적 관객은 기준이 못 됨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체급 대비 배수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작품 시청률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해당 채널 연휴 평균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이번 표본만으로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효과를 인과로 단정할 수는 없지만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 기준은 바꿀 필요가 있음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228675"/>
              </p:ext>
            </p:extLst>
          </p:nvPr>
        </p:nvGraphicFramePr>
        <p:xfrm>
          <a:off x="533400" y="1428750"/>
          <a:ext cx="6191250" cy="2476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xmlns="" val="2280990166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xmlns="" val="180166859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xmlns="" val="270813321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95259096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xmlns="" val="41549474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61234039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xmlns="" val="249520476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작품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개봉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누적 관객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체급 대비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순위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741653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왕과 사는 남자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1,692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3.499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4.45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30814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닥터 스트레인지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 (1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tvN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588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1.262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3.05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9967023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닥터 스트레인지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 (2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tvN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588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1.192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2.88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5731369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가디언즈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 (2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tvN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2023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421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0.975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2.36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2836205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도굴 </a:t>
                      </a:r>
                      <a:r>
                        <a:rPr lang="en-US" altLang="ko-KR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오전</a:t>
                      </a:r>
                      <a:r>
                        <a:rPr lang="en-US" altLang="ko-KR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154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0.220</a:t>
                      </a:r>
                      <a:r>
                        <a:rPr lang="en-US" altLang="ko-KR" sz="763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(0.82)</a:t>
                      </a:r>
                      <a:endParaRPr lang="ko-KR" altLang="en-US" sz="763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1.95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원순위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6607732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어쩔수가없다 확장판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tvN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250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0.618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1.49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757904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도굴 </a:t>
                      </a:r>
                      <a:r>
                        <a:rPr lang="en-US" altLang="ko-KR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심야</a:t>
                      </a:r>
                      <a:r>
                        <a:rPr lang="en-US" altLang="ko-KR" sz="863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154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0.144</a:t>
                      </a:r>
                      <a:r>
                        <a:rPr lang="en-US" altLang="ko-KR" sz="763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(0.55)</a:t>
                      </a:r>
                      <a:endParaRPr lang="ko-KR" altLang="en-US" sz="763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1.27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원순위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2437825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가디언즈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 (1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부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tvN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2023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421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0.508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1.23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7040016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헌트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재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JTBC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435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0.188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1.15</a:t>
                      </a: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1040897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빅토리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재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JTBC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0.159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0.98</a:t>
                      </a: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8653259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아이 캔 스피크</a:t>
                      </a:r>
                      <a:endParaRPr lang="ko-KR" altLang="en-US" sz="863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Play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2017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0.006</a:t>
                      </a:r>
                      <a:r>
                        <a:rPr lang="en-US" altLang="ko-KR" sz="763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(0.04)</a:t>
                      </a:r>
                      <a:endParaRPr lang="ko-KR" altLang="en-US" sz="763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0.23</a:t>
                      </a: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6287077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검은 사제들</a:t>
                      </a:r>
                      <a:endParaRPr lang="ko-KR" altLang="en-US" sz="863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Play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2015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544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r>
                        <a:rPr lang="en-US" altLang="ko-KR" sz="763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(0.17)</a:t>
                      </a:r>
                      <a:endParaRPr lang="ko-KR" altLang="en-US" sz="763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0.12</a:t>
                      </a:r>
                      <a:r>
                        <a:rPr lang="ko-KR" altLang="en-US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95785786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6858000" y="1428750"/>
            <a:ext cx="48006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7029450" y="16002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143750" y="1571625"/>
            <a:ext cx="43434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통계 검증 ①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채널이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98%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를 설명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29450" y="1809750"/>
            <a:ext cx="44577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log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스케일 변동의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98.0%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채널 간에서 발생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체급만으로 설명력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R² 0.954.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전체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1,166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격차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(3.499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0.003)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 채널 안에서 생긴 폭은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2.48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·ENA Play 2.00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·ENA 1.53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배에 그침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858000" y="2667000"/>
            <a:ext cx="4800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7029450" y="2838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143750" y="2809875"/>
            <a:ext cx="43434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통계 검증 ②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슬롯만 바꿔도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0.95~1.92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29450" y="3048000"/>
            <a:ext cx="4457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가디언즈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3〉 18:28 0.508 → 19:31 0.975 (1.92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도굴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0.144 →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0.220 (1.53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내부 변동폭과 같은 크기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 설계를 작품 선택과 같은 비중으로 다뤄야 함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6858000" y="3810000"/>
            <a:ext cx="4800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029450" y="3981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143750" y="3952875"/>
            <a:ext cx="43434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통계 검증 ③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누적 관객이 많은 구작이 유리하다는 증거 없음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4191000"/>
            <a:ext cx="4457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내부 누적 관객 대 체급 대비 배수 순위상관 −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0.52.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관객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544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검은 사제들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중 배수 최하위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(0.12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154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도굴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구작 최상위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(1.95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 최근성도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내부에서는 −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0.79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역전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533400" y="501015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23900" y="508635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수급 기준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①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가능 여부 → ② 개봉 후 경과기간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년 이내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→ ③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우리 채널 체급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슬롯에서의 과거 상대 성과 → ④ 시간대 적합도 순으로 평가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‘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관객수’ 단독 판단은 배제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이는 가설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연간 특선영화 편성을 전수 축적해 동일 채널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 반복 편성으로 검증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필요 표본 약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46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3400" y="5695950"/>
            <a:ext cx="1112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해석 한계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편이 전부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SBS·tvN,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편이 전부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JTBC·ENA·ENA Play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채널 체급과 완전히 겹쳐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군간 분리 계수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1.000) ‘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공개가 이겼다’와 ‘큰 채널이 이겼다’가 같은 문장이 됨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시간대도 최초 공개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편이 모두 프라임이라 층화로도 분리 불가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개봉연도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관객은 영화진흥위원회 통계 및 언론 보도 인용 근사치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괄호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얇은 글씨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)=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채널만 표기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경쟁사는 가구 데이터 미보유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52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ASIAN GAMES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아시안게임은 ‘강한 종목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강한 라운드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저녁’에서 폭발했다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 전국 가구 시청률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언론 보도 인용 닐슨 공표치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모집단이 달라 직접 비교하지 않음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28750"/>
            <a:ext cx="2857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전국 가구 시청률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0" y="142875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수도권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00" y="16764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결승 한국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일본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18573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19:20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762250" y="1733550"/>
            <a:ext cx="2000250" cy="1905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838700" y="17335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10.0%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0" y="17430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9.7%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286500" y="17335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KBS1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96100" y="17430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분당 최고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19.3% ·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대회 최고치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400" y="211455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남자축구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8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강 베트남전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0" y="229552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—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762250" y="2171700"/>
            <a:ext cx="1260158" cy="1905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098608" y="217170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6.3%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0" y="218122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286500" y="217170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KBS2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96100" y="218122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5.3% / SBS 2.3%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" y="25527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육상 남녀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100m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결승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400" y="27336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22:05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2762250" y="2609850"/>
            <a:ext cx="1100138" cy="1905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938588" y="26098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5.5%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34000" y="26193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4.9%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6286500" y="26098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96100" y="26193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시청자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150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천 명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299085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야구 슈퍼라운드 한국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중국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3400" y="317182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18:30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762250" y="3048000"/>
            <a:ext cx="860108" cy="190500"/>
          </a:xfrm>
          <a:prstGeom prst="roundRect">
            <a:avLst>
              <a:gd name="adj" fmla="val 15000"/>
            </a:avLst>
          </a:prstGeom>
          <a:solidFill>
            <a:srgbClr val="A6A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3698558" y="304800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4.3%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34000" y="305752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4.6%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286500" y="304800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96100" y="305752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3.7% / KBS2 3.0%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34290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준결승 한국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중국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3400" y="36099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16:00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2762250" y="3486150"/>
            <a:ext cx="780097" cy="190500"/>
          </a:xfrm>
          <a:prstGeom prst="roundRect">
            <a:avLst>
              <a:gd name="adj" fmla="val 15000"/>
            </a:avLst>
          </a:prstGeom>
          <a:solidFill>
            <a:srgbClr val="A6A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3618547" y="34861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3.9%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0" y="34956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3.7%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6286500" y="34861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96100" y="34956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종목별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400" y="386715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사격 혼성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10m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공기권총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3400" y="404812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12:00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762250" y="3924300"/>
            <a:ext cx="540067" cy="190500"/>
          </a:xfrm>
          <a:prstGeom prst="roundRect">
            <a:avLst>
              <a:gd name="adj" fmla="val 15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378517" y="392430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2.7%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34000" y="393382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6286500" y="392430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96100" y="393382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3400" y="43053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탁구 혼합복식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남자복식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3400" y="44862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2762250" y="4362450"/>
            <a:ext cx="520065" cy="190500"/>
          </a:xfrm>
          <a:prstGeom prst="roundRect">
            <a:avLst>
              <a:gd name="adj" fmla="val 15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3358515" y="43624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2.6%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4000" y="43719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6286500" y="43624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96100" y="43719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9144000" y="1428750"/>
            <a:ext cx="2514600" cy="3067050"/>
          </a:xfrm>
          <a:prstGeom prst="roundRect">
            <a:avLst>
              <a:gd name="adj" fmla="val 530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>
            <a:outerShdw blurRad="209550" dist="76200" dir="5400000" rotWithShape="0">
              <a:srgbClr val="2C24CE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9334500" y="1600200"/>
            <a:ext cx="2133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당사에 가장 위험했던 구간</a:t>
            </a:r>
            <a:endParaRPr lang="ko-KR" altLang="en-US" sz="900">
              <a:solidFill>
                <a:srgbClr val="CDCBF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334500" y="1809750"/>
            <a:ext cx="22479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425" spc="-4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09/26 18:30~21:30</a:t>
            </a:r>
            <a:endParaRPr lang="ko-KR" altLang="en-US" sz="1425" spc="-4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34500" y="2114550"/>
            <a:ext cx="2133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한중전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펜싱 사브르 결승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결승이 연달아 편성된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</a:t>
            </a:r>
            <a:endParaRPr lang="ko-KR" altLang="en-US" sz="8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34500" y="255270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10134600" y="257175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10134600" y="2571750"/>
            <a:ext cx="600075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11239500" y="255270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0.115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34500" y="280035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134600" y="281940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134600" y="2819400"/>
            <a:ext cx="238125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11239500" y="280035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0.046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34500" y="304800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10134600" y="306705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모서리가 둥근 직사각형 71"/>
          <p:cNvSpPr/>
          <p:nvPr/>
        </p:nvSpPr>
        <p:spPr>
          <a:xfrm>
            <a:off x="10134600" y="306705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11239500" y="304800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34500" y="329565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10134600" y="331470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10134600" y="3314700"/>
            <a:ext cx="923925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11239500" y="329565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0.176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334500" y="3600450"/>
            <a:ext cx="21336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 2.734. 2049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채널은 사실상 비고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시청층이 덜 겹치는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당사 최고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회피 대상은 연휴 전체가 아니라 이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</a:t>
            </a:r>
            <a:endParaRPr lang="ko-KR" altLang="en-US" sz="8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533400" y="4762500"/>
            <a:ext cx="11125200" cy="628650"/>
          </a:xfrm>
          <a:prstGeom prst="roundRect">
            <a:avLst>
              <a:gd name="adj" fmla="val 1515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723900" y="4838700"/>
            <a:ext cx="107442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해석 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 시장을 가져간 것은 강도 높은 단일 이벤트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상위 세 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10.0%,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남자축구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강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6.3%,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한중전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4.3%)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모두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저녁에 겹침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대회라도 예선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중간 라운드는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한중전은 지상파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동시 중계에서도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4.6% / MBC 3.3% / KBS2 2.8%(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갈림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중계권만으로 성적이 정해지지 않음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33400" y="5524500"/>
            <a:ext cx="1112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육상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100m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결승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(22:05~22:25)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구간에 당사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0.038·ENA Play 0.002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사실상 비었고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가구 채널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 0.118·ONCE 0.141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그 자리를 메움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심야에도 강한 이벤트가 들어오면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시청이 통째로 빠짐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남자축구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강은 원 보고서 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09/26(KBS2 6.3%)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정정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근거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뉴시스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iMBC 09/26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뉴스엔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닐슨코리아 공표치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/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수치는 내부 닐슨 실측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6479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ASIAN GAMES × ENA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경기 시각별 당사 시청률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낮 경기에서는 버텼고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 결승 구간에서 비었다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주지표 기준 해당 시각 시간가중 평균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(ENA·ENA Play·ENA Drama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/ OLIFE·ONCE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위는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블록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795924"/>
              </p:ext>
            </p:extLst>
          </p:nvPr>
        </p:nvGraphicFramePr>
        <p:xfrm>
          <a:off x="533400" y="1428750"/>
          <a:ext cx="828675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xmlns="" val="129091438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398222469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xmlns="" val="264296777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xmlns="" val="89847868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9586652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404971357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41082424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3434659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899843888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경기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공식 경기 시각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시각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시간대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Play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Drama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ONCE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4251961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배드민턴 여자 단체전 결승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09:30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0.754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0.255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1866008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탁구 혼합복식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강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10:00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0.606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0.119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6755090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탁구 남자복식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강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11:15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0.606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0.154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0.181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0F7F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0.036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9E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0.142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7982574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사격 혼성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10m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공기권총 결선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12:00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0.606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0.154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0.036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9E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0.093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675884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여자농구 준결승 한국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-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중국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16:00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KBS1 0.739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0.180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0.193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12253887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야구 슈퍼라운드 한국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-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일본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18:30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1.914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0.149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0.023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0.168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558897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육상 남녀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100m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결승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22:05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1.547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0.039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9E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0.141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887874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야구 슈퍼라운드 한국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-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중국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18:30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KBS1 2.734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0.190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252617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09/26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펜싱 남자 사브르 단체 결승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18:45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KBS1 2.734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0.219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2468899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09/26</a:t>
                      </a:r>
                      <a:endParaRPr lang="ko-KR" altLang="en-US" sz="863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여자농구 결승 한국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-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일본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19:20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KBS1 2.734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0.115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0.176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0906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야구 금메달 결정전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18:30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2.866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0.258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CEBF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0.054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0.013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0.166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0.050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02892329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533400" y="495300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3900" y="502920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09:30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배드민턴 결승 시각에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0.255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평소 수준 유지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반면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18:30~21:30(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펜싱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 연속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0.115·ENA Play 0.046·ENA Drama 0.001. 09/25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육상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100m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결승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(22:05)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채널은 비었으나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 0.118·ONCE 0.141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버팀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시간대에는 가구 채널이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채널보다 잘 버팀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56388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경기 시각은 공식 경기 일정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한국시간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블록은 닐슨 실측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2049·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경기 시각 커버율 순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닐슨이 중계를 장시간 블록으로 묶어 집계하므로 블록 평균을 개별 경기 성적으로 읽지 않음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결승만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19:30~21:16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단독 프로그램으로 편성해 경기 단위 실측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(2.734)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존재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색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해당 채널 최대치의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2/3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연한 빨강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1/5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미만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8078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PRIME SLOT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프라임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18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~23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24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슬롯 중 아시안게임 중계가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개를 가져갔다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18~24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 단위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칸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1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채널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최고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(ENA·ENA Play·ENA Drama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격차 배수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50" y="1428750"/>
            <a:ext cx="1714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81325" y="1428750"/>
            <a:ext cx="1714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24400" y="1428750"/>
            <a:ext cx="1714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7475" y="1428750"/>
            <a:ext cx="1714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21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10550" y="1428750"/>
            <a:ext cx="1714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53625" y="1428750"/>
            <a:ext cx="1714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" y="200025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238250" y="1638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333500" y="1714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33500" y="1885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33500" y="2057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0.921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33500" y="2305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0.031 · 30.1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2981325" y="1638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3076575" y="1714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76575" y="1885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76575" y="2057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0.921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76575" y="2305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0.253 · 3.6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724400" y="1638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819650" y="1714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tvN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19650" y="1885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축구 국가대표 친선경기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9650" y="2057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1.757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19650" y="2305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0.253 · 6.9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6467475" y="1638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562725" y="1714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tvN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62725" y="1885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축구 국가대표 친선경기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2725" y="2057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1.757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62725" y="2305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0.237 · 7.4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8210550" y="1638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7E6FB"/>
          </a:solidFill>
          <a:ln w="9525">
            <a:solidFill>
              <a:srgbClr val="2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305800" y="1714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JTBC ·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일반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5800" y="1885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이혼숙려캠프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5800" y="2057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0.730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05800" y="2305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0.579 · 1.3</a:t>
            </a:r>
            <a:r>
              <a:rPr lang="ko-KR" altLang="en-US" sz="78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9953625" y="1638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7E6FB"/>
          </a:solidFill>
          <a:ln w="9525">
            <a:solidFill>
              <a:srgbClr val="2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10048875" y="1714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JTBC ·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일반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048875" y="1885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이혼숙려캠프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8875" y="2057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0.730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48875" y="2305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0.579 · 1.3</a:t>
            </a:r>
            <a:r>
              <a:rPr lang="ko-KR" altLang="en-US" sz="78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400" y="295275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238250" y="2590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1333500" y="2667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33500" y="2838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33500" y="3009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1.914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3500" y="3257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0.120 · 16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2981325" y="2590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3076575" y="2667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076575" y="2838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76575" y="3009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1.914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076575" y="3257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0.102 · 18.8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724400" y="2590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819650" y="2667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19650" y="2838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19650" y="3009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1.914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819650" y="3257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0.311 · 6.2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6467475" y="2590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6562725" y="2667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62725" y="2838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562725" y="3009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1.547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562725" y="3257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0.039 · 39.8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8210550" y="2590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8305800" y="2667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05800" y="2838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305800" y="3009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1.547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305800" y="3257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0.039 · 39.8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9953625" y="2590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0048875" y="2667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 ·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일반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048875" y="2838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 혼자 산다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048875" y="3009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1.509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048875" y="3257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0.144 · 10.5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3400" y="390525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238250" y="3543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1333500" y="3619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333500" y="3790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333500" y="3962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1.598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333500" y="4210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0.105 · 15.2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2981325" y="3543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3076575" y="3619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KBS1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076575" y="3790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076575" y="3962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2.734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076575" y="4210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0.105 · 26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4724400" y="3543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4819650" y="3619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KBS1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819650" y="3790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819650" y="3962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2.734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819650" y="4210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0.128 · 21.4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6467475" y="3543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6562725" y="3619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tvN ·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일반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62725" y="3790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포핸즈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562725" y="3962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2.110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562725" y="4210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0.100 · 21.2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8210550" y="3543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8305800" y="3619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일반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305800" y="3790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305800" y="3962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3.499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305800" y="4210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0.100 · 35.1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9953625" y="35433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10048875" y="36195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일반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0048875" y="37909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048875" y="39624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3.499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048875" y="42100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0.038 · 92.9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33400" y="485775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1238250" y="4495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/>
          <p:cNvSpPr txBox="1"/>
          <p:nvPr/>
        </p:nvSpPr>
        <p:spPr>
          <a:xfrm>
            <a:off x="1333500" y="4572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333500" y="4743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333500" y="4914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2.866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333500" y="5162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0.229 · 12.5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2981325" y="4495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3076575" y="4572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076575" y="4743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076575" y="4914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2.866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076575" y="5162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0.128 · 22.5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4724400" y="4495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4819650" y="4572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819650" y="4743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819650" y="4914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2.866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819650" y="5162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0.392 · 7.3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6467475" y="4495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/>
          <p:cNvSpPr txBox="1"/>
          <p:nvPr/>
        </p:nvSpPr>
        <p:spPr>
          <a:xfrm>
            <a:off x="6562725" y="4572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562725" y="4743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562725" y="4914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2.866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562725" y="5162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0.392 · 7.3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7" name="모서리가 둥근 직사각형 126"/>
          <p:cNvSpPr/>
          <p:nvPr/>
        </p:nvSpPr>
        <p:spPr>
          <a:xfrm>
            <a:off x="8210550" y="4495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EEEF3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/>
          <p:cNvSpPr txBox="1"/>
          <p:nvPr/>
        </p:nvSpPr>
        <p:spPr>
          <a:xfrm>
            <a:off x="8305800" y="4572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 ·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305800" y="4743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나고야</a:t>
            </a:r>
            <a:r>
              <a:rPr lang="en-US" altLang="ko-KR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8305800" y="4914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2.866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305800" y="5162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0.397 · 7.2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2" name="모서리가 둥근 직사각형 131"/>
          <p:cNvSpPr/>
          <p:nvPr/>
        </p:nvSpPr>
        <p:spPr>
          <a:xfrm>
            <a:off x="9953625" y="44958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/>
          <p:cNvSpPr txBox="1"/>
          <p:nvPr/>
        </p:nvSpPr>
        <p:spPr>
          <a:xfrm>
            <a:off x="10048875" y="457200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 ·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일반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48875" y="47434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추석에도 나 혼자 산다</a:t>
            </a:r>
            <a:endParaRPr lang="ko-KR" altLang="en-US" sz="788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048875" y="4914900"/>
            <a:ext cx="762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1.061</a:t>
            </a:r>
            <a:endParaRPr lang="ko-KR" altLang="en-US" sz="12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10048875" y="5162550"/>
            <a:ext cx="152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0.397 · 2.7</a:t>
            </a:r>
            <a:r>
              <a:rPr lang="ko-KR" altLang="en-US" sz="788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88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533400" y="558165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TextBox 137"/>
          <p:cNvSpPr txBox="1"/>
          <p:nvPr/>
        </p:nvSpPr>
        <p:spPr>
          <a:xfrm>
            <a:off x="723900" y="565785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위인 슬롯에서는 격차가 대부분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이상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위가 일반 편성인 슬롯에서는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안팎까지 좁혀짐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당사가 가장 근접한 자리는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22~23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(JTBC 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이혼숙려캠프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0.730 vs ENA 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SOLO〉 0.579, 1.3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전야 프라임이 당사 연휴 최고 실적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1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프로그램명은 닐슨 표기 축약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회색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파란색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일반 편성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진한 파란색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격차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미만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412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PRIME SHARE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2049 3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사 프라임 점유율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전야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10.1% → 09/26 1.1% →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마지막날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3.1%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공휴일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주말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18~23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평일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단위 가중 평균 점유율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(%).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ENA·ENA Play·ENA Drama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합계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238250" y="53340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52578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38250" y="45085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500" y="44323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238250" y="36830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500" y="36068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238250" y="28575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" y="27813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1238250" y="20320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" y="19558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3688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05375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77063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48750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자유형 21"/>
          <p:cNvSpPr/>
          <p:nvPr/>
        </p:nvSpPr>
        <p:spPr>
          <a:xfrm>
            <a:off x="1238250" y="1932940"/>
            <a:ext cx="8286751" cy="3013076"/>
          </a:xfrm>
          <a:custGeom>
            <a:avLst/>
            <a:gdLst/>
            <a:ahLst/>
            <a:cxnLst/>
            <a:rect l="0" t="0" r="0" b="0"/>
            <a:pathLst>
              <a:path w="8286751" h="3013076">
                <a:moveTo>
                  <a:pt x="0" y="3013075"/>
                </a:moveTo>
                <a:lnTo>
                  <a:pt x="2071688" y="2798445"/>
                </a:lnTo>
                <a:lnTo>
                  <a:pt x="4143375" y="2014220"/>
                </a:lnTo>
                <a:lnTo>
                  <a:pt x="6215063" y="0"/>
                </a:lnTo>
                <a:lnTo>
                  <a:pt x="8286750" y="1717040"/>
                </a:lnTo>
              </a:path>
            </a:pathLst>
          </a:custGeom>
          <a:ln w="23813">
            <a:solidFill>
              <a:srgbClr val="262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204913" y="4912678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3276600" y="4698047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5348288" y="3913822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419975" y="1899602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491663" y="3616642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072313" y="168529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41.2%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9906000" y="1752600"/>
            <a:ext cx="266700" cy="0"/>
          </a:xfrm>
          <a:prstGeom prst="line">
            <a:avLst/>
          </a:prstGeom>
          <a:ln w="28575">
            <a:solidFill>
              <a:srgbClr val="262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248900" y="167640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자유형 30"/>
          <p:cNvSpPr/>
          <p:nvPr/>
        </p:nvSpPr>
        <p:spPr>
          <a:xfrm>
            <a:off x="1238250" y="3996690"/>
            <a:ext cx="8286751" cy="792481"/>
          </a:xfrm>
          <a:custGeom>
            <a:avLst/>
            <a:gdLst/>
            <a:ahLst/>
            <a:cxnLst/>
            <a:rect l="0" t="0" r="0" b="0"/>
            <a:pathLst>
              <a:path w="8286751" h="792481">
                <a:moveTo>
                  <a:pt x="0" y="222885"/>
                </a:moveTo>
                <a:lnTo>
                  <a:pt x="2071688" y="792480"/>
                </a:lnTo>
                <a:lnTo>
                  <a:pt x="4143375" y="41275"/>
                </a:lnTo>
                <a:lnTo>
                  <a:pt x="6215063" y="363220"/>
                </a:lnTo>
                <a:lnTo>
                  <a:pt x="8286750" y="0"/>
                </a:lnTo>
              </a:path>
            </a:pathLst>
          </a:custGeom>
          <a:ln w="23813">
            <a:solidFill>
              <a:srgbClr val="7C7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1204913" y="4186238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3276600" y="4755833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5348288" y="4004628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7419975" y="4326572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9491663" y="3963353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/>
          <p:cNvCxnSpPr/>
          <p:nvPr/>
        </p:nvCxnSpPr>
        <p:spPr>
          <a:xfrm>
            <a:off x="9906000" y="2000250"/>
            <a:ext cx="266700" cy="0"/>
          </a:xfrm>
          <a:prstGeom prst="line">
            <a:avLst/>
          </a:prstGeom>
          <a:ln w="28575">
            <a:solidFill>
              <a:srgbClr val="7C7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248900" y="192405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자유형 38"/>
          <p:cNvSpPr/>
          <p:nvPr/>
        </p:nvSpPr>
        <p:spPr>
          <a:xfrm>
            <a:off x="1238250" y="4211320"/>
            <a:ext cx="8286751" cy="726441"/>
          </a:xfrm>
          <a:custGeom>
            <a:avLst/>
            <a:gdLst/>
            <a:ahLst/>
            <a:cxnLst/>
            <a:rect l="0" t="0" r="0" b="0"/>
            <a:pathLst>
              <a:path w="8286751" h="726441">
                <a:moveTo>
                  <a:pt x="0" y="156845"/>
                </a:moveTo>
                <a:lnTo>
                  <a:pt x="2071688" y="726440"/>
                </a:lnTo>
                <a:lnTo>
                  <a:pt x="4143375" y="685165"/>
                </a:lnTo>
                <a:lnTo>
                  <a:pt x="6215063" y="0"/>
                </a:lnTo>
                <a:lnTo>
                  <a:pt x="8286750" y="198120"/>
                </a:lnTo>
              </a:path>
            </a:pathLst>
          </a:custGeom>
          <a:ln w="23813">
            <a:solidFill>
              <a:srgbClr val="A6A6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1204913" y="4334828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3276600" y="4904422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348288" y="4863147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7419975" y="4177983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9491663" y="4376103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/>
          <p:cNvCxnSpPr/>
          <p:nvPr/>
        </p:nvCxnSpPr>
        <p:spPr>
          <a:xfrm>
            <a:off x="9906000" y="2247900"/>
            <a:ext cx="266700" cy="0"/>
          </a:xfrm>
          <a:prstGeom prst="line">
            <a:avLst/>
          </a:prstGeom>
          <a:ln w="28575">
            <a:solidFill>
              <a:srgbClr val="A6A6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248900" y="217170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자유형 46"/>
          <p:cNvSpPr/>
          <p:nvPr/>
        </p:nvSpPr>
        <p:spPr>
          <a:xfrm>
            <a:off x="1238250" y="4359910"/>
            <a:ext cx="8286751" cy="454026"/>
          </a:xfrm>
          <a:custGeom>
            <a:avLst/>
            <a:gdLst/>
            <a:ahLst/>
            <a:cxnLst/>
            <a:rect l="0" t="0" r="0" b="0"/>
            <a:pathLst>
              <a:path w="8286751" h="454026">
                <a:moveTo>
                  <a:pt x="0" y="148590"/>
                </a:moveTo>
                <a:lnTo>
                  <a:pt x="2071688" y="0"/>
                </a:lnTo>
                <a:lnTo>
                  <a:pt x="4143375" y="255905"/>
                </a:lnTo>
                <a:lnTo>
                  <a:pt x="6215063" y="280670"/>
                </a:lnTo>
                <a:lnTo>
                  <a:pt x="8286750" y="454025"/>
                </a:lnTo>
              </a:path>
            </a:pathLst>
          </a:custGeom>
          <a:ln w="23813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1204913" y="4475163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3276600" y="4326572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5348288" y="4582478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7419975" y="4607242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9491663" y="4780597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연결선 52"/>
          <p:cNvCxnSpPr/>
          <p:nvPr/>
        </p:nvCxnSpPr>
        <p:spPr>
          <a:xfrm>
            <a:off x="9906000" y="2495550"/>
            <a:ext cx="266700" cy="0"/>
          </a:xfrm>
          <a:prstGeom prst="line">
            <a:avLst/>
          </a:prstGeom>
          <a:ln w="28575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248900" y="241935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자유형 54"/>
          <p:cNvSpPr/>
          <p:nvPr/>
        </p:nvSpPr>
        <p:spPr>
          <a:xfrm>
            <a:off x="1238250" y="4500245"/>
            <a:ext cx="8286751" cy="742951"/>
          </a:xfrm>
          <a:custGeom>
            <a:avLst/>
            <a:gdLst/>
            <a:ahLst/>
            <a:cxnLst/>
            <a:rect l="0" t="0" r="0" b="0"/>
            <a:pathLst>
              <a:path w="8286751" h="742951">
                <a:moveTo>
                  <a:pt x="0" y="0"/>
                </a:moveTo>
                <a:lnTo>
                  <a:pt x="2071688" y="454025"/>
                </a:lnTo>
                <a:lnTo>
                  <a:pt x="4143375" y="660400"/>
                </a:lnTo>
                <a:lnTo>
                  <a:pt x="6215063" y="742950"/>
                </a:lnTo>
                <a:lnTo>
                  <a:pt x="8286750" y="577850"/>
                </a:lnTo>
              </a:path>
            </a:pathLst>
          </a:custGeom>
          <a:ln w="47625">
            <a:solidFill>
              <a:srgbClr val="2C24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1181100" y="444309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3252788" y="4897120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5324475" y="510349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7396163" y="518604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9467850" y="502094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52500" y="459549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24188" y="5049520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4.6%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95875" y="525589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167563" y="533844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239250" y="517334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cxnSp>
        <p:nvCxnSpPr>
          <p:cNvPr id="66" name="직선 연결선 65"/>
          <p:cNvCxnSpPr/>
          <p:nvPr/>
        </p:nvCxnSpPr>
        <p:spPr>
          <a:xfrm>
            <a:off x="9906000" y="2743200"/>
            <a:ext cx="266700" cy="0"/>
          </a:xfrm>
          <a:prstGeom prst="line">
            <a:avLst/>
          </a:prstGeom>
          <a:ln w="28575">
            <a:solidFill>
              <a:srgbClr val="2C24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248900" y="266700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계열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 채널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533400" y="569595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723900" y="577215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SBS 41.2%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 편의 결과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사는 중계가 몰린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09/25~26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1~2%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대로 밀렸다가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3.1%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까지 회복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전야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(09/23) 10.1%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당사 프라임 최고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전야를 별도 자산으로 운영할 근거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값은 원 보고서 표기값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경쟁채널 곡선은 원 보고서 그래프 판독 근사치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참고용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21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4607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PP COMPETITORS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PP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경쟁사는 명절 카드를 자체 제작하지 않고 지상파 특집 재방으로 채웠다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등록 경쟁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PP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중복 편성 건은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회만 표기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877949"/>
              </p:ext>
            </p:extLst>
          </p:nvPr>
        </p:nvGraphicFramePr>
        <p:xfrm>
          <a:off x="533400" y="1428750"/>
          <a:ext cx="6858000" cy="171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xmlns="" val="77706878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49572862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xmlns="" val="73572020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21624176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xmlns="" val="3875187587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경쟁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PP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프로그램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8687246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20:10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 JOY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0.211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2026 KBS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한가위 대기획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이승철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3447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10:54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 JOY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0.200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차트를 달리는 남자 스페셜 추석특집 재방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929093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07:37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Plus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0.179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명절에도 틈만 나면 재방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91005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00:00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 JOY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0.175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차트를 달리는 남자 스페셜 추석특집 재방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72141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16:12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 JOY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0.173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2026 KBS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한가위 대기획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이승철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506254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11:42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every1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0.167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추석에도 놀면 뭐하니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94157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18:48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Plus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0.156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명절에도 틈만 나면 재방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44300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21:45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 JOY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4141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0.139</a:t>
                      </a:r>
                      <a:endParaRPr lang="ko-KR" altLang="en-US" sz="900" b="0" i="0">
                        <a:solidFill>
                          <a:srgbClr val="14141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차트를 달리는 남자 스페셜 추석특집 재방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7308547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7239000" y="142875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410450" y="1543050"/>
            <a:ext cx="1752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경쟁 </a:t>
            </a:r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PP 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 성적 범위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10450" y="1733550"/>
            <a:ext cx="1752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9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0.13~0.21</a:t>
            </a:r>
            <a:endParaRPr lang="ko-KR" altLang="en-US" sz="19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10450" y="2095500"/>
            <a:ext cx="1752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 JOY · SBS Plus · MBC every1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563100" y="142875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9734550" y="1543050"/>
            <a:ext cx="1752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</a:t>
            </a:r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〈</a:t>
            </a:r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무한도전</a:t>
            </a:r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34550" y="1733550"/>
            <a:ext cx="1752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950" spc="-60" smtClean="0">
                <a:solidFill>
                  <a:srgbClr val="00838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0.182</a:t>
            </a:r>
            <a:endParaRPr lang="ko-KR" altLang="en-US" sz="1950" spc="-60">
              <a:solidFill>
                <a:srgbClr val="00838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34550" y="2095500"/>
            <a:ext cx="1752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7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15:46 · </a:t>
            </a:r>
            <a:r>
              <a:rPr lang="ko-KR" altLang="en-US" sz="7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등록 경쟁 </a:t>
            </a:r>
            <a:r>
              <a:rPr lang="en-US" altLang="ko-KR" sz="7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PP 1</a:t>
            </a:r>
            <a:r>
              <a:rPr lang="ko-KR" altLang="en-US" sz="7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7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7239000" y="2552700"/>
            <a:ext cx="44196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410450" y="2724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524750" y="2695575"/>
            <a:ext cx="39624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10450" y="2933700"/>
            <a:ext cx="4076700" cy="1123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 JOY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 대기획 이승철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차트를 달리는 남자 추석특집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SBS Plus·SBS funE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명절에도 틈만 나면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돌림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성적은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0.13~0.21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당사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〈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 특집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0.182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같은 체급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당사도 같은 전술로 이미 동시간대 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위를 만들었으므로 방향은 맞고</a:t>
            </a:r>
            <a:r>
              <a:rPr lang="en-US" altLang="ko-KR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3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과제는 물량 확대</a:t>
            </a:r>
            <a:endParaRPr lang="ko-KR" altLang="en-US" sz="93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533400" y="476250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23900" y="483870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시사점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명절에 반드시 새 콘텐츠만 필요한 것은 아님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‘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장르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·IP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적합도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비어 있는 시간대’가 맞으면 재방도 충분히 역할 가능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(JTBC 〈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헌트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3.36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KBS1 〈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가요무대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6.04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예능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명절 재방권 확보가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 블록의 현실적 수급 경로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266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CROSS-CHECK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언론이 말한 세 가지 논리를 당사 실측에 맞대어 보면 ‘성립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/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조건부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/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부분 성립’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기사 수치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 공표치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당사 수치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모집단이 달라 크기를 견주지 않고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논리의 방향만 검증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46317"/>
              </p:ext>
            </p:extLst>
          </p:nvPr>
        </p:nvGraphicFramePr>
        <p:xfrm>
          <a:off x="533400" y="1428750"/>
          <a:ext cx="111252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xmlns="" val="616425282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xmlns="" val="1736967433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xmlns="" val="305046504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3445414967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기사가 말한 논리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기사의 근거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전국 가구 공표치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당사 실측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DB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에서 확인되는 것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판정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968285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이벤트 강도가 편성 물량을 이긴다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KBS1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여자농구 결승 한 편이 대회 중계 최고치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(10.0%,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분당 최고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19.3%). SBS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왕과 사는 남자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 편이 연휴 전체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(11.0%)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는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 편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블록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으로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닐슨 등위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기준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).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반대로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는 신규 회차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511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분을 깔았으나 등위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31→37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위로 하락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7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성립</a:t>
                      </a:r>
                      <a:endParaRPr lang="ko-KR" altLang="en-US" sz="97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97697077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가변 편성 환경이라 신규 투자를 줄이는 것이 안전하다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방송사들이 대형 신규 파일럿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제작 대신 가변 편성 대응을 택했다는 분석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마이데일리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당사는 신규 예능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편을 걸었고 결과가 갈림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부진했던 일요일 자리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4.98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검증된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재방이 지키던 금요일 자리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0.25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위험은 신규 자체가 아니라 자리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75" b="0" i="0" smtClean="0">
                          <a:solidFill>
                            <a:srgbClr val="D98A1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조건부</a:t>
                      </a:r>
                      <a:endParaRPr lang="ko-KR" altLang="en-US" sz="975" b="0" i="0">
                        <a:solidFill>
                          <a:srgbClr val="D98A1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7483513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명절은 검증된 대형 영화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·IP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로 간다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편성이 예년보다 적었고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중심으로 집중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이투데이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09/24). 2024·2025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추석도 대형 영화와 검증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특집화가 상위권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편의 결과가 갈림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도굴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1.18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vs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아이 캔 스피크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〉·〈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검은 사제들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0.01~1.92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예능은 성립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블록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8.53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75" b="0" i="0" smtClean="0">
                          <a:solidFill>
                            <a:srgbClr val="4A43D8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부분 성립</a:t>
                      </a:r>
                      <a:endParaRPr lang="ko-KR" altLang="en-US" sz="975" b="0" i="0">
                        <a:solidFill>
                          <a:srgbClr val="4A43D8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6638727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3943350"/>
            <a:ext cx="5715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장기 비교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2024·2025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공표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전국 가구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/ 2025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는 수도권 유료방송 가입가구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467932"/>
              </p:ext>
            </p:extLst>
          </p:nvPr>
        </p:nvGraphicFramePr>
        <p:xfrm>
          <a:off x="533400" y="4191000"/>
          <a:ext cx="111252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6182361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17230660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5246309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xmlns="" val="407622446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/ 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비고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2129018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2024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첫날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(09/16)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SBS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범죄도시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3〉 7.1%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KBS2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딴따라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JYP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박진영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3.6%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명량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3.2%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075316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2024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(09/18)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SBS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서울의 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〉 6.5%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노량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: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죽음의 바다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5.0%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KBS2 〈30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4.9%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555625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2025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(10/06)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JTBC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추석특집 냉장고를 부탁해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〉 8.064%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종편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수도권 유료방송 가입가구 기준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6002008"/>
                  </a:ext>
                </a:extLst>
              </a:tr>
            </a:tbl>
          </a:graphicData>
        </a:graphic>
      </p:graphicFrame>
      <p:sp>
        <p:nvSpPr>
          <p:cNvPr id="10" name="모서리가 둥근 직사각형 9"/>
          <p:cNvSpPr/>
          <p:nvPr/>
        </p:nvSpPr>
        <p:spPr>
          <a:xfrm>
            <a:off x="533400" y="5429250"/>
            <a:ext cx="11125200" cy="590550"/>
          </a:xfrm>
          <a:prstGeom prst="roundRect">
            <a:avLst>
              <a:gd name="adj" fmla="val 16129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23900" y="5505450"/>
            <a:ext cx="10744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2024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년에도 상위권은 대형 영화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범죄도시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3〉·〈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서울의 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노량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〉), 2025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년은 검증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명절 특집화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냉장고를 부탁해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종편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대형 영화와 검증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특집화는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년에만 통한 전술이 아니라 최근 세 번의 명절에서 반복 확인되는 구조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변수를 걷어내면 남는 공식은 예년과 크게 다르지 않음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출처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이데일리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뉴스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뉴시스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뉴스엔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마이데일리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이투데이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(2026-09-24~27)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닐슨코리아 공식 일일 시청률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(2024-09-16·18, 2025-10-06)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797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0" y="3619500"/>
            <a:ext cx="51435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altLang="ko-KR" sz="18000" spc="-800" smtClean="0">
                <a:solidFill>
                  <a:srgbClr val="F3F3FD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03</a:t>
            </a:r>
            <a:endParaRPr lang="ko-KR" altLang="en-US" sz="18000" spc="-800">
              <a:solidFill>
                <a:srgbClr val="F3F3FD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pic>
        <p:nvPicPr>
          <p:cNvPr id="3" name="그림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914400" y="2781300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7300" y="2695575"/>
            <a:ext cx="5715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pc="8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Chapter 03</a:t>
            </a:r>
            <a:endParaRPr lang="ko-KR" altLang="en-US" sz="1050" spc="8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009900"/>
            <a:ext cx="85725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 </a:t>
            </a:r>
            <a:r>
              <a:rPr lang="en-US" altLang="ko-KR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7</a:t>
            </a:r>
            <a:r>
              <a:rPr lang="ko-KR" altLang="en-US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채널</a:t>
            </a:r>
            <a:endParaRPr lang="ko-KR" altLang="en-US" sz="4200" spc="-1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6667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성장률을 넘긴 곳은 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 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하나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낮은 기회였고 저녁은 자리를 잘못 잡았다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  <a:endParaRPr lang="ko-KR" altLang="en-US" sz="13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1400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ENA PORTFOLIO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7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채널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시장보다 잘한 곳은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하나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skyUHD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는 조건부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증감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해당 타깃 시장 성장률을 함께 봐야 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점선을 넘어야 실질 성과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7189"/>
              </p:ext>
            </p:extLst>
          </p:nvPr>
        </p:nvGraphicFramePr>
        <p:xfrm>
          <a:off x="533400" y="1428750"/>
          <a:ext cx="565785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xmlns="" val="38940766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xmlns="" val="67165259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68785821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309975064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152494264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71607534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xmlns="" val="32345614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xmlns="" val="92002645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주지표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증감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판정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2965085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</a:t>
                      </a:r>
                      <a:endParaRPr lang="ko-KR" altLang="en-US" sz="900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0.114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(0.32)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0.093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(0.33)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+23.0%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+40.1%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11→10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660431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Play</a:t>
                      </a:r>
                      <a:endParaRPr lang="ko-KR" altLang="en-US" sz="900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0.024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(0.08)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0.023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(0.06)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+5.4%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+40.1%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41→43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4046655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Drama</a:t>
                      </a:r>
                      <a:endParaRPr lang="ko-KR" altLang="en-US" sz="900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0.018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(0.11)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0.027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(0.07)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-31.9%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+40.1%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35→50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2066994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Story</a:t>
                      </a:r>
                      <a:endParaRPr lang="ko-KR" altLang="en-US" sz="900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0.047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+39.4%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초과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72→61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027826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</a:t>
                      </a:r>
                      <a:endParaRPr lang="ko-KR" altLang="en-US" sz="900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-6.8%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31→37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225502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002D5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ONCE</a:t>
                      </a:r>
                      <a:endParaRPr lang="ko-KR" altLang="en-US" sz="900" b="0" i="0">
                        <a:solidFill>
                          <a:srgbClr val="002D5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0.048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0.053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-8.6%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66→76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789198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skyUHD</a:t>
                      </a:r>
                      <a:endParaRPr lang="ko-KR" altLang="en-US" sz="900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+155.1%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98A1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조건부 초과</a:t>
                      </a:r>
                      <a:endParaRPr lang="ko-KR" altLang="en-US" sz="900" b="0" i="0">
                        <a:solidFill>
                          <a:srgbClr val="D98A1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201→187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0480294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428750"/>
            <a:ext cx="476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증감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 성장률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점선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=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: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개인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2049 +40.1% /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+17.0%)</a:t>
            </a:r>
            <a:endParaRPr lang="ko-KR" altLang="en-US" sz="863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17716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8572500" y="1752600"/>
            <a:ext cx="352425" cy="228600"/>
          </a:xfrm>
          <a:prstGeom prst="roundRect">
            <a:avLst>
              <a:gd name="adj" fmla="val 125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075" y="17716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+23.0%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9183624" y="16954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0" y="220980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8572500" y="2190750"/>
            <a:ext cx="85725" cy="228600"/>
          </a:xfrm>
          <a:prstGeom prst="roundRect">
            <a:avLst>
              <a:gd name="adj" fmla="val 33333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8715375" y="22098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+5.4%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9183624" y="213360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0" y="26479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8086725" y="2628900"/>
            <a:ext cx="485775" cy="228600"/>
          </a:xfrm>
          <a:prstGeom prst="roundRect">
            <a:avLst>
              <a:gd name="adj" fmla="val 125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648700" y="26479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-31.9%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9183624" y="25717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0" y="308610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572500" y="3067050"/>
            <a:ext cx="600075" cy="228600"/>
          </a:xfrm>
          <a:prstGeom prst="roundRect">
            <a:avLst>
              <a:gd name="adj" fmla="val 125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229725" y="30861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+39.4%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8831580" y="300990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0" y="35242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8467725" y="3505200"/>
            <a:ext cx="104775" cy="228600"/>
          </a:xfrm>
          <a:prstGeom prst="roundRect">
            <a:avLst>
              <a:gd name="adj" fmla="val 27273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648700" y="35242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-6.8%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8831580" y="34480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0" y="396240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</a:t>
            </a:r>
            <a:endParaRPr lang="ko-KR" altLang="en-US" sz="9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8439150" y="3943350"/>
            <a:ext cx="133350" cy="228600"/>
          </a:xfrm>
          <a:prstGeom prst="roundRect">
            <a:avLst>
              <a:gd name="adj" fmla="val 2142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648700" y="39624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-8.6%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8831580" y="388620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0" y="44005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skyUHD</a:t>
            </a:r>
            <a:endParaRPr lang="ko-KR" altLang="en-US" sz="9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8572500" y="4381500"/>
            <a:ext cx="2362200" cy="228600"/>
          </a:xfrm>
          <a:prstGeom prst="roundRect">
            <a:avLst>
              <a:gd name="adj" fmla="val 125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648700" y="44005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+155.1% (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절대값 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 ·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조건부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8831580" y="43243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8572500" y="1676400"/>
            <a:ext cx="0" cy="3086100"/>
          </a:xfrm>
          <a:prstGeom prst="line">
            <a:avLst/>
          </a:prstGeom>
          <a:ln w="14288">
            <a:solidFill>
              <a:srgbClr val="262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382000" y="4781550"/>
            <a:ext cx="381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5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0%</a:t>
            </a:r>
            <a:endParaRPr lang="ko-KR" altLang="en-US" sz="75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33400" y="50101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23900" y="5086350"/>
            <a:ext cx="1074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성장률을 넘긴 곳은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Story(+39.4% vs +17.0%)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skyUHD(+155.1%,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 절대값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라 조건부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ENA Play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+5.4%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시장에 크게 못 미쳤고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ENA Drama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KPI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-31.9%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유일하게 감소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skyUHD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프로그램 단위 집계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(0927)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이상한 변호사 우영우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 효과가 확인됨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5638800"/>
            <a:ext cx="1112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전체 채널 일간 평균 순위의 연휴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반올림 정수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 보고서의 ‘연휴 주력 편성 비중’ 열은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EPG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대조가 진행 중인 항목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(ENA Drama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1,715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분이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0%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집계되는 등 표기 불일치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이라 확정 전까지 제외함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5137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AUDIENCE BEHAVIOR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연휴에 ‘들어온 사람’은 모두 늘었지만 ‘머문 시간’은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만 늘었다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Reach(1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이상 시청 인구 비율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)·ATS(1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인당 평균 시청시간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함께 보면 시청률 상승의 질을 판단할 수 있음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skyUHD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 +53.2%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 확인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05000" y="14287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 (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/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0" y="14287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 (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/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72500" y="142875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점유율 증감</a:t>
            </a:r>
            <a:endParaRPr lang="ko-KR" altLang="en-US" sz="863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25000" y="142875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시청률 증감</a:t>
            </a:r>
            <a:endParaRPr lang="ko-KR" altLang="en-US" sz="863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8000" y="1428750"/>
            <a:ext cx="952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판정</a:t>
            </a:r>
            <a:endParaRPr lang="ko-KR" altLang="en-US" sz="863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33400" y="16954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666750" y="18478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905000" y="19050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1905000" y="19050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905000" y="1733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5.48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05250" y="18478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+23.3%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334000" y="19050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34000" y="19050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334000" y="1733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30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 </a:t>
            </a:r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16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초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34250" y="18478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+0.7%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72500" y="18669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-12.0%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25000" y="18669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+23.0%</a:t>
            </a:r>
            <a:endParaRPr lang="ko-KR" altLang="en-US" sz="97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10763250" y="18478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체류 ↑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533400" y="23050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666750" y="24574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08393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25">
              <a:solidFill>
                <a:srgbClr val="08393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905000" y="25146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1905000" y="251460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905000" y="23431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2.35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05250" y="24574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+33.2%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334000" y="25146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0" y="251460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334000" y="23431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 </a:t>
            </a:r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36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초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34250" y="24574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-20.2%</a:t>
            </a:r>
            <a:endParaRPr lang="ko-KR" altLang="en-US" sz="1125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72500" y="24765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-22.0%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25000" y="24765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+5.4%</a:t>
            </a:r>
            <a:endParaRPr lang="ko-KR" altLang="en-US" sz="97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10763250" y="24574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체류 ↓</a:t>
            </a:r>
            <a:endParaRPr lang="ko-KR" altLang="en-US" sz="82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33400" y="29146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666750" y="30670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905000" y="31242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905000" y="312420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1905000" y="29527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2.07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905250" y="30670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+26.7%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334000" y="31242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5334000" y="312420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5334000" y="29527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12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 </a:t>
            </a:r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55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초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34250" y="30670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-46.3%</a:t>
            </a:r>
            <a:endParaRPr lang="ko-KR" altLang="en-US" sz="1125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72500" y="30861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-52.5%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525000" y="30861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-31.9%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10763250" y="30670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체류 ↓</a:t>
            </a:r>
            <a:endParaRPr lang="ko-KR" altLang="en-US" sz="82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33400" y="35242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666750" y="36766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1905000" y="37338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모서리가 둥근 직사각형 53"/>
          <p:cNvSpPr/>
          <p:nvPr/>
        </p:nvSpPr>
        <p:spPr>
          <a:xfrm>
            <a:off x="1905000" y="37338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1905000" y="35623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3.96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905250" y="36766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+26.7%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334000" y="37338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5334000" y="373380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5334000" y="35623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 </a:t>
            </a:r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40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초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34250" y="36766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+9.9%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572500" y="36957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+19.2%</a:t>
            </a:r>
            <a:endParaRPr lang="ko-KR" altLang="en-US" sz="97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525000" y="36957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+39.4%</a:t>
            </a:r>
            <a:endParaRPr lang="ko-KR" altLang="en-US" sz="97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10763250" y="36766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체류 ↑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533400" y="41338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모서리가 둥근 직사각형 64"/>
          <p:cNvSpPr/>
          <p:nvPr/>
        </p:nvSpPr>
        <p:spPr>
          <a:xfrm>
            <a:off x="666750" y="42862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E24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825">
              <a:solidFill>
                <a:srgbClr val="1E24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905000" y="43434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1905000" y="43434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1905000" y="41719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3.88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905250" y="42862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+9.0%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5334000" y="43434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모서리가 둥근 직사각형 70"/>
          <p:cNvSpPr/>
          <p:nvPr/>
        </p:nvSpPr>
        <p:spPr>
          <a:xfrm>
            <a:off x="5334000" y="43434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5334000" y="41719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39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 </a:t>
            </a:r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17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초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334250" y="42862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-15.6%</a:t>
            </a:r>
            <a:endParaRPr lang="ko-KR" altLang="en-US" sz="1125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572500" y="43053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-20.4%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525000" y="43053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-6.8%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0763250" y="42862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체류 ↓</a:t>
            </a:r>
            <a:endParaRPr lang="ko-KR" altLang="en-US" sz="82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533400" y="47434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666750" y="48958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905000" y="49530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1905000" y="495300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1905000" y="4781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2.42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905250" y="48958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+13.8%</a:t>
            </a:r>
            <a:endParaRPr lang="ko-KR" altLang="en-US" sz="112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5334000" y="49530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모서리가 둥근 직사각형 83"/>
          <p:cNvSpPr/>
          <p:nvPr/>
        </p:nvSpPr>
        <p:spPr>
          <a:xfrm>
            <a:off x="5334000" y="49530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5334000" y="4781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29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 </a:t>
            </a:r>
            <a:r>
              <a:rPr lang="en-US" altLang="ko-KR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</a:t>
            </a:r>
            <a:r>
              <a:rPr lang="ko-KR" altLang="en-US" sz="863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초</a:t>
            </a:r>
            <a:endParaRPr lang="ko-KR" altLang="en-US" sz="863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334250" y="4895850"/>
            <a:ext cx="95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5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-20.2%</a:t>
            </a:r>
            <a:endParaRPr lang="ko-KR" altLang="en-US" sz="1125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572500" y="49149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-20.9%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525000" y="4914900"/>
            <a:ext cx="95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-8.6%</a:t>
            </a:r>
            <a:endParaRPr lang="ko-KR" altLang="en-US" sz="97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10763250" y="48958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체류 ↓</a:t>
            </a:r>
            <a:endParaRPr lang="ko-KR" altLang="en-US" sz="82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33400" y="5448300"/>
            <a:ext cx="11125200" cy="609600"/>
          </a:xfrm>
          <a:prstGeom prst="roundRect">
            <a:avLst>
              <a:gd name="adj" fmla="val 15625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723900" y="5524500"/>
            <a:ext cx="1074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3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전부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늘었으나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제외한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개는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ATS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줄었음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유입은 만들었지만 붙잡지 못한 구조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완성된 시청 구조는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Story(Reach +26.7%·ATS +9.9%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 상승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ENA Drama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ATS -46.3%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‘유입 후 이탈’이 가장 큼</a:t>
            </a:r>
            <a:endParaRPr lang="ko-KR" altLang="en-US" sz="938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200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DAYPART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시간대별 연휴 성과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낮에는 올랐고 밤에는 밀렸다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주지표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같은 시간대 대비 증감률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칸 아래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실적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02~08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09~13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14~18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19~25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05000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7625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0250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62875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0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33400" y="184785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905000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-44.3%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 / 0.038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857625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+42.3%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0.164 / 0.115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810250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+37.5%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0.152 / 0.111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7762875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+24.3%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0.191 / 0.154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715500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+26.2%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0.214 / 0.169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33400" y="251460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08393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25">
              <a:solidFill>
                <a:srgbClr val="08393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905000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+77.3%</a:t>
            </a:r>
            <a:endParaRPr lang="en-US" altLang="ko-KR" sz="75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0.006</a:t>
            </a:r>
            <a:endParaRPr lang="ko-KR" altLang="en-US" sz="75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857625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+40.8%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 / 0.030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5810250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+23.9%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0.045 / 0.036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7762875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-40.8%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 / 0.035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9715500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-39.0%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 / 0.037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33400" y="318135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1905000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+34.7%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0.009 / 0.007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3857625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-13.2%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0.025 / 0.029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810250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-43.9%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0.020 / 0.036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7762875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-45.2%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0.028 / 0.051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9715500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-52.8%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0.066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33400" y="384810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905000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+72.2%</a:t>
            </a:r>
            <a:endParaRPr lang="en-US" altLang="ko-KR" sz="75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 / 0.038</a:t>
            </a:r>
            <a:endParaRPr lang="ko-KR" altLang="en-US" sz="75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3857625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+23.0%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0.078 / 0.064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810250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+33.4%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0.073 / 0.055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7762875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+34.3%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0.071 / 0.053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9715500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+31.2%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0.086 / 0.066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51485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E24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825">
              <a:solidFill>
                <a:srgbClr val="1E24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1905000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-14.7%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 / 0.060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3857625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+1.9%</a:t>
            </a:r>
            <a:endParaRPr lang="en-US" altLang="ko-KR" sz="75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0.146 / 0.144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810250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+10.5%</a:t>
            </a:r>
            <a:endParaRPr lang="en-US" altLang="ko-KR" sz="75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0.174 / 0.157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7762875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-25.4%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0.113 / 0.152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9715500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-22.9%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0.144 / 0.187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533400" y="518160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1905000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-24.7%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 / 0.027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3857625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-2.3%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0.060 / 0.061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810250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-7.2%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 / 0.070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7762875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+0.6%</a:t>
            </a:r>
            <a:endParaRPr lang="en-US" altLang="ko-KR" sz="75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0.072 / 0.072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9715500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-16.5%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0.071 / 0.085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53340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≥ </a:t>
            </a:r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+50%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31445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+15~50%</a:t>
            </a:r>
            <a:endParaRPr lang="ko-KR" altLang="en-US" sz="7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209550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0~+15%</a:t>
            </a:r>
            <a:endParaRPr lang="ko-KR" altLang="en-US" sz="7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287655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0~-25%</a:t>
            </a:r>
            <a:endParaRPr lang="ko-KR" altLang="en-US" sz="7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365760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≤ </a:t>
            </a:r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-25%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572000" y="5676900"/>
            <a:ext cx="7086600" cy="419100"/>
          </a:xfrm>
          <a:prstGeom prst="roundRect">
            <a:avLst>
              <a:gd name="adj" fmla="val 2272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4762500" y="5753100"/>
            <a:ext cx="670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중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개가 오전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상승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하락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예외는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 구간 플러스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+31.2%)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ENA(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+26.2%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지만 시장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미달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85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059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SPECIAL MULTIPLES ①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기준값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(1.0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)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을 넘긴 편성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건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검증 예능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IP ×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낮 시간대가 최상위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편성 시간대 배수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실적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막대 색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4757964" y="1428750"/>
            <a:ext cx="0" cy="4419600"/>
          </a:xfrm>
          <a:prstGeom prst="line">
            <a:avLst/>
          </a:prstGeom>
          <a:ln w="9525">
            <a:solidFill>
              <a:srgbClr val="A6A6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67464" y="1295400"/>
            <a:ext cx="381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1.0</a:t>
            </a:r>
            <a:r>
              <a:rPr lang="ko-KR" altLang="en-US" sz="71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1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00" y="1476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09/24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0" y="1476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 한가위 선물 특집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476750" y="1495425"/>
            <a:ext cx="5857875" cy="133350"/>
          </a:xfrm>
          <a:prstGeom prst="roundRect">
            <a:avLst>
              <a:gd name="adj" fmla="val 14286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391775" y="1476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20.83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(0.116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" y="1666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14500" y="1666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 혼자 산다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오전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476750" y="1685925"/>
            <a:ext cx="3381375" cy="133350"/>
          </a:xfrm>
          <a:prstGeom prst="roundRect">
            <a:avLst>
              <a:gd name="adj" fmla="val 14286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915275" y="1666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12.01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(0.181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0" y="1857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14500" y="1857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 한가위 선물 특집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4476750" y="1876425"/>
            <a:ext cx="2400300" cy="133350"/>
          </a:xfrm>
          <a:prstGeom prst="roundRect">
            <a:avLst>
              <a:gd name="adj" fmla="val 14286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934200" y="1857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8.53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(0.182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2047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09/27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14500" y="2047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니돈내산 첫방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4476750" y="2066925"/>
            <a:ext cx="101917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553075" y="2047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3.62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(0.395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0.109)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2238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09/24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14500" y="2238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오전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4476750" y="2257425"/>
            <a:ext cx="101917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553075" y="2238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(0.308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2428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09/25</a:t>
            </a:r>
            <a:endParaRPr lang="ko-KR" altLang="en-US" sz="75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14500" y="2428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연속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4476750" y="2447925"/>
            <a:ext cx="885825" cy="133350"/>
          </a:xfrm>
          <a:prstGeom prst="roundRect">
            <a:avLst>
              <a:gd name="adj" fmla="val 14286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419725" y="2428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3.14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(0.124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0.040)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2619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09/25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14500" y="2619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4476750" y="2638425"/>
            <a:ext cx="82867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362575" y="2619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2.94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(0.202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0.069)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2809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09/24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14500" y="2809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 한가위 선물 특집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476750" y="2828925"/>
            <a:ext cx="714375" cy="133350"/>
          </a:xfrm>
          <a:prstGeom prst="roundRect">
            <a:avLst>
              <a:gd name="adj" fmla="val 14286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5248275" y="2809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2.55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(0.046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3000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09/26</a:t>
            </a:r>
            <a:endParaRPr lang="ko-KR" altLang="en-US" sz="75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14500" y="3000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통상 편성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오후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476750" y="3019425"/>
            <a:ext cx="695325" cy="133350"/>
          </a:xfrm>
          <a:prstGeom prst="roundRect">
            <a:avLst>
              <a:gd name="adj" fmla="val 14286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5229225" y="3000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2.48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(0.088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3400" y="3190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09/24</a:t>
            </a:r>
            <a:endParaRPr lang="ko-KR" altLang="en-US" sz="75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14500" y="3190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연속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귀성길 안전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476750" y="3209925"/>
            <a:ext cx="638175" cy="133350"/>
          </a:xfrm>
          <a:prstGeom prst="roundRect">
            <a:avLst>
              <a:gd name="adj" fmla="val 14286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172075" y="3190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2.27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(0.096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3400" y="3381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09/25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14500" y="3381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저녁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4476750" y="3400425"/>
            <a:ext cx="56197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5095875" y="3381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1.99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(0.311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3400" y="3571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714500" y="3571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아이 캔 스피크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476750" y="3590925"/>
            <a:ext cx="542925" cy="133350"/>
          </a:xfrm>
          <a:prstGeom prst="roundRect">
            <a:avLst>
              <a:gd name="adj" fmla="val 14286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076825" y="3571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1.92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3762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09/26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14500" y="3762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도굴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4476750" y="3781425"/>
            <a:ext cx="533400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5067300" y="3762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1.90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(0.220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3400" y="3952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09/26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714500" y="3952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4476750" y="3971925"/>
            <a:ext cx="48577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5019675" y="3952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1.74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(0.100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0.057)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400" y="4143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09/27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714500" y="4143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톡파원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25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추석특집 표기 미확인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476750" y="4162425"/>
            <a:ext cx="466725" cy="133350"/>
          </a:xfrm>
          <a:prstGeom prst="roundRect">
            <a:avLst>
              <a:gd name="adj" fmla="val 14286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000625" y="4143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1.65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(0.070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33400" y="4333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09/25</a:t>
            </a:r>
            <a:endParaRPr lang="ko-KR" altLang="en-US" sz="75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714500" y="4333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연속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심야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4476750" y="4352925"/>
            <a:ext cx="447675" cy="133350"/>
          </a:xfrm>
          <a:prstGeom prst="roundRect">
            <a:avLst>
              <a:gd name="adj" fmla="val 14286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4981575" y="4333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1.58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(0.058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400" y="4524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09/24</a:t>
            </a:r>
            <a:endParaRPr lang="ko-KR" altLang="en-US" sz="75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14500" y="4524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연속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귀성길 안전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4476750" y="4543425"/>
            <a:ext cx="409575" cy="133350"/>
          </a:xfrm>
          <a:prstGeom prst="roundRect">
            <a:avLst>
              <a:gd name="adj" fmla="val 14286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4943475" y="4524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1.47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(0.115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33400" y="4714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09/26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714500" y="4714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(4~6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4476750" y="4733925"/>
            <a:ext cx="39052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4924425" y="4714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1.39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(0.173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0.124)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33400" y="4905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09/27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14500" y="4905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(7~10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4476750" y="4924425"/>
            <a:ext cx="37147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4905375" y="4905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1.31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(0.266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0.203)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400" y="5095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09/25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714500" y="5095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도굴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476750" y="5114925"/>
            <a:ext cx="333375" cy="133350"/>
          </a:xfrm>
          <a:prstGeom prst="roundRect">
            <a:avLst>
              <a:gd name="adj" fmla="val 1428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4867275" y="5095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1.18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(0.144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0.122)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3400" y="5286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 09/24</a:t>
            </a:r>
            <a:endParaRPr lang="ko-KR" altLang="en-US" sz="75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714500" y="5286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 헝가리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3-4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4476750" y="5305425"/>
            <a:ext cx="295275" cy="133350"/>
          </a:xfrm>
          <a:prstGeom prst="roundRect">
            <a:avLst>
              <a:gd name="adj" fmla="val 14286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4829175" y="5286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1.05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(0.117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0.112)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33400" y="5476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09/24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714500" y="5476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 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4476750" y="5495925"/>
            <a:ext cx="295275" cy="133350"/>
          </a:xfrm>
          <a:prstGeom prst="roundRect">
            <a:avLst>
              <a:gd name="adj" fmla="val 14286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4829175" y="5476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33400" y="5667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09/26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714500" y="5667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 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4476750" y="5686425"/>
            <a:ext cx="285750" cy="133350"/>
          </a:xfrm>
          <a:prstGeom prst="roundRect">
            <a:avLst>
              <a:gd name="adj" fmla="val 14286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4819650" y="5667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1.02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(0.038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0.037)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533400" y="6096000"/>
            <a:ext cx="11125200" cy="381000"/>
          </a:xfrm>
          <a:prstGeom prst="roundRect">
            <a:avLst>
              <a:gd name="adj" fmla="val 25000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723900" y="6172200"/>
            <a:ext cx="10744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상위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건이 전부 낮 시간대 또는 검증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IP(〈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 혼자 산다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4〉·〈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〉) — 20.83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배는 기준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소표본이므로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8.53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(0.182 vs 0.021)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대표값으로 읽음</a:t>
            </a:r>
            <a:endParaRPr lang="ko-KR" altLang="en-US" sz="863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주지표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〈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3.62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배는 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시각 기준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편성물 본방 평균 대비는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4.98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28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058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SPECIAL MULTIPLES ②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기준값을 밑돈 편성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25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건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심야 배치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구작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검증 재방 자리의 신규가 반복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미만이면 그 시간대를 특집이 아니라 통상 편성으로 뒀을 때보다 못한 것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막대 색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9429750" y="1428750"/>
            <a:ext cx="0" cy="4324350"/>
          </a:xfrm>
          <a:prstGeom prst="line">
            <a:avLst/>
          </a:prstGeom>
          <a:ln w="9525">
            <a:solidFill>
              <a:srgbClr val="A6A6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39250" y="1295400"/>
            <a:ext cx="381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1.0</a:t>
            </a:r>
            <a:r>
              <a:rPr lang="ko-KR" altLang="en-US" sz="71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1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00" y="1476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09/26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0" y="1476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짐쌀라비움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귀경 전야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476750" y="1495425"/>
            <a:ext cx="4552950" cy="114300"/>
          </a:xfrm>
          <a:prstGeom prst="roundRect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086850" y="1476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0.92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(0.128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0.139)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" y="16478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09/27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14500" y="16478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476750" y="1666875"/>
            <a:ext cx="4410075" cy="114300"/>
          </a:xfrm>
          <a:prstGeom prst="roundRect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8943975" y="16478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0.89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(0.128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0" y="18192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 09/24</a:t>
            </a:r>
            <a:endParaRPr lang="ko-KR" altLang="en-US" sz="75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14500" y="18192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 한가위 편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4476750" y="1838325"/>
            <a:ext cx="4362450" cy="114300"/>
          </a:xfrm>
          <a:prstGeom prst="roundRect">
            <a:avLst/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896350" y="18192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0.88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(0.175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0.198)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19907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09/26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14500" y="19907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4476750" y="2009775"/>
            <a:ext cx="4305300" cy="114300"/>
          </a:xfrm>
          <a:prstGeom prst="roundRect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839200" y="19907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0.87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(0.016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0.019)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21621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 09/25</a:t>
            </a:r>
            <a:endParaRPr lang="ko-KR" altLang="en-US" sz="75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14500" y="21621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 서호주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3-4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4476750" y="2181225"/>
            <a:ext cx="4210050" cy="114300"/>
          </a:xfrm>
          <a:prstGeom prst="roundRect">
            <a:avLst/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743950" y="21621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0.85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(0.112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0.132)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23336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09/25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14500" y="23336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4476750" y="2352675"/>
            <a:ext cx="3962400" cy="114300"/>
          </a:xfrm>
          <a:prstGeom prst="roundRect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8496300" y="23336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0.80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(0.038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25050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09/24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14500" y="25050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나는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SOLO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그 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심야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4476750" y="2524125"/>
            <a:ext cx="3914775" cy="114300"/>
          </a:xfrm>
          <a:prstGeom prst="roundRect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8448675" y="25050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0.79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(0.333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0.421)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26765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 09/25</a:t>
            </a:r>
            <a:endParaRPr lang="ko-KR" altLang="en-US" sz="75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14500" y="26765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 이탈리아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3-4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476750" y="2695575"/>
            <a:ext cx="3667125" cy="114300"/>
          </a:xfrm>
          <a:prstGeom prst="roundRect">
            <a:avLst/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8201025" y="26765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(0.084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28479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 09/25</a:t>
            </a:r>
            <a:endParaRPr lang="ko-KR" altLang="en-US" sz="75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14500" y="28479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 이동 양봉꾼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476750" y="2867025"/>
            <a:ext cx="3562350" cy="114300"/>
          </a:xfrm>
          <a:prstGeom prst="roundRect">
            <a:avLst/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096250" y="28479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0.72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(0.118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3400" y="30194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 09/27</a:t>
            </a:r>
            <a:endParaRPr lang="ko-KR" altLang="en-US" sz="75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14500" y="30194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 김탁구 몰아보기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476750" y="3038475"/>
            <a:ext cx="2971800" cy="114300"/>
          </a:xfrm>
          <a:prstGeom prst="roundRect">
            <a:avLst/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7505700" y="30194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0.60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(0.054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0.091)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3400" y="3190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09/27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14500" y="3190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국가대표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4476750" y="3209925"/>
            <a:ext cx="2971800" cy="114300"/>
          </a:xfrm>
          <a:prstGeom prst="roundRect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7505700" y="3190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0.60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(0.153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0.256)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3400" y="33623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09/27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714500" y="33623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476750" y="3381375"/>
            <a:ext cx="2524125" cy="114300"/>
          </a:xfrm>
          <a:prstGeom prst="roundRect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7058025" y="33623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(0.022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35337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09/27</a:t>
            </a:r>
            <a:endParaRPr lang="ko-KR" altLang="en-US" sz="75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14500" y="35337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통상 편성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오후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4476750" y="3552825"/>
            <a:ext cx="2524125" cy="114300"/>
          </a:xfrm>
          <a:prstGeom prst="roundRect">
            <a:avLst/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7058025" y="35337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(0.029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0.057)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3400" y="37052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 09/26</a:t>
            </a:r>
            <a:endParaRPr lang="ko-KR" altLang="en-US" sz="75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714500" y="37052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 김탁구 몰아보기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4476750" y="3724275"/>
            <a:ext cx="2524125" cy="114300"/>
          </a:xfrm>
          <a:prstGeom prst="roundRect">
            <a:avLst/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7058025" y="37052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(0.035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0.069)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400" y="38766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09/25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714500" y="38766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 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476750" y="3895725"/>
            <a:ext cx="2476500" cy="114300"/>
          </a:xfrm>
          <a:prstGeom prst="roundRect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010400" y="38766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0.50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(0.024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33400" y="40481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09/24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714500" y="40481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4476750" y="4067175"/>
            <a:ext cx="2476500" cy="114300"/>
          </a:xfrm>
          <a:prstGeom prst="roundRect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7010400" y="40481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0.50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(0.030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0.060)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400" y="42195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09/26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14500" y="42195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아이 캔 스피크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4476750" y="4238625"/>
            <a:ext cx="2324100" cy="114300"/>
          </a:xfrm>
          <a:prstGeom prst="roundRect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6858000" y="42195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0.47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33400" y="43910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09/26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714500" y="43910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검은 사제들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4476750" y="4410075"/>
            <a:ext cx="2133600" cy="114300"/>
          </a:xfrm>
          <a:prstGeom prst="roundRect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6667500" y="43910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33400" y="45624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09/25</a:t>
            </a:r>
            <a:endParaRPr lang="ko-KR" altLang="en-US" sz="75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14500" y="45624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맡겨만 주십숏 첫방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4476750" y="4581525"/>
            <a:ext cx="1238250" cy="114300"/>
          </a:xfrm>
          <a:prstGeom prst="roundRect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5772150" y="45624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0.25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(0.038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400" y="47339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09/26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714500" y="47339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 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476750" y="4752975"/>
            <a:ext cx="1143000" cy="114300"/>
          </a:xfrm>
          <a:prstGeom prst="roundRect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5676900" y="47339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(0.015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3400" y="4905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 09/24</a:t>
            </a:r>
            <a:endParaRPr lang="ko-KR" altLang="en-US" sz="75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714500" y="4905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 서호주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1-2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4476750" y="4924425"/>
            <a:ext cx="790575" cy="114300"/>
          </a:xfrm>
          <a:prstGeom prst="roundRect">
            <a:avLst/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5324475" y="4905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(0.028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33400" y="50768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09/27</a:t>
            </a:r>
            <a:endParaRPr lang="ko-KR" altLang="en-US" sz="75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714500" y="50768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 연속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4476750" y="5095875"/>
            <a:ext cx="695325" cy="114300"/>
          </a:xfrm>
          <a:prstGeom prst="roundRect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5229225" y="50768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33400" y="52482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714500" y="52482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아이 캔 스피크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4476750" y="5267325"/>
            <a:ext cx="542925" cy="114300"/>
          </a:xfrm>
          <a:prstGeom prst="roundRect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5076825" y="52482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0.030)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33400" y="54197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09/27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714500" y="54197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4476750" y="5438775"/>
            <a:ext cx="200025" cy="114300"/>
          </a:xfrm>
          <a:prstGeom prst="roundRect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4733925" y="54197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33400" y="55911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75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714500" y="55911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검은 사제들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</a:t>
            </a:r>
            <a:r>
              <a:rPr lang="en-US" altLang="ko-KR" sz="788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4476750" y="5610225"/>
            <a:ext cx="47625" cy="114300"/>
          </a:xfrm>
          <a:prstGeom prst="roundRect">
            <a:avLst>
              <a:gd name="adj" fmla="val 4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/>
          <p:cNvSpPr txBox="1"/>
          <p:nvPr/>
        </p:nvSpPr>
        <p:spPr>
          <a:xfrm>
            <a:off x="4581525" y="55911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(0.001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0.054)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533400" y="6096000"/>
            <a:ext cx="11125200" cy="381000"/>
          </a:xfrm>
          <a:prstGeom prst="roundRect">
            <a:avLst>
              <a:gd name="adj" fmla="val 25000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723900" y="6172200"/>
            <a:ext cx="10744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하위권은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영화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(0.01~0.47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ENA Drama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(0.14~0.51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OLIFE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회차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(0.16~0.85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ENA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첫방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(0.25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차지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공통점은 저녁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배치와 채널 적합도 미검증</a:t>
            </a:r>
            <a:endParaRPr lang="ko-KR" altLang="en-US" sz="863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주지표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〈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3.62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배는 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시각 기준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편성물 본방 평균 대비는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4.98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29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884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낮은 기회였고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저녁은 자리를 잘못 잡았다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0.114</a:t>
            </a:r>
            <a:r>
              <a:rPr lang="en-US" altLang="ko-KR" sz="1550" spc="-4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(0.32)</a:t>
            </a:r>
            <a:endParaRPr lang="ko-KR" altLang="en-US" sz="1550" spc="-4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0.093</a:t>
            </a:r>
            <a:r>
              <a:rPr lang="en-US" altLang="ko-KR" sz="700" smtClean="0">
                <a:solidFill>
                  <a:srgbClr val="7C7C8C"/>
                </a:solidFill>
                <a:latin typeface="KT Flow Thin"/>
                <a:ea typeface="KT Flow Medium" pitchFamily="2" charset="-127"/>
                <a:sym typeface="KT Flow Medium" pitchFamily="2" charset="-127"/>
              </a:rPr>
              <a:t> (0.33)</a:t>
            </a:r>
            <a:endParaRPr lang="ko-KR" altLang="en-US" sz="700">
              <a:solidFill>
                <a:srgbClr val="7C7C8C"/>
              </a:solidFill>
              <a:latin typeface="KT Flow Thin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+23.0%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11→10</a:t>
            </a:r>
            <a:r>
              <a:rPr lang="ko-KR" altLang="en-US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▲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+23.3%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5.48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+0.7%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프라임이 모두 기준을 웃돌았으나 시장 확대폭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(+40.1%)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에는 미달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-12.0%.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낮에 놓은 카드는 전부 기준 초과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저녁에 놓은 카드는 전부 미달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콘텐츠가 아니라 자리 배치의 문제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+42.3%·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+37.5%·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+26.2%.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)·2.94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도굴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1.90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09/27 0.149(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0.107)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연휴 최고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21:19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0.038·0.25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0.311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리드인을 흘려보낸 자리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1.547·SBS 1.283·tvN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영화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1.262. 09/26 19:50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짐쌀라비움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여자농구 결승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(2.734)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정면 충돌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0.92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ECEBFC"/>
          </a:solidFill>
          <a:ln w="9525">
            <a:solidFill>
              <a:srgbClr val="3C32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론칭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주력 특집은 연휴 전야 또는 낮으로 이동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특선영화는 오전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점심 우선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대형 중계가 확정된 저녁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시간은 카드를 소진하지 않음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리드인이 강한 슬롯 뒤에는 검증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붙임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+14.9%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0.036 / 0.032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+54.7%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0.168 / 0.108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+81.7%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0.225 / 0.124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0.573 / 0.664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-5.7%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0.749 / 0.794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0.025 / 0.026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+172.0%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0.202 / 0.074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-74.4%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0.019 / 0.073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+0.9%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0.252 / 0.250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+11.0%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0.344 / 0.310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-19.0%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0.022 / 0.027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+124.3%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0.178 / 0.079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+126.9%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0.144 / 0.063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+13.2%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0.143 / 0.126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-4.2%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0.147 / 0.153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-42.3%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0.034 / 0.059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+38.5%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0.157 / 0.114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+23.7%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0.142 / 0.115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-45.4%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0.081 / 0.148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-22.9%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0.075 / 0.097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-90.2%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/ 0.039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-41.8%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0.120 / 0.206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+69.6%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0.318 / 0.188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+248.9%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0.272 / 0.078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+152.9%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0.315 / 0.124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593591"/>
              </p:ext>
            </p:extLst>
          </p:nvPr>
        </p:nvGraphicFramePr>
        <p:xfrm>
          <a:off x="6286500" y="4752975"/>
          <a:ext cx="5372100" cy="16273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xmlns="" val="21017192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xmlns="" val="309089517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xmlns="" val="323894594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11171032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31858926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xmlns="" val="134031622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3861909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오전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0.308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3.61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308654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 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0.202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2.94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551907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(4~6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1.39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8991745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도굴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0.220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(0.82)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1.90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644491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도굴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0.144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(0.55)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1.18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3720169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0.100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(0.26)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1.74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301133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짐쌀라비움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귀경 전야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0.128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(0.48)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0.92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813945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맡겨만 주십숏 첫방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0.038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(0.20)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0.153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0.25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18945716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상세는 다음 장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30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742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ENA NEW LAUNCH</a:t>
            </a:r>
            <a:endParaRPr lang="ko-KR" altLang="en-US" sz="975" spc="6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신규 예능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자리가 결과를 갈랐다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09/27(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20:30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0.392 vs 〈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09/25(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금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21:19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54483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723900" y="1600200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니돈내산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6900" y="1600200"/>
            <a:ext cx="3810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20:30~21:50 ·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부진했던 자리 → 연휴 당사 최고 성과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104900" y="2583180"/>
            <a:ext cx="857250" cy="274320"/>
          </a:xfrm>
          <a:prstGeom prst="roundRect">
            <a:avLst>
              <a:gd name="adj" fmla="val 1388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23900" y="2392680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0.128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(0.42)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9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리드인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19:06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39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526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857500" y="2017395"/>
            <a:ext cx="857250" cy="840105"/>
          </a:xfrm>
          <a:prstGeom prst="roundRect">
            <a:avLst>
              <a:gd name="adj" fmla="val 4535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476500" y="1826895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0.392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(0.56)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765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첫 방송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20:30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765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052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610100" y="2006679"/>
            <a:ext cx="857250" cy="850821"/>
          </a:xfrm>
          <a:prstGeom prst="roundRect">
            <a:avLst>
              <a:gd name="adj" fmla="val 4478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229100" y="1816179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0.397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(0.61)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291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연속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22:10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291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838582"/>
              </p:ext>
            </p:extLst>
          </p:nvPr>
        </p:nvGraphicFramePr>
        <p:xfrm>
          <a:off x="723900" y="3314700"/>
          <a:ext cx="5067300" cy="1352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xmlns="" val="153790128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4611924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xmlns="" val="373658866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127874295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비교 축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대상 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첫방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70347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슬롯 직전 편성물 첫방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엑스 더 리그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08/02)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6.74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021495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슬롯 직전 편성물 본방 평균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0.079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4.98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393680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슬롯 직전 편성물 최고 회차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(08/16)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0.168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2.33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74395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직전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주 일요일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20:30~21:50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실측 평균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4.67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53896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구간 점유율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주 평균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0.8% → 2.4%)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2.4%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2.98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9837079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23900" y="4743450"/>
            <a:ext cx="50673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동안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넘지 못한 자리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엑스 더 리그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평균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0.079).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리드인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3.07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스스로 올렸고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금메달 결정전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(SBS 2.866)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정면으로 겹친 시각에도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작품 대 작품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(4.98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시각 대 시각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(4.67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같은 크기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한쪽 기준의 착시가 아님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210300" y="1428750"/>
            <a:ext cx="54483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6400800" y="1600200"/>
            <a:ext cx="1238250" cy="247650"/>
          </a:xfrm>
          <a:prstGeom prst="roundRect">
            <a:avLst>
              <a:gd name="adj" fmla="val 5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맡겨만 주십숏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34300" y="1600200"/>
            <a:ext cx="3810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21:19~22:28 ·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검증된 재방 자리를 비우고 들어갔으나 부진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6781800" y="2190988"/>
            <a:ext cx="857250" cy="666512"/>
          </a:xfrm>
          <a:prstGeom prst="roundRect">
            <a:avLst>
              <a:gd name="adj" fmla="val 571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400800" y="2000488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0.311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(0.71)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리드인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20:00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295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8534400" y="2776061"/>
            <a:ext cx="857250" cy="81439"/>
          </a:xfrm>
          <a:prstGeom prst="roundRect">
            <a:avLst>
              <a:gd name="adj" fmla="val 46784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153400" y="2585561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0.038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(0.20)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534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첫 방송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21:19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534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5821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0287000" y="2548890"/>
            <a:ext cx="857250" cy="308610"/>
          </a:xfrm>
          <a:prstGeom prst="roundRect">
            <a:avLst>
              <a:gd name="adj" fmla="val 1234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9906000" y="2358390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0.144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(0.55)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9060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리드아웃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22:48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060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도굴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097920"/>
              </p:ext>
            </p:extLst>
          </p:nvPr>
        </p:nvGraphicFramePr>
        <p:xfrm>
          <a:off x="6400800" y="3314700"/>
          <a:ext cx="5067300" cy="1352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xmlns="" val="1668077157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343229037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318232937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직전 </a:t>
                      </a: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</a:t>
                      </a: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 금요일 같은 시각 </a:t>
                      </a: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신병</a:t>
                      </a: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4: </a:t>
                      </a: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사보타주 재방</a:t>
                      </a: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점유율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10021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08/28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2.0%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3973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09/04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517814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09/11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0.159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1.5%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64554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09/18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0.250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2.7%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9217456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 실측 평균 → 첫방 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0.038 = 0.25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 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점유율 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0.23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0.154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1.7%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8633844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400800" y="4743450"/>
            <a:ext cx="50673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탓이 아님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0.311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빠졌고 뒤이은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도굴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0.144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회복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자리에서 앞뒤가 살아 있었으므로 유입을 받지 못한 것은 프로그램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2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0.100(2.61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올라와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작품보다 첫 노출 자리의 문제였을 가능성도 고려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723900" y="5676900"/>
            <a:ext cx="1074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원칙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편성의 자리는 그 자리의 직전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실적을 먼저 보고 고름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기준을 밑돌던 자리는 신규로 바꿀 후보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검증된 재방이 지키던 자리는 연휴에 건드리지 않음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 방송 블록 기준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 시각은 닐슨 실측 블록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(EPG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몇 분 차이 가능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〈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기준 첫방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0.560·2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0.611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31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524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00C8D2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00C8D2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Play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예능은 강했지만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심야 구작 영화 편성은 효율이 낮았다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99579"/>
            <a:ext cx="997268" cy="220042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08393C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Play</a:t>
            </a:r>
            <a:endParaRPr lang="ko-KR" altLang="en-US" sz="1350">
              <a:solidFill>
                <a:srgbClr val="08393C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0.024</a:t>
            </a:r>
            <a:r>
              <a:rPr lang="en-US" altLang="ko-KR" sz="1550" spc="-4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(0.08)</a:t>
            </a:r>
            <a:endParaRPr lang="ko-KR" altLang="en-US" sz="1550" spc="-4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0.023</a:t>
            </a:r>
            <a:r>
              <a:rPr lang="en-US" altLang="ko-KR" sz="700" smtClean="0">
                <a:solidFill>
                  <a:srgbClr val="7C7C8C"/>
                </a:solidFill>
                <a:latin typeface="KT Flow Thin"/>
                <a:ea typeface="KT Flow Medium" pitchFamily="2" charset="-127"/>
                <a:sym typeface="KT Flow Medium" pitchFamily="2" charset="-127"/>
              </a:rPr>
              <a:t> (0.06)</a:t>
            </a:r>
            <a:endParaRPr lang="ko-KR" altLang="en-US" sz="700">
              <a:solidFill>
                <a:srgbClr val="7C7C8C"/>
              </a:solidFill>
              <a:latin typeface="KT Flow Thin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+5.4%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41→43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+33.2%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2.35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-20.2%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83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 유입은 당사 최대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+40.8%·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+23.9%, Reach +33.2%)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였으나 저녁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-40.8%,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-39.0%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급락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41→43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장르가 아니라 작품과 자리의 문제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83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 선물 특집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20.83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)·8.53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15:46 0.182 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등록 경쟁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PP 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(18:20)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놓은 회차는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0.87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10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+173.9%·20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+20.6%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 전 연령 상승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83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아이 캔 스피크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2017·〈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검은 사제들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2015)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전부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미만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총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565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분이 저성과 구간에 들어가 프라임이 무너짐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특선영화는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1.93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명절 최강 장르였고 작동한 작품은 전부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E0F7F9"/>
          </a:solidFill>
          <a:ln w="9525">
            <a:solidFill>
              <a:srgbClr val="00C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예능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명절 낮 블록의 주력으로 고정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가능하다면 영화 수급 기준을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가능 여부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년 이내로 진행 시 경쟁력 상승 기회 있음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유지하더라도 낮에 배치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지상파 특집 재방권 확보로 물량 확대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-56.1%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 / 0.006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+41.1%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0.022 / 0.016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-28.0%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 / 0.025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+70.2%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0.049 / 0.029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+35.3%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0.029 / 0.022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-20.8%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0.005 / 0.006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+666.9%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0.057 / 0.007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+13.6%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 / 0.037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-47.1%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 / 0.029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-29.8%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0.019 / 0.027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+123.0%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 / 0.003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+214.5%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0.084 / 0.027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+335.0%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0.084 / 0.019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-88.2%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 / 0.050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-94.3%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 / 0.049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+448.0%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0.019 / 0.003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-33.3%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0.017 / 0.025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+4.4%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0.014 / 0.013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-2.7%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0.036 / 0.037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+5.1%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0.039 / 0.037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-4.0%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0.009 / 0.009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-97.4%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 / 0.069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/ 0.076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+19.4%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0.027 / 0.023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-20.8%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0.026 / 0.033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042531"/>
              </p:ext>
            </p:extLst>
          </p:nvPr>
        </p:nvGraphicFramePr>
        <p:xfrm>
          <a:off x="6286500" y="4752975"/>
          <a:ext cx="5372100" cy="1609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xmlns="" val="270843785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xmlns="" val="10498288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xmlns="" val="95090175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68748086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19643215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xmlns="" val="22377517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822172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 한가위 선물 특집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0.116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(0.14)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20.83</a:t>
                      </a:r>
                      <a:r>
                        <a:rPr lang="ko-KR" altLang="en-US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154642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 한가위 선물 특집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0.182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(0.15)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8.53</a:t>
                      </a:r>
                      <a:r>
                        <a:rPr lang="ko-KR" altLang="en-US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9832665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저녁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0.87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671753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아이 캔 스피크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0.005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(0.03)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1.92</a:t>
                      </a:r>
                      <a:r>
                        <a:rPr lang="ko-KR" altLang="en-US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587044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아이 캔 스피크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0.006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(0.04)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0.47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383443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검은 사제들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새벽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(0.17)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0.43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5467483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검은 사제들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(0.04)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0.01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73735947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특선영화 비교는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장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004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EE2A3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EE2A3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Drama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연속 편성은 유지하되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라인업을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2049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에 맞춰야 한다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517420"/>
            <a:ext cx="997268" cy="184359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Drama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0.018</a:t>
            </a:r>
            <a:r>
              <a:rPr lang="en-US" altLang="ko-KR" sz="1550" spc="-4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(0.11)</a:t>
            </a:r>
            <a:endParaRPr lang="ko-KR" altLang="en-US" sz="1550" spc="-4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0.027</a:t>
            </a:r>
            <a:r>
              <a:rPr lang="en-US" altLang="ko-KR" sz="700" smtClean="0">
                <a:solidFill>
                  <a:srgbClr val="7C7C8C"/>
                </a:solidFill>
                <a:latin typeface="KT Flow Thin"/>
                <a:ea typeface="KT Flow Medium" pitchFamily="2" charset="-127"/>
                <a:sym typeface="KT Flow Medium" pitchFamily="2" charset="-127"/>
              </a:rPr>
              <a:t> (0.07)</a:t>
            </a:r>
            <a:endParaRPr lang="ko-KR" altLang="en-US" sz="700">
              <a:solidFill>
                <a:srgbClr val="7C7C8C"/>
              </a:solidFill>
              <a:latin typeface="KT Flow Thin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-31.9%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35→50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+26.7%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2.07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-46.3%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55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016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유입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(Reach +26.7%)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있었으나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KPI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2049 -31.9%, ATS -46.3%,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35→50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시청이 늘긴 했으나 전부 타깃 밖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(50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이상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늘어남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016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+97.8%·50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+47.7%·60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+34.3%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상승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정작 타깃 상단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대는 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-49.8%·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-36.1%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이탈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0.23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0.50~0.80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0.50~1.04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연속 편성 전 구간이 기준 이하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016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 전술 자체는 유효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 잔류가 축적형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120%·〈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136%).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2.94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ENA Drama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채널의 기존 시청 습관이 결과를 가름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FDE9EA"/>
          </a:solidFill>
          <a:ln w="9525">
            <a:solidFill>
              <a:srgbClr val="EE2A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 전술은 유지하고 라인업을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3040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적합 최근작으로 교체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 투입 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적합도를 사전 검증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ATS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급락은 회차 길이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 길이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시작 시각으로 분해해 확인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-35.7%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0.013 / 0.019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+102.6%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0.066 / 0.033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-65.2%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0.029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+143.4%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0.052 / 0.021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+83.8%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 / 0.035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+35.2%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 / 0.002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-5.5%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0.008 / 0.009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-51.6%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0.021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-49.4%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0.061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-55.5%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0.036 / 0.081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+247.4%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0.003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-44.3%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0.024 / 0.043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-58.3%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0.007 / 0.018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-10.9%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0.039 / 0.043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-27.4%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0.040 / 0.055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+366.2%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0.024 / 0.005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+32.0%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 / 0.028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-68.4%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 / 0.057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-72.4%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0.017 / 0.061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-79.9%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 / 0.075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-99.9%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0.000 / 0.017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0.030 / 0.029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 / 0.043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-29.1%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0.026 / 0.037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-43.0%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0.032 / 0.057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76603"/>
              </p:ext>
            </p:extLst>
          </p:nvPr>
        </p:nvGraphicFramePr>
        <p:xfrm>
          <a:off x="6286500" y="4752975"/>
          <a:ext cx="5372100" cy="1581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xmlns="" val="152464688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xmlns="" val="368728603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429153909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90253329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593475669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xmlns="" val="33396573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47690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유부녀 킬러 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1.04</a:t>
                      </a:r>
                      <a:r>
                        <a:rPr lang="ko-KR" altLang="en-US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257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923281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유부녀 킬러 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263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67083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유부녀 킬러 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1.02</a:t>
                      </a:r>
                      <a:r>
                        <a:rPr lang="ko-KR" altLang="en-US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671219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74970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68206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재벌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X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형사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0.23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249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99890624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Drama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회차별 잔류 곡선은 ‘연속 편성’ 장 참조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62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이번 연휴에서 가장 재현 가능한 성공 사례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510220"/>
            <a:ext cx="997268" cy="19876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0.065</a:t>
            </a:r>
            <a:endParaRPr lang="ko-KR" altLang="en-US" sz="16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+39.4%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72→61</a:t>
            </a:r>
            <a:r>
              <a:rPr lang="ko-KR" altLang="en-US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▲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+26.7%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3.96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+9.9%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23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40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+39.4%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(+17.0%)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두 배 이상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Reach +26.7%·ATS +9.9%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동시에 오른 유일한 채널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72→61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인기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자체보다 ‘명절에 왜 보는가’를 콘텐츠 주제에 붙인 것이 주효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+72.2%·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+23.0%·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+33.4%·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+31.2%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전 구간 플러스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상승은 당사 유일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</a:p>
          <a:p>
            <a:pPr>
              <a:lnSpc>
                <a:spcPct val="122000"/>
              </a:lnSpc>
            </a:pP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귀성길 안전 연속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09/24·25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네 블록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2.27~3.14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09/26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통상 편성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2.48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endParaRPr lang="ko-KR" altLang="en-US" sz="9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·176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분의 대량 편성인데도 배수가 희석되지 않음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귀성이라는 상황에 콘텐츠 주제를 맞춘 큐레이션이 통함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동시간대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위는 아님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야간 블록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0.115 vs FUN TV 0.202·CMCTV 0.196). 09/27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통상 편성은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마지막 날 설계는 별도 과제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F1E9FB"/>
          </a:solidFill>
          <a:ln w="9525">
            <a:solidFill>
              <a:srgbClr val="7826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귀경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가족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안전을 축으로 명절 전용 큐레이션 설계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전야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귀경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마지막 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분리해 각각 편성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위를 노릴 시간대는 별도로 탐색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+91.4%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 / 0.022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-29.3%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0.040 / 0.056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-33.7%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0.041 / 0.061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-42.8%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 / 0.074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-39.2%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 / 0.083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+158.2%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0.064 / 0.025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+190.9%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0.134 / 0.046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+2.3%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0.078 / 0.077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0.088 / 0.071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+12.4%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0.104 / 0.093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0.039 / 0.036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+11.2%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0.067 / 0.060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+218.9%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0.117 / 0.037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+15.0%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0.049 / 0.042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0.048 / 0.053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+76.8%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0.089 / 0.050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-46.6%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/ 0.087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 / 0.043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+42.2%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0.077 / 0.054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+56.1%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0.099 / 0.063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+73.9%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0.066 / 0.038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0.063 / 0.059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-23.9%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/ 0.062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+51.0%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0.068 / 0.045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+64.2%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0.093 / 0.056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731993"/>
              </p:ext>
            </p:extLst>
          </p:nvPr>
        </p:nvGraphicFramePr>
        <p:xfrm>
          <a:off x="6286500" y="4752975"/>
          <a:ext cx="5372100" cy="112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xmlns="" val="3486353995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xmlns="" val="292293025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4443899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172881927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117859924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xmlns="" val="15306380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172475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연속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귀성길 안전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2.27</a:t>
                      </a:r>
                      <a:r>
                        <a:rPr lang="ko-KR" altLang="en-US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51246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연속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 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3.14</a:t>
                      </a:r>
                      <a:r>
                        <a:rPr lang="ko-KR" altLang="en-US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176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85227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통상 편성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오후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2.48</a:t>
                      </a:r>
                      <a:r>
                        <a:rPr lang="ko-KR" altLang="en-US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250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통상 편성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오후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0.51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4295281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741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B9DB0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B9DB0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OLIFE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성장보다 ‘중계 방어 채널’ 역할이 분명했다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314" y="419100"/>
            <a:ext cx="861303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1E2400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OLIFE</a:t>
            </a:r>
            <a:endParaRPr lang="ko-KR" altLang="en-US" sz="1350">
              <a:solidFill>
                <a:srgbClr val="1E2400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0.106</a:t>
            </a:r>
            <a:endParaRPr lang="ko-KR" altLang="en-US" sz="16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-6.8%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31→37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+9.0%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3.88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-15.6%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39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5F7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-6.8%,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31→37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EPG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대조 결과 명절 특집은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 편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(46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0.9%)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뿐이고 신규 회차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(337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7.0%)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대체한 전술은 역효과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5F7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건은 프라임에 놓였는데도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0.88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회차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0.16~1.05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시간가중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0.70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0.72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같은 프로그램 그 외 회차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(1.01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·0.94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보다 낮음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날짜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시간대를 맞춰 짝지어도 신규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전부가 짝보다 낮음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(0.13~0.72p)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5F7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채널을 지탱한 것은 새벽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통상 편성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(09/26 09:25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2.54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09/25 02:00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2.53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격전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18:30~21:30 0.176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당사 최고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100m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결승 시각에도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0.118 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중계와 시청층이 겹치지 않은 교양 편성의 구조적 이점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F3F8D5"/>
          </a:solidFill>
          <a:ln w="9525">
            <a:solidFill>
              <a:srgbClr val="B9DB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전용 특집을 최소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프라임에 확보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회차는 명절 낮이 아니라 평상 주간에 소비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교양 강세 슬롯을 주력으로 공식화하고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집중 저녁은 중계 일정과 맞춰 방어 슬롯으로 배치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-22.1%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0.028 / 0.035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-37.9%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 / 0.165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-17.1%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0.125 / 0.151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+42.9%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0.184 / 0.129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+23.9%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0.189 / 0.152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0.050 / 0.049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-52.3%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0.073 / 0.154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0.152 / 0.136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-11.3%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0.148 / 0.167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-14.9%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0.169 / 0.198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+6.0%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0.048 / 0.045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-13.2%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0.101 / 0.116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+0.2%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0.158 / 0.157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-18.4%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0.121 / 0.149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-7.0%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0.162 / 0.174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0.063 / 0.069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+82.2%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0.266 / 0.146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+26.3%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0.210 / 0.167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0.085 / 0.140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-28.5%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0.134 / 0.187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-43.5%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0.044 / 0.078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-9.4%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0.146 / 0.161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+5.7%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0.175 / 0.166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-36.4%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0.096 / 0.151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-36.0%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0.123 / 0.192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4703"/>
              </p:ext>
            </p:extLst>
          </p:nvPr>
        </p:nvGraphicFramePr>
        <p:xfrm>
          <a:off x="6286500" y="4752975"/>
          <a:ext cx="5372100" cy="16273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xmlns="" val="2114547195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xmlns="" val="62293071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73518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91328647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1000525828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xmlns="" val="175780899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5280115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극한직업 한가위 편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(21:05)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0.198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0.88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111281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서호주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1-2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(11:00)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0.16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645439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헝가리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3-4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(15:59)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1.05</a:t>
                      </a:r>
                      <a:r>
                        <a:rPr lang="ko-KR" altLang="en-US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8034198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이탈리아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3-4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(11:24)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0.74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3924169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서호주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3-4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(12:44)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0.85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286161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극한직업 이동 양봉꾼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(21:09)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0.163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0.72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560058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통상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(09:25)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0.261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2.54</a:t>
                      </a:r>
                      <a:r>
                        <a:rPr lang="ko-KR" altLang="en-US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7734244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통상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극한직업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(15:15)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0.247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2.53</a:t>
                      </a:r>
                      <a:r>
                        <a:rPr lang="ko-KR" altLang="en-US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68471145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구분은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EPG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09/26·27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여부 미확인분은 통상 편성 처리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70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ONCE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연휴 대응 편성과 구작 장편 몰아보기 모두 보강 필요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86030"/>
            <a:ext cx="997268" cy="247139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ONCE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0.048</a:t>
            </a:r>
            <a:endParaRPr lang="ko-KR" altLang="en-US" sz="16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-8.6%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66→76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+13.8%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2.42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-20.2%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29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-8.6%, ATS -20.2%,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66→76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유입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(Reach +13.8%)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늘었지만 체류가 감소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대응 편성 콘텐츠 자체가 부족해 비교할 시도가 적었음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유일한 특집 블록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 김탁구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몰아보기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(09/26 17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~) 0.51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0.051→0.048→0.032→0.027→0.017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마지막 편이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편의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34%.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D-ONE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나는 자연인이다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0.243·K STAR 0.330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크게 뒤짐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시에 시작해 프라임을 통과시키는 구작 장편 연속 구조가 작동하지 않음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연속 편성이라도 최근작을 쓴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Drama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블록은 잔류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100%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-2.3%·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-7.2%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보다 저녁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+0.6%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상대적으로 낫지만 큰 상승은 없음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E3E9EF"/>
          </a:solidFill>
          <a:ln w="9525">
            <a:solidFill>
              <a:srgbClr val="00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대응 편성 비중을 최소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30%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수준까지 올려 다시 시도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몰아보기는 낮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이내로 줄여 재검증하고 프라임 통과를 피함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프라임은 더 짧고 강한 포맷으로 채움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-23.6%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 / 0.020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-30.7%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0.053 / 0.077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-34.2%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 / 0.065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-4.2%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0.064 / 0.067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-8.1%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0.068 / 0.074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-50.7%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0.020 / 0.040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+15.4%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0.074 / 0.065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+12.5%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0.055 / 0.049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0.074 / 0.077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+1.1%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0.086 / 0.085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+54.2%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0.032 / 0.021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0.095 / 0.080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0.085 / 0.080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+27.7%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 / 0.081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+11.6%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 / 0.092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-57.8%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0.012 / 0.029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+4.8%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0.055 / 0.053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0.049 / 0.079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0.051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-50.9%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0.064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 / 0.021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-49.5%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 / 0.046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+9.1%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0.079 / 0.072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0.076 / 0.078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-32.8%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0.064 / 0.095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692713"/>
              </p:ext>
            </p:extLst>
          </p:nvPr>
        </p:nvGraphicFramePr>
        <p:xfrm>
          <a:off x="6286500" y="4752975"/>
          <a:ext cx="5372100" cy="666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xmlns="" val="297959551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xmlns="" val="9563103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5209309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1919165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389260696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xmlns="" val="120571823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786474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제빵왕 김탁구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(17:09~22:34)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0.51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337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289113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제빵왕 김탁구 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0.60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7208583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6286500" y="5553075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제빵왕 김탁구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회차별 시청률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(09/26 17:09~22:34, 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6477000" y="5849216"/>
            <a:ext cx="571500" cy="618259"/>
          </a:xfrm>
          <a:prstGeom prst="roundRect">
            <a:avLst>
              <a:gd name="adj" fmla="val 5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6286500" y="5696816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0.051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865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17:09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7543800" y="5885584"/>
            <a:ext cx="571500" cy="581891"/>
          </a:xfrm>
          <a:prstGeom prst="roundRect">
            <a:avLst>
              <a:gd name="adj" fmla="val 5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7353300" y="5733184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0.048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3533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18:29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610600" y="6079548"/>
            <a:ext cx="571500" cy="387927"/>
          </a:xfrm>
          <a:prstGeom prst="roundRect">
            <a:avLst>
              <a:gd name="adj" fmla="val 736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8420100" y="5927148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0.032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4201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19:49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9677400" y="6140161"/>
            <a:ext cx="571500" cy="327314"/>
          </a:xfrm>
          <a:prstGeom prst="roundRect">
            <a:avLst>
              <a:gd name="adj" fmla="val 873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9486900" y="5987761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0.027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4869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21:11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10744200" y="6261389"/>
            <a:ext cx="571500" cy="206086"/>
          </a:xfrm>
          <a:prstGeom prst="roundRect">
            <a:avLst>
              <a:gd name="adj" fmla="val 1386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10553700" y="6108989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0.017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5537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22:34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62700" y="6696075"/>
            <a:ext cx="5143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→ 마지막 편 </a:t>
            </a:r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34% · </a:t>
            </a:r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동시간대 </a:t>
            </a:r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D-ONE 〈</a:t>
            </a:r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나는 자연인이다</a:t>
            </a:r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0.243 · K STAR 0.330</a:t>
            </a:r>
            <a:endParaRPr lang="ko-KR" altLang="en-US" sz="82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ONCE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617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8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skyUHD</a:t>
            </a:r>
            <a:r>
              <a:rPr lang="en-US" altLang="ko-KR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 | 〈</a:t>
            </a:r>
            <a:r>
              <a:rPr lang="ko-KR" altLang="en-US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이상한 변호사 </a:t>
            </a:r>
            <a:r>
              <a:rPr lang="ko-KR" altLang="en-US" sz="18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우영우</a:t>
            </a:r>
            <a:r>
              <a:rPr lang="en-US" altLang="ko-KR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〉 </a:t>
            </a:r>
            <a:r>
              <a:rPr lang="ko-KR" altLang="en-US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첫날 낮 </a:t>
            </a:r>
            <a:r>
              <a:rPr lang="ko-KR" altLang="en-US" sz="18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몰아보기가</a:t>
            </a:r>
            <a:r>
              <a:rPr lang="ko-KR" altLang="en-US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 </a:t>
            </a:r>
            <a:r>
              <a:rPr lang="en-US" altLang="ko-KR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9</a:t>
            </a:r>
            <a:r>
              <a:rPr lang="ko-KR" altLang="en-US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월 최고를 만들었고</a:t>
            </a:r>
            <a:r>
              <a:rPr lang="en-US" altLang="ko-KR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이튿날 </a:t>
            </a:r>
            <a:r>
              <a:rPr lang="ko-KR" altLang="en-US" sz="18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몰아보기는</a:t>
            </a:r>
            <a:r>
              <a:rPr lang="ko-KR" altLang="en-US" sz="18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 부진</a:t>
            </a:r>
            <a:endParaRPr lang="ko-KR" altLang="en-US" sz="18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 단위 수기 집계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(0927)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반영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단위는 시장 초과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(+155.1%)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이나 절대값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배수는 참고치로 읽고 프로그램 단위로 판정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74747"/>
            <a:ext cx="997268" cy="269706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skyUHD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0.004</a:t>
            </a:r>
            <a:endParaRPr lang="ko-KR" altLang="en-US" sz="1500" spc="-6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6705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+155.1%</a:t>
            </a:r>
            <a:endParaRPr lang="ko-KR" altLang="en-US" sz="150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9110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201→187</a:t>
            </a:r>
            <a:r>
              <a:rPr lang="ko-KR" altLang="en-US" sz="15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500" spc="-6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1515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▲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+53.2%</a:t>
            </a:r>
            <a:endParaRPr lang="ko-KR" altLang="en-US" sz="150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3920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최고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166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판정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350" spc="-60" smtClean="0">
                <a:solidFill>
                  <a:srgbClr val="D98A1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조건부 초과</a:t>
            </a:r>
            <a:endParaRPr lang="ko-KR" altLang="en-US" sz="1350" spc="-60">
              <a:solidFill>
                <a:srgbClr val="D98A1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76325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절대값 유의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065234"/>
              </p:ext>
            </p:extLst>
          </p:nvPr>
        </p:nvGraphicFramePr>
        <p:xfrm>
          <a:off x="533400" y="2228850"/>
          <a:ext cx="5524500" cy="169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xmlns="" val="247700895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3596351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191615729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xmlns="" val="18608488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xmlns="" val="322002257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1256485027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xmlns="" val="325544132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일평균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 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주력 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8696178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09/23(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전야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통상 편성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 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내 아이의 사생활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32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19:06 0.013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83509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09/24(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목</a:t>
                      </a: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3.89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166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이상한 변호사 우영우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1~9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07:51~17:16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8306257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금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3.16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이상한 변호사 </a:t>
                      </a:r>
                      <a:r>
                        <a:rPr lang="ko-KR" altLang="en-US" sz="788" b="0" i="0" dirty="0" err="1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우영우</a:t>
                      </a:r>
                      <a:r>
                        <a:rPr lang="en-US" altLang="ko-KR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9~16</a:t>
                      </a:r>
                      <a:r>
                        <a:rPr lang="ko-KR" altLang="en-US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07:53~17:28 </a:t>
                      </a:r>
                      <a:r>
                        <a:rPr lang="ko-KR" altLang="en-US" sz="788" b="0" i="0" dirty="0" err="1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</a:t>
                      </a:r>
                      <a:endParaRPr lang="ko-KR" altLang="en-US" sz="788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19444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토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1.48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190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착한 여자 부세미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1~6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08:17~14:58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25165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2.36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190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착한 여자 </a:t>
                      </a:r>
                      <a:r>
                        <a:rPr lang="ko-KR" altLang="en-US" sz="788" b="0" i="0" dirty="0" err="1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부세미</a:t>
                      </a:r>
                      <a:r>
                        <a:rPr lang="en-US" altLang="ko-KR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7~12</a:t>
                      </a:r>
                      <a:r>
                        <a:rPr lang="ko-KR" altLang="en-US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08:29~14:59</a:t>
                      </a:r>
                      <a:endParaRPr lang="ko-KR" altLang="en-US" sz="788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15400656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400" y="3905250"/>
            <a:ext cx="5524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채널 일평균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목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0.0025·0.0016·0.0016 /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금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0.0012·0.0001·0.0004 /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토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0.0003·0.0015·0.0057 /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0.0018·0.0009·0.0006).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원자료가 소수점 넷째 자리라 표기는 셋째 자리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배수는 원값으로 산출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33400" y="4229100"/>
            <a:ext cx="55245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704850" y="44005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819150" y="43719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4850" y="4610100"/>
            <a:ext cx="51816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단위로는 시장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(+17.0%)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크게 넘겼고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최고 일평균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0.007·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최고 등위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166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절대값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수준이라 등위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배수는 참고치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 단위에서 재현 가치가 확인된 카드는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이상한 변호사 우영우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첫날 낮 몰아보기 하나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33400" y="533400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BE8E9"/>
          </a:solidFill>
          <a:ln w="9525">
            <a:solidFill>
              <a:srgbClr val="D520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704850" y="5505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819150" y="54768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850" y="5695950"/>
            <a:ext cx="5200650" cy="552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몰아보기는 ‘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완결형’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~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6~8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설계하고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일차는 다른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교체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주말 오전 드라마 블록은 유지하되 간판 재방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 아이의 사생활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시간대를 나눔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절대값이 작은 채널이므로 시청률 배수 대신 </a:t>
            </a:r>
            <a:r>
              <a:rPr lang="en-US" altLang="ko-KR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Reach·</a:t>
            </a:r>
            <a:r>
              <a:rPr lang="ko-KR" altLang="en-US" sz="863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등위를 병행해 판정</a:t>
            </a:r>
            <a:endParaRPr lang="ko-KR" altLang="en-US" sz="863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6500" y="222885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이상한 변호사 우영우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몰아보기 회차별 시청률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09/24(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1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일차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09/25(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2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일차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86500" y="3600450"/>
            <a:ext cx="2571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 1~9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(2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미편성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62865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61912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03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60082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650557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246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915150" y="3333750"/>
            <a:ext cx="247650" cy="76200"/>
          </a:xfrm>
          <a:prstGeom prst="roundRect">
            <a:avLst>
              <a:gd name="adj" fmla="val 25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6819900" y="32004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389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7229475" y="3333750"/>
            <a:ext cx="247650" cy="76200"/>
          </a:xfrm>
          <a:prstGeom prst="roundRect">
            <a:avLst>
              <a:gd name="adj" fmla="val 25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7134225" y="32004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532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75438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74485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676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7858125" y="2771775"/>
            <a:ext cx="247650" cy="638175"/>
          </a:xfrm>
          <a:prstGeom prst="roundRect">
            <a:avLst>
              <a:gd name="adj" fmla="val 7692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7762875" y="263842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0.031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819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72450" y="2600325"/>
            <a:ext cx="247650" cy="809625"/>
          </a:xfrm>
          <a:prstGeom prst="roundRect">
            <a:avLst>
              <a:gd name="adj" fmla="val 7692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8077200" y="24669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962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8486775" y="2590800"/>
            <a:ext cx="247650" cy="819150"/>
          </a:xfrm>
          <a:prstGeom prst="roundRect">
            <a:avLst>
              <a:gd name="adj" fmla="val 7692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8391525" y="24574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4105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029700" y="3600450"/>
            <a:ext cx="2571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 9~16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297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89344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9535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934402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924877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2678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65835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956310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5821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997267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987742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8964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102870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101917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2108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13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1060132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1050607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5251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10915650" y="3133725"/>
            <a:ext cx="247650" cy="276225"/>
          </a:xfrm>
          <a:prstGeom prst="roundRect">
            <a:avLst>
              <a:gd name="adj" fmla="val 7692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10820400" y="30003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8394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1122997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1113472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11537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89" name="직선 연결선 88"/>
          <p:cNvCxnSpPr/>
          <p:nvPr/>
        </p:nvCxnSpPr>
        <p:spPr>
          <a:xfrm>
            <a:off x="6286500" y="3409950"/>
            <a:ext cx="5334000" cy="0"/>
          </a:xfrm>
          <a:prstGeom prst="line">
            <a:avLst/>
          </a:prstGeom>
          <a:ln w="9525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286500" y="37719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착한 여자 부세미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주말 오전 블록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09/26(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1~6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09/27(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7~12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286500" y="4876800"/>
            <a:ext cx="2667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1~6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일평균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 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0.003)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2865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62103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2293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67056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66294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6484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7124700" y="4552950"/>
            <a:ext cx="285750" cy="133350"/>
          </a:xfrm>
          <a:prstGeom prst="roundRect">
            <a:avLst>
              <a:gd name="adj" fmla="val 14286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7048500" y="44196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0675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7543800" y="4391025"/>
            <a:ext cx="285750" cy="295275"/>
          </a:xfrm>
          <a:prstGeom prst="roundRect">
            <a:avLst>
              <a:gd name="adj" fmla="val 6667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7467600" y="42576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0.009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4866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7962900" y="4524375"/>
            <a:ext cx="285750" cy="161925"/>
          </a:xfrm>
          <a:prstGeom prst="roundRect">
            <a:avLst>
              <a:gd name="adj" fmla="val 11765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/>
          <p:cNvSpPr txBox="1"/>
          <p:nvPr/>
        </p:nvSpPr>
        <p:spPr>
          <a:xfrm>
            <a:off x="7886700" y="439102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0.005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9057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83820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/>
          <p:cNvSpPr txBox="1"/>
          <p:nvPr/>
        </p:nvSpPr>
        <p:spPr>
          <a:xfrm>
            <a:off x="83058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3248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029700" y="4876800"/>
            <a:ext cx="2667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 7~12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일평균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0.003 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90297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89535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9725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9448800" y="464820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9372600" y="45148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3916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9867900" y="4095750"/>
            <a:ext cx="285750" cy="590550"/>
          </a:xfrm>
          <a:prstGeom prst="roundRect">
            <a:avLst>
              <a:gd name="adj" fmla="val 6667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9791700" y="39624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0.017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8107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10287000" y="4114800"/>
            <a:ext cx="285750" cy="571500"/>
          </a:xfrm>
          <a:prstGeom prst="roundRect">
            <a:avLst>
              <a:gd name="adj" fmla="val 6667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/>
          <p:cNvSpPr txBox="1"/>
          <p:nvPr/>
        </p:nvSpPr>
        <p:spPr>
          <a:xfrm>
            <a:off x="10210800" y="39814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0.017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2298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10706100" y="4619625"/>
            <a:ext cx="285750" cy="66675"/>
          </a:xfrm>
          <a:prstGeom prst="roundRect">
            <a:avLst>
              <a:gd name="adj" fmla="val 28571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/>
          <p:cNvSpPr txBox="1"/>
          <p:nvPr/>
        </p:nvSpPr>
        <p:spPr>
          <a:xfrm>
            <a:off x="10629900" y="44862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0.002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6489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11125200" y="4162425"/>
            <a:ext cx="285750" cy="523875"/>
          </a:xfrm>
          <a:prstGeom prst="roundRect">
            <a:avLst>
              <a:gd name="adj" fmla="val 6667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11049000" y="40290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0.015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0680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29" name="직선 연결선 128"/>
          <p:cNvCxnSpPr/>
          <p:nvPr/>
        </p:nvCxnSpPr>
        <p:spPr>
          <a:xfrm>
            <a:off x="6286500" y="4686300"/>
            <a:ext cx="5334000" cy="0"/>
          </a:xfrm>
          <a:prstGeom prst="line">
            <a:avLst/>
          </a:prstGeom>
          <a:ln w="9525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모서리가 둥근 직사각형 129"/>
          <p:cNvSpPr/>
          <p:nvPr/>
        </p:nvSpPr>
        <p:spPr>
          <a:xfrm>
            <a:off x="6286500" y="5067300"/>
            <a:ext cx="53721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6457950" y="52387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Box 131"/>
          <p:cNvSpPr txBox="1"/>
          <p:nvPr/>
        </p:nvSpPr>
        <p:spPr>
          <a:xfrm>
            <a:off x="6572250" y="5210175"/>
            <a:ext cx="49149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57950" y="5448300"/>
            <a:ext cx="50292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이상한 변호사 우영우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0.000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7~9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0.031~0.040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회차마다 축적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프로그램 최고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 아이의 사생활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9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0.046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근접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요일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기준 약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안팎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이튿날 이어붙인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10~16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회는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0.014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 미측정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축적은 하루 안에 완성되고 다음 날로 넘기면 소멸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부세미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(09/27) 9~12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0.015~0.017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일차보다 높았고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09/26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에는 간판 재방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 아이의 사생활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15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특집보다 높았음</a:t>
            </a:r>
            <a:endParaRPr lang="ko-KR" altLang="en-US" sz="82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26 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(0927)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수기 집계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‘—’ 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측정치 없음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(0.0000)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일평균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닐슨 일간 집계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45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BINGE BLOCKS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연속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(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몰아보기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)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편성의 회차별 곡선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쌓이는 편성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vs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새는 편성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블록의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100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환산한 상대 지수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100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위로 가면 뒤로 갈수록 시청자가 늘어난 것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주지표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143000" y="5334000"/>
            <a:ext cx="66675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525780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143000" y="4405313"/>
            <a:ext cx="66675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500" y="4329113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50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143000" y="3476625"/>
            <a:ext cx="6667500" cy="0"/>
          </a:xfrm>
          <a:prstGeom prst="line">
            <a:avLst/>
          </a:prstGeom>
          <a:ln w="14288">
            <a:solidFill>
              <a:srgbClr val="262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500" y="3400425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100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143000" y="2547938"/>
            <a:ext cx="66675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" y="2471738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150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1143000" y="1619250"/>
            <a:ext cx="66675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" y="154305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200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7250" y="54292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0750" y="54292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4250" y="54292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57750" y="54292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91250" y="54292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24750" y="54292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3" name="자유형 22"/>
          <p:cNvSpPr/>
          <p:nvPr/>
        </p:nvSpPr>
        <p:spPr>
          <a:xfrm>
            <a:off x="1143000" y="3476625"/>
            <a:ext cx="5334001" cy="1238251"/>
          </a:xfrm>
          <a:custGeom>
            <a:avLst/>
            <a:gdLst/>
            <a:ahLst/>
            <a:cxnLst/>
            <a:rect l="0" t="0" r="0" b="0"/>
            <a:pathLst>
              <a:path w="5334001" h="1238251">
                <a:moveTo>
                  <a:pt x="0" y="0"/>
                </a:moveTo>
                <a:lnTo>
                  <a:pt x="1333500" y="109257"/>
                </a:lnTo>
                <a:lnTo>
                  <a:pt x="2667000" y="691963"/>
                </a:lnTo>
                <a:lnTo>
                  <a:pt x="4000500" y="874059"/>
                </a:lnTo>
                <a:lnTo>
                  <a:pt x="5334000" y="1238250"/>
                </a:lnTo>
              </a:path>
            </a:pathLst>
          </a:custGeom>
          <a:ln w="28575">
            <a:solidFill>
              <a:srgbClr val="002D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1100138" y="3433763"/>
            <a:ext cx="85725" cy="85725"/>
          </a:xfrm>
          <a:prstGeom prst="ellipse">
            <a:avLst/>
          </a:prstGeom>
          <a:solidFill>
            <a:srgbClr val="002D5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2433638" y="3543020"/>
            <a:ext cx="85725" cy="85725"/>
          </a:xfrm>
          <a:prstGeom prst="ellipse">
            <a:avLst/>
          </a:prstGeom>
          <a:solidFill>
            <a:srgbClr val="002D5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3767138" y="4125726"/>
            <a:ext cx="85725" cy="85725"/>
          </a:xfrm>
          <a:prstGeom prst="ellipse">
            <a:avLst/>
          </a:prstGeom>
          <a:solidFill>
            <a:srgbClr val="002D5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100638" y="4307821"/>
            <a:ext cx="85725" cy="85725"/>
          </a:xfrm>
          <a:prstGeom prst="ellipse">
            <a:avLst/>
          </a:prstGeom>
          <a:solidFill>
            <a:srgbClr val="002D5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434138" y="4672013"/>
            <a:ext cx="85725" cy="85725"/>
          </a:xfrm>
          <a:prstGeom prst="ellipse">
            <a:avLst/>
          </a:prstGeom>
          <a:solidFill>
            <a:srgbClr val="002D5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/>
          <p:nvPr/>
        </p:nvCxnSpPr>
        <p:spPr>
          <a:xfrm>
            <a:off x="8096250" y="1752600"/>
            <a:ext cx="266700" cy="0"/>
          </a:xfrm>
          <a:prstGeom prst="line">
            <a:avLst/>
          </a:prstGeom>
          <a:ln w="28575">
            <a:solidFill>
              <a:srgbClr val="002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39150" y="16764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ONCE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 김탁구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(09/26)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53750" y="167640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34%</a:t>
            </a:r>
            <a:endParaRPr lang="ko-KR" altLang="en-US" sz="90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2" name="자유형 31"/>
          <p:cNvSpPr/>
          <p:nvPr/>
        </p:nvSpPr>
        <p:spPr>
          <a:xfrm>
            <a:off x="1143000" y="1619250"/>
            <a:ext cx="5334001" cy="1857376"/>
          </a:xfrm>
          <a:custGeom>
            <a:avLst/>
            <a:gdLst/>
            <a:ahLst/>
            <a:cxnLst/>
            <a:rect l="0" t="0" r="0" b="0"/>
            <a:pathLst>
              <a:path w="5334001" h="1857376">
                <a:moveTo>
                  <a:pt x="0" y="1857375"/>
                </a:moveTo>
                <a:lnTo>
                  <a:pt x="1333500" y="739254"/>
                </a:lnTo>
                <a:lnTo>
                  <a:pt x="2667000" y="314183"/>
                </a:lnTo>
                <a:lnTo>
                  <a:pt x="4000500" y="0"/>
                </a:lnTo>
                <a:lnTo>
                  <a:pt x="5334000" y="1487748"/>
                </a:lnTo>
              </a:path>
            </a:pathLst>
          </a:custGeom>
          <a:ln w="28575">
            <a:solidFill>
              <a:srgbClr val="EE2A3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1100138" y="3433763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2433638" y="2315641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3767138" y="1890570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5100638" y="1576388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434138" y="3064136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연결선 37"/>
          <p:cNvCxnSpPr/>
          <p:nvPr/>
        </p:nvCxnSpPr>
        <p:spPr>
          <a:xfrm>
            <a:off x="8096250" y="2038350"/>
            <a:ext cx="266700" cy="0"/>
          </a:xfrm>
          <a:prstGeom prst="line">
            <a:avLst/>
          </a:prstGeom>
          <a:ln w="28575">
            <a:solidFill>
              <a:srgbClr val="EE2A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39150" y="19621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Drama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4 5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(09/24)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953750" y="196215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120%</a:t>
            </a:r>
            <a:endParaRPr lang="ko-KR" altLang="en-US" sz="90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자유형 40"/>
          <p:cNvSpPr/>
          <p:nvPr/>
        </p:nvSpPr>
        <p:spPr>
          <a:xfrm>
            <a:off x="1143000" y="2074307"/>
            <a:ext cx="4000501" cy="1402319"/>
          </a:xfrm>
          <a:custGeom>
            <a:avLst/>
            <a:gdLst/>
            <a:ahLst/>
            <a:cxnLst/>
            <a:rect l="0" t="0" r="0" b="0"/>
            <a:pathLst>
              <a:path w="4000501" h="1402319">
                <a:moveTo>
                  <a:pt x="0" y="1402318"/>
                </a:moveTo>
                <a:lnTo>
                  <a:pt x="1333500" y="0"/>
                </a:lnTo>
                <a:lnTo>
                  <a:pt x="2667000" y="1328023"/>
                </a:lnTo>
                <a:lnTo>
                  <a:pt x="4000500" y="733663"/>
                </a:lnTo>
              </a:path>
            </a:pathLst>
          </a:custGeom>
          <a:ln w="28575">
            <a:solidFill>
              <a:srgbClr val="EE2A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1100138" y="3433763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2433638" y="2031444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3767138" y="3359467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5100638" y="2765108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/>
          <p:cNvCxnSpPr/>
          <p:nvPr/>
        </p:nvCxnSpPr>
        <p:spPr>
          <a:xfrm>
            <a:off x="8096250" y="2324100"/>
            <a:ext cx="266700" cy="0"/>
          </a:xfrm>
          <a:prstGeom prst="line">
            <a:avLst/>
          </a:prstGeom>
          <a:ln w="28575">
            <a:solidFill>
              <a:srgbClr val="EE2A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39150" y="22479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Drama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2 4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(09/26)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953750" y="224790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136%</a:t>
            </a:r>
            <a:endParaRPr lang="ko-KR" altLang="en-US" sz="90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1143000" y="2620115"/>
            <a:ext cx="4000501" cy="1077856"/>
          </a:xfrm>
          <a:custGeom>
            <a:avLst/>
            <a:gdLst/>
            <a:ahLst/>
            <a:cxnLst/>
            <a:rect l="0" t="0" r="0" b="0"/>
            <a:pathLst>
              <a:path w="4000501" h="1077856">
                <a:moveTo>
                  <a:pt x="0" y="856510"/>
                </a:moveTo>
                <a:lnTo>
                  <a:pt x="1333500" y="134732"/>
                </a:lnTo>
                <a:lnTo>
                  <a:pt x="2667000" y="0"/>
                </a:lnTo>
                <a:lnTo>
                  <a:pt x="4000500" y="1077855"/>
                </a:lnTo>
              </a:path>
            </a:pathLst>
          </a:custGeom>
          <a:ln w="28575">
            <a:solidFill>
              <a:srgbClr val="EE2A3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1100138" y="3433763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2433638" y="2711985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3767138" y="2577253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5100638" y="3655108"/>
            <a:ext cx="85725" cy="85725"/>
          </a:xfrm>
          <a:prstGeom prst="ellipse">
            <a:avLst/>
          </a:prstGeom>
          <a:solidFill>
            <a:srgbClr val="EE2A30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/>
          <p:cNvCxnSpPr/>
          <p:nvPr/>
        </p:nvCxnSpPr>
        <p:spPr>
          <a:xfrm>
            <a:off x="8096250" y="2609850"/>
            <a:ext cx="266700" cy="0"/>
          </a:xfrm>
          <a:prstGeom prst="line">
            <a:avLst/>
          </a:prstGeom>
          <a:ln w="28575">
            <a:solidFill>
              <a:srgbClr val="EE2A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439150" y="25336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Drama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953750" y="253365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88%</a:t>
            </a:r>
            <a:endParaRPr lang="ko-KR" altLang="en-US" sz="90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7" name="자유형 56"/>
          <p:cNvSpPr/>
          <p:nvPr/>
        </p:nvSpPr>
        <p:spPr>
          <a:xfrm>
            <a:off x="1143000" y="3476625"/>
            <a:ext cx="2667001" cy="1009904"/>
          </a:xfrm>
          <a:custGeom>
            <a:avLst/>
            <a:gdLst/>
            <a:ahLst/>
            <a:cxnLst/>
            <a:rect l="0" t="0" r="0" b="0"/>
            <a:pathLst>
              <a:path w="2667001" h="1009904">
                <a:moveTo>
                  <a:pt x="0" y="0"/>
                </a:moveTo>
                <a:lnTo>
                  <a:pt x="1333500" y="1009903"/>
                </a:lnTo>
                <a:lnTo>
                  <a:pt x="2667000" y="261304"/>
                </a:lnTo>
              </a:path>
            </a:pathLst>
          </a:custGeom>
          <a:ln w="28575">
            <a:solidFill>
              <a:srgbClr val="3C32E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1100138" y="3433763"/>
            <a:ext cx="85725" cy="85725"/>
          </a:xfrm>
          <a:prstGeom prst="ellipse">
            <a:avLst/>
          </a:prstGeom>
          <a:solidFill>
            <a:srgbClr val="3C32E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2433638" y="4443666"/>
            <a:ext cx="85725" cy="85725"/>
          </a:xfrm>
          <a:prstGeom prst="ellipse">
            <a:avLst/>
          </a:prstGeom>
          <a:solidFill>
            <a:srgbClr val="3C32E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3767138" y="3695066"/>
            <a:ext cx="85725" cy="85725"/>
          </a:xfrm>
          <a:prstGeom prst="ellipse">
            <a:avLst/>
          </a:prstGeom>
          <a:solidFill>
            <a:srgbClr val="3C32E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연결선 60"/>
          <p:cNvCxnSpPr/>
          <p:nvPr/>
        </p:nvCxnSpPr>
        <p:spPr>
          <a:xfrm>
            <a:off x="8096250" y="2895600"/>
            <a:ext cx="266700" cy="0"/>
          </a:xfrm>
          <a:prstGeom prst="line">
            <a:avLst/>
          </a:prstGeom>
          <a:ln w="28575">
            <a:solidFill>
              <a:srgbClr val="3C32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439150" y="28194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4 3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953750" y="281940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86%</a:t>
            </a:r>
            <a:endParaRPr lang="ko-KR" altLang="en-US" sz="90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4" name="자유형 63"/>
          <p:cNvSpPr/>
          <p:nvPr/>
        </p:nvSpPr>
        <p:spPr>
          <a:xfrm>
            <a:off x="1143000" y="3284483"/>
            <a:ext cx="6667501" cy="1807561"/>
          </a:xfrm>
          <a:custGeom>
            <a:avLst/>
            <a:gdLst/>
            <a:ahLst/>
            <a:cxnLst/>
            <a:rect l="0" t="0" r="0" b="0"/>
            <a:pathLst>
              <a:path w="6667501" h="1807561">
                <a:moveTo>
                  <a:pt x="0" y="192142"/>
                </a:moveTo>
                <a:lnTo>
                  <a:pt x="1333500" y="241957"/>
                </a:lnTo>
                <a:lnTo>
                  <a:pt x="2667000" y="0"/>
                </a:lnTo>
                <a:lnTo>
                  <a:pt x="4000500" y="932245"/>
                </a:lnTo>
                <a:lnTo>
                  <a:pt x="5334000" y="298888"/>
                </a:lnTo>
                <a:lnTo>
                  <a:pt x="6667500" y="1807560"/>
                </a:lnTo>
              </a:path>
            </a:pathLst>
          </a:custGeom>
          <a:ln w="28575">
            <a:solidFill>
              <a:srgbClr val="B9DB0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/>
          <p:cNvSpPr/>
          <p:nvPr/>
        </p:nvSpPr>
        <p:spPr>
          <a:xfrm>
            <a:off x="1100138" y="3433763"/>
            <a:ext cx="85725" cy="85725"/>
          </a:xfrm>
          <a:prstGeom prst="ellipse">
            <a:avLst/>
          </a:prstGeom>
          <a:solidFill>
            <a:srgbClr val="B9DB0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/>
          <p:cNvSpPr/>
          <p:nvPr/>
        </p:nvSpPr>
        <p:spPr>
          <a:xfrm>
            <a:off x="2433638" y="3483577"/>
            <a:ext cx="85725" cy="85725"/>
          </a:xfrm>
          <a:prstGeom prst="ellipse">
            <a:avLst/>
          </a:prstGeom>
          <a:solidFill>
            <a:srgbClr val="B9DB0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/>
          <p:cNvSpPr/>
          <p:nvPr/>
        </p:nvSpPr>
        <p:spPr>
          <a:xfrm>
            <a:off x="3767138" y="3241620"/>
            <a:ext cx="85725" cy="85725"/>
          </a:xfrm>
          <a:prstGeom prst="ellipse">
            <a:avLst/>
          </a:prstGeom>
          <a:solidFill>
            <a:srgbClr val="B9DB0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>
            <a:off x="5100638" y="4173866"/>
            <a:ext cx="85725" cy="85725"/>
          </a:xfrm>
          <a:prstGeom prst="ellipse">
            <a:avLst/>
          </a:prstGeom>
          <a:solidFill>
            <a:srgbClr val="B9DB0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6434138" y="3540508"/>
            <a:ext cx="85725" cy="85725"/>
          </a:xfrm>
          <a:prstGeom prst="ellipse">
            <a:avLst/>
          </a:prstGeom>
          <a:solidFill>
            <a:srgbClr val="B9DB0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/>
          <p:cNvSpPr/>
          <p:nvPr/>
        </p:nvSpPr>
        <p:spPr>
          <a:xfrm>
            <a:off x="7767638" y="5049181"/>
            <a:ext cx="85725" cy="85725"/>
          </a:xfrm>
          <a:prstGeom prst="ellipse">
            <a:avLst/>
          </a:prstGeom>
          <a:solidFill>
            <a:srgbClr val="B9DB01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연결선 70"/>
          <p:cNvCxnSpPr/>
          <p:nvPr/>
        </p:nvCxnSpPr>
        <p:spPr>
          <a:xfrm>
            <a:off x="8096250" y="3181350"/>
            <a:ext cx="266700" cy="0"/>
          </a:xfrm>
          <a:prstGeom prst="line">
            <a:avLst/>
          </a:prstGeom>
          <a:ln w="28575">
            <a:solidFill>
              <a:srgbClr val="B9DB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439150" y="31051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 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(09/26)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953750" y="3105150"/>
            <a:ext cx="666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13%</a:t>
            </a:r>
            <a:endParaRPr lang="ko-KR" altLang="en-US" sz="90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096250" y="3486150"/>
            <a:ext cx="35623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우측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% = 1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대비 마지막 편 잔류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8096250" y="3733800"/>
            <a:ext cx="3562350" cy="1600200"/>
          </a:xfrm>
          <a:prstGeom prst="roundRect">
            <a:avLst>
              <a:gd name="adj" fmla="val 5952"/>
            </a:avLst>
          </a:prstGeom>
          <a:solidFill>
            <a:srgbClr val="F7F7FA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8248650" y="3848100"/>
            <a:ext cx="3238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(09/27)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블록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축적형으로 전환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248650" y="4076700"/>
            <a:ext cx="325755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ONCE </a:t>
            </a:r>
            <a:r>
              <a:rPr lang="ko-KR" altLang="en-US" sz="82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82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김탁구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0.015 → 0.105 (696%)</a:t>
            </a:r>
          </a:p>
          <a:p>
            <a:pPr>
              <a:lnSpc>
                <a:spcPct val="130000"/>
              </a:lnSpc>
            </a:pP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ENA 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4 4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): 0.118 → 0.380 (659%, 02:00 </a:t>
            </a:r>
            <a:r>
              <a:rPr lang="ko-KR" altLang="en-US" sz="82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제외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ENA Drama 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2 5</a:t>
            </a:r>
            <a:r>
              <a:rPr lang="ko-KR" altLang="en-US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r>
              <a:rPr lang="en-US" altLang="ko-KR" sz="82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0.092 → 0.227 (118%)</a:t>
            </a:r>
          </a:p>
          <a:p>
            <a:pPr>
              <a:lnSpc>
                <a:spcPct val="130000"/>
              </a:lnSpc>
            </a:pPr>
            <a:r>
              <a:rPr lang="ko-KR" altLang="en-US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마지막 날 저녁은 귀경 후 </a:t>
            </a:r>
            <a:r>
              <a:rPr lang="en-US" altLang="ko-KR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복귀 시간대와 겹쳐 뒤 </a:t>
            </a:r>
            <a:r>
              <a:rPr lang="ko-KR" altLang="en-US" sz="825" dirty="0" err="1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회차가</a:t>
            </a:r>
            <a:r>
              <a:rPr lang="ko-KR" altLang="en-US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올라오는 구조</a:t>
            </a:r>
            <a:endParaRPr lang="en-US" altLang="ko-KR" sz="825" dirty="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절대값은 낮음</a:t>
            </a:r>
            <a:endParaRPr lang="ko-KR" altLang="en-US" sz="825" dirty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533400" y="567690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723900" y="5753100"/>
            <a:ext cx="1074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편성은 최근작이면 쌓이고 구작이면 샘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ENA Drama 〈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4〉·〈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회차가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갈수록 올라간 반면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(120%·136%), </a:t>
            </a:r>
          </a:p>
          <a:p>
            <a:pPr>
              <a:lnSpc>
                <a:spcPct val="120000"/>
              </a:lnSpc>
            </a:pPr>
            <a:r>
              <a:rPr lang="en-US" altLang="ko-KR" sz="1050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ONCE 〈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김탁구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대비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34%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까지 빠짐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ENA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3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편은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편에서 꺼졌다가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편에서 회복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(86%)</a:t>
            </a:r>
            <a:endParaRPr lang="ko-KR" altLang="en-US" sz="105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ENA·ENA Drama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ONCE·OLIFE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지수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200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초과분은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200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절단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38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818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0" y="3619500"/>
            <a:ext cx="51435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altLang="ko-KR" sz="18000" spc="-800" smtClean="0">
                <a:solidFill>
                  <a:srgbClr val="F3F3FD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04</a:t>
            </a:r>
            <a:endParaRPr lang="ko-KR" altLang="en-US" sz="18000" spc="-800">
              <a:solidFill>
                <a:srgbClr val="F3F3FD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pic>
        <p:nvPicPr>
          <p:cNvPr id="3" name="그림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914400" y="2781300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7300" y="2695575"/>
            <a:ext cx="5715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pc="8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Chapter 04</a:t>
            </a:r>
            <a:endParaRPr lang="ko-KR" altLang="en-US" sz="1050" spc="8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009900"/>
            <a:ext cx="85725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확인된 패턴</a:t>
            </a:r>
            <a:endParaRPr lang="ko-KR" altLang="en-US" sz="4200" spc="-1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6667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이번 연휴 실측에서 반복 확인된 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13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패턴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  <a:endParaRPr lang="ko-KR" altLang="en-US" sz="13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39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442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04 · CONFIRMED PATTERNS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이번 연휴에서 확인된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패턴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12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확인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1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단일 관찰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패턴의 근거는 당사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닐슨 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다음 명절 편성안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수급안의 체크리스트로 전환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277239"/>
              </p:ext>
            </p:extLst>
          </p:nvPr>
        </p:nvGraphicFramePr>
        <p:xfrm>
          <a:off x="533400" y="1428750"/>
          <a:ext cx="11125200" cy="285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150">
                  <a:extLst>
                    <a:ext uri="{9D8B030D-6E8A-4147-A177-3AD203B41FA5}">
                      <a16:colId xmlns:a16="http://schemas.microsoft.com/office/drawing/2014/main" xmlns="" val="248514555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309721964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xmlns="" val="258526672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xmlns="" val="148772606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#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패턴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근거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확실성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7802487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 낮이 기회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 밤이 위험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 채널 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개가 오전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 상승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하락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(ENA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+42.3%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프라임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+26.2%)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374106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2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검증 예능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IP ×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낮 시간대가 최고 효율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8.53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2.94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기안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84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에디션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6.98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4621376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3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같은 콘텐츠도 자리를 바꾸면 결과가 뒤집힘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도굴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심야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1.18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8.53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저녁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4674529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4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특선영화 성과는 작품 속성보다 채널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슬롯이 설명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log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변동의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98.0%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 채널 간 발생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(R² 0.954).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동일 작품 슬롯만 바꿔도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0.95~1.92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이동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263934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4-1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누적 관객이 많은 구작이 유리하다는 증거 없음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누적 관객 대 체급 대비 배수 순위상관 −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0.52. 544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검은 사제들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0.12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최하위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154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도굴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1.95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4080445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5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명절 최강 장르는 특선영화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최약은 교양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다큐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특집 기준 특선영화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교양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다큐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3243318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6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상황 맞춤 기획이 범용 간판보다 강함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Story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귀성길 안전 특집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2.27~3.14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회차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2473556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7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연속 편성은 최근작이면 쌓이고 구작이면 샘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Drama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잔류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136%·120%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ONCE 34%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2826924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8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시간대에는 가구 채널이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2049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채널보다 잘 버팀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 18:30~21:30 OLIFE 0.176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Drama 0.001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2572978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9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성적이 좋다고 특집이 통한 것은 아님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비중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69.4%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최고이나 특집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 유지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70539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10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중계가 없던 시간대에서도 당사는 빠짐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없던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 시장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+19.2%,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-17.3%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294479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11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한 방이 있는 채널이 등위를 가져감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성공률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인데 등위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2→1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tvN 5/5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인데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3→4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4341537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12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신규 편성의 성패는 그 자리의 직전 실적이 가름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채널 이틀 차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 자리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4.98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검증 재방 자리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0.25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7593933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13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신규가 리드인 없이도 스스로 모을 수 있음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리드인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0.128 →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본방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0.392(3.07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추가 상승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D98A1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단일 관찰</a:t>
                      </a:r>
                      <a:endParaRPr lang="ko-KR" altLang="en-US" sz="863" b="0" i="0">
                        <a:solidFill>
                          <a:srgbClr val="D98A1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096157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40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577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0" y="3619500"/>
            <a:ext cx="51435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altLang="ko-KR" sz="18000" spc="-800" smtClean="0">
                <a:solidFill>
                  <a:srgbClr val="F3F3FD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05</a:t>
            </a:r>
            <a:endParaRPr lang="ko-KR" altLang="en-US" sz="18000" spc="-800">
              <a:solidFill>
                <a:srgbClr val="F3F3FD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pic>
        <p:nvPicPr>
          <p:cNvPr id="3" name="그림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914400" y="2781300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7300" y="2695575"/>
            <a:ext cx="5715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pc="8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Chapter 05</a:t>
            </a:r>
            <a:endParaRPr lang="ko-KR" altLang="en-US" sz="1050" spc="8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009900"/>
            <a:ext cx="85725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다음 명절 수급</a:t>
            </a:r>
            <a:r>
              <a:rPr lang="en-US" altLang="ko-KR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420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편성 전략</a:t>
            </a:r>
            <a:endParaRPr lang="ko-KR" altLang="en-US" sz="4200" spc="-1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6667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콘텐츠보다 먼저 자리의 역할을 정한다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Matrix · 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 우선순위 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운영 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원칙</a:t>
            </a:r>
            <a:r>
              <a:rPr lang="en-US" altLang="ko-KR" sz="13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  <a:endParaRPr lang="ko-KR" altLang="en-US" sz="13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41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179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다음 명절 편성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Matrix: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콘텐츠보다 먼저 ‘자리의 역할’을 정한다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IP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성격 권장도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◎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우선 배치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○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△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조건부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작품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상황 확인 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/ ✕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지양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81250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검증 대중 예능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3825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최근작 드라마 연속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특선영화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8975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교양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다큐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1550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신작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파일럿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44125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 장편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" y="18669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전야 프라임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2381250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933825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486400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7038975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8591550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0144125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" y="24765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09~13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381250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3933825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486400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038975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8591550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0144125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3400" y="30861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14~18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2381250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3933825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486400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7038975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8591550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0144125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3400" y="36957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 프라임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있음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381250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3933825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486400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7038975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 방어</a:t>
            </a:r>
            <a:endParaRPr lang="ko-KR" altLang="en-US" sz="10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8591550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0144125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43053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 프라임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없음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2381250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933825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486400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7038975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8591550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10144125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3400" y="49149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23~25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381250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3933825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486400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7038975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8591550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10144125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33400" y="5429250"/>
            <a:ext cx="11125200" cy="628650"/>
          </a:xfrm>
          <a:prstGeom prst="roundRect">
            <a:avLst>
              <a:gd name="adj" fmla="val 1515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723900" y="5505450"/>
            <a:ext cx="107442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원칙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검증 예능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최근작 연속의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순위 자리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저녁은 중계 유무로 갈라 중계가 있으면 교양 방어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없으면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영화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신작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파일럿은 연휴 전야 프라임에서 시험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장편은 전 시간대 지양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351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Matrix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의 각 칸은 이번 연휴 실측에서 나왔다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권장도 ◎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·✕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칸의 근거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운행 담당자가 바로 인용할 수 있도록 정리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588656"/>
              </p:ext>
            </p:extLst>
          </p:nvPr>
        </p:nvGraphicFramePr>
        <p:xfrm>
          <a:off x="533400" y="1428750"/>
          <a:ext cx="11125200" cy="3867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xmlns="" val="3933909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3344841805"/>
                    </a:ext>
                  </a:extLst>
                </a:gridCol>
                <a:gridCol w="7505700">
                  <a:extLst>
                    <a:ext uri="{9D8B030D-6E8A-4147-A177-3AD203B41FA5}">
                      <a16:colId xmlns:a16="http://schemas.microsoft.com/office/drawing/2014/main" xmlns="" val="240343381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칸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권장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근거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21563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오전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오후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검증 예능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◎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한가위 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20.83~8.53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예능 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기안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84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에디션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6.98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3444416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오전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특선영화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◎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도굴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심야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1.18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작품도 오전이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효율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474035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오후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최근작 드라마 연속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◎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 낮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연속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2.94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4391614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전야 프라임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파일럿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◎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나는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SOLO〉 33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기 모태솔로 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1.513(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점유율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18.4%)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동시간대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연휴 최고 실적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29761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저녁 프라임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있음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교양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다큐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◎ 방어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 18:30~21:30 OLIFE 0.176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으로 당사 최고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시각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Drama 0.001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642584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저녁 프라임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없음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특선영화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◎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최초 공개 영화의 저녁 성적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tvN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가디언즈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3〉 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0.975, SBS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왕과 사는 남자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3.499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0947795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저녁 프라임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있음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신작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D63B3B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✕</a:t>
                      </a:r>
                      <a:endParaRPr lang="ko-KR" altLang="en-US" sz="1050" b="0" i="0">
                        <a:solidFill>
                          <a:srgbClr val="D63B3B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첫방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리드인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0.311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유실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2157157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전 시간대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구작 장편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D63B3B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✕</a:t>
                      </a:r>
                      <a:endParaRPr lang="ko-KR" altLang="en-US" sz="1050" b="0" i="0">
                        <a:solidFill>
                          <a:srgbClr val="D63B3B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ONCE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제빵왕 김탁구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0.51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잔류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34% / ENA Play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영화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0.01~0.47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6347878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심야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×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교양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다큐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D63B3B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✕</a:t>
                      </a:r>
                      <a:endParaRPr lang="ko-KR" altLang="en-US" sz="1050" b="0" i="0">
                        <a:solidFill>
                          <a:srgbClr val="D63B3B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교양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다큐 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OLIFE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0.034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반면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새벽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통상 편성은 최고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2.54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56075791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533400" y="54292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3900" y="5505450"/>
            <a:ext cx="1074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주의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추석은 아시안게임으로 저녁 시장이 비정상적으로 컸던 명절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없는 명절에는 ‘저녁 프라임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없음’ 행을 기본값으로 적용하고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국제대회 일정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수개월 전 공개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편성 확정 전에 대조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68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다음 명절 수급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‘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살 콘텐츠’의 기준을 바꿔야 한다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콘텐츠 품질 평가가 아니라 당사 채널 편성 적합성 기준의 전략적 분류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우선순위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적극 확보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B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선별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조건부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C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우선순위 하향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84853"/>
              </p:ext>
            </p:extLst>
          </p:nvPr>
        </p:nvGraphicFramePr>
        <p:xfrm>
          <a:off x="533400" y="1428750"/>
          <a:ext cx="11125200" cy="361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xmlns="" val="3876392859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xmlns="" val="110013395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xmlns="" val="3889379157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xmlns="" val="1875566268"/>
                    </a:ext>
                  </a:extLst>
                </a:gridCol>
                <a:gridCol w="5734050">
                  <a:extLst>
                    <a:ext uri="{9D8B030D-6E8A-4147-A177-3AD203B41FA5}">
                      <a16:colId xmlns:a16="http://schemas.microsoft.com/office/drawing/2014/main" xmlns="" val="411900807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우선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콘텐츠 유형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권장 자리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적합 채널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이번 근거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795128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FFFFFF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A</a:t>
                      </a:r>
                      <a:endParaRPr lang="ko-KR" altLang="en-US" sz="1050" b="0" i="0">
                        <a:solidFill>
                          <a:srgbClr val="FFFFFF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2C24C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검증 예능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IP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블록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/ ENA Play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시간대 배수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20.83~8.53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〉) ·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2.94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100953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FFFFFF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A</a:t>
                      </a:r>
                      <a:endParaRPr lang="ko-KR" altLang="en-US" sz="1050" b="0" i="0">
                        <a:solidFill>
                          <a:srgbClr val="FFFFFF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2C24C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명절 상황 맞춤 기획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귀경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/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안전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Story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09/24·25 2.27~3.14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블록당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 편성에도 희석 없음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195125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14141A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B</a:t>
                      </a:r>
                      <a:endParaRPr lang="ko-KR" altLang="en-US" sz="1050" b="0" i="0">
                        <a:solidFill>
                          <a:srgbClr val="14141A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CDCB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최초 공개 특선영화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또는 중계 없는 저녁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/ ENA Play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최초 공개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0.508~3.499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구작 재방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0.003~0.220 ·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특선영화 평균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14233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14141A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B</a:t>
                      </a:r>
                      <a:endParaRPr lang="ko-KR" altLang="en-US" sz="1050" b="0" i="0">
                        <a:solidFill>
                          <a:srgbClr val="14141A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CDCB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최근작 드라마 몰아보기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저녁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~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Drama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블록 잔류는 축적형이나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KPI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0.23~1.04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2049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적합도 전제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8866117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14141A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B</a:t>
                      </a:r>
                      <a:endParaRPr lang="ko-KR" altLang="en-US" sz="1050" b="0" i="0">
                        <a:solidFill>
                          <a:srgbClr val="14141A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CDCB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오리지널 신규 파일럿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전야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/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4.98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 자리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vs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0.25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프라임 검증 재방 자리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6132867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3D3D49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C</a:t>
                      </a:r>
                      <a:endParaRPr lang="ko-KR" altLang="en-US" sz="1050" b="0" i="0">
                        <a:solidFill>
                          <a:srgbClr val="3D3D49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2E2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구작 대작 영화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검은 사제들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544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0.003,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아이 캔 스피크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0.006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흥행 규모가 성적을 보장하지 않음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019461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3D3D49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C</a:t>
                      </a:r>
                      <a:endParaRPr lang="ko-KR" altLang="en-US" sz="1050" b="0" i="0">
                        <a:solidFill>
                          <a:srgbClr val="3D3D49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2E2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특집 없이 신규 회차로 대체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회차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배로 같은 프로그램 그 외 회차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배보다 낮음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5950316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3D3D49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C</a:t>
                      </a:r>
                      <a:endParaRPr lang="ko-KR" altLang="en-US" sz="1050" b="0" i="0">
                        <a:solidFill>
                          <a:srgbClr val="3D3D49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2E2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구작 장편 몰아보기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통과 금지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ONCE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잔류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6465859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533400" y="529590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3900" y="537210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구매 판단의 핵심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관객수 하나로 고르지 말고 ‘우리 채널 체급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최신성 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적합성’을 함께 검토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수급안은 ‘작품 리스트’가 아니라 예상 채널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이벤트까지 포함한 ‘슬롯 포함 리스트’로 작성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73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다음 명절 편성회의에서는 이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5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가지만 먼저 확인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결론을 실행 항목으로 바꾸면 수급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의사결정 속도가 빨라짐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85800" y="15811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01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7300" y="154305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낮을 기회 시간대로 설계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7300" y="179070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중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개가 오전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플러스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영화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편성의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순위 자리를 낮으로 옮김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3400" y="224790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685800" y="2400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02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7300" y="236220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대형 중계 저녁은 선택 회피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57300" y="260985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전체가 아니라 대형 이벤트가 겹친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시간만 비켜감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09/26 18:30~21:30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0.001~0.115.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국제대회 일정은 수개월 전 공개되므로 편성 확정 전 대조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3400" y="30670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685800" y="32194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03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57300" y="318135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전야를 별도 자산으로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57300" y="342900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연휴 최고 실적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1.513(〈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나는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SOLO〉)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전야 프라임에서 나옴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점유율도 전야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10.1%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최고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론칭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파일럿을 전야에서 시험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3400" y="388620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685800" y="40386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04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7300" y="400050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강한 리드인 뒤에 신규를 놓지 않음 </a:t>
            </a:r>
            <a:r>
              <a:rPr lang="en-US" altLang="ko-KR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자리의 직전 실적을 먼저 봄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57300" y="424815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ENA 20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0.311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시대 신규 첫방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이어지지 못함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기준을 밑돌던 자리는 신규 후보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검증된 재방 자리는 연휴에 건드리지 않음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33400" y="47053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685800" y="4857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05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57300" y="481965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채널별 </a:t>
            </a:r>
            <a:r>
              <a:rPr lang="en-US" altLang="ko-KR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KPI</a:t>
            </a:r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로 다르게 판정 </a:t>
            </a:r>
            <a:r>
              <a:rPr lang="en-US" altLang="ko-KR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수급안은 ‘슬롯 포함 리스트’로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57300" y="506730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ENA·Play·Drama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수도권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Story·OLIFE·ONCE·skyUHD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유료가구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2.94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vs ENA Drama 0.80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콘텐츠 구매 시 예상 채널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이벤트까지 함께 결정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33400" y="556260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1414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75" smtClean="0">
                <a:solidFill>
                  <a:srgbClr val="A6A2E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FINAL MESSAGE  |  </a:t>
            </a:r>
            <a:r>
              <a:rPr lang="en-US" altLang="ko-KR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‘</a:t>
            </a:r>
            <a:r>
              <a:rPr lang="ko-KR" altLang="en-US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특집 편성량’이 아니라 ‘시청 이유 </a:t>
            </a:r>
            <a:r>
              <a:rPr lang="en-US" altLang="ko-KR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</a:t>
            </a:r>
            <a:r>
              <a:rPr lang="en-US" altLang="ko-KR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적합도’가 명절 성과를 결정</a:t>
            </a:r>
            <a:endParaRPr lang="ko-KR" altLang="en-US" sz="11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57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채널별 가이드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7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채널의 핵심 전술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타깃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시간대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피할 것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심층 분석의 ‘다음 명절 액션’을 한 표로 정리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489340"/>
              </p:ext>
            </p:extLst>
          </p:nvPr>
        </p:nvGraphicFramePr>
        <p:xfrm>
          <a:off x="533400" y="1428750"/>
          <a:ext cx="11125200" cy="373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xmlns="" val="4056599287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xmlns="" val="149620656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xmlns="" val="213322412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xmlns="" val="1816608062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xmlns="" val="1453953587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핵심 전술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 타깃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권장 시간대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피할 것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7354418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FFFFF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</a:t>
                      </a:r>
                      <a:endParaRPr lang="ko-KR" altLang="en-US" sz="900" b="0" i="0">
                        <a:solidFill>
                          <a:srgbClr val="FFFFF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3C32E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블록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전야 프라임 파일럿 론칭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 슬롯의 신규 교체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수도권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· 40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남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~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전야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시대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프라임 신규 첫방</a:t>
                      </a: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재방 자리</a:t>
                      </a: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), 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 영화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969666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08393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Play</a:t>
                      </a:r>
                      <a:endParaRPr lang="ko-KR" altLang="en-US" sz="900" b="0" i="0">
                        <a:solidFill>
                          <a:srgbClr val="08393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00C8D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예능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블록 집중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지상파 특집 재방권 확보로 물량 확대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수도권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· 10~20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~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저녁</a:t>
                      </a: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 구작 특선영화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0163222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FFFFF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Drama</a:t>
                      </a:r>
                      <a:endParaRPr lang="ko-KR" altLang="en-US" sz="900" b="0" i="0">
                        <a:solidFill>
                          <a:srgbClr val="FFFFF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E2A3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 편성 유지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+ 3040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최근작으로 교체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투입 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적합도 검증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수도권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특히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저녁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~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 누적 블록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50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이상이 주로 반응하는 작품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5950487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FFFFF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Story</a:t>
                      </a:r>
                      <a:endParaRPr lang="ko-KR" altLang="en-US" sz="900" b="0" i="0">
                        <a:solidFill>
                          <a:srgbClr val="FFFFF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7826D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명절 상황 맞춤 기획 대량 연속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/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귀경 분리 설계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유료방송가구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전 시간대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귀경 분리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간판 프로그램 단순 증편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353366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1E24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</a:t>
                      </a:r>
                      <a:endParaRPr lang="ko-KR" altLang="en-US" sz="900" b="0" i="0">
                        <a:solidFill>
                          <a:srgbClr val="1E24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B9DB0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명절 특집 확보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방어 슬롯 공식화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유료방송가구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새벽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~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집중 저녁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없이 신규 회차로 대체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5510992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FFFFF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ONCE</a:t>
                      </a:r>
                      <a:endParaRPr lang="ko-KR" altLang="en-US" sz="900" b="0" i="0">
                        <a:solidFill>
                          <a:srgbClr val="FFFFF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002D5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대응 편성 비중부터 확보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30%)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유료방송가구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단축 블록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이내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장편의 프라임 통과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2209901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FFFFF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skyUHD</a:t>
                      </a:r>
                      <a:endParaRPr lang="ko-KR" altLang="en-US" sz="900" b="0" i="0">
                        <a:solidFill>
                          <a:srgbClr val="FFFFF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D5202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완결형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(6~8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· 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일차는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교체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유료방송가구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~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우영우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7~9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0.031~0.040)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</a:t>
                      </a: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 2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일차 이어붙이기</a:t>
                      </a: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간판 재방과 겹치는 주말 오후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246348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208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06 · CONCLUSION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이번 추석의 승부처는 편성 물량이 아니라 ‘이벤트 강도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×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시간대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×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채널 적합도’였다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최종 결론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판정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변수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다음 명절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683172"/>
              </p:ext>
            </p:extLst>
          </p:nvPr>
        </p:nvGraphicFramePr>
        <p:xfrm>
          <a:off x="533400" y="1428750"/>
          <a:ext cx="11125200" cy="266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xmlns="" val="2920401413"/>
                    </a:ext>
                  </a:extLst>
                </a:gridCol>
                <a:gridCol w="9696450">
                  <a:extLst>
                    <a:ext uri="{9D8B030D-6E8A-4147-A177-3AD203B41FA5}">
                      <a16:colId xmlns:a16="http://schemas.microsoft.com/office/drawing/2014/main" xmlns="" val="109146906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결론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4991429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종합 승자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닐슨 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위→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09/26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단독 점유율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41.2%.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성공률은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2/7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건이지만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왕과 사는 남자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 방이 판을 가져감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390743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상승폭 </a:t>
                      </a: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KBS1 — 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위→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여자농구 결승 한 편이 만든 결과이며 명절 특집 자체는 평균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0.123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3305132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가장 고른 성공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tvN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5/5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전부 기준값 초과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다만 한 방이 없어 등위는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위→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3045881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최대 실패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비중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69.4%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최고인데 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 유지에 그침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14224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변수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시장 확대는 사실상 중계가 만듦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시간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+47.2%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비중계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+19.2%).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없는 명절이면 시장은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+19.2%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수준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282207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</a:t>
                      </a:r>
                      <a:endParaRPr lang="ko-KR" altLang="en-US" sz="900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낮이 기회였고 연휴 마지막날이 최고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+42.3%,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+26.2%, 09/27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평균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11→10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292589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신규 예능 </a:t>
                      </a: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자리가 결과를 갈랐음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 일요일 자리에서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본방 평균 대비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4.98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),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 자리에서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644917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Play</a:t>
                      </a:r>
                      <a:endParaRPr lang="ko-KR" altLang="en-US" sz="900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예능 강세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/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영화 실패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8.53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영화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미만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41→43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843777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Drama</a:t>
                      </a:r>
                      <a:endParaRPr lang="ko-KR" altLang="en-US" sz="900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타깃 미스매치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KPI -31.9%, 50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+97.8%,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35→50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6675382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Story</a:t>
                      </a:r>
                      <a:endParaRPr lang="ko-KR" altLang="en-US" sz="900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상황 맞춤 큐레이션 효과 확인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+39.4%, Reach·ATS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동시 상승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72→61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590962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 · ONCE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회차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배로 공격은 실패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방어는 당사 최고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(0.176) / ONCE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장편 몰아보기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잔류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655269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skyUHD</a:t>
                      </a:r>
                      <a:endParaRPr lang="ko-KR" altLang="en-US" sz="900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채널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+155.1%(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절대값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조건부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— 09/24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이상한 변호사 우영우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몰아보기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7~9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0.031~0.040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으로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월 최고 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166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이튿날 이어붙이기는 소멸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125137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다음 명절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는 낮에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신규는 직전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주 실적이 기준을 밑돌던 자리에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검증된 재방 자리는 건드리지 않음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프라임은 중계 일정을 먼저 보고 들어갈지 정함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474762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 문서는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2026-09-23~09-27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DB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작성한 확정판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모든 기준값은 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편성 비교는 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요일의 실측 평균이며 추정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보정값은 쓰지 않음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703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APPENDIX · C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지표 정의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 보고서에서 쓴 지표의 정의와 집계 규칙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17789"/>
              </p:ext>
            </p:extLst>
          </p:nvPr>
        </p:nvGraphicFramePr>
        <p:xfrm>
          <a:off x="533400" y="1428750"/>
          <a:ext cx="11125200" cy="438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xmlns="" val="3217449172"/>
                    </a:ext>
                  </a:extLst>
                </a:gridCol>
                <a:gridCol w="9410700">
                  <a:extLst>
                    <a:ext uri="{9D8B030D-6E8A-4147-A177-3AD203B41FA5}">
                      <a16:colId xmlns:a16="http://schemas.microsoft.com/office/drawing/2014/main" xmlns="" val="146519286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지표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정의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71914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닐슨코리아 해당 타깃 기준 시청률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(%).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프로그램 단위는 편성 시간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가중 평균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소수점 셋째 자리까지 표기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650761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점유율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시점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를 켠 인구 중 해당 채널 시청 비율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(%)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7446104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Reach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해당 기간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 이상 시청한 인구 비율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(%)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6879386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ATS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시청자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인당 평균 시청시간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460699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닐슨 등위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닐슨 전체 채널 중 일간 평균 순위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평균을 반올림한 정수로 표기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작을수록 상위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3239055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순위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 채널과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등록 경쟁채널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개를 한 판에 놓고 수도권 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시간가중 평균으로 매긴 순위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6599047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총 시청량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시청률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÷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점유율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× 100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 함의하는 시장 전체 시청률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 채널 산출값 평균이며 채널 간 편차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±0.05p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이내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150263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시간대 배수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그 시간대 실적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÷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직전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주 같은 요일 실측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1.00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배가 기준값과 같은 수준이며 당사와 경쟁사에 같은 방법 적용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177424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프라임타임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평일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19~23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공휴일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18~23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8106242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시간대 구분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새벽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02~08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09~13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14~18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저녁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19~25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612404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시간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지상파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사 중 하나라도 해당 시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時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 이상을 아시안게임 중계로 덮은 시간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04833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</a:t>
                      </a: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KPI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ENA·ENA Play·ENA Drama =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수도권 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/ ENA Story·OLIFE·ONCE·skyUHD =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유료방송가입가구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1038266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dirty="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48</a:t>
            </a:r>
            <a:endParaRPr lang="ko-KR" altLang="en-US" sz="825" spc="50" dirty="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660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APPENDIX · D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외부 기사 및 공표자료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보고서 근거 링크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본문 수치는 자사 닐슨 실측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DB,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시장 맥락은 아래 기사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공표자료를 교차 확인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(2026-09-28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66750" y="15335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이데일리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6900" y="14859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흥행작 ‘왕과 사는 남자’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안방서도 터졌다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…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 연휴 시청률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6900" y="16668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3"/>
              </a:rPr>
              <a:t>https://www.edaily.co.kr/News/Read?mediaCodeNo=257&amp;newsId=01354646645584384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3400" y="19240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666750" y="20288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뉴스</a:t>
            </a:r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66900" y="19812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한가위 대기획 ‘이승철 콘서트’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국대 축구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매치도 이겼다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…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분당 최고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6.1%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66900" y="21621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4"/>
              </a:rPr>
              <a:t>https://www.news1.kr/entertain/broadcast-tv/6301566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3400" y="24193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666750" y="25241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이투데이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66900" y="24765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 연휴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특선 총정리⋯이승철 대형 프로젝트 전격 공개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66900" y="26574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5"/>
              </a:rPr>
              <a:t>https://www.etoday.co.kr/news/view/2628407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3400" y="29146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666750" y="30194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이투데이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66900" y="29718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 연휴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특선영화 총정리⋯천만 ‘왕사남’→‘가오갤’ 온다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66900" y="31527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6"/>
              </a:rPr>
              <a:t>https://www.etoday.co.kr/news/view/2628325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33400" y="34099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666750" y="35147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뉴시스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66900" y="34671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12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년 만의 女농구 韓日전 金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…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순간 시청률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19.3% ‘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나고야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AG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최고치’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66900" y="36480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7"/>
              </a:rPr>
              <a:t>https://www.newsis.com/view/NISX20260927_0003804202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33400" y="39052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666750" y="40100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iMBC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66900" y="39624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[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추석에 골 선물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]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韓 남자축구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4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강 진출 확정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! 3x3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남자농구 사상 첫 금메달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66900" y="41433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8"/>
              </a:rPr>
              <a:t>https://www.imbc.com/broad/enews/view.html?idx=519273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33400" y="44005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666750" y="45053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iMBC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66900" y="44577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오상욱이 완성한 펜싱 한일전 대역전극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! MBC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시청률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!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66900" y="46386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9"/>
              </a:rPr>
              <a:t>https://enews.imbc.com/M/Detail/519332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33400" y="48958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666750" y="50006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Nielsen Korea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866900" y="49530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2026.09.26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지상파 일일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TOP 20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866900" y="51339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10"/>
              </a:rPr>
              <a:t>https://nielsenkorea.co.kr/tv_terrestrial_day.asp?area=01&amp;sub_menu=1_1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3400" y="5467350"/>
            <a:ext cx="11125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경쟁채널 시청률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닐슨코리아 일별 채널시청률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경쟁채널 시트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(DB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적재분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등록 경쟁채널 한정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 •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경기 시각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공식 경기 일정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한국시간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방송 블록 시각은 닐슨 실측</a:t>
            </a:r>
          </a:p>
          <a:p>
            <a:pPr>
              <a:lnSpc>
                <a:spcPct val="130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영화 개봉연도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관객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영화진흥위원회 통계 및 언론 보도 인용 근사치 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 시청률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언론 보도 인용값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—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모집단이 달라 분석 논지의 근거로는 사용하지 않음 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편성 목록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사전 공유된 채널별 추석 특집 편성 계획 및 경쟁사 특집 자료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공표치는 전국 가구 등 자사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KPI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모집단이 다르므로 직접 비교하지 않고 경쟁환경 설명에만 사용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dirty="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49</a:t>
            </a:r>
            <a:endParaRPr lang="ko-KR" altLang="en-US" sz="825" spc="50" dirty="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894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APPENDIX · E · FILM SOURCING(</a:t>
            </a:r>
            <a:r>
              <a:rPr lang="ko-KR" altLang="en-US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참고</a:t>
            </a:r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EBS·OCN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계열 학습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12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‘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신작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구작’보다 ‘채널 프라임 설계’가 성적을 갈랐다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괄호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얇은 글씨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전국 유료가구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EBS·OCN·OCN Movies·OCN Movies2·cineF 09/24~09/27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전수 학습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478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왕과 사는 남자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영화판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16192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9/27 13:30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500" y="14478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500" y="16097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953000" y="1485900"/>
            <a:ext cx="53340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363200" y="15049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0.470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1.75)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33400" y="17716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3400" y="18097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사운드 오브 뮤직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19812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9/25 14:14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57500" y="18097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57500" y="19716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4953000" y="1847850"/>
            <a:ext cx="4743450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772650" y="18669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0.418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1.28)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533400" y="21336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" y="21717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어벤져스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: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인피니티 워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3400" y="23431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9/24 21:00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57500" y="21717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57500" y="23336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 본방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952999" y="2209800"/>
            <a:ext cx="393827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8967470" y="22288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0.347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0.70)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533400" y="24955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3400" y="25336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파묘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27051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9/24 16:22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7500" y="25336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57500" y="26955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953000" y="2571750"/>
            <a:ext cx="265557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684770" y="25908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0.234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0.40)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533400" y="28575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3400" y="28956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범죄도시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3400" y="30670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9/25 20:07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57500" y="28956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57500" y="30575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952999" y="2933700"/>
            <a:ext cx="258699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616190" y="29527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0.228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0.63)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533400" y="32194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3400" y="32575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도둑들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3400" y="34290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Movies · 9/24 08:24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57500" y="3257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57500" y="34194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Movies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4952999" y="3295650"/>
            <a:ext cx="25654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7594600" y="33147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0.226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0.29)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533400" y="35814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3400" y="36195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인턴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400" y="37909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Movies · 9/27 09:20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57500" y="36195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57500" y="37814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Movies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952999" y="3657600"/>
            <a:ext cx="239522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7424420" y="36766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0.211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0.37)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533400" y="39433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3400" y="39814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정보원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41529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9/27 11:20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57500" y="39814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57500" y="41433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</a:t>
            </a:r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9/24)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4953000" y="4019550"/>
            <a:ext cx="233807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7367270" y="40386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0.206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0.42)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533400" y="43053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3400" y="43434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좀비딸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(2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33400" y="45148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cineF · 9/25 14:19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57500" y="43434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57500" y="45053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cineF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952999" y="4381500"/>
            <a:ext cx="204343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072630" y="44005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0.180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0.08)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533400" y="46672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33400" y="47053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본 슈프리머시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3400" y="48768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9/26 23:08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57500" y="47053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857500" y="48672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4952999" y="4743450"/>
            <a:ext cx="1135380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6164580" y="47625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0.100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0.55)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76" name="직선 연결선 75"/>
          <p:cNvCxnSpPr/>
          <p:nvPr/>
        </p:nvCxnSpPr>
        <p:spPr>
          <a:xfrm>
            <a:off x="533400" y="50292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33400" y="50673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조선명탐정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: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각시투구꽃의 비밀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3400" y="52387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9/27 23:14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57500" y="50673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857500" y="52292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4952999" y="5105400"/>
            <a:ext cx="657860" cy="209550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5687060" y="51244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0.058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0.63)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83" name="직선 연결선 82"/>
          <p:cNvCxnSpPr/>
          <p:nvPr/>
        </p:nvCxnSpPr>
        <p:spPr>
          <a:xfrm>
            <a:off x="533400" y="53911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3400" y="54292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집으로 가는 길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400" y="56007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9/27 13:34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857500" y="54292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857500" y="55911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일요특선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952999" y="5467350"/>
            <a:ext cx="590550" cy="209550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5619750" y="54864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0.052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0.75)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334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7239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계열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(OCN·Movies·Movies2·cineF)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20955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22860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4" name="모서리가 둥근 직사각형 93" hidden="1"/>
          <p:cNvSpPr/>
          <p:nvPr/>
        </p:nvSpPr>
        <p:spPr>
          <a:xfrm>
            <a:off x="3524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 hidden="1"/>
          <p:cNvSpPr txBox="1"/>
          <p:nvPr/>
        </p:nvSpPr>
        <p:spPr>
          <a:xfrm>
            <a:off x="3714750" y="58102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6" name="모서리가 둥근 직사각형 95" hidden="1"/>
          <p:cNvSpPr/>
          <p:nvPr/>
        </p:nvSpPr>
        <p:spPr>
          <a:xfrm>
            <a:off x="4286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 hidden="1"/>
          <p:cNvSpPr txBox="1"/>
          <p:nvPr/>
        </p:nvSpPr>
        <p:spPr>
          <a:xfrm>
            <a:off x="4476750" y="5810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5715000" y="5715000"/>
            <a:ext cx="59436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5905500" y="5791200"/>
            <a:ext cx="5562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계열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8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중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편이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0.2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이상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매일 프라임에 본방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편을 배치하고 나머지는 구작을 다회전 재방하는 ‘티어링 편성’이 안정적 성적을 만듦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. EBS 〈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사운드 오브 뮤직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〉(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가족 고전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은 참고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12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중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체급과 무관하게 콘텐츠 자체 힘으로 성과를 낸 유일한 사례</a:t>
            </a:r>
            <a:endParaRPr lang="ko-KR" altLang="en-US" sz="863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분석기간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09/24~09/27 · EBS·OCN·OCN Movies·OCN Movies2·cineF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학습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참고용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편성 아님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3109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APPENDIX · F · </a:t>
            </a:r>
            <a:r>
              <a:rPr lang="ko-KR" altLang="en-US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참고채널 전략 학습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채널마다 같은 ‘영화’ 장르도 다른 방식으로 이겼다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자체 스케줄 안의 ‘최초 방영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vs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재방’ 대조로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APPENDIX·E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채널체급 교란을 재검증하고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참고채널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개의 편성 전략을 정리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66750" y="15335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6900" y="14859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가족 고전 카드를 오후 프라임에 단독 배치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6900" y="16668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9/25(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목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14:14 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사운드 오브 뮤직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2049 0.418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참고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중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반면 심야 편성한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 슈프리머시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조선명탐정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0.05~0.10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채널도 시간대 격차가 뚜렷함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3400" y="19240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666750" y="20288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66900" y="19812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본방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 다회전의 ‘프라임 티어링’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66900" y="21621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9/24(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목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21:00 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어벤져스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인피니티 워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〉(0.347)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하루 유일 프라임 카드로 배치하고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나머지 시간은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범죄도시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타짜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시리즈 재방으로 채움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3400" y="24193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666750" y="25241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Movies·Movies2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66900" y="24765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프랜차이즈 구작 회전으로 낮 시간대 방어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66900" y="26574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도둑들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인턴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〉·〈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남산의 부장들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 검증된 구작을 오전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~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오후에 반복 배치해 개인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2049 0.20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내외를 꾸준히 유지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3400" y="29146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666750" y="30194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cineF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66900" y="29718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저비용 다편성으로 빈 슬롯만 채움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66900" y="31527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하루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이상 구작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·B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급 영화를 연속 편성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대부분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미만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좀비딸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〉(0.180)·NCIS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(0.11)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 예외적 스파이크 외엔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KPI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관련성 낮음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33400" y="34099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666750" y="35147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자체 재방 대조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66900" y="34671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같은 작품의 최초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 성적차는 방향이 일정하지 않음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66900" y="36480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포풍추영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본방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0.090 →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0.012(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하락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vs 〈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정보원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본방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0.123 →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0.193·0.206(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상승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—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본문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슬라이드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17)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‘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교란’ 우려가 </a:t>
            </a:r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</a:t>
            </a:r>
            <a:r>
              <a:rPr lang="ko-KR" altLang="en-US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 대조에서도 재확인됨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 hidden="1"/>
          <p:cNvSpPr/>
          <p:nvPr/>
        </p:nvSpPr>
        <p:spPr>
          <a:xfrm>
            <a:off x="533400" y="39052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 hidden="1"/>
          <p:cNvSpPr/>
          <p:nvPr/>
        </p:nvSpPr>
        <p:spPr>
          <a:xfrm>
            <a:off x="666750" y="40100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iMBC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 hidden="1"/>
          <p:cNvSpPr txBox="1"/>
          <p:nvPr/>
        </p:nvSpPr>
        <p:spPr>
          <a:xfrm>
            <a:off x="1866900" y="39624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[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추석에 골 선물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]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韓 남자축구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4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강 진출 확정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! 3x3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남자농구 사상 첫 금메달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 hidden="1"/>
          <p:cNvSpPr txBox="1"/>
          <p:nvPr/>
        </p:nvSpPr>
        <p:spPr>
          <a:xfrm>
            <a:off x="1866900" y="41433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3"/>
              </a:rPr>
              <a:t>https://www.imbc.com/broad/enews/view.html?idx=519273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모서리가 둥근 직사각형 30" hidden="1"/>
          <p:cNvSpPr/>
          <p:nvPr/>
        </p:nvSpPr>
        <p:spPr>
          <a:xfrm>
            <a:off x="533400" y="44005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 hidden="1"/>
          <p:cNvSpPr/>
          <p:nvPr/>
        </p:nvSpPr>
        <p:spPr>
          <a:xfrm>
            <a:off x="666750" y="45053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iMBC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 hidden="1"/>
          <p:cNvSpPr txBox="1"/>
          <p:nvPr/>
        </p:nvSpPr>
        <p:spPr>
          <a:xfrm>
            <a:off x="1866900" y="44577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오상욱이 완성한 펜싱 한일전 대역전극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! MBC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시청률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!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TextBox 33" hidden="1"/>
          <p:cNvSpPr txBox="1"/>
          <p:nvPr/>
        </p:nvSpPr>
        <p:spPr>
          <a:xfrm>
            <a:off x="1866900" y="46386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4"/>
              </a:rPr>
              <a:t>https://enews.imbc.com/M/Detail/519332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 hidden="1"/>
          <p:cNvSpPr/>
          <p:nvPr/>
        </p:nvSpPr>
        <p:spPr>
          <a:xfrm>
            <a:off x="533400" y="4895850"/>
            <a:ext cx="111252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 hidden="1"/>
          <p:cNvSpPr/>
          <p:nvPr/>
        </p:nvSpPr>
        <p:spPr>
          <a:xfrm>
            <a:off x="666750" y="500062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Nielsen Korea</a:t>
            </a:r>
            <a:endParaRPr lang="ko-KR" altLang="en-US" sz="825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 hidden="1"/>
          <p:cNvSpPr txBox="1"/>
          <p:nvPr/>
        </p:nvSpPr>
        <p:spPr>
          <a:xfrm>
            <a:off x="1866900" y="49530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2026.09.26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지상파 일일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TOP 20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 hidden="1"/>
          <p:cNvSpPr txBox="1"/>
          <p:nvPr/>
        </p:nvSpPr>
        <p:spPr>
          <a:xfrm>
            <a:off x="1866900" y="5133975"/>
            <a:ext cx="9620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4A43D8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  <a:hlinkClick r:id="rId5"/>
              </a:rPr>
              <a:t>https://nielsenkorea.co.kr/tv_terrestrial_day.asp?area=01&amp;sub_menu=1_1</a:t>
            </a:r>
            <a:endParaRPr lang="ko-KR" altLang="en-US" sz="750">
              <a:solidFill>
                <a:srgbClr val="4A43D8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3400" y="5467350"/>
            <a:ext cx="11125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 기준 업데이트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본문 슬라이드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17 4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원칙 보강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 —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기존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원칙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(TV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 후 경과기간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년 이내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채널체급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 상대성과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적합도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유지하되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‘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공개’ 단독 효과는 과신하지 않음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(OCN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 대조로 재확인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대신 ‘프라임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집중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다회전 분산’의 티어링 설계가 재현성이 높고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EBS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사례처럼 온 가족이 아는 고전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채널 체급과 무관하게 통했다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낮 시간대 가족영화 카드도 검토할 가치가 있음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EBS·OCN·OCN Movies·OCN Movies2·cineF 09/24~09/27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전수 학습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참고채널 데이터는 당사 편성 판단의 보조 근거로만 사용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F</a:t>
            </a:r>
            <a:endParaRPr lang="ko-KR" altLang="en-US" sz="825" spc="50" dirty="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390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819400"/>
            <a:ext cx="121920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매일 새로운</a:t>
            </a:r>
            <a:endParaRPr lang="ko-KR" altLang="en-US" sz="1650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4" name="그림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5" y="3200400"/>
            <a:ext cx="2190750" cy="8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5905500"/>
            <a:ext cx="12192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2700" spc="8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E.O.D</a:t>
            </a:r>
            <a:endParaRPr lang="ko-KR" altLang="en-US" sz="2700" spc="8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38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rgbClr val="14141A"/>
      </a:dk1>
      <a:lt1>
        <a:srgbClr val="FFFFFF"/>
      </a:lt1>
      <a:dk2>
        <a:srgbClr val="26262F"/>
      </a:dk2>
      <a:lt2>
        <a:srgbClr val="F7F7FA"/>
      </a:lt2>
      <a:accent1>
        <a:srgbClr val="2C24CE"/>
      </a:accent1>
      <a:accent2>
        <a:srgbClr val="3C32E1"/>
      </a:accent2>
      <a:accent3>
        <a:srgbClr val="00C8D2"/>
      </a:accent3>
      <a:accent4>
        <a:srgbClr val="EE2A30"/>
      </a:accent4>
      <a:accent5>
        <a:srgbClr val="7826DC"/>
      </a:accent5>
      <a:accent6>
        <a:srgbClr val="B9DB01"/>
      </a:accent6>
      <a:hlink>
        <a:srgbClr val="2C24CE"/>
      </a:hlink>
      <a:folHlink>
        <a:srgbClr val="6F69E2"/>
      </a:folHlink>
    </a:clrScheme>
    <a:fontScheme name="Office">
      <a:majorFont>
        <a:latin typeface="KT Flow Bold" panose="020F0302020204030204"/>
        <a:ea typeface="KT Flow Bol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KT Flow Medium" panose="020F0502020204030204"/>
        <a:ea typeface="KT Flow Medium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17669</Words>
  <Application>Microsoft Office PowerPoint</Application>
  <PresentationFormat>사용자 지정</PresentationFormat>
  <Paragraphs>3365</Paragraphs>
  <Slides>52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chris</dc:creator>
  <cp:lastModifiedBy>sky tv</cp:lastModifiedBy>
  <cp:revision>6</cp:revision>
  <dcterms:created xsi:type="dcterms:W3CDTF">2026-09-28T03:57:40Z</dcterms:created>
  <dcterms:modified xsi:type="dcterms:W3CDTF">2026-09-29T12:07:18Z</dcterms:modified>
</cp:coreProperties>
</file>