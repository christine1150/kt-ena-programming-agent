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변화율</c:v>
                </c:pt>
              </c:strCache>
            </c:strRef>
          </c:tx>
          <c:spPr>
            <a:solidFill>
              <a:srgbClr val="D6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전체</c:v>
                  </c:pt>
                  <c:pt idx="1">
                    <c:v>케이블</c:v>
                  </c:pt>
                  <c:pt idx="2">
                    <c:v>IPTV 및 기타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-24</c:v>
                </c:pt>
                <c:pt idx="1">
                  <c:v>-13.3</c:v>
                </c:pt>
                <c:pt idx="2">
                  <c:v>-25.2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A"/>
            </a:solidFill>
            <a:prstDash val="solid"/>
            <a:round/>
          </a:ln>
        </c:spPr>
        <c:txPr>
          <a:bodyPr/>
          <a:lstStyle/>
          <a:p>
            <a:pPr>
              <a:defRPr sz="860" b="0" i="0" u="none" strike="noStrike">
                <a:solidFill>
                  <a:srgbClr val="3D3D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10" b="0" i="0" u="none" strike="noStrike">
                <a:solidFill>
                  <a:srgbClr val="7C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변화율</c:v>
                </c:pt>
              </c:strCache>
            </c:strRef>
          </c:tx>
          <c:spPr>
            <a:solidFill>
              <a:srgbClr val="1F9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전체</c:v>
                  </c:pt>
                  <c:pt idx="1">
                    <c:v>케이블</c:v>
                  </c:pt>
                  <c:pt idx="2">
                    <c:v>IPTV 및 기타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</c:v>
                </c:pt>
                <c:pt idx="1">
                  <c:v>-18.7</c:v>
                </c:pt>
                <c:pt idx="2">
                  <c:v>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A"/>
            </a:solidFill>
            <a:prstDash val="solid"/>
            <a:round/>
          </a:ln>
        </c:spPr>
        <c:txPr>
          <a:bodyPr/>
          <a:lstStyle/>
          <a:p>
            <a:pPr>
              <a:defRPr sz="860" b="0" i="0" u="none" strike="noStrike">
                <a:solidFill>
                  <a:srgbClr val="3D3D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10" b="0" i="0" u="none" strike="noStrike">
                <a:solidFill>
                  <a:srgbClr val="7C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변화율</c:v>
                </c:pt>
              </c:strCache>
            </c:strRef>
          </c:tx>
          <c:spPr>
            <a:solidFill>
              <a:srgbClr val="D63B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06-09</c:v>
                  </c:pt>
                  <c:pt idx="1">
                    <c:v>09-12</c:v>
                  </c:pt>
                  <c:pt idx="2">
                    <c:v>12-15</c:v>
                  </c:pt>
                  <c:pt idx="3">
                    <c:v>15-18</c:v>
                  </c:pt>
                  <c:pt idx="4">
                    <c:v>18-21</c:v>
                  </c:pt>
                  <c:pt idx="5">
                    <c:v>21-24</c:v>
                  </c:pt>
                  <c:pt idx="6">
                    <c:v>24-02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-30.9</c:v>
                </c:pt>
                <c:pt idx="1">
                  <c:v>-23.2</c:v>
                </c:pt>
                <c:pt idx="2">
                  <c:v>21.3</c:v>
                </c:pt>
                <c:pt idx="3">
                  <c:v>-33.3</c:v>
                </c:pt>
                <c:pt idx="4">
                  <c:v>-48.4</c:v>
                </c:pt>
                <c:pt idx="5">
                  <c:v>-6.1</c:v>
                </c:pt>
                <c:pt idx="6">
                  <c:v>-35.8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2EA"/>
            </a:solidFill>
            <a:prstDash val="solid"/>
            <a:round/>
          </a:ln>
        </c:spPr>
        <c:txPr>
          <a:bodyPr/>
          <a:lstStyle/>
          <a:p>
            <a:pPr>
              <a:defRPr sz="830" b="0" i="0" u="none" strike="noStrike">
                <a:solidFill>
                  <a:srgbClr val="3D3D4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710" b="0" i="0" u="none" strike="noStrike">
                <a:solidFill>
                  <a:srgbClr val="7C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enapla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859" y="457200"/>
            <a:ext cx="1467741" cy="3238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 · KT IPTV 채널번호 이동 분석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990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999 → 41번 이동 후, ENA PLAY의 '시청 기반'이 약해졌다</a:t>
            </a:r>
            <a:endParaRPr lang="en-US" sz="218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990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2026.09.02 · 999→41 / 42번 ENA DRAMA와 인접 배치 · 수도권 2049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914400" y="1657350"/>
            <a:ext cx="2476500" cy="1009650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04900" y="180975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전체 시청률</a:t>
            </a:r>
            <a:endParaRPr lang="en-US" sz="940" dirty="0"/>
          </a:p>
        </p:txBody>
      </p:sp>
      <p:sp>
        <p:nvSpPr>
          <p:cNvPr id="10" name="Text 7"/>
          <p:cNvSpPr txBox="1"/>
          <p:nvPr/>
        </p:nvSpPr>
        <p:spPr>
          <a:xfrm>
            <a:off x="1104900" y="201930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-24.0%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104900" y="23431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0.0271%→0.0206%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3543300" y="1657350"/>
            <a:ext cx="2476500" cy="1009650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33800" y="180975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도달률(일별)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3733800" y="201930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98A1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-6.8%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3733800" y="23431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1.855%→1.728%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6172200" y="1657350"/>
            <a:ext cx="2476500" cy="1009650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62700" y="180975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IPTV 배타도달률</a:t>
            </a:r>
            <a:endParaRPr lang="en-US" sz="940" dirty="0"/>
          </a:p>
        </p:txBody>
      </p:sp>
      <p:sp>
        <p:nvSpPr>
          <p:cNvPr id="18" name="Text 15"/>
          <p:cNvSpPr txBox="1"/>
          <p:nvPr/>
        </p:nvSpPr>
        <p:spPr>
          <a:xfrm>
            <a:off x="6362700" y="201930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3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-91.5%</a:t>
            </a:r>
            <a:endParaRPr lang="en-US" sz="2030" dirty="0"/>
          </a:p>
        </p:txBody>
      </p:sp>
      <p:sp>
        <p:nvSpPr>
          <p:cNvPr id="19" name="Text 16"/>
          <p:cNvSpPr txBox="1"/>
          <p:nvPr/>
        </p:nvSpPr>
        <p:spPr>
          <a:xfrm>
            <a:off x="6362700" y="23431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0.0129%→0.0011%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801100" y="1657350"/>
            <a:ext cx="2476500" cy="1009650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91600" y="1809750"/>
            <a:ext cx="209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2049 비중</a:t>
            </a:r>
            <a:endParaRPr lang="en-US" sz="940" dirty="0"/>
          </a:p>
        </p:txBody>
      </p:sp>
      <p:sp>
        <p:nvSpPr>
          <p:cNvPr id="22" name="Text 19"/>
          <p:cNvSpPr txBox="1"/>
          <p:nvPr/>
        </p:nvSpPr>
        <p:spPr>
          <a:xfrm>
            <a:off x="8991600" y="2019300"/>
            <a:ext cx="209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-3.3%p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8991600" y="2343150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37.1%→33.8%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914400" y="2800350"/>
            <a:ext cx="10363200" cy="876300"/>
          </a:xfrm>
          <a:prstGeom prst="roundRect">
            <a:avLst>
              <a:gd name="adj" fmla="val 15217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123950" y="295275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 해석</a:t>
            </a:r>
            <a:endParaRPr lang="en-US" sz="1010" dirty="0"/>
          </a:p>
        </p:txBody>
      </p:sp>
      <p:sp>
        <p:nvSpPr>
          <p:cNvPr id="26" name="Text 23"/>
          <p:cNvSpPr txBox="1"/>
          <p:nvPr/>
        </p:nvSpPr>
        <p:spPr>
          <a:xfrm>
            <a:off x="1123950" y="3238500"/>
            <a:ext cx="9944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'아예 찾지 못하는 문제'보다, 들어온 뒤 오래 머무는 시청이 크게 약화된 모습이 핵심임.</a:t>
            </a:r>
            <a:endParaRPr lang="en-US" sz="101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동일 콘텐츠 78개에서도 PLAY -20.9% vs ENA DRAMA +46.5%로 갈려, 인접채널 경쟁 가설과 부합하는 정황이 확인됨.</a:t>
            </a:r>
            <a:endParaRPr lang="en-US" sz="1010" dirty="0"/>
          </a:p>
        </p:txBody>
      </p:sp>
      <p:sp>
        <p:nvSpPr>
          <p:cNvPr id="27" name="Shape 24"/>
          <p:cNvSpPr/>
          <p:nvPr/>
        </p:nvSpPr>
        <p:spPr>
          <a:xfrm>
            <a:off x="914400" y="3771900"/>
            <a:ext cx="10363200" cy="514350"/>
          </a:xfrm>
          <a:prstGeom prst="roundRect">
            <a:avLst>
              <a:gd name="adj" fmla="val 25926"/>
            </a:avLst>
          </a:prstGeom>
          <a:solidFill>
            <a:srgbClr val="00C8D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143000" y="3771900"/>
            <a:ext cx="990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6FAF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결론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999(1번 인접·고접근성) ↔ 41(일반 채널대) — ENA PLAY와 KBS JOY가 자리를 맞바꿔 JOY는 좋아지고 PLAY는 불리해짐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14400" y="4381500"/>
            <a:ext cx="10363200" cy="1866900"/>
          </a:xfrm>
          <a:prstGeom prst="roundRect">
            <a:avLst>
              <a:gd name="adj" fmla="val 7143"/>
            </a:avLst>
          </a:prstGeom>
          <a:solidFill>
            <a:srgbClr val="F7F7F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123950" y="453390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이 보고서를 읽는 법</a:t>
            </a:r>
            <a:endParaRPr lang="en-US" sz="1010" dirty="0"/>
          </a:p>
        </p:txBody>
      </p:sp>
      <p:sp>
        <p:nvSpPr>
          <p:cNvPr id="31" name="Text 28"/>
          <p:cNvSpPr txBox="1"/>
          <p:nvPr/>
        </p:nvSpPr>
        <p:spPr>
          <a:xfrm>
            <a:off x="1123950" y="4819650"/>
            <a:ext cx="99441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① 01 피해구조 — 시청률 하락을 도달·충성 시청 단계로 분해</a:t>
            </a:r>
            <a:endParaRPr lang="en-US" sz="94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② 02 플랫폼 — IPTV 집중 변화 + 반대 방향 KBS JOY 대칭 비교</a:t>
            </a:r>
            <a:endParaRPr lang="en-US" sz="94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③ 03 카니발라이제이션 — ENA DRAMA와 동일 콘텐츠 78개 성적 비교</a:t>
            </a:r>
            <a:endParaRPr lang="en-US" sz="94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④ 04 시청층 · 05 시간대 — 2049 비중, 시간대·반복 슬롯 변화</a:t>
            </a:r>
            <a:endParaRPr lang="en-US" sz="94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⑤ 06 비교채널 · 07 결론 — 2025년 기준선 대비 초과 변화와 시사점</a:t>
            </a:r>
            <a:endParaRPr lang="en-US" sz="940" dirty="0"/>
          </a:p>
        </p:txBody>
      </p:sp>
      <p:sp>
        <p:nvSpPr>
          <p:cNvPr id="32" name="Text 29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닐슨 데일리그리드·도달률 비교(수도권 2049) · Supabase DB(ratings/targets/programs) · 개편전4주(08/05~09/01) vs 개편후27일(09/02~09/28)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enapla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859" y="457200"/>
            <a:ext cx="1467741" cy="3238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· 피해 구조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990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도달률은 소폭 하락, '충성 시청'은 크게 약화</a:t>
            </a:r>
            <a:endParaRPr lang="en-US" sz="218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990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시청률 하락을 접근성·시청 유지 관점으로 분해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2228850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04900" y="1905000"/>
            <a:ext cx="1847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① 도달</a:t>
            </a:r>
            <a:endParaRPr lang="en-US" sz="940" dirty="0"/>
          </a:p>
        </p:txBody>
      </p:sp>
      <p:sp>
        <p:nvSpPr>
          <p:cNvPr id="10" name="Text 7"/>
          <p:cNvSpPr txBox="1"/>
          <p:nvPr/>
        </p:nvSpPr>
        <p:spPr>
          <a:xfrm>
            <a:off x="1104900" y="2114550"/>
            <a:ext cx="1847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98A1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-6.8%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104900" y="2457450"/>
            <a:ext cx="1847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IPTV -7.4%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3295650" y="1752600"/>
            <a:ext cx="2228850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86150" y="1905000"/>
            <a:ext cx="1847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② 시청률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3486150" y="2114550"/>
            <a:ext cx="1847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-24.0%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3486150" y="2457450"/>
            <a:ext cx="1847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IPTV -25.2%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5676900" y="1752600"/>
            <a:ext cx="2228850" cy="1028700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67400" y="1905000"/>
            <a:ext cx="1847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③ 배타도달</a:t>
            </a:r>
            <a:endParaRPr lang="en-US" sz="940" dirty="0"/>
          </a:p>
        </p:txBody>
      </p:sp>
      <p:sp>
        <p:nvSpPr>
          <p:cNvPr id="18" name="Text 15"/>
          <p:cNvSpPr txBox="1"/>
          <p:nvPr/>
        </p:nvSpPr>
        <p:spPr>
          <a:xfrm>
            <a:off x="5867400" y="2114550"/>
            <a:ext cx="18478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-77.3%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5867400" y="2457450"/>
            <a:ext cx="1847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IPTV -91.5%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058150" y="1752600"/>
            <a:ext cx="3219450" cy="1028700"/>
          </a:xfrm>
          <a:prstGeom prst="roundRect">
            <a:avLst>
              <a:gd name="adj" fmla="val 12963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48650" y="190500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프로그램당 평균 시청시간</a:t>
            </a:r>
            <a:endParaRPr lang="en-US" sz="940" dirty="0"/>
          </a:p>
        </p:txBody>
      </p:sp>
      <p:sp>
        <p:nvSpPr>
          <p:cNvPr id="22" name="Text 19"/>
          <p:cNvSpPr txBox="1"/>
          <p:nvPr/>
        </p:nvSpPr>
        <p:spPr>
          <a:xfrm>
            <a:off x="8248650" y="21145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687.7 → 649.7초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8248650" y="24574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8A1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-5.5%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71800"/>
          <a:ext cx="6667500" cy="914400"/>
        </p:xfrm>
        <a:graphic>
          <a:graphicData uri="http://schemas.openxmlformats.org/drawingml/2006/table">
            <a:tbl>
              <a:tblPr/>
              <a:tblGrid>
                <a:gridCol w="2015756"/>
                <a:gridCol w="1550581"/>
                <a:gridCol w="1550581"/>
                <a:gridCol w="1550581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지표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개편전4주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개편후27일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변화율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도달률(전일 평균)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1.855%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1.728%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98A1E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-6.8%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시청률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0.0271%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0.0206%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-24.0%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배타도달(IPTV)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0.0129%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0.0011%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-91.5%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914400" y="4457700"/>
            <a:ext cx="6667500" cy="1047750"/>
          </a:xfrm>
          <a:prstGeom prst="roundRect">
            <a:avLst>
              <a:gd name="adj" fmla="val 12727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123950" y="4610100"/>
            <a:ext cx="624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읽는 법</a:t>
            </a:r>
            <a:endParaRPr lang="en-US" sz="1010" dirty="0"/>
          </a:p>
        </p:txBody>
      </p:sp>
      <p:sp>
        <p:nvSpPr>
          <p:cNvPr id="27" name="Text 23"/>
          <p:cNvSpPr txBox="1"/>
          <p:nvPr/>
        </p:nvSpPr>
        <p:spPr>
          <a:xfrm>
            <a:off x="1123950" y="4895850"/>
            <a:ext cx="6248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도달률은 상대적으로 버텼음(2025년 계절 하락 -13.7%보다 덜 떨어짐).</a:t>
            </a:r>
            <a:endParaRPr lang="en-US" sz="101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하지만 배타도달률은 특히 IPTV에서 급락함 — 채널에 들어와도 고정적으로 머무는 시청자가 크게 줄었다는 뜻.</a:t>
            </a:r>
            <a:endParaRPr lang="en-US" sz="1010" dirty="0"/>
          </a:p>
        </p:txBody>
      </p:sp>
      <p:sp>
        <p:nvSpPr>
          <p:cNvPr id="28" name="Shape 24"/>
          <p:cNvSpPr/>
          <p:nvPr/>
        </p:nvSpPr>
        <p:spPr>
          <a:xfrm>
            <a:off x="7848600" y="2971800"/>
            <a:ext cx="3429000" cy="253365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077200" y="3162300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배타도달률이란?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8077200" y="3448050"/>
            <a:ext cx="2971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50000"/>
              </a:lnSpc>
              <a:spcAft>
                <a:spcPts val="800"/>
              </a:spcAft>
              <a:buSzPct val="100000"/>
              <a:buChar char="▪"/>
            </a:pPr>
            <a:r>
              <a:rPr lang="en-US" sz="98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그 시간대에 '오직 그 채널만' 본 시청자의 비율.</a:t>
            </a:r>
            <a:endParaRPr lang="en-US" sz="980" dirty="0"/>
          </a:p>
          <a:p>
            <a:pPr algn="l" marL="165100" indent="-165100">
              <a:lnSpc>
                <a:spcPct val="150000"/>
              </a:lnSpc>
              <a:spcAft>
                <a:spcPts val="800"/>
              </a:spcAft>
              <a:buSzPct val="100000"/>
              <a:buChar char="▪"/>
            </a:pPr>
            <a:r>
              <a:rPr lang="en-US" sz="98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여러 채널을 오가며 잠깐 스친 시청은 도달률엔 잡혀도 배타도달률엔 잡히지 않음.</a:t>
            </a:r>
            <a:endParaRPr lang="en-US" sz="980" dirty="0"/>
          </a:p>
          <a:p>
            <a:pPr algn="l" marL="165100" indent="-165100">
              <a:lnSpc>
                <a:spcPct val="150000"/>
              </a:lnSpc>
              <a:spcAft>
                <a:spcPts val="800"/>
              </a:spcAft>
              <a:buSzPct val="100000"/>
              <a:buChar char="▪"/>
            </a:pPr>
            <a:r>
              <a:rPr lang="en-US" sz="98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배타도달률이 높을수록 그 채널에 '고정적으로 머문' 시청자가 많다는 뜻.</a:t>
            </a:r>
            <a:endParaRPr lang="en-US" sz="980" dirty="0"/>
          </a:p>
        </p:txBody>
      </p:sp>
      <p:sp>
        <p:nvSpPr>
          <p:cNvPr id="31" name="Shape 27"/>
          <p:cNvSpPr/>
          <p:nvPr/>
        </p:nvSpPr>
        <p:spPr>
          <a:xfrm>
            <a:off x="914400" y="5638800"/>
            <a:ext cx="10363200" cy="533400"/>
          </a:xfrm>
          <a:prstGeom prst="roundRect">
            <a:avLst>
              <a:gd name="adj" fmla="val 25000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143000" y="56388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핵심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'접근성 하락'이 시청률에 미친 피해는 단순 도달 감소보다 시청 유지·충성도 약화에서 더 크게 나타남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주의: 도달률은 일별 02:00~25:59 평균, 시청률은 15분 슬롯 평균으로 산출 단위가 다름 · 인과관계가 아니라 동시적 변화 패턴을 해석함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enapla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859" y="457200"/>
            <a:ext cx="1467741" cy="3238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· 플랫폼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990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IPTV에서 큰 변화가 관찰됨</a:t>
            </a:r>
            <a:endParaRPr lang="en-US" sz="218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990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PLAY의 전후 변화 + 반대 방향으로 이동한 KBS JOY 비교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502920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1943100"/>
            <a:ext cx="457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 · 플랫폼별 시청률 변화율</a:t>
            </a:r>
            <a:endParaRPr lang="en-US" sz="113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1717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개편 전 4주 → 개편 후 27일</a:t>
            </a:r>
            <a:endParaRPr lang="en-US" sz="9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143000" y="2400300"/>
          <a:ext cx="4572000" cy="1428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1143000" y="3848100"/>
            <a:ext cx="457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IPTV 낙폭이 케이블보다 11.9%p 큼 — 번호 변경이 일어난 플랫폼에서 변화가 더 크게 관찰됨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48400" y="1752600"/>
            <a:ext cx="502920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77000" y="1943100"/>
            <a:ext cx="457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반대 방향 번호 이동 · KBS JOY</a:t>
            </a:r>
            <a:endParaRPr lang="en-US" sz="1130" dirty="0"/>
          </a:p>
        </p:txBody>
      </p:sp>
      <p:sp>
        <p:nvSpPr>
          <p:cNvPr id="15" name="Text 11"/>
          <p:cNvSpPr txBox="1"/>
          <p:nvPr/>
        </p:nvSpPr>
        <p:spPr>
          <a:xfrm>
            <a:off x="6477000" y="21717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41 → 999 · 같은 9/2 개편</a:t>
            </a:r>
            <a:endParaRPr lang="en-US" sz="9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477000" y="2400300"/>
          <a:ext cx="4572000" cy="1428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6477000" y="3848100"/>
            <a:ext cx="4572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9D6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두 채널의 방향이 대칭적으로 갈림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914400" y="4305300"/>
            <a:ext cx="10363200" cy="533400"/>
          </a:xfrm>
          <a:prstGeom prst="roundRect">
            <a:avLst>
              <a:gd name="adj" fmla="val 25000"/>
            </a:avLst>
          </a:prstGeom>
          <a:solidFill>
            <a:srgbClr val="00C8D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1143000" y="43053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6FAF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PLAY vs JOY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PLAY: 접근성↓ · 시청률↓     JOY: 접근성↑ · 시청률↑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4400" y="4991100"/>
            <a:ext cx="10363200" cy="952500"/>
          </a:xfrm>
          <a:prstGeom prst="roundRect">
            <a:avLst>
              <a:gd name="adj" fmla="val 14000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123950" y="514350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해석</a:t>
            </a:r>
            <a:endParaRPr lang="en-US" sz="1010" dirty="0"/>
          </a:p>
        </p:txBody>
      </p:sp>
      <p:sp>
        <p:nvSpPr>
          <p:cNvPr id="22" name="Text 17"/>
          <p:cNvSpPr txBox="1"/>
          <p:nvPr/>
        </p:nvSpPr>
        <p:spPr>
          <a:xfrm>
            <a:off x="1123950" y="5429250"/>
            <a:ext cx="9944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번호 이동 방향과 시청률 방향이 일치하고, 변화도 IPTV에서 상대적으로 크게 나타나 '접근성 가설과 부합하는 패턴'을 보여줌.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Nielsen Daily Grid · ENA PLAY / KBS JOY. 케이블은 번호 변경의 직접 적용 대상이 아니므로 참고 비교군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enapla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859" y="457200"/>
            <a:ext cx="1467741" cy="3238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· 카니발라이제이션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990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같은 콘텐츠를 틀었는데, ENA PLAY와 ENA DRAMA의 성적이 갈렸다</a:t>
            </a:r>
            <a:endParaRPr lang="en-US" sz="218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990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PLAY와 ENA DRAMA의 canonical_name 일치 78개를 직접 매칭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33528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04900" y="19050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동일 프로그램</a:t>
            </a:r>
            <a:endParaRPr lang="en-US" sz="940" dirty="0"/>
          </a:p>
        </p:txBody>
      </p:sp>
      <p:sp>
        <p:nvSpPr>
          <p:cNvPr id="10" name="Text 7"/>
          <p:cNvSpPr txBox="1"/>
          <p:nvPr/>
        </p:nvSpPr>
        <p:spPr>
          <a:xfrm>
            <a:off x="1104900" y="2114550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00787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78개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1104900" y="24193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PLAY 전체 110개 중 71%가 ENA DRAMA와 중복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4419600" y="1752600"/>
            <a:ext cx="33528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0100" y="19050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PLAY(동일 78개 평균)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4610100" y="2114550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-20.9%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4610100" y="24193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0.0268%→0.0212%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7924800" y="1752600"/>
            <a:ext cx="3352800" cy="990600"/>
          </a:xfrm>
          <a:prstGeom prst="roundRect">
            <a:avLst>
              <a:gd name="adj" fmla="val 13462"/>
            </a:avLst>
          </a:prstGeom>
          <a:solidFill>
            <a:srgbClr val="00C8D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115300" y="1905000"/>
            <a:ext cx="297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E6FAF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DRAMA(동일 78개 평균)</a:t>
            </a:r>
            <a:endParaRPr lang="en-US" sz="940" dirty="0"/>
          </a:p>
        </p:txBody>
      </p:sp>
      <p:sp>
        <p:nvSpPr>
          <p:cNvPr id="18" name="Text 15"/>
          <p:cNvSpPr txBox="1"/>
          <p:nvPr/>
        </p:nvSpPr>
        <p:spPr>
          <a:xfrm>
            <a:off x="8115300" y="2114550"/>
            <a:ext cx="2971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+46.5%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8115300" y="24193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E6FAF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0.0239%→0.0350%</a:t>
            </a:r>
            <a:endParaRPr lang="en-US" sz="86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71800"/>
          <a:ext cx="5905500" cy="914400"/>
        </p:xfrm>
        <a:graphic>
          <a:graphicData uri="http://schemas.openxmlformats.org/drawingml/2006/table">
            <a:tbl>
              <a:tblPr/>
              <a:tblGrid>
                <a:gridCol w="2797342"/>
                <a:gridCol w="1554079"/>
                <a:gridCol w="1554079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대표 IP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PLAY 변화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DRAMA 변화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나혼자산다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-10.5%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+19.5%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신병4사보타주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-25.7%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3D3D49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+2.0%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캐리어하나로떠나는주문짐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-40.5%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-6.6%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무한도전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-17.8%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-42.4%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7"/>
          <p:cNvSpPr/>
          <p:nvPr/>
        </p:nvSpPr>
        <p:spPr>
          <a:xfrm>
            <a:off x="914400" y="4629150"/>
            <a:ext cx="5905500" cy="1238250"/>
          </a:xfrm>
          <a:prstGeom prst="roundRect">
            <a:avLst>
              <a:gd name="adj" fmla="val 10769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123950" y="4781550"/>
            <a:ext cx="548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동일 콘텐츠라는 조건을 맞춰</a:t>
            </a:r>
            <a:endParaRPr lang="en-US" sz="1010" dirty="0"/>
          </a:p>
        </p:txBody>
      </p:sp>
      <p:sp>
        <p:nvSpPr>
          <p:cNvPr id="23" name="Text 19"/>
          <p:cNvSpPr txBox="1"/>
          <p:nvPr/>
        </p:nvSpPr>
        <p:spPr>
          <a:xfrm>
            <a:off x="1123950" y="50673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'콘텐츠 차이' 설명을 일부 제거함 — 같은 콘텐츠의 평균 성적이 서로 반대 방향으로 변화.</a:t>
            </a:r>
            <a:endParaRPr lang="en-US" sz="101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무한도전처럼 두 채널 모두 하락한 예외도 있어 패턴이 100% 일관적이지는 않음.</a:t>
            </a:r>
            <a:endParaRPr lang="en-US" sz="1010" dirty="0"/>
          </a:p>
        </p:txBody>
      </p:sp>
      <p:sp>
        <p:nvSpPr>
          <p:cNvPr id="24" name="Shape 20"/>
          <p:cNvSpPr/>
          <p:nvPr/>
        </p:nvSpPr>
        <p:spPr>
          <a:xfrm>
            <a:off x="7048500" y="2971800"/>
            <a:ext cx="4229100" cy="2895600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277100" y="31623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정황상 카니발라이제이션 가설과 부합</a:t>
            </a:r>
            <a:endParaRPr lang="en-US" sz="1130" dirty="0"/>
          </a:p>
        </p:txBody>
      </p:sp>
      <p:sp>
        <p:nvSpPr>
          <p:cNvPr id="26" name="Text 22"/>
          <p:cNvSpPr txBox="1"/>
          <p:nvPr/>
        </p:nvSpPr>
        <p:spPr>
          <a:xfrm>
            <a:off x="7277100" y="3657600"/>
            <a:ext cx="381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55000"/>
              </a:lnSpc>
              <a:spcAft>
                <a:spcPts val="10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콘텐츠가 완전히 같은데 채널만 다르면 성적이 반대로 갈림.</a:t>
            </a:r>
            <a:endParaRPr lang="en-US" sz="1010" dirty="0"/>
          </a:p>
          <a:p>
            <a:pPr algn="l" marL="165100" indent="-165100">
              <a:lnSpc>
                <a:spcPct val="155000"/>
              </a:lnSpc>
              <a:spcAft>
                <a:spcPts val="10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41–42 인접 배치 이후 시청 흐름이 채널 사이를 오갔을 가능성과 부합.</a:t>
            </a:r>
            <a:endParaRPr lang="en-US" sz="1010" dirty="0"/>
          </a:p>
          <a:p>
            <a:pPr algn="l" marL="165100" indent="-165100">
              <a:lnSpc>
                <a:spcPct val="155000"/>
              </a:lnSpc>
              <a:spcAft>
                <a:spcPts val="10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다만 개인 단위 시청자 이동 데이터는 없어 "DRAMA로 이동했다"고 직접 단정할 수는 없음.</a:t>
            </a:r>
            <a:endParaRPr lang="en-US" sz="1010" dirty="0"/>
          </a:p>
        </p:txBody>
      </p:sp>
      <p:sp>
        <p:nvSpPr>
          <p:cNvPr id="27" name="Text 23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Supabase DB programs.canonical_name 정확 일치 78개 · 수도권 2049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enapla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859" y="457200"/>
            <a:ext cx="1467741" cy="3238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· 시청층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990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ENA PLAY는 젊은 핵심 타깃 비중이 줄고, 50+ 비중이 늘었다</a:t>
            </a:r>
            <a:endParaRPr lang="en-US" sz="218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990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현재 데이터가 보여주는 것은 '유입자 연령'이 아니라 전체 시청 구성비 변화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3352800" cy="2095500"/>
          </a:xfrm>
          <a:prstGeom prst="roundRect">
            <a:avLst>
              <a:gd name="adj" fmla="val 6364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04900" y="1905000"/>
            <a:ext cx="297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 · 41번</a:t>
            </a:r>
            <a:endParaRPr lang="en-US" sz="1130" dirty="0"/>
          </a:p>
        </p:txBody>
      </p:sp>
      <p:sp>
        <p:nvSpPr>
          <p:cNvPr id="10" name="Text 7"/>
          <p:cNvSpPr txBox="1"/>
          <p:nvPr/>
        </p:nvSpPr>
        <p:spPr>
          <a:xfrm>
            <a:off x="1104900" y="2209800"/>
            <a:ext cx="1428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2049 비중</a:t>
            </a:r>
            <a:endParaRPr lang="en-US" sz="830" dirty="0"/>
          </a:p>
        </p:txBody>
      </p:sp>
      <p:sp>
        <p:nvSpPr>
          <p:cNvPr id="11" name="Text 8"/>
          <p:cNvSpPr txBox="1"/>
          <p:nvPr/>
        </p:nvSpPr>
        <p:spPr>
          <a:xfrm>
            <a:off x="1104900" y="236220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37.1%</a:t>
            </a:r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A6A6B6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33.8%</a:t>
            </a:r>
            <a:endParaRPr lang="en-US" sz="1130" dirty="0"/>
          </a:p>
        </p:txBody>
      </p:sp>
      <p:sp>
        <p:nvSpPr>
          <p:cNvPr id="12" name="Text 9"/>
          <p:cNvSpPr txBox="1"/>
          <p:nvPr/>
        </p:nvSpPr>
        <p:spPr>
          <a:xfrm>
            <a:off x="1104900" y="2743200"/>
            <a:ext cx="1428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50+ 비중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1104900" y="289560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46.3%</a:t>
            </a:r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A6A6B6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262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54.7%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1104900" y="33337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FBECE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4900" y="333375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2049 -3.3%p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4419600" y="1752600"/>
            <a:ext cx="3352800" cy="20955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10100" y="1905000"/>
            <a:ext cx="297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DRAMA · 42번</a:t>
            </a:r>
            <a:endParaRPr lang="en-US" sz="1130" dirty="0"/>
          </a:p>
        </p:txBody>
      </p:sp>
      <p:sp>
        <p:nvSpPr>
          <p:cNvPr id="18" name="Text 15"/>
          <p:cNvSpPr txBox="1"/>
          <p:nvPr/>
        </p:nvSpPr>
        <p:spPr>
          <a:xfrm>
            <a:off x="4610100" y="2209800"/>
            <a:ext cx="1428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2049 비중</a:t>
            </a:r>
            <a:endParaRPr lang="en-US" sz="830" dirty="0"/>
          </a:p>
        </p:txBody>
      </p:sp>
      <p:sp>
        <p:nvSpPr>
          <p:cNvPr id="19" name="Text 16"/>
          <p:cNvSpPr txBox="1"/>
          <p:nvPr/>
        </p:nvSpPr>
        <p:spPr>
          <a:xfrm>
            <a:off x="4610100" y="236220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28.6%</a:t>
            </a:r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A6A6B6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9D6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35.3%</a:t>
            </a:r>
            <a:endParaRPr lang="en-US" sz="1130" dirty="0"/>
          </a:p>
        </p:txBody>
      </p:sp>
      <p:sp>
        <p:nvSpPr>
          <p:cNvPr id="20" name="Text 17"/>
          <p:cNvSpPr txBox="1"/>
          <p:nvPr/>
        </p:nvSpPr>
        <p:spPr>
          <a:xfrm>
            <a:off x="4610100" y="2743200"/>
            <a:ext cx="1428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50+ 비중</a:t>
            </a:r>
            <a:endParaRPr lang="en-US" sz="830" dirty="0"/>
          </a:p>
        </p:txBody>
      </p:sp>
      <p:sp>
        <p:nvSpPr>
          <p:cNvPr id="21" name="Text 18"/>
          <p:cNvSpPr txBox="1"/>
          <p:nvPr/>
        </p:nvSpPr>
        <p:spPr>
          <a:xfrm>
            <a:off x="4610100" y="289560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48.2%</a:t>
            </a:r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A6A6B6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262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49.5%</a:t>
            </a:r>
            <a:endParaRPr lang="en-US" sz="1130" dirty="0"/>
          </a:p>
        </p:txBody>
      </p:sp>
      <p:sp>
        <p:nvSpPr>
          <p:cNvPr id="22" name="Shape 19"/>
          <p:cNvSpPr/>
          <p:nvPr/>
        </p:nvSpPr>
        <p:spPr>
          <a:xfrm>
            <a:off x="4610100" y="33337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E8F5E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610100" y="333375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1F9D6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2049 +6.7%p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7924800" y="1752600"/>
            <a:ext cx="3352800" cy="209550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15300" y="1905000"/>
            <a:ext cx="297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· 1번</a:t>
            </a:r>
            <a:endParaRPr lang="en-US" sz="1130" dirty="0"/>
          </a:p>
        </p:txBody>
      </p:sp>
      <p:sp>
        <p:nvSpPr>
          <p:cNvPr id="26" name="Text 23"/>
          <p:cNvSpPr txBox="1"/>
          <p:nvPr/>
        </p:nvSpPr>
        <p:spPr>
          <a:xfrm>
            <a:off x="8115300" y="2209800"/>
            <a:ext cx="1428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2049 비중</a:t>
            </a:r>
            <a:endParaRPr lang="en-US" sz="830" dirty="0"/>
          </a:p>
        </p:txBody>
      </p:sp>
      <p:sp>
        <p:nvSpPr>
          <p:cNvPr id="27" name="Text 24"/>
          <p:cNvSpPr txBox="1"/>
          <p:nvPr/>
        </p:nvSpPr>
        <p:spPr>
          <a:xfrm>
            <a:off x="8115300" y="236220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34.4%</a:t>
            </a:r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A6A6B6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D3D49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34.3%</a:t>
            </a:r>
            <a:endParaRPr lang="en-US" sz="1130" dirty="0"/>
          </a:p>
        </p:txBody>
      </p:sp>
      <p:sp>
        <p:nvSpPr>
          <p:cNvPr id="28" name="Text 25"/>
          <p:cNvSpPr txBox="1"/>
          <p:nvPr/>
        </p:nvSpPr>
        <p:spPr>
          <a:xfrm>
            <a:off x="8115300" y="2743200"/>
            <a:ext cx="1428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50+ 비중</a:t>
            </a:r>
            <a:endParaRPr lang="en-US" sz="830" dirty="0"/>
          </a:p>
        </p:txBody>
      </p:sp>
      <p:sp>
        <p:nvSpPr>
          <p:cNvPr id="29" name="Text 26"/>
          <p:cNvSpPr txBox="1"/>
          <p:nvPr/>
        </p:nvSpPr>
        <p:spPr>
          <a:xfrm>
            <a:off x="8115300" y="289560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54.7%</a:t>
            </a:r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A6A6B6"/>
                </a:solidFill>
                <a:latin typeface="KT Flow Thin" pitchFamily="34" charset="0"/>
                <a:ea typeface="KT Flow Thin" pitchFamily="34" charset="-122"/>
                <a:cs typeface="KT Flow Thin" pitchFamily="34" charset="-120"/>
              </a:rPr>
              <a:t>  →  </a:t>
            </a:r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262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52.3%</a:t>
            </a:r>
            <a:endParaRPr lang="en-US" sz="1130" dirty="0"/>
          </a:p>
        </p:txBody>
      </p:sp>
      <p:sp>
        <p:nvSpPr>
          <p:cNvPr id="30" name="Shape 27"/>
          <p:cNvSpPr/>
          <p:nvPr/>
        </p:nvSpPr>
        <p:spPr>
          <a:xfrm>
            <a:off x="8115300" y="33337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115300" y="333375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3D3D49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2049 -0.1%p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914400" y="4000500"/>
            <a:ext cx="10363200" cy="533400"/>
          </a:xfrm>
          <a:prstGeom prst="roundRect">
            <a:avLst>
              <a:gd name="adj" fmla="val 25000"/>
            </a:avLst>
          </a:prstGeom>
          <a:solidFill>
            <a:srgbClr val="00C8D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43000" y="4000500"/>
            <a:ext cx="990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6FAF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요약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PLAY 2049 비중 -3.3%p / 50+ +8.4%p  ·  DRAMA 2049 +6.7%p  ·  ENA(번호 불변) 2049 -0.1%p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14400" y="4686300"/>
            <a:ext cx="10363200" cy="914400"/>
          </a:xfrm>
          <a:prstGeom prst="roundRect">
            <a:avLst>
              <a:gd name="adj" fmla="val 14583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123950" y="483870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해석</a:t>
            </a:r>
            <a:endParaRPr lang="en-US" sz="1010" dirty="0"/>
          </a:p>
        </p:txBody>
      </p:sp>
      <p:sp>
        <p:nvSpPr>
          <p:cNvPr id="36" name="Text 33"/>
          <p:cNvSpPr txBox="1"/>
          <p:nvPr/>
        </p:nvSpPr>
        <p:spPr>
          <a:xfrm>
            <a:off x="1123950" y="5124450"/>
            <a:ext cx="9944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번호 이동 이후 PLAY의 시청층 구성은 젊은 타깃에서 더 멀어지고, 인접한 DRAMA는 2049 비중이 확대됨.</a:t>
            </a:r>
            <a:endParaRPr lang="en-US" sz="101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다만 개인별 이동은 확인할 수 없어 '구성비 변화'로만 해석함.</a:t>
            </a:r>
            <a:endParaRPr lang="en-US" sz="1010" dirty="0"/>
          </a:p>
        </p:txBody>
      </p:sp>
      <p:sp>
        <p:nvSpPr>
          <p:cNvPr id="37" name="Text 34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Supabase ratings × targets · 성별×10세 단위 target 합산 구성비 · 개편 전 4주 vs 개편 후 27일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enapla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859" y="457200"/>
            <a:ext cx="1467741" cy="3238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 · 시간대 &amp; IP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990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강한 시간대와 반복 편성에서 하락폭이 더 컸다</a:t>
            </a:r>
            <a:endParaRPr lang="en-US" sz="218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990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15분 원자료를 7개 시간대와 상시 IP 기준으로 요약</a:t>
            </a:r>
            <a:endParaRPr lang="en-US" sz="1130" dirty="0"/>
          </a:p>
        </p:txBody>
      </p:sp>
      <p:sp>
        <p:nvSpPr>
          <p:cNvPr id="8" name="Shape 5"/>
          <p:cNvSpPr/>
          <p:nvPr/>
        </p:nvSpPr>
        <p:spPr>
          <a:xfrm>
            <a:off x="914400" y="1752600"/>
            <a:ext cx="59055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194310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 PLAY 시간대별 시청률 변화율</a:t>
            </a:r>
            <a:endParaRPr lang="en-US" sz="113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1143000" y="2209800"/>
          <a:ext cx="5334000" cy="2190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048500" y="1752600"/>
            <a:ext cx="42291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77100" y="19431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나는SOLO 계열 · 반복 슬롯</a:t>
            </a:r>
            <a:endParaRPr lang="en-US" sz="1130" dirty="0"/>
          </a:p>
        </p:txBody>
      </p:sp>
      <p:sp>
        <p:nvSpPr>
          <p:cNvPr id="13" name="Text 9"/>
          <p:cNvSpPr txBox="1"/>
          <p:nvPr/>
        </p:nvSpPr>
        <p:spPr>
          <a:xfrm>
            <a:off x="7277100" y="2171700"/>
            <a:ext cx="381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대표 편성 추정 vs 반복(재방 추정)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77100" y="2457450"/>
          <a:ext cx="3771900" cy="914400"/>
        </p:xfrm>
        <a:graphic>
          <a:graphicData uri="http://schemas.openxmlformats.org/drawingml/2006/table">
            <a:tbl>
              <a:tblPr/>
              <a:tblGrid>
                <a:gridCol w="2200275"/>
                <a:gridCol w="1571625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구분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변화율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대표 슬롯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-31.1%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반복 슬롯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-38.9%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7277100" y="3314700"/>
            <a:ext cx="3771900" cy="1123950"/>
          </a:xfrm>
          <a:prstGeom prst="roundRect">
            <a:avLst>
              <a:gd name="adj" fmla="val 11864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3467100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→ 재방 시청 이탈 가능성과 부합</a:t>
            </a:r>
            <a:endParaRPr lang="en-US" sz="1010" dirty="0"/>
          </a:p>
        </p:txBody>
      </p:sp>
      <p:sp>
        <p:nvSpPr>
          <p:cNvPr id="17" name="Text 12"/>
          <p:cNvSpPr txBox="1"/>
          <p:nvPr/>
        </p:nvSpPr>
        <p:spPr>
          <a:xfrm>
            <a:off x="7486650" y="3752850"/>
            <a:ext cx="3352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반복 편성 쪽 낙폭이 더 큼 — 가장 큰 하락은 18-21시 -48.4%, 유일한 상승은 12-15시 +21.3%.</a:t>
            </a:r>
            <a:endParaRPr lang="en-US" sz="940" dirty="0"/>
          </a:p>
        </p:txBody>
      </p:sp>
      <p:sp>
        <p:nvSpPr>
          <p:cNvPr id="18" name="Shape 13"/>
          <p:cNvSpPr/>
          <p:nvPr/>
        </p:nvSpPr>
        <p:spPr>
          <a:xfrm>
            <a:off x="914400" y="4762500"/>
            <a:ext cx="10363200" cy="838200"/>
          </a:xfrm>
          <a:prstGeom prst="roundRect">
            <a:avLst>
              <a:gd name="adj" fmla="val 15909"/>
            </a:avLst>
          </a:prstGeom>
          <a:solidFill>
            <a:srgbClr val="F7F7F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1123950" y="491490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주의</a:t>
            </a:r>
            <a:endParaRPr lang="en-US" sz="1010" dirty="0"/>
          </a:p>
        </p:txBody>
      </p:sp>
      <p:sp>
        <p:nvSpPr>
          <p:cNvPr id="20" name="Text 15"/>
          <p:cNvSpPr txBox="1"/>
          <p:nvPr/>
        </p:nvSpPr>
        <p:spPr>
          <a:xfrm>
            <a:off x="1123950" y="5200650"/>
            <a:ext cx="9944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나는SOLO 계열은 하루 다회 반복되어 DB상 본방/재방 태그가 없어, 반복 슬롯은 '재방 추정'임. '나는SOLO 그후 사랑은 계속된다' 단독 효과는 별도 검증되지 않음.</a:t>
            </a:r>
            <a:endParaRPr lang="en-US" sz="94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Nielsen 15분 단위 원자료 · 프로그램 라벨 forward-fill 기반 근사. 15분 미만 노출은 제외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enapla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859" y="457200"/>
            <a:ext cx="1467741" cy="3238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· 비교 채널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990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4개 채널을 같이 보면, ENA PLAY의 움직임은 계절성만으로 설명되지 않는다</a:t>
            </a:r>
            <a:endParaRPr lang="en-US" sz="218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990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2025년 동일기간을 기준선으로 놓고 2026년 변화폭을 비교</a:t>
            </a:r>
            <a:endParaRPr lang="en-US" sz="113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52600"/>
          <a:ext cx="6667500" cy="914400"/>
        </p:xfrm>
        <a:graphic>
          <a:graphicData uri="http://schemas.openxmlformats.org/drawingml/2006/table">
            <a:tbl>
              <a:tblPr/>
              <a:tblGrid>
                <a:gridCol w="1778000"/>
                <a:gridCol w="1629833"/>
                <a:gridCol w="1629833"/>
                <a:gridCol w="1629833"/>
              </a:tblGrid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 변화율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 동일기간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초과 변화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PLAY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-24.0%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-7.6%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-16.4%p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KBS JOY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+5.7%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-5.5%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+11.2%p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+16.5%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+16.4%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+0.2%p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ENA DRAMA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+25.5%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+0.5%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1F9D6B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+25.0%p</a:t>
                      </a:r>
                      <a:endParaRPr lang="en-US" sz="101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3543300"/>
            <a:ext cx="6667500" cy="1238250"/>
          </a:xfrm>
          <a:prstGeom prst="roundRect">
            <a:avLst>
              <a:gd name="adj" fmla="val 10769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123950" y="3695700"/>
            <a:ext cx="624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읽는 포인트</a:t>
            </a:r>
            <a:endParaRPr lang="en-US" sz="1010" dirty="0"/>
          </a:p>
        </p:txBody>
      </p:sp>
      <p:sp>
        <p:nvSpPr>
          <p:cNvPr id="11" name="Text 7"/>
          <p:cNvSpPr txBox="1"/>
          <p:nvPr/>
        </p:nvSpPr>
        <p:spPr>
          <a:xfrm>
            <a:off x="1123950" y="3981450"/>
            <a:ext cx="624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ENA는 2025·2026이 거의 동일 → 계절성 참고선 역할.</a:t>
            </a:r>
            <a:endParaRPr lang="en-US" sz="1010" dirty="0"/>
          </a:p>
          <a:p>
            <a:pPr algn="l" marL="165100" indent="-165100">
              <a:lnSpc>
                <a:spcPct val="140000"/>
              </a:lnSpc>
              <a:spcAft>
                <a:spcPts val="500"/>
              </a:spcAft>
              <a:buSzPct val="100000"/>
              <a:buChar char="▪"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DRAMA는 콘텐츠 효과까지 혼재 → 번호효과와 분리해서 봐야 함.</a:t>
            </a:r>
            <a:endParaRPr lang="en-US" sz="1010" dirty="0"/>
          </a:p>
        </p:txBody>
      </p:sp>
      <p:sp>
        <p:nvSpPr>
          <p:cNvPr id="12" name="Shape 8"/>
          <p:cNvSpPr/>
          <p:nvPr/>
        </p:nvSpPr>
        <p:spPr>
          <a:xfrm>
            <a:off x="7848600" y="1752600"/>
            <a:ext cx="3429000" cy="3028950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 w="11430">
            <a:solidFill>
              <a:srgbClr val="E2E2E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077200" y="1943100"/>
            <a:ext cx="297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종합하면</a:t>
            </a:r>
            <a:endParaRPr lang="en-US" sz="1130" dirty="0"/>
          </a:p>
        </p:txBody>
      </p:sp>
      <p:sp>
        <p:nvSpPr>
          <p:cNvPr id="14" name="Text 10"/>
          <p:cNvSpPr txBox="1"/>
          <p:nvPr/>
        </p:nvSpPr>
        <p:spPr>
          <a:xfrm>
            <a:off x="8077200" y="2209800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PLAY만 2025년 기준선보다 더 크게 하락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63B3B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-24.0%  vs  2025 -7.6%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077200" y="2857500"/>
            <a:ext cx="29718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· IPTV -25.2%</a:t>
            </a:r>
            <a:endParaRPr lang="en-US" sz="101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· DRAMA 동일 IP 평균 +46.5%</a:t>
            </a:r>
            <a:endParaRPr lang="en-US" sz="101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· PLAY 2049 비중 -3.3%p</a:t>
            </a:r>
            <a:endParaRPr lang="en-US" sz="1010" dirty="0"/>
          </a:p>
        </p:txBody>
      </p:sp>
      <p:sp>
        <p:nvSpPr>
          <p:cNvPr id="16" name="Text 12"/>
          <p:cNvSpPr txBox="1"/>
          <p:nvPr/>
        </p:nvSpPr>
        <p:spPr>
          <a:xfrm>
            <a:off x="8077200" y="3771900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→ 번호 이동과 함께 'PLAY 약화 + DRAMA 상대 강화' 패턴이 관찰됨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914400" y="4972050"/>
            <a:ext cx="10363200" cy="666750"/>
          </a:xfrm>
          <a:prstGeom prst="roundRect">
            <a:avLst>
              <a:gd name="adj" fmla="val 20000"/>
            </a:avLst>
          </a:prstGeom>
          <a:solidFill>
            <a:srgbClr val="F7F7F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23950" y="512445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중요한 한계</a:t>
            </a:r>
            <a:endParaRPr lang="en-US" sz="1010" dirty="0"/>
          </a:p>
        </p:txBody>
      </p:sp>
      <p:sp>
        <p:nvSpPr>
          <p:cNvPr id="19" name="Text 15"/>
          <p:cNvSpPr txBox="1"/>
          <p:nvPr/>
        </p:nvSpPr>
        <p:spPr>
          <a:xfrm>
            <a:off x="1123950" y="5410200"/>
            <a:ext cx="9944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ENA DRAMA의 +25.5%에는 신규·강한 콘텐츠 편성 효과가 포함돼 있어, 카니발라이제이션의 순수 기여도는 분리할 수 없음.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자료: Nielsen Daily Grid · 2025/2026 동일 캘린더 구간 비교. '초과 변화'는 단순 변화율 차이이며 인과효과 추정치가 아님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enapla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859" y="457200"/>
            <a:ext cx="1467741" cy="3238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07 · 결론 &amp; 시사점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990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번호 이동과 함께 ENA PLAY의 시청 기반이 약화된 것은 분명하다</a:t>
            </a:r>
            <a:endParaRPr lang="en-US" sz="218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990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다만 순수 번호효과·카니발라이제이션·편성효과의 기여도는 아직 분리되지 않음</a:t>
            </a:r>
            <a:endParaRPr lang="en-US" sz="113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33550"/>
          <a:ext cx="10363200" cy="914400"/>
        </p:xfrm>
        <a:graphic>
          <a:graphicData uri="http://schemas.openxmlformats.org/drawingml/2006/table">
            <a:tbl>
              <a:tblPr/>
              <a:tblGrid>
                <a:gridCol w="1727200"/>
                <a:gridCol w="8636000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구분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내용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FACT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9/2 이후 27일 ENA PLAY 시청률 -24.0%, IPTV -25.2%. 개편 직후 2주는 장기 관측 구간 중 최저 수준.</a:t>
                      </a:r>
                      <a:endParaRPr lang="en-US" sz="98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MECHANISM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도달률 -6.8%에 비해 배타도달률 -77.3%(IPTV -91.5%)로 훨씬 크게 약화. 평균 시청시간도 -5.5%.</a:t>
                      </a:r>
                      <a:endParaRPr lang="en-US" sz="98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CANNIBALIZATION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동일 콘텐츠 78개에서 PLAY -20.9% vs DRAMA +46.5%. PLAY 2049 비중 -3.3%p vs DRAMA +6.7%p.</a:t>
                      </a:r>
                      <a:endParaRPr lang="en-US" sz="98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LIMIT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개인 시청자 이동 데이터 없음 · DRAMA 콘텐츠 효과 혼재 — '번호 이동이 원인'이라 단정하지 않고 '연관 패턴'으로 해석.</a:t>
                      </a:r>
                      <a:endParaRPr lang="en-US" sz="98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914400" y="413385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향후 편성·채널 운영에서 볼 지표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914400" y="4381500"/>
            <a:ext cx="3352800" cy="857250"/>
          </a:xfrm>
          <a:prstGeom prst="roundRect">
            <a:avLst>
              <a:gd name="adj" fmla="val 15556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104900" y="449580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C8D2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01  </a:t>
            </a:r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41–42 동시편성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04900" y="4743450"/>
            <a:ext cx="2971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동일 IP·동일시간 중복 비중을 낮추고 채널별 역할 분리 검토</a:t>
            </a:r>
            <a:endParaRPr lang="en-US" sz="860" dirty="0"/>
          </a:p>
        </p:txBody>
      </p:sp>
      <p:sp>
        <p:nvSpPr>
          <p:cNvPr id="13" name="Shape 9"/>
          <p:cNvSpPr/>
          <p:nvPr/>
        </p:nvSpPr>
        <p:spPr>
          <a:xfrm>
            <a:off x="4419600" y="4381500"/>
            <a:ext cx="3352800" cy="857250"/>
          </a:xfrm>
          <a:prstGeom prst="roundRect">
            <a:avLst>
              <a:gd name="adj" fmla="val 15556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0100" y="449580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C8D2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02  </a:t>
            </a:r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시청 습관 회복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610100" y="4743450"/>
            <a:ext cx="2971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2049 핵심 IP·강한 시간대의 반복성과 프로모션/EPG 노출 변화 점검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7924800" y="4381500"/>
            <a:ext cx="3352800" cy="857250"/>
          </a:xfrm>
          <a:prstGeom prst="roundRect">
            <a:avLst>
              <a:gd name="adj" fmla="val 15556"/>
            </a:avLst>
          </a:prstGeom>
          <a:solidFill>
            <a:srgbClr val="F2FCFD"/>
          </a:solidFill>
          <a:ln w="11430">
            <a:solidFill>
              <a:srgbClr val="CCF4F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15300" y="449580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0C8D2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03  </a:t>
            </a:r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10월 재검증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8115300" y="4743450"/>
            <a:ext cx="2971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860" dirty="0">
                <a:solidFill>
                  <a:srgbClr val="3D3D49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도달률·배타도달률·2049 비중·DRAMA 중복·SOLO 계열 슬롯을 동일 기준으로 재측정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914400" y="5334000"/>
            <a:ext cx="10363200" cy="571500"/>
          </a:xfrm>
          <a:prstGeom prst="roundRect">
            <a:avLst>
              <a:gd name="adj" fmla="val 23333"/>
            </a:avLst>
          </a:prstGeom>
          <a:solidFill>
            <a:srgbClr val="00C8D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143000" y="5334000"/>
            <a:ext cx="990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6FAF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한 줄 결론</a:t>
            </a:r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  </a:t>
            </a:r>
            <a:pPr algn="l" indent="0" marL="0">
              <a:lnSpc>
                <a:spcPct val="1350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41번 이동 이후 ENA PLAY는 특히 IPTV에서 시청 유지와 젊은 핵심 타깃이 약화됐고, 동일 콘텐츠의 ENA DRAMA 상대 강화까지 동반된 패턴이 확인됐다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현재 데이터 종료일: 2026-09-28. 후속 10월 데이터에서 동일 패턴이 지속되는지 재확인 필요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enapla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859" y="457200"/>
            <a:ext cx="1467741" cy="3238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706100" y="63246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5905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314450" y="49530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90" spc="100" kern="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Appendix</a:t>
            </a:r>
            <a:endParaRPr lang="en-US" sz="109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81050"/>
            <a:ext cx="990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8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산출 기준 및 해석상 주의</a:t>
            </a:r>
            <a:endParaRPr lang="en-US" sz="218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9200"/>
            <a:ext cx="990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핵심 수치의 출처·집계 단위를 한 페이지에서 확인</a:t>
            </a:r>
            <a:endParaRPr lang="en-US" sz="113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52600"/>
          <a:ext cx="10363200" cy="914400"/>
        </p:xfrm>
        <a:graphic>
          <a:graphicData uri="http://schemas.openxmlformats.org/drawingml/2006/table">
            <a:tbl>
              <a:tblPr/>
              <a:tblGrid>
                <a:gridCol w="1671484"/>
                <a:gridCol w="5014452"/>
                <a:gridCol w="3677265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항목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기준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주의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635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분석구간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개편 전 2026-08-05~09-01(28일) / 개편 후 2026-09-02~09-28(27일)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잠정치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데이터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수도권 2049 · 15분 단위 Nielsen + 일별 도달률 + Supabase ratings/targets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출처별 집계 단위 상이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도달률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일별 02:00~25:59 평균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시청률과 직접 합산 불가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동일 콘텐츠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Supabase canonical_name 정확 일치 78개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ENA PLAY 전체 110개 중 71%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나는SOLO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대표 슬롯 vs 반복 슬롯의 추세 비교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본방/재방 태그 미비 → 반복 슬롯은 추정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연령대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성별×10세 target rating 합의 구성비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개인별 이동 데이터 아님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 비교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동일 캘린더 구간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계절성 참고선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14141A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인과관계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번호 변경·시청 변화의 동시성 분석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Medium" pitchFamily="34" charset="0"/>
                          <a:ea typeface="KT Flow Medium" pitchFamily="34" charset="-122"/>
                          <a:cs typeface="KT Flow Medium" pitchFamily="34" charset="-120"/>
                        </a:rPr>
                        <a:t>순수 번호효과의 기여도는 별도 추정하지 않음</a:t>
                      </a:r>
                      <a:endParaRPr lang="en-US" sz="940" dirty="0">
                        <a:latin typeface="KT Flow Medium" charset="0"/>
                        <a:ea typeface="KT Flow Medium" charset="0"/>
                        <a:cs typeface="KT Flow Medium" charset="0"/>
                      </a:endParaRPr>
                    </a:p>
                  </a:txBody>
                  <a:tcPr marL="101600" marR="1016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5162550"/>
            <a:ext cx="10363200" cy="666750"/>
          </a:xfrm>
          <a:prstGeom prst="roundRect">
            <a:avLst>
              <a:gd name="adj" fmla="val 20000"/>
            </a:avLst>
          </a:prstGeom>
          <a:solidFill>
            <a:srgbClr val="F7F7F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23950" y="5314950"/>
            <a:ext cx="994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dirty="0">
                <a:solidFill>
                  <a:srgbClr val="00787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원 보고서 대비 재구성 원칙</a:t>
            </a:r>
            <a:endParaRPr lang="en-US" sz="1010" dirty="0"/>
          </a:p>
        </p:txBody>
      </p:sp>
      <p:sp>
        <p:nvSpPr>
          <p:cNvPr id="11" name="Text 7"/>
          <p:cNvSpPr txBox="1"/>
          <p:nvPr/>
        </p:nvSpPr>
        <p:spPr>
          <a:xfrm>
            <a:off x="1123950" y="5600700"/>
            <a:ext cx="99441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숫자는 첨부 보고서에 수록된 값만 사용하고, 메시지 구조와 그래픽을 단순화함.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6343650"/>
            <a:ext cx="952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원 보고서: "ENA PLAY 채널번호 이동 후 시청률 추이 분석" · 2026-09-29 기준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KT 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ENA PLAY 채널번호 이동 핵심 보고</dc:title>
  <dc:subject>PptxGenJS Presentation</dc:subject>
  <dc:creator>KT ENA</dc:creator>
  <cp:lastModifiedBy>KT ENA</cp:lastModifiedBy>
  <cp:revision>1</cp:revision>
  <dcterms:created xsi:type="dcterms:W3CDTF">2026-09-29T11:13:31Z</dcterms:created>
  <dcterms:modified xsi:type="dcterms:W3CDTF">2026-09-29T11:13:31Z</dcterms:modified>
</cp:coreProperties>
</file>