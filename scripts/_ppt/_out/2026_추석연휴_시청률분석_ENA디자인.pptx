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daily.co.kr/News/Read?mediaCodeNo=257&amp;newsId=01354646645584384" TargetMode="External"/><Relationship Id="rId3" Type="http://schemas.openxmlformats.org/officeDocument/2006/relationships/hyperlink" Target="https://www.news1.kr/entertain/broadcast-tv/6301566" TargetMode="External"/><Relationship Id="rId4" Type="http://schemas.openxmlformats.org/officeDocument/2006/relationships/hyperlink" Target="https://www.etoday.co.kr/news/view/2628407" TargetMode="External"/><Relationship Id="rId5" Type="http://schemas.openxmlformats.org/officeDocument/2006/relationships/hyperlink" Target="https://www.etoday.co.kr/news/view/2628325" TargetMode="External"/><Relationship Id="rId6" Type="http://schemas.openxmlformats.org/officeDocument/2006/relationships/hyperlink" Target="https://www.newsis.com/view/NISX20260927_0003804202" TargetMode="External"/><Relationship Id="rId7" Type="http://schemas.openxmlformats.org/officeDocument/2006/relationships/hyperlink" Target="https://www.imbc.com/broad/enews/view.html?idx=519273" TargetMode="External"/><Relationship Id="rId8" Type="http://schemas.openxmlformats.org/officeDocument/2006/relationships/hyperlink" Target="https://enews.imbc.com/M/Detail/519332" TargetMode="External"/><Relationship Id="rId9" Type="http://schemas.openxmlformats.org/officeDocument/2006/relationships/hyperlink" Target="https://nielsenkorea.co.kr/tv_terrestrial_day.asp?area=01&amp;sub_menu=1_1" TargetMode="External"/><Relationship Id="rId1" Type="http://schemas.openxmlformats.org/officeDocument/2006/relationships/image" Target="../media/image-25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5325" y="8382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매일 새로운</a:t>
            </a:r>
            <a:endParaRPr lang="en-US" sz="1800" dirty="0"/>
          </a:p>
        </p:txBody>
      </p:sp>
      <p:pic>
        <p:nvPicPr>
          <p:cNvPr id="4" name="Image 1" descr="C:/Users/sky tv/AppData/Roaming/Claude/local-agent-mode-sessions/skills-plugin/f9202597-b6b7-43cc-8152-f50de5910f85/b0046a59-6512-4a04-89c8-8c606a404801/skills/ena-design/assets/ena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838200"/>
            <a:ext cx="748037" cy="28575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5325" y="1333500"/>
            <a:ext cx="857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2026 추석 연휴기간</a:t>
            </a:r>
            <a:endParaRPr lang="en-US" sz="4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시청률 분석</a:t>
            </a:r>
            <a:endParaRPr lang="en-US" sz="4500" dirty="0"/>
          </a:p>
        </p:txBody>
      </p:sp>
      <p:sp>
        <p:nvSpPr>
          <p:cNvPr id="6" name="Text 2"/>
          <p:cNvSpPr txBox="1"/>
          <p:nvPr/>
        </p:nvSpPr>
        <p:spPr>
          <a:xfrm>
            <a:off x="695325" y="2857500"/>
            <a:ext cx="857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30" dirty="0">
                <a:solidFill>
                  <a:srgbClr val="E4E2FB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경쟁사 특집 성과  →  당사 7개 채널 효과  →  다음 명절 수급·편성 전략</a:t>
            </a:r>
            <a:endParaRPr lang="en-US" sz="1430" dirty="0"/>
          </a:p>
        </p:txBody>
      </p:sp>
      <p:sp>
        <p:nvSpPr>
          <p:cNvPr id="7" name="Shape 3"/>
          <p:cNvSpPr/>
          <p:nvPr/>
        </p:nvSpPr>
        <p:spPr>
          <a:xfrm>
            <a:off x="695325" y="3314700"/>
            <a:ext cx="381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66775" y="32766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 메시지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물량이 아니라 그 자리에 무엇이 있었는가(Slot)가 성패를 갈랐다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695325" y="407670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+40.1%</a:t>
            </a:r>
            <a:endParaRPr lang="en-US" sz="2550" dirty="0"/>
          </a:p>
        </p:txBody>
      </p:sp>
      <p:sp>
        <p:nvSpPr>
          <p:cNvPr id="10" name="Text 6"/>
          <p:cNvSpPr txBox="1"/>
          <p:nvPr/>
        </p:nvSpPr>
        <p:spPr>
          <a:xfrm>
            <a:off x="695325" y="4572000"/>
            <a:ext cx="161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CFCBF0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개인2049 시장</a:t>
            </a:r>
            <a:endParaRPr lang="en-US" sz="94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CFCBF0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연휴 4일</a:t>
            </a:r>
            <a:endParaRPr lang="en-US" sz="940" dirty="0"/>
          </a:p>
        </p:txBody>
      </p:sp>
      <p:sp>
        <p:nvSpPr>
          <p:cNvPr id="11" name="Shape 7"/>
          <p:cNvSpPr/>
          <p:nvPr/>
        </p:nvSpPr>
        <p:spPr>
          <a:xfrm>
            <a:off x="2276475" y="4114800"/>
            <a:ext cx="9525" cy="800100"/>
          </a:xfrm>
          <a:prstGeom prst="rect">
            <a:avLst/>
          </a:prstGeom>
          <a:solidFill>
            <a:srgbClr val="6E68D6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428875" y="407670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+17.0%</a:t>
            </a:r>
            <a:endParaRPr lang="en-US" sz="2550" dirty="0"/>
          </a:p>
        </p:txBody>
      </p:sp>
      <p:sp>
        <p:nvSpPr>
          <p:cNvPr id="13" name="Text 9"/>
          <p:cNvSpPr txBox="1"/>
          <p:nvPr/>
        </p:nvSpPr>
        <p:spPr>
          <a:xfrm>
            <a:off x="2428875" y="4572000"/>
            <a:ext cx="161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CFCBF0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유료가구 시장</a:t>
            </a:r>
            <a:endParaRPr lang="en-US" sz="94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CFCBF0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연휴 4일</a:t>
            </a:r>
            <a:endParaRPr lang="en-US" sz="940" dirty="0"/>
          </a:p>
        </p:txBody>
      </p:sp>
      <p:sp>
        <p:nvSpPr>
          <p:cNvPr id="14" name="Shape 10"/>
          <p:cNvSpPr/>
          <p:nvPr/>
        </p:nvSpPr>
        <p:spPr>
          <a:xfrm>
            <a:off x="4010025" y="4114800"/>
            <a:ext cx="9525" cy="800100"/>
          </a:xfrm>
          <a:prstGeom prst="rect">
            <a:avLst/>
          </a:prstGeom>
          <a:solidFill>
            <a:srgbClr val="6E68D6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162425" y="407670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1개</a:t>
            </a:r>
            <a:endParaRPr lang="en-US" sz="2550" dirty="0"/>
          </a:p>
        </p:txBody>
      </p:sp>
      <p:sp>
        <p:nvSpPr>
          <p:cNvPr id="16" name="Text 12"/>
          <p:cNvSpPr txBox="1"/>
          <p:nvPr/>
        </p:nvSpPr>
        <p:spPr>
          <a:xfrm>
            <a:off x="4162425" y="4572000"/>
            <a:ext cx="161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CFCBF0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시장 초과 채널</a:t>
            </a:r>
            <a:endParaRPr lang="en-US" sz="94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CFCBF0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Story +39.4%</a:t>
            </a:r>
            <a:endParaRPr lang="en-US" sz="940" dirty="0"/>
          </a:p>
        </p:txBody>
      </p:sp>
      <p:sp>
        <p:nvSpPr>
          <p:cNvPr id="17" name="Shape 13"/>
          <p:cNvSpPr/>
          <p:nvPr/>
        </p:nvSpPr>
        <p:spPr>
          <a:xfrm>
            <a:off x="5743575" y="4114800"/>
            <a:ext cx="9525" cy="800100"/>
          </a:xfrm>
          <a:prstGeom prst="rect">
            <a:avLst/>
          </a:prstGeom>
          <a:solidFill>
            <a:srgbClr val="6E68D6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895975" y="407670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8.53배</a:t>
            </a:r>
            <a:endParaRPr lang="en-US" sz="2550" dirty="0"/>
          </a:p>
        </p:txBody>
      </p:sp>
      <p:sp>
        <p:nvSpPr>
          <p:cNvPr id="19" name="Text 15"/>
          <p:cNvSpPr txBox="1"/>
          <p:nvPr/>
        </p:nvSpPr>
        <p:spPr>
          <a:xfrm>
            <a:off x="5895975" y="4572000"/>
            <a:ext cx="161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CFCBF0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최고 편성 효과</a:t>
            </a:r>
            <a:endParaRPr lang="en-US" sz="94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CFCBF0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Play 〈무한도전〉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695325" y="6515100"/>
            <a:ext cx="723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D9D6F5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대상 09/23(전야)~09/27(일) · 연휴 4일 09/24~09/27 · 모든 수치 닐슨 실측 DB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9525000" y="6515100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D9D6F5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2026.09.28 · 확정본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01 · 핵심 요약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연휴 시장은 커졌지만, 당사의 성장은 시장을 따라가지 못했다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이번 연휴의 핵심은 ‘시청 수요가 늘어난 시간대에 어떤 카드가 있었는가’였음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52600"/>
            <a:ext cx="2476500" cy="1066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04900" y="19050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개인2049 시장</a:t>
            </a:r>
            <a:endParaRPr lang="en-US" sz="980" dirty="0"/>
          </a:p>
        </p:txBody>
      </p:sp>
      <p:sp>
        <p:nvSpPr>
          <p:cNvPr id="10" name="Text 7"/>
          <p:cNvSpPr txBox="1"/>
          <p:nvPr/>
        </p:nvSpPr>
        <p:spPr>
          <a:xfrm>
            <a:off x="1104900" y="211455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+40.1%</a:t>
            </a:r>
            <a:endParaRPr lang="en-US" sz="2550" dirty="0"/>
          </a:p>
        </p:txBody>
      </p:sp>
      <p:sp>
        <p:nvSpPr>
          <p:cNvPr id="11" name="Text 8"/>
          <p:cNvSpPr txBox="1"/>
          <p:nvPr/>
        </p:nvSpPr>
        <p:spPr>
          <a:xfrm>
            <a:off x="1104900" y="25146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중계 있는 시간 +47.2%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3543300" y="1752600"/>
            <a:ext cx="2476500" cy="1066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33800" y="19050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유료가구 시장</a:t>
            </a:r>
            <a:endParaRPr lang="en-US" sz="980" dirty="0"/>
          </a:p>
        </p:txBody>
      </p:sp>
      <p:sp>
        <p:nvSpPr>
          <p:cNvPr id="14" name="Text 11"/>
          <p:cNvSpPr txBox="1"/>
          <p:nvPr/>
        </p:nvSpPr>
        <p:spPr>
          <a:xfrm>
            <a:off x="3733800" y="211455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+17.0%</a:t>
            </a:r>
            <a:endParaRPr lang="en-US" sz="2550" dirty="0"/>
          </a:p>
        </p:txBody>
      </p:sp>
      <p:sp>
        <p:nvSpPr>
          <p:cNvPr id="15" name="Text 12"/>
          <p:cNvSpPr txBox="1"/>
          <p:nvPr/>
        </p:nvSpPr>
        <p:spPr>
          <a:xfrm>
            <a:off x="3733800" y="25146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당사 시장 초과는 ENA Story 1개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6172200" y="1752600"/>
            <a:ext cx="2476500" cy="1066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62700" y="19050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경쟁 우위</a:t>
            </a:r>
            <a:endParaRPr lang="en-US" sz="980" dirty="0"/>
          </a:p>
        </p:txBody>
      </p:sp>
      <p:sp>
        <p:nvSpPr>
          <p:cNvPr id="18" name="Text 15"/>
          <p:cNvSpPr txBox="1"/>
          <p:nvPr/>
        </p:nvSpPr>
        <p:spPr>
          <a:xfrm>
            <a:off x="6362700" y="211455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SBS</a:t>
            </a:r>
            <a:endParaRPr lang="en-US" sz="2550" dirty="0"/>
          </a:p>
        </p:txBody>
      </p:sp>
      <p:sp>
        <p:nvSpPr>
          <p:cNvPr id="19" name="Text 16"/>
          <p:cNvSpPr txBox="1"/>
          <p:nvPr/>
        </p:nvSpPr>
        <p:spPr>
          <a:xfrm>
            <a:off x="6362700" y="25146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등위 2→1위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8801100" y="1752600"/>
            <a:ext cx="2476500" cy="1066800"/>
          </a:xfrm>
          <a:prstGeom prst="roundRect">
            <a:avLst>
              <a:gd name="adj" fmla="val 12500"/>
            </a:avLst>
          </a:prstGeom>
          <a:solidFill>
            <a:srgbClr val="2C24C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991600" y="19050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당사 핵심 사례</a:t>
            </a:r>
            <a:endParaRPr lang="en-US" sz="980" dirty="0"/>
          </a:p>
        </p:txBody>
      </p:sp>
      <p:sp>
        <p:nvSpPr>
          <p:cNvPr id="22" name="Text 19"/>
          <p:cNvSpPr txBox="1"/>
          <p:nvPr/>
        </p:nvSpPr>
        <p:spPr>
          <a:xfrm>
            <a:off x="8991600" y="211455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 Story</a:t>
            </a:r>
            <a:endParaRPr lang="en-US" sz="2550" dirty="0"/>
          </a:p>
        </p:txBody>
      </p:sp>
      <p:sp>
        <p:nvSpPr>
          <p:cNvPr id="23" name="Text 20"/>
          <p:cNvSpPr txBox="1"/>
          <p:nvPr/>
        </p:nvSpPr>
        <p:spPr>
          <a:xfrm>
            <a:off x="8991600" y="25146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E7E6FB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+39.4% / 프라임 +31.2%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914400" y="3009900"/>
            <a:ext cx="3352800" cy="2019300"/>
          </a:xfrm>
          <a:prstGeom prst="roundRect">
            <a:avLst>
              <a:gd name="adj" fmla="val 6604"/>
            </a:avLst>
          </a:prstGeom>
          <a:solidFill>
            <a:srgbClr val="F7F7F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123950" y="31813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① 경쟁사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123950" y="3467100"/>
            <a:ext cx="29337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09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SBS는 〈왕과 사는 남자〉 한 편으로 종합 우위를 확보.</a:t>
            </a:r>
            <a:endParaRPr lang="en-US" sz="109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09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KBS1은 여자농구 결승이라는 단일 이벤트가 채널 등위를 끌어올림.</a:t>
            </a:r>
            <a:endParaRPr lang="en-US" sz="109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09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tvN은 5/5건이 비교 기준을 넘긴 ‘고른 성공’ 사례.</a:t>
            </a:r>
            <a:endParaRPr lang="en-US" sz="1090" dirty="0"/>
          </a:p>
        </p:txBody>
      </p:sp>
      <p:sp>
        <p:nvSpPr>
          <p:cNvPr id="27" name="Shape 24"/>
          <p:cNvSpPr/>
          <p:nvPr/>
        </p:nvSpPr>
        <p:spPr>
          <a:xfrm>
            <a:off x="4419600" y="3009900"/>
            <a:ext cx="3352800" cy="2019300"/>
          </a:xfrm>
          <a:prstGeom prst="roundRect">
            <a:avLst>
              <a:gd name="adj" fmla="val 6604"/>
            </a:avLst>
          </a:prstGeom>
          <a:solidFill>
            <a:srgbClr val="F7F7F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629150" y="31813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② 당사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629150" y="3467100"/>
            <a:ext cx="29337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09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ENA·ENA Play는 낮 시간대가 핵심 기회.</a:t>
            </a:r>
            <a:endParaRPr lang="en-US" sz="109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09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ENA Drama·ONCE는 특집량보다 ‘누구를 위한 편성인가’가 문제.</a:t>
            </a:r>
            <a:endParaRPr lang="en-US" sz="109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09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ENA Story는 명절 상황형 큐레이션이 전 시간대에서 성립.</a:t>
            </a:r>
            <a:endParaRPr lang="en-US" sz="1090" dirty="0"/>
          </a:p>
        </p:txBody>
      </p:sp>
      <p:sp>
        <p:nvSpPr>
          <p:cNvPr id="30" name="Shape 27"/>
          <p:cNvSpPr/>
          <p:nvPr/>
        </p:nvSpPr>
        <p:spPr>
          <a:xfrm>
            <a:off x="7924800" y="3009900"/>
            <a:ext cx="3352800" cy="2019300"/>
          </a:xfrm>
          <a:prstGeom prst="roundRect">
            <a:avLst>
              <a:gd name="adj" fmla="val 6604"/>
            </a:avLst>
          </a:prstGeom>
          <a:solidFill>
            <a:srgbClr val="F7F7F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134350" y="31813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③ 다음 명절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134350" y="3467100"/>
            <a:ext cx="29337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09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검증 예능 IP는 낮으로.</a:t>
            </a:r>
            <a:endParaRPr lang="en-US" sz="109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09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강중계 저녁은 2~3시간만 회피하고, 카드 소진을 줄임.</a:t>
            </a:r>
            <a:endParaRPr lang="en-US" sz="109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09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영화는 장르가 아니라 채널·슬롯·최신성 기준으로 선별.</a:t>
            </a:r>
            <a:endParaRPr lang="en-US" sz="1090" dirty="0"/>
          </a:p>
        </p:txBody>
      </p:sp>
      <p:sp>
        <p:nvSpPr>
          <p:cNvPr id="33" name="Shape 30"/>
          <p:cNvSpPr/>
          <p:nvPr/>
        </p:nvSpPr>
        <p:spPr>
          <a:xfrm>
            <a:off x="914400" y="5219700"/>
            <a:ext cx="10363200" cy="685800"/>
          </a:xfrm>
          <a:prstGeom prst="roundRect">
            <a:avLst>
              <a:gd name="adj" fmla="val 19444"/>
            </a:avLst>
          </a:prstGeom>
          <a:solidFill>
            <a:srgbClr val="2C24CE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143000" y="5219700"/>
            <a:ext cx="990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한 문장 결론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다음 명절은 ‘특집을 얼마나 늘릴까’가 아니라 ‘시청 이유가 있는 콘텐츠를 어느 자리에 놓을까’의 문제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2026 추석 연휴기간 시청률 분석(확정본) · 닐슨 실측 DB · 분석기간 09/23~09/27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01 · 외부 환경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2026 추석은 ‘평년 명절’과 다른 경기장이었다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실시간 기사에서 확인되는 외부 환경과 내부 데이터가 같은 방향을 가리킴.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52600"/>
            <a:ext cx="49530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23950" y="1924050"/>
            <a:ext cx="453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언론 보도 ①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123950" y="2209800"/>
            <a:ext cx="4533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아시안게임 경기 진행에 따라 프라임 편성이 유동적으로 바뀔 수 있어, 방송사들이 대형 신규 파일럿보다 가변 편성 대응을 택했다는 분석.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914400" y="3124200"/>
            <a:ext cx="49530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23950" y="3295650"/>
            <a:ext cx="453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언론 보도 ②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123950" y="3581400"/>
            <a:ext cx="4533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아시안게임과 맞물리며 추석 특선영화·특집 프로그램 수가 예년보다 적었고, 특선영화는 SBS·tvN 등으로 집중.</a:t>
            </a:r>
            <a:endParaRPr lang="en-US" sz="1130" dirty="0"/>
          </a:p>
        </p:txBody>
      </p:sp>
      <p:sp>
        <p:nvSpPr>
          <p:cNvPr id="14" name="Shape 11"/>
          <p:cNvSpPr/>
          <p:nvPr/>
        </p:nvSpPr>
        <p:spPr>
          <a:xfrm>
            <a:off x="914400" y="4495800"/>
            <a:ext cx="4953000" cy="1257300"/>
          </a:xfrm>
          <a:prstGeom prst="roundRect">
            <a:avLst>
              <a:gd name="adj" fmla="val 10606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3950" y="4667250"/>
            <a:ext cx="453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내부 실측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123950" y="4953000"/>
            <a:ext cx="4533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중계 있는 시간의 개인2049 시장 +47.2% vs 없는 시간 +19.2%. 저녁 대형 이벤트가 전체 시장 확대를 주도.</a:t>
            </a:r>
            <a:endParaRPr lang="en-US" sz="1130" dirty="0"/>
          </a:p>
        </p:txBody>
      </p:sp>
      <p:sp>
        <p:nvSpPr>
          <p:cNvPr id="17" name="Shape 14"/>
          <p:cNvSpPr/>
          <p:nvPr/>
        </p:nvSpPr>
        <p:spPr>
          <a:xfrm>
            <a:off x="6057900" y="1752600"/>
            <a:ext cx="52197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24600" y="1981200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연휴 주요 ‘시청 이유’가 발생한 시점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524625" y="2619375"/>
            <a:ext cx="19050" cy="259080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0" name="Shape 17"/>
          <p:cNvSpPr/>
          <p:nvPr/>
        </p:nvSpPr>
        <p:spPr>
          <a:xfrm>
            <a:off x="6467475" y="25622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21" name="Shape 18"/>
          <p:cNvSpPr/>
          <p:nvPr/>
        </p:nvSpPr>
        <p:spPr>
          <a:xfrm>
            <a:off x="6781800" y="24955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781800" y="24955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09/24 19:30</a:t>
            </a:r>
            <a:endParaRPr lang="en-US" sz="980" dirty="0"/>
          </a:p>
        </p:txBody>
      </p:sp>
      <p:sp>
        <p:nvSpPr>
          <p:cNvPr id="23" name="Text 20"/>
          <p:cNvSpPr txBox="1"/>
          <p:nvPr/>
        </p:nvSpPr>
        <p:spPr>
          <a:xfrm>
            <a:off x="8096250" y="2495550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KBS2 이승철 3부 연속</a:t>
            </a:r>
            <a:endParaRPr lang="en-US" sz="1280" dirty="0"/>
          </a:p>
        </p:txBody>
      </p:sp>
      <p:sp>
        <p:nvSpPr>
          <p:cNvPr id="24" name="Shape 21"/>
          <p:cNvSpPr/>
          <p:nvPr/>
        </p:nvSpPr>
        <p:spPr>
          <a:xfrm>
            <a:off x="6467475" y="32099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25" name="Shape 22"/>
          <p:cNvSpPr/>
          <p:nvPr/>
        </p:nvSpPr>
        <p:spPr>
          <a:xfrm>
            <a:off x="6781800" y="31432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781800" y="31432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09/25 16:00</a:t>
            </a:r>
            <a:endParaRPr lang="en-US" sz="980" dirty="0"/>
          </a:p>
        </p:txBody>
      </p:sp>
      <p:sp>
        <p:nvSpPr>
          <p:cNvPr id="27" name="Text 24"/>
          <p:cNvSpPr txBox="1"/>
          <p:nvPr/>
        </p:nvSpPr>
        <p:spPr>
          <a:xfrm>
            <a:off x="8096250" y="3143250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여자농구 준결승</a:t>
            </a:r>
            <a:endParaRPr lang="en-US" sz="1280" dirty="0"/>
          </a:p>
        </p:txBody>
      </p:sp>
      <p:sp>
        <p:nvSpPr>
          <p:cNvPr id="28" name="Shape 25"/>
          <p:cNvSpPr/>
          <p:nvPr/>
        </p:nvSpPr>
        <p:spPr>
          <a:xfrm>
            <a:off x="6467475" y="38576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29" name="Shape 26"/>
          <p:cNvSpPr/>
          <p:nvPr/>
        </p:nvSpPr>
        <p:spPr>
          <a:xfrm>
            <a:off x="6781800" y="37909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781800" y="37909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09/25 22:05</a:t>
            </a:r>
            <a:endParaRPr lang="en-US" sz="980" dirty="0"/>
          </a:p>
        </p:txBody>
      </p:sp>
      <p:sp>
        <p:nvSpPr>
          <p:cNvPr id="31" name="Text 28"/>
          <p:cNvSpPr txBox="1"/>
          <p:nvPr/>
        </p:nvSpPr>
        <p:spPr>
          <a:xfrm>
            <a:off x="8096250" y="3790950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남녀 100m 결승</a:t>
            </a:r>
            <a:endParaRPr lang="en-US" sz="1280" dirty="0"/>
          </a:p>
        </p:txBody>
      </p:sp>
      <p:sp>
        <p:nvSpPr>
          <p:cNvPr id="32" name="Shape 29"/>
          <p:cNvSpPr/>
          <p:nvPr/>
        </p:nvSpPr>
        <p:spPr>
          <a:xfrm>
            <a:off x="6467475" y="45053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33" name="Shape 30"/>
          <p:cNvSpPr/>
          <p:nvPr/>
        </p:nvSpPr>
        <p:spPr>
          <a:xfrm>
            <a:off x="6781800" y="44386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781800" y="44386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09/26 19:20</a:t>
            </a:r>
            <a:endParaRPr lang="en-US" sz="980" dirty="0"/>
          </a:p>
        </p:txBody>
      </p:sp>
      <p:sp>
        <p:nvSpPr>
          <p:cNvPr id="35" name="Text 32"/>
          <p:cNvSpPr txBox="1"/>
          <p:nvPr/>
        </p:nvSpPr>
        <p:spPr>
          <a:xfrm>
            <a:off x="8096250" y="4438650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여자농구 결승</a:t>
            </a:r>
            <a:endParaRPr lang="en-US" sz="1280" dirty="0"/>
          </a:p>
        </p:txBody>
      </p:sp>
      <p:sp>
        <p:nvSpPr>
          <p:cNvPr id="36" name="Shape 33"/>
          <p:cNvSpPr/>
          <p:nvPr/>
        </p:nvSpPr>
        <p:spPr>
          <a:xfrm>
            <a:off x="6467475" y="51530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37" name="Shape 34"/>
          <p:cNvSpPr/>
          <p:nvPr/>
        </p:nvSpPr>
        <p:spPr>
          <a:xfrm>
            <a:off x="6781800" y="50863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781800" y="50863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09/27 18:30</a:t>
            </a:r>
            <a:endParaRPr lang="en-US" sz="980" dirty="0"/>
          </a:p>
        </p:txBody>
      </p:sp>
      <p:sp>
        <p:nvSpPr>
          <p:cNvPr id="39" name="Text 36"/>
          <p:cNvSpPr txBox="1"/>
          <p:nvPr/>
        </p:nvSpPr>
        <p:spPr>
          <a:xfrm>
            <a:off x="8096250" y="5086350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야구 금메달 결정전</a:t>
            </a:r>
            <a:endParaRPr lang="en-US" sz="1280" dirty="0"/>
          </a:p>
        </p:txBody>
      </p:sp>
      <p:sp>
        <p:nvSpPr>
          <p:cNvPr id="40" name="Text 37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외부 근거: 이투데이 09/24 · 마이데일리 09/24 · 본문 내부 닐슨 실측 DB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01 · 분석 방법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성과는 ‘절대 시청률’이 아니라 3개 축으로 판단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비교 기준은 ‘직전 3주 같은 요일 실측’이며, 추정·보정값은 사용하지 않음.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52600"/>
            <a:ext cx="3352800" cy="238125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81100" y="1962150"/>
            <a:ext cx="114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01</a:t>
            </a:r>
            <a:endParaRPr lang="en-US" sz="3450" dirty="0"/>
          </a:p>
        </p:txBody>
      </p:sp>
      <p:sp>
        <p:nvSpPr>
          <p:cNvPr id="10" name="Text 7"/>
          <p:cNvSpPr txBox="1"/>
          <p:nvPr/>
        </p:nvSpPr>
        <p:spPr>
          <a:xfrm>
            <a:off x="1181100" y="2590800"/>
            <a:ext cx="2819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닐슨 등위</a:t>
            </a:r>
            <a:endParaRPr lang="en-US" sz="1730" dirty="0"/>
          </a:p>
        </p:txBody>
      </p:sp>
      <p:sp>
        <p:nvSpPr>
          <p:cNvPr id="11" name="Shape 8"/>
          <p:cNvSpPr/>
          <p:nvPr/>
        </p:nvSpPr>
        <p:spPr>
          <a:xfrm>
            <a:off x="1181100" y="2990850"/>
            <a:ext cx="285750" cy="28575"/>
          </a:xfrm>
          <a:prstGeom prst="roundRect">
            <a:avLst>
              <a:gd name="adj" fmla="val 50000"/>
            </a:avLst>
          </a:prstGeom>
          <a:solidFill>
            <a:srgbClr val="CDCB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81100" y="3143250"/>
            <a:ext cx="2819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연휴 4일 평균 등위가 직전 3주 같은 요일 기준보다 개선됐는가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19600" y="1752600"/>
            <a:ext cx="3352800" cy="238125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86300" y="1962150"/>
            <a:ext cx="114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02</a:t>
            </a:r>
            <a:endParaRPr lang="en-US" sz="3450" dirty="0"/>
          </a:p>
        </p:txBody>
      </p:sp>
      <p:sp>
        <p:nvSpPr>
          <p:cNvPr id="15" name="Text 12"/>
          <p:cNvSpPr txBox="1"/>
          <p:nvPr/>
        </p:nvSpPr>
        <p:spPr>
          <a:xfrm>
            <a:off x="4686300" y="2590800"/>
            <a:ext cx="2819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시장 대비</a:t>
            </a:r>
            <a:endParaRPr lang="en-US" sz="1730" dirty="0"/>
          </a:p>
        </p:txBody>
      </p:sp>
      <p:sp>
        <p:nvSpPr>
          <p:cNvPr id="16" name="Shape 13"/>
          <p:cNvSpPr/>
          <p:nvPr/>
        </p:nvSpPr>
        <p:spPr>
          <a:xfrm>
            <a:off x="4686300" y="2990850"/>
            <a:ext cx="285750" cy="28575"/>
          </a:xfrm>
          <a:prstGeom prst="roundRect">
            <a:avLst>
              <a:gd name="adj" fmla="val 50000"/>
            </a:avLst>
          </a:prstGeom>
          <a:solidFill>
            <a:srgbClr val="CDCBF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686300" y="3143250"/>
            <a:ext cx="2819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채널 증감률이 해당 타깃 시장 총 시청량 증가율을 넘어섰는가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24800" y="1752600"/>
            <a:ext cx="3352800" cy="238125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91500" y="1962150"/>
            <a:ext cx="114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03</a:t>
            </a:r>
            <a:endParaRPr lang="en-US" sz="3450" dirty="0"/>
          </a:p>
        </p:txBody>
      </p:sp>
      <p:sp>
        <p:nvSpPr>
          <p:cNvPr id="20" name="Text 17"/>
          <p:cNvSpPr txBox="1"/>
          <p:nvPr/>
        </p:nvSpPr>
        <p:spPr>
          <a:xfrm>
            <a:off x="8191500" y="2590800"/>
            <a:ext cx="2819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시간대 배수</a:t>
            </a:r>
            <a:endParaRPr lang="en-US" sz="1730" dirty="0"/>
          </a:p>
        </p:txBody>
      </p:sp>
      <p:sp>
        <p:nvSpPr>
          <p:cNvPr id="21" name="Shape 18"/>
          <p:cNvSpPr/>
          <p:nvPr/>
        </p:nvSpPr>
        <p:spPr>
          <a:xfrm>
            <a:off x="8191500" y="2990850"/>
            <a:ext cx="285750" cy="28575"/>
          </a:xfrm>
          <a:prstGeom prst="roundRect">
            <a:avLst>
              <a:gd name="adj" fmla="val 50000"/>
            </a:avLst>
          </a:prstGeom>
          <a:solidFill>
            <a:srgbClr val="CDCBF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191500" y="3143250"/>
            <a:ext cx="2819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특집/신규 편성 시청률 ÷ 직전 3주 같은 요일·시간대 실측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14400" y="4362450"/>
            <a:ext cx="10363200" cy="914400"/>
          </a:xfrm>
          <a:prstGeom prst="roundRect">
            <a:avLst>
              <a:gd name="adj" fmla="val 14583"/>
            </a:avLst>
          </a:prstGeom>
          <a:solidFill>
            <a:srgbClr val="F7F7FA"/>
          </a:solidFill>
          <a:ln/>
        </p:spPr>
      </p:sp>
      <p:sp>
        <p:nvSpPr>
          <p:cNvPr id="24" name="Shape 21"/>
          <p:cNvSpPr/>
          <p:nvPr/>
        </p:nvSpPr>
        <p:spPr>
          <a:xfrm>
            <a:off x="1162050" y="4686300"/>
            <a:ext cx="590550" cy="266700"/>
          </a:xfrm>
          <a:prstGeom prst="roundRect">
            <a:avLst>
              <a:gd name="adj" fmla="val 50000"/>
            </a:avLst>
          </a:prstGeom>
          <a:solidFill>
            <a:srgbClr val="D98A1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162050" y="4686300"/>
            <a:ext cx="59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주의</a:t>
            </a:r>
            <a:endParaRPr lang="en-US" sz="980" dirty="0"/>
          </a:p>
        </p:txBody>
      </p:sp>
      <p:sp>
        <p:nvSpPr>
          <p:cNvPr id="26" name="Text 23"/>
          <p:cNvSpPr txBox="1"/>
          <p:nvPr/>
        </p:nvSpPr>
        <p:spPr>
          <a:xfrm>
            <a:off x="1943100" y="4476750"/>
            <a:ext cx="904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아시안게임은 경기 시작시각과 방송사 중계 시작시각을 분리. 동시간대 경쟁에는 방송 편성시각, 이벤트 강도에는 공식 경기시각을 사용.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2026 추석 연휴기간 시청률 분석(확정본) · 닐슨 실측 DB · 분석기간 09/23~09/27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 · 경쟁사 성과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경쟁사에서는 SBS·KBS1·tvN이 각각 다른 방식으로 성과를 만들었다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‘종합 우위’와 ‘특집 자체의 고른 성공’을 분리해 보는 것이 핵심.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14500"/>
          <a:ext cx="10363200" cy="914400"/>
        </p:xfrm>
        <a:graphic>
          <a:graphicData uri="http://schemas.openxmlformats.org/drawingml/2006/table">
            <a:tbl>
              <a:tblPr/>
              <a:tblGrid>
                <a:gridCol w="1036320"/>
                <a:gridCol w="1130531"/>
                <a:gridCol w="1036320"/>
                <a:gridCol w="942109"/>
                <a:gridCol w="1036320"/>
                <a:gridCol w="1224742"/>
                <a:gridCol w="3956858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채널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채널 증감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등위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성공 건수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특집 효과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유형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읽을 포인트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41A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SBS</a:t>
                      </a:r>
                      <a:endParaRPr lang="en-US" sz="12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+87.8%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2→1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2/7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1.98배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한 방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〈왕과 사는 남자〉 3.499가 전체 결과를 견인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41A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KBS1</a:t>
                      </a:r>
                      <a:endParaRPr lang="en-US" sz="12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+169.8%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5→3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2/4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1.25배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단일 이벤트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여자농구 결승 2.734가 채널 상승의 핵심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41A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tvN</a:t>
                      </a:r>
                      <a:endParaRPr lang="en-US" sz="12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+18.2%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6→5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5/5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1.71배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고른 성공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TV 최초 공개 영화 5/5건이 모두 기준 초과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41A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KBS2</a:t>
                      </a:r>
                      <a:endParaRPr lang="en-US" sz="12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+22.8%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5→4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3/6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1.30배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대형 기획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이승철 1부→2부→3부로 회차별 상승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41A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MBC</a:t>
                      </a:r>
                      <a:endParaRPr lang="en-US" sz="12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+6.7%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2→2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0/5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0.37배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중계 의존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중계 비중 최고인데 특집은 0/5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41A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JTBC</a:t>
                      </a:r>
                      <a:endParaRPr lang="en-US" sz="12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+4.8%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7→6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4/5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1.71배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빈자리 효율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심야·낮 영화 재방이 높은 효율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914400" y="5219700"/>
            <a:ext cx="10363200" cy="685800"/>
          </a:xfrm>
          <a:prstGeom prst="roundRect">
            <a:avLst>
              <a:gd name="adj" fmla="val 19444"/>
            </a:avLst>
          </a:prstGeom>
          <a:solidFill>
            <a:srgbClr val="2C24CE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43000" y="5219700"/>
            <a:ext cx="990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종합 판정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SBS = 가장 큰 종합 우위  /  KBS1 = 가장 강한 단일 이벤트  /  tvN = 가장 안정적인 특집 운영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2026 추석 연휴기간 시청률 분석(확정본) · 닐슨 실측 DB · 분석기간 09/23~09/27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 · 경쟁사 사례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SBS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FCFDA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|  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‘중계 → 영화’ 연결로 저녁 시청 수요를 연속 확보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특집 7건 중 성공은 2건이지만, 강한 카드 하나를 정확한 순간에 붙인 것이 전체 우위를 결정.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52600"/>
            <a:ext cx="2476500" cy="1066800"/>
          </a:xfrm>
          <a:prstGeom prst="roundRect">
            <a:avLst>
              <a:gd name="adj" fmla="val 12500"/>
            </a:avLst>
          </a:prstGeom>
          <a:solidFill>
            <a:srgbClr val="2C24C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4900" y="19050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특집 효과</a:t>
            </a:r>
            <a:endParaRPr lang="en-US" sz="980" dirty="0"/>
          </a:p>
        </p:txBody>
      </p:sp>
      <p:sp>
        <p:nvSpPr>
          <p:cNvPr id="10" name="Text 7"/>
          <p:cNvSpPr txBox="1"/>
          <p:nvPr/>
        </p:nvSpPr>
        <p:spPr>
          <a:xfrm>
            <a:off x="1104900" y="211455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1.98배</a:t>
            </a:r>
            <a:endParaRPr lang="en-US" sz="2550" dirty="0"/>
          </a:p>
        </p:txBody>
      </p:sp>
      <p:sp>
        <p:nvSpPr>
          <p:cNvPr id="11" name="Text 8"/>
          <p:cNvSpPr txBox="1"/>
          <p:nvPr/>
        </p:nvSpPr>
        <p:spPr>
          <a:xfrm>
            <a:off x="1104900" y="25146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E7E6FB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평균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3543300" y="1752600"/>
            <a:ext cx="2476500" cy="1066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33800" y="19050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최고 프로그램</a:t>
            </a:r>
            <a:endParaRPr lang="en-US" sz="980" dirty="0"/>
          </a:p>
        </p:txBody>
      </p:sp>
      <p:sp>
        <p:nvSpPr>
          <p:cNvPr id="14" name="Text 11"/>
          <p:cNvSpPr txBox="1"/>
          <p:nvPr/>
        </p:nvSpPr>
        <p:spPr>
          <a:xfrm>
            <a:off x="3733800" y="211455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3.499</a:t>
            </a:r>
            <a:endParaRPr lang="en-US" sz="2550" dirty="0"/>
          </a:p>
        </p:txBody>
      </p:sp>
      <p:sp>
        <p:nvSpPr>
          <p:cNvPr id="15" name="Text 12"/>
          <p:cNvSpPr txBox="1"/>
          <p:nvPr/>
        </p:nvSpPr>
        <p:spPr>
          <a:xfrm>
            <a:off x="3733800" y="25146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〈왕과 사는 남자〉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6172200" y="1752600"/>
            <a:ext cx="2476500" cy="1066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62700" y="19050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프라임 점유율</a:t>
            </a:r>
            <a:endParaRPr lang="en-US" sz="980" dirty="0"/>
          </a:p>
        </p:txBody>
      </p:sp>
      <p:sp>
        <p:nvSpPr>
          <p:cNvPr id="18" name="Text 15"/>
          <p:cNvSpPr txBox="1"/>
          <p:nvPr/>
        </p:nvSpPr>
        <p:spPr>
          <a:xfrm>
            <a:off x="6362700" y="211455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41.2%</a:t>
            </a:r>
            <a:endParaRPr lang="en-US" sz="2550" dirty="0"/>
          </a:p>
        </p:txBody>
      </p:sp>
      <p:sp>
        <p:nvSpPr>
          <p:cNvPr id="19" name="Text 16"/>
          <p:cNvSpPr txBox="1"/>
          <p:nvPr/>
        </p:nvSpPr>
        <p:spPr>
          <a:xfrm>
            <a:off x="6362700" y="25146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09/26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8801100" y="1752600"/>
            <a:ext cx="2476500" cy="1066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991600" y="19050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성공 건수</a:t>
            </a:r>
            <a:endParaRPr lang="en-US" sz="980" dirty="0"/>
          </a:p>
        </p:txBody>
      </p:sp>
      <p:sp>
        <p:nvSpPr>
          <p:cNvPr id="22" name="Text 19"/>
          <p:cNvSpPr txBox="1"/>
          <p:nvPr/>
        </p:nvSpPr>
        <p:spPr>
          <a:xfrm>
            <a:off x="8991600" y="211455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 / 7</a:t>
            </a:r>
            <a:endParaRPr lang="en-US" sz="2550" dirty="0"/>
          </a:p>
        </p:txBody>
      </p:sp>
      <p:sp>
        <p:nvSpPr>
          <p:cNvPr id="23" name="Text 20"/>
          <p:cNvSpPr txBox="1"/>
          <p:nvPr/>
        </p:nvSpPr>
        <p:spPr>
          <a:xfrm>
            <a:off x="8991600" y="251460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특집 기준값 초과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914400" y="3009900"/>
            <a:ext cx="5105400" cy="1962150"/>
          </a:xfrm>
          <a:prstGeom prst="roundRect">
            <a:avLst>
              <a:gd name="adj" fmla="val 6796"/>
            </a:avLst>
          </a:prstGeom>
          <a:solidFill>
            <a:srgbClr val="F7F7F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123950" y="31813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왜 먹혔나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123950" y="3467100"/>
            <a:ext cx="4686300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09/26 아시안게임 야구 중계가 22:22까지 이어진 뒤 22:31 〈왕과 사는 남자〉를 시작.</a:t>
            </a:r>
            <a:endParaRPr lang="en-US" sz="113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당초 21:30 편성이었지만 약 1시간 밀린 상황에서도 전국 가구 11.0%·수도권 11.8% 기록.</a:t>
            </a:r>
            <a:endParaRPr lang="en-US" sz="113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외부 기사에서도 연휴 전체 방송 프로그램 1위로 확인.</a:t>
            </a:r>
            <a:endParaRPr lang="en-US" sz="1130" dirty="0"/>
          </a:p>
        </p:txBody>
      </p:sp>
      <p:sp>
        <p:nvSpPr>
          <p:cNvPr id="27" name="Shape 24"/>
          <p:cNvSpPr/>
          <p:nvPr/>
        </p:nvSpPr>
        <p:spPr>
          <a:xfrm>
            <a:off x="6172200" y="3009900"/>
            <a:ext cx="5105400" cy="1962150"/>
          </a:xfrm>
          <a:prstGeom prst="roundRect">
            <a:avLst>
              <a:gd name="adj" fmla="val 6796"/>
            </a:avLst>
          </a:prstGeom>
          <a:solidFill>
            <a:srgbClr val="F7F7F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381750" y="31813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인사이트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6381750" y="3467100"/>
            <a:ext cx="4686300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중계와 영화를 경쟁시킨 것이 아니라, 중계가 모은 시청 수요를 후속 콘텐츠가 받아가는 구조.</a:t>
            </a:r>
            <a:endParaRPr lang="en-US" sz="113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반대로 〈이은결 매직콘서트〉는 0.75~0.78배로 기준 미달.</a:t>
            </a:r>
            <a:endParaRPr lang="en-US" sz="113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‘대형 특집이면 모두 성공’이 아니라 카드의 힘과 연결 타이밍이 핵심.</a:t>
            </a:r>
            <a:endParaRPr lang="en-US" sz="1130" dirty="0"/>
          </a:p>
        </p:txBody>
      </p:sp>
      <p:sp>
        <p:nvSpPr>
          <p:cNvPr id="30" name="Shape 27"/>
          <p:cNvSpPr/>
          <p:nvPr/>
        </p:nvSpPr>
        <p:spPr>
          <a:xfrm>
            <a:off x="914400" y="5162550"/>
            <a:ext cx="10363200" cy="742950"/>
          </a:xfrm>
          <a:prstGeom prst="roundRect">
            <a:avLst>
              <a:gd name="adj" fmla="val 17949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143000" y="5162550"/>
            <a:ext cx="9906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수급 관점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명절 영화는 ‘최신·화제성·TV 첫 공개’가 확보된 작품을 강한 슬롯의 후속 카드로 설계할 가치가 큼.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외부 근거: 이데일리 09/27 ‘왕과 사는 남자’ · 이투데이 09/24 특선영화 편성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07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 · 경쟁사 사례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KBS1·KBS2·MBC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FCFDA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|  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‘이벤트 강도’와 ‘특집 성과’를 분리해야 한다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채널이 올랐다고 특집이 잘된 것은 아니며, 반대로 특집이 잘돼도 채널 전체가 상승하지 않을 수 있음.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52600"/>
            <a:ext cx="3352800" cy="354330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81100" y="17526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81100" y="20383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KBS1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1181100" y="2476500"/>
            <a:ext cx="1676400" cy="26670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81100" y="247650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채널 상승폭 1위</a:t>
            </a:r>
            <a:endParaRPr lang="en-US" sz="980" dirty="0"/>
          </a:p>
        </p:txBody>
      </p:sp>
      <p:sp>
        <p:nvSpPr>
          <p:cNvPr id="13" name="Text 10"/>
          <p:cNvSpPr txBox="1"/>
          <p:nvPr/>
        </p:nvSpPr>
        <p:spPr>
          <a:xfrm>
            <a:off x="1181100" y="2952750"/>
            <a:ext cx="2819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+169.8%</a:t>
            </a:r>
            <a:endParaRPr lang="en-US" sz="3750" dirty="0"/>
          </a:p>
        </p:txBody>
      </p:sp>
      <p:sp>
        <p:nvSpPr>
          <p:cNvPr id="14" name="Text 11"/>
          <p:cNvSpPr txBox="1"/>
          <p:nvPr/>
        </p:nvSpPr>
        <p:spPr>
          <a:xfrm>
            <a:off x="1181100" y="3638550"/>
            <a:ext cx="281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여자농구 결승 2.734</a:t>
            </a:r>
            <a:endParaRPr lang="en-US" sz="1430" dirty="0"/>
          </a:p>
        </p:txBody>
      </p:sp>
      <p:sp>
        <p:nvSpPr>
          <p:cNvPr id="15" name="Text 12"/>
          <p:cNvSpPr txBox="1"/>
          <p:nvPr/>
        </p:nvSpPr>
        <p:spPr>
          <a:xfrm>
            <a:off x="1181100" y="3943350"/>
            <a:ext cx="2819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특집 평균 0.123</a:t>
            </a:r>
            <a:endParaRPr lang="en-US" sz="1130" dirty="0"/>
          </a:p>
        </p:txBody>
      </p:sp>
      <p:sp>
        <p:nvSpPr>
          <p:cNvPr id="16" name="Shape 13"/>
          <p:cNvSpPr/>
          <p:nvPr/>
        </p:nvSpPr>
        <p:spPr>
          <a:xfrm>
            <a:off x="1181100" y="4362450"/>
            <a:ext cx="2819400" cy="952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81100" y="4533900"/>
            <a:ext cx="2819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결승이라는 이벤트가 채널을 끌어올림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19600" y="1752600"/>
            <a:ext cx="3352800" cy="354330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86300" y="17526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686300" y="20383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KBS2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4686300" y="2476500"/>
            <a:ext cx="1371600" cy="26670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86300" y="247650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대형 단독기획</a:t>
            </a:r>
            <a:endParaRPr lang="en-US" sz="980" dirty="0"/>
          </a:p>
        </p:txBody>
      </p:sp>
      <p:sp>
        <p:nvSpPr>
          <p:cNvPr id="23" name="Text 20"/>
          <p:cNvSpPr txBox="1"/>
          <p:nvPr/>
        </p:nvSpPr>
        <p:spPr>
          <a:xfrm>
            <a:off x="4686300" y="2952750"/>
            <a:ext cx="2819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+22.8%</a:t>
            </a:r>
            <a:endParaRPr lang="en-US" sz="3750" dirty="0"/>
          </a:p>
        </p:txBody>
      </p:sp>
      <p:sp>
        <p:nvSpPr>
          <p:cNvPr id="24" name="Text 21"/>
          <p:cNvSpPr txBox="1"/>
          <p:nvPr/>
        </p:nvSpPr>
        <p:spPr>
          <a:xfrm>
            <a:off x="4686300" y="3638550"/>
            <a:ext cx="281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이승철 3부 1.047</a:t>
            </a:r>
            <a:endParaRPr lang="en-US" sz="1430" dirty="0"/>
          </a:p>
        </p:txBody>
      </p:sp>
      <p:sp>
        <p:nvSpPr>
          <p:cNvPr id="25" name="Text 22"/>
          <p:cNvSpPr txBox="1"/>
          <p:nvPr/>
        </p:nvSpPr>
        <p:spPr>
          <a:xfrm>
            <a:off x="4686300" y="3943350"/>
            <a:ext cx="2819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1.30배</a:t>
            </a:r>
            <a:endParaRPr lang="en-US" sz="1130" dirty="0"/>
          </a:p>
        </p:txBody>
      </p:sp>
      <p:sp>
        <p:nvSpPr>
          <p:cNvPr id="26" name="Shape 23"/>
          <p:cNvSpPr/>
          <p:nvPr/>
        </p:nvSpPr>
        <p:spPr>
          <a:xfrm>
            <a:off x="4686300" y="4362450"/>
            <a:ext cx="2819400" cy="952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686300" y="4533900"/>
            <a:ext cx="2819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1부 0.476 → 2부 1.007 → 3부 1.047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24800" y="1752600"/>
            <a:ext cx="3352800" cy="354330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91500" y="17526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191500" y="20383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MBC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8191500" y="2476500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191500" y="24765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중계 비중 최고</a:t>
            </a:r>
            <a:endParaRPr lang="en-US" sz="980" dirty="0"/>
          </a:p>
        </p:txBody>
      </p:sp>
      <p:sp>
        <p:nvSpPr>
          <p:cNvPr id="33" name="Text 30"/>
          <p:cNvSpPr txBox="1"/>
          <p:nvPr/>
        </p:nvSpPr>
        <p:spPr>
          <a:xfrm>
            <a:off x="8191500" y="2952750"/>
            <a:ext cx="2819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69.4%</a:t>
            </a:r>
            <a:endParaRPr lang="en-US" sz="3750" dirty="0"/>
          </a:p>
        </p:txBody>
      </p:sp>
      <p:sp>
        <p:nvSpPr>
          <p:cNvPr id="34" name="Text 31"/>
          <p:cNvSpPr txBox="1"/>
          <p:nvPr/>
        </p:nvSpPr>
        <p:spPr>
          <a:xfrm>
            <a:off x="8191500" y="3638550"/>
            <a:ext cx="281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중계 평균 0.829</a:t>
            </a:r>
            <a:endParaRPr lang="en-US" sz="1430" dirty="0"/>
          </a:p>
        </p:txBody>
      </p:sp>
      <p:sp>
        <p:nvSpPr>
          <p:cNvPr id="35" name="Text 32"/>
          <p:cNvSpPr txBox="1"/>
          <p:nvPr/>
        </p:nvSpPr>
        <p:spPr>
          <a:xfrm>
            <a:off x="8191500" y="3943350"/>
            <a:ext cx="2819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특집 0/5</a:t>
            </a:r>
            <a:endParaRPr lang="en-US" sz="1130" dirty="0"/>
          </a:p>
        </p:txBody>
      </p:sp>
      <p:sp>
        <p:nvSpPr>
          <p:cNvPr id="36" name="Shape 33"/>
          <p:cNvSpPr/>
          <p:nvPr/>
        </p:nvSpPr>
        <p:spPr>
          <a:xfrm>
            <a:off x="8191500" y="4362450"/>
            <a:ext cx="2819400" cy="952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191500" y="4533900"/>
            <a:ext cx="2819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중계가 연휴 성적을 만들었지만 특집은 기준 미달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근거: 본문 닐슨 실측 DB · 외부 공표 여자농구 결승 전국 10.0%, KBS2 남자축구 8강 전국 6.3%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08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 · 경쟁사 사례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tvN·JTBC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FCFDA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|  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‘고르게 잘한 편성’과 ‘빈자리 효율’의 차이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다음 명절에 벤치마킹할 수 있는 건 ‘채널 체급’보다 운영 방식.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52600"/>
            <a:ext cx="5105400" cy="1428750"/>
          </a:xfrm>
          <a:prstGeom prst="roundRect">
            <a:avLst>
              <a:gd name="adj" fmla="val 9333"/>
            </a:avLst>
          </a:prstGeom>
          <a:solidFill>
            <a:srgbClr val="F7F7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23950" y="19240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tvN  ·  5/5건 성공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123950" y="2209800"/>
            <a:ext cx="4686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TV 최초 공개 영화 5편이 모두 직전 3주 같은 요일·시간대 실측 대비 1.00배 이상.</a:t>
            </a:r>
            <a:endParaRPr lang="en-US" sz="113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〈닥터 스트레인지 2〉는 3.18배·3.43배.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914400" y="3333750"/>
            <a:ext cx="5105400" cy="1428750"/>
          </a:xfrm>
          <a:prstGeom prst="roundRect">
            <a:avLst>
              <a:gd name="adj" fmla="val 9333"/>
            </a:avLst>
          </a:prstGeom>
          <a:solidFill>
            <a:srgbClr val="F7F7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23950" y="350520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tvN  ·  한계도 분명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123950" y="3790950"/>
            <a:ext cx="4686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특집은 고르게 작동했지만 채널 등위는 3→4위로 하락.</a:t>
            </a:r>
            <a:endParaRPr lang="en-US" sz="113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‘모든 카드가 잘됨’과 ‘시장 우위 확보’는 다른 문제.</a:t>
            </a:r>
            <a:endParaRPr lang="en-US" sz="1130" dirty="0"/>
          </a:p>
        </p:txBody>
      </p:sp>
      <p:sp>
        <p:nvSpPr>
          <p:cNvPr id="14" name="Shape 11"/>
          <p:cNvSpPr/>
          <p:nvPr/>
        </p:nvSpPr>
        <p:spPr>
          <a:xfrm>
            <a:off x="6172200" y="1752600"/>
            <a:ext cx="5105400" cy="1428750"/>
          </a:xfrm>
          <a:prstGeom prst="roundRect">
            <a:avLst>
              <a:gd name="adj" fmla="val 9333"/>
            </a:avLst>
          </a:prstGeom>
          <a:solidFill>
            <a:srgbClr val="F7F7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81750" y="19240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JTBC  ·  4/5건 성공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381750" y="2209800"/>
            <a:ext cx="4686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〈헌트〉 재방 3.36배, 〈빅토리〉 2.54배, 〈톡파원25시〉 재방 1.68배.</a:t>
            </a:r>
            <a:endParaRPr lang="en-US" sz="113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절대값보다 빈 슬롯을 메운 효율이 높았음.</a:t>
            </a:r>
            <a:endParaRPr lang="en-US" sz="1130" dirty="0"/>
          </a:p>
        </p:txBody>
      </p:sp>
      <p:sp>
        <p:nvSpPr>
          <p:cNvPr id="17" name="Shape 14"/>
          <p:cNvSpPr/>
          <p:nvPr/>
        </p:nvSpPr>
        <p:spPr>
          <a:xfrm>
            <a:off x="6172200" y="3333750"/>
            <a:ext cx="5105400" cy="1428750"/>
          </a:xfrm>
          <a:prstGeom prst="roundRect">
            <a:avLst>
              <a:gd name="adj" fmla="val 9333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81750" y="350520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수급 인사이트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381750" y="3790950"/>
            <a:ext cx="4686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명절에 반드시 새 콘텐츠만 필요한 것은 아님.</a:t>
            </a:r>
            <a:endParaRPr lang="en-US" sz="1130" dirty="0"/>
          </a:p>
          <a:p>
            <a:pPr algn="l" marL="165100" indent="-165100">
              <a:lnSpc>
                <a:spcPct val="145000"/>
              </a:lnSpc>
              <a:spcAft>
                <a:spcPts val="600"/>
              </a:spcAft>
              <a:buSzPct val="100000"/>
              <a:buChar char="▪"/>
            </a:pPr>
            <a:r>
              <a:rPr lang="en-US" sz="113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‘장르·IP 적합도 + 비어 있는 시간대’가 맞으면 재방도 충분히 역할 가능.</a:t>
            </a:r>
            <a:endParaRPr lang="en-US" sz="1130" dirty="0"/>
          </a:p>
        </p:txBody>
      </p:sp>
      <p:sp>
        <p:nvSpPr>
          <p:cNvPr id="20" name="Shape 17"/>
          <p:cNvSpPr/>
          <p:nvPr/>
        </p:nvSpPr>
        <p:spPr>
          <a:xfrm>
            <a:off x="914400" y="4991100"/>
            <a:ext cx="10363200" cy="723900"/>
          </a:xfrm>
          <a:prstGeom prst="roundRect">
            <a:avLst>
              <a:gd name="adj" fmla="val 18421"/>
            </a:avLst>
          </a:prstGeom>
          <a:solidFill>
            <a:srgbClr val="2C24C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43000" y="4991100"/>
            <a:ext cx="9906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tvN은 ‘일관성’, JTBC는 ‘빈자리 효율’. 당사는 두 모델을 채널별로 조합할 필요가 있음.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2026 추석 연휴기간 시청률 분석(확정본) · 닐슨 실측 DB · 분석기간 09/23~09/27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09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 · 장르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명절 장르만 보면 ‘특선영화 &gt; 공연·음악 &gt; 예능·드라마 &gt; 교양·다큐’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단, 영화도 작품별 편차가 크므로 ‘영화 장르 = 성공’으로 해석하면 안 됨.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52600"/>
            <a:ext cx="2476500" cy="2552700"/>
          </a:xfrm>
          <a:prstGeom prst="roundRect">
            <a:avLst>
              <a:gd name="adj" fmla="val 5385"/>
            </a:avLst>
          </a:prstGeom>
          <a:solidFill>
            <a:srgbClr val="2C24C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43000" y="1962150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특선영화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343150"/>
            <a:ext cx="2019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1.015</a:t>
            </a:r>
            <a:endParaRPr lang="en-US" sz="345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2876550"/>
            <a:ext cx="2019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평균 시청률</a:t>
            </a:r>
            <a:endParaRPr lang="en-US" sz="98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3276600"/>
            <a:ext cx="2019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1.93배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143000" y="3714750"/>
            <a:ext cx="2019300" cy="76200"/>
          </a:xfrm>
          <a:prstGeom prst="roundRect">
            <a:avLst>
              <a:gd name="adj" fmla="val 50000"/>
            </a:avLst>
          </a:prstGeom>
          <a:solidFill>
            <a:srgbClr val="6F69E2"/>
          </a:solidFill>
          <a:ln/>
        </p:spPr>
      </p:sp>
      <p:sp>
        <p:nvSpPr>
          <p:cNvPr id="14" name="Shape 11"/>
          <p:cNvSpPr/>
          <p:nvPr/>
        </p:nvSpPr>
        <p:spPr>
          <a:xfrm>
            <a:off x="1143000" y="3714750"/>
            <a:ext cx="1795967" cy="76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43000" y="3905250"/>
            <a:ext cx="2019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7E6FB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직전 3주 같은 요일·시간대 실측 대비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543300" y="1752600"/>
            <a:ext cx="2476500" cy="255270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771900" y="1962150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공연·음악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3771900" y="2343150"/>
            <a:ext cx="2019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0.580</a:t>
            </a:r>
            <a:endParaRPr lang="en-US" sz="3450" dirty="0"/>
          </a:p>
        </p:txBody>
      </p:sp>
      <p:sp>
        <p:nvSpPr>
          <p:cNvPr id="19" name="Text 16"/>
          <p:cNvSpPr txBox="1"/>
          <p:nvPr/>
        </p:nvSpPr>
        <p:spPr>
          <a:xfrm>
            <a:off x="3771900" y="2876550"/>
            <a:ext cx="2019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평균 시청률</a:t>
            </a:r>
            <a:endParaRPr lang="en-US" sz="980" dirty="0"/>
          </a:p>
        </p:txBody>
      </p:sp>
      <p:sp>
        <p:nvSpPr>
          <p:cNvPr id="20" name="Text 17"/>
          <p:cNvSpPr txBox="1"/>
          <p:nvPr/>
        </p:nvSpPr>
        <p:spPr>
          <a:xfrm>
            <a:off x="3771900" y="3276600"/>
            <a:ext cx="2019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2.17배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3771900" y="3714750"/>
            <a:ext cx="2019300" cy="762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22" name="Shape 19"/>
          <p:cNvSpPr/>
          <p:nvPr/>
        </p:nvSpPr>
        <p:spPr>
          <a:xfrm>
            <a:off x="3771900" y="3714750"/>
            <a:ext cx="2019300" cy="762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771900" y="3905250"/>
            <a:ext cx="2019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직전 3주 같은 요일·시간대 실측 대비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172200" y="1752600"/>
            <a:ext cx="2476500" cy="255270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0" y="1962150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예능·드라마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6400800" y="2343150"/>
            <a:ext cx="2019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0.298</a:t>
            </a:r>
            <a:endParaRPr lang="en-US" sz="345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876550"/>
            <a:ext cx="2019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평균 시청률</a:t>
            </a:r>
            <a:endParaRPr lang="en-US" sz="980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3276600"/>
            <a:ext cx="2019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1.19배</a:t>
            </a:r>
            <a:endParaRPr lang="en-US" sz="2250" dirty="0"/>
          </a:p>
        </p:txBody>
      </p:sp>
      <p:sp>
        <p:nvSpPr>
          <p:cNvPr id="29" name="Shape 26"/>
          <p:cNvSpPr/>
          <p:nvPr/>
        </p:nvSpPr>
        <p:spPr>
          <a:xfrm>
            <a:off x="6400800" y="3714750"/>
            <a:ext cx="2019300" cy="762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30" name="Shape 27"/>
          <p:cNvSpPr/>
          <p:nvPr/>
        </p:nvSpPr>
        <p:spPr>
          <a:xfrm>
            <a:off x="6400800" y="3714750"/>
            <a:ext cx="1107358" cy="762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400800" y="3905250"/>
            <a:ext cx="2019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직전 3주 같은 요일·시간대 실측 대비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8801100" y="1752600"/>
            <a:ext cx="2476500" cy="255270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029700" y="1962150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교양·다큐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9029700" y="2343150"/>
            <a:ext cx="2019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0.019</a:t>
            </a:r>
            <a:endParaRPr lang="en-US" sz="3450" dirty="0"/>
          </a:p>
        </p:txBody>
      </p:sp>
      <p:sp>
        <p:nvSpPr>
          <p:cNvPr id="35" name="Text 32"/>
          <p:cNvSpPr txBox="1"/>
          <p:nvPr/>
        </p:nvSpPr>
        <p:spPr>
          <a:xfrm>
            <a:off x="9029700" y="2876550"/>
            <a:ext cx="2019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평균 시청률</a:t>
            </a:r>
            <a:endParaRPr lang="en-US" sz="980" dirty="0"/>
          </a:p>
        </p:txBody>
      </p:sp>
      <p:sp>
        <p:nvSpPr>
          <p:cNvPr id="36" name="Text 33"/>
          <p:cNvSpPr txBox="1"/>
          <p:nvPr/>
        </p:nvSpPr>
        <p:spPr>
          <a:xfrm>
            <a:off x="9029700" y="3276600"/>
            <a:ext cx="2019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0.13배</a:t>
            </a:r>
            <a:endParaRPr lang="en-US" sz="2250" dirty="0"/>
          </a:p>
        </p:txBody>
      </p:sp>
      <p:sp>
        <p:nvSpPr>
          <p:cNvPr id="37" name="Shape 34"/>
          <p:cNvSpPr/>
          <p:nvPr/>
        </p:nvSpPr>
        <p:spPr>
          <a:xfrm>
            <a:off x="9029700" y="3714750"/>
            <a:ext cx="2019300" cy="762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38" name="Shape 35"/>
          <p:cNvSpPr/>
          <p:nvPr/>
        </p:nvSpPr>
        <p:spPr>
          <a:xfrm>
            <a:off x="9029700" y="3714750"/>
            <a:ext cx="120972" cy="76200"/>
          </a:xfrm>
          <a:prstGeom prst="roundRect">
            <a:avLst>
              <a:gd name="adj" fmla="val 50000"/>
            </a:avLst>
          </a:prstGeom>
          <a:solidFill>
            <a:srgbClr val="D63B3B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9029700" y="3905250"/>
            <a:ext cx="2019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직전 3주 같은 요일·시간대 실측 대비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914400" y="453390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143000" y="45339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당사 해석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Play 영화 2편의 저성과를 ‘명절에 영화가 안 통했다’고 해석해서는 안 됨. 시장 전체에서 영화가 가장 강한 장르였음.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2026 추석 연휴기간 시청률 분석(확정본) · 닐슨 실측 DB · 분석기간 09/23~09/27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10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 · 영화 수급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영화 성과를 가른 것은 ‘작품명’보다 채널·슬롯·최신성의 조합이었다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이번 표본만으로 TV 최초 공개 효과를 인과로 단정할 수는 없지만, 수급 기준은 바꿀 필요가 있음.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14500"/>
          <a:ext cx="10363200" cy="914400"/>
        </p:xfrm>
        <a:graphic>
          <a:graphicData uri="http://schemas.openxmlformats.org/drawingml/2006/table">
            <a:tbl>
              <a:tblPr/>
              <a:tblGrid>
                <a:gridCol w="2315183"/>
                <a:gridCol w="1433209"/>
                <a:gridCol w="881974"/>
                <a:gridCol w="1102468"/>
                <a:gridCol w="1212715"/>
                <a:gridCol w="992221"/>
                <a:gridCol w="2425430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작품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채널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연도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시청률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채널 대비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시각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특징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왕과 사는 남자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SBS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2026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3.499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4.45배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22:31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TV 첫 공개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닥터 스트레인지 2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tvN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2022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1.262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3.05배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22:11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TV 첫 공개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어쩔수가없다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tvN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2025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0.618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1.49배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22:20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TV 첫 공개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도굴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2020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0.220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1.95배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11:12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구작 · 오전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아이 캔 스피크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 Play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2017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0.006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0.23배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14:31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구작 · 오후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검은 사제들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 Play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2015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0.003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0.12배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06:55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구작 · 새벽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914400" y="47625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옅은 파란 행 = 당사 채널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914400" y="5048250"/>
            <a:ext cx="10363200" cy="857250"/>
          </a:xfrm>
          <a:prstGeom prst="roundRect">
            <a:avLst>
              <a:gd name="adj" fmla="val 15556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143000" y="5048250"/>
            <a:ext cx="9906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수급 기준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① TV 최초 공개 가능 여부  ② 개봉 후 경과기간  ③ 우리 채널 체급 대비 과거 편성 성과  ④ 시간대 적합도 순으로 평가. ‘누적 관객수’ 단독 판단은 배제.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근거: 본문 특선영화 12편 비교 · 단, 채널과 공개방식이 완전히 겹쳐 인과효과는 분리 불가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11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 · 아시안게임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아시안게임은 ‘강한 종목 + 강한 라운드 + 저녁’에서 폭발했다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외부 공표 전국 가구 기준을 내부 개인2049 데이터와 분리해 읽음.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171450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종목</a:t>
            </a:r>
            <a:endParaRPr lang="en-US" sz="940" dirty="0"/>
          </a:p>
        </p:txBody>
      </p:sp>
      <p:sp>
        <p:nvSpPr>
          <p:cNvPr id="9" name="Text 6"/>
          <p:cNvSpPr txBox="1"/>
          <p:nvPr/>
        </p:nvSpPr>
        <p:spPr>
          <a:xfrm>
            <a:off x="2762250" y="17145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전국 가구 시청률</a:t>
            </a:r>
            <a:endParaRPr lang="en-US" sz="94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17145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940" dirty="0"/>
          </a:p>
        </p:txBody>
      </p:sp>
      <p:sp>
        <p:nvSpPr>
          <p:cNvPr id="11" name="Text 8"/>
          <p:cNvSpPr txBox="1"/>
          <p:nvPr/>
        </p:nvSpPr>
        <p:spPr>
          <a:xfrm>
            <a:off x="7715250" y="171450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순간 최고</a:t>
            </a:r>
            <a:endParaRPr lang="en-US" sz="940" dirty="0"/>
          </a:p>
        </p:txBody>
      </p:sp>
      <p:sp>
        <p:nvSpPr>
          <p:cNvPr id="12" name="Text 9"/>
          <p:cNvSpPr txBox="1"/>
          <p:nvPr/>
        </p:nvSpPr>
        <p:spPr>
          <a:xfrm>
            <a:off x="8667750" y="171450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방송 시각</a:t>
            </a:r>
            <a:endParaRPr lang="en-US" sz="940" dirty="0"/>
          </a:p>
        </p:txBody>
      </p:sp>
      <p:sp>
        <p:nvSpPr>
          <p:cNvPr id="13" name="Text 10"/>
          <p:cNvSpPr txBox="1"/>
          <p:nvPr/>
        </p:nvSpPr>
        <p:spPr>
          <a:xfrm>
            <a:off x="10287000" y="171450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채널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914400" y="1962150"/>
            <a:ext cx="10363200" cy="11430"/>
          </a:xfrm>
          <a:prstGeom prst="rect">
            <a:avLst/>
          </a:prstGeom>
          <a:solidFill>
            <a:srgbClr val="CFCFD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2076450"/>
            <a:ext cx="1809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여자농구 결승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62250" y="2171700"/>
            <a:ext cx="3810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17" name="Shape 14"/>
          <p:cNvSpPr/>
          <p:nvPr/>
        </p:nvSpPr>
        <p:spPr>
          <a:xfrm>
            <a:off x="2762250" y="2171700"/>
            <a:ext cx="3810000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762750" y="207645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10.0%</a:t>
            </a:r>
            <a:endParaRPr lang="en-US" sz="1280" dirty="0"/>
          </a:p>
        </p:txBody>
      </p:sp>
      <p:sp>
        <p:nvSpPr>
          <p:cNvPr id="19" name="Text 16"/>
          <p:cNvSpPr txBox="1"/>
          <p:nvPr/>
        </p:nvSpPr>
        <p:spPr>
          <a:xfrm>
            <a:off x="7715250" y="207645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D3D49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19.3%</a:t>
            </a:r>
            <a:endParaRPr lang="en-US" sz="1130" dirty="0"/>
          </a:p>
        </p:txBody>
      </p:sp>
      <p:sp>
        <p:nvSpPr>
          <p:cNvPr id="20" name="Text 17"/>
          <p:cNvSpPr txBox="1"/>
          <p:nvPr/>
        </p:nvSpPr>
        <p:spPr>
          <a:xfrm>
            <a:off x="8667750" y="20764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09/26 19:20</a:t>
            </a:r>
            <a:endParaRPr lang="en-US" sz="1130" dirty="0"/>
          </a:p>
        </p:txBody>
      </p:sp>
      <p:sp>
        <p:nvSpPr>
          <p:cNvPr id="21" name="Text 18"/>
          <p:cNvSpPr txBox="1"/>
          <p:nvPr/>
        </p:nvSpPr>
        <p:spPr>
          <a:xfrm>
            <a:off x="10287000" y="20764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KBS1</a:t>
            </a:r>
            <a:endParaRPr lang="en-US" sz="1130" dirty="0"/>
          </a:p>
        </p:txBody>
      </p:sp>
      <p:sp>
        <p:nvSpPr>
          <p:cNvPr id="22" name="Shape 19"/>
          <p:cNvSpPr/>
          <p:nvPr/>
        </p:nvSpPr>
        <p:spPr>
          <a:xfrm>
            <a:off x="914400" y="2486025"/>
            <a:ext cx="10363200" cy="7144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14400" y="2552700"/>
            <a:ext cx="1809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남자축구 8강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762250" y="2647950"/>
            <a:ext cx="3810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25" name="Shape 22"/>
          <p:cNvSpPr/>
          <p:nvPr/>
        </p:nvSpPr>
        <p:spPr>
          <a:xfrm>
            <a:off x="2762250" y="2647950"/>
            <a:ext cx="2400300" cy="114300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762750" y="25527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6.3%</a:t>
            </a:r>
            <a:endParaRPr lang="en-US" sz="1280" dirty="0"/>
          </a:p>
        </p:txBody>
      </p:sp>
      <p:sp>
        <p:nvSpPr>
          <p:cNvPr id="27" name="Text 24"/>
          <p:cNvSpPr txBox="1"/>
          <p:nvPr/>
        </p:nvSpPr>
        <p:spPr>
          <a:xfrm>
            <a:off x="7715250" y="25527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D3D49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7.8%</a:t>
            </a:r>
            <a:endParaRPr lang="en-US" sz="1130" dirty="0"/>
          </a:p>
        </p:txBody>
      </p:sp>
      <p:sp>
        <p:nvSpPr>
          <p:cNvPr id="28" name="Text 25"/>
          <p:cNvSpPr txBox="1"/>
          <p:nvPr/>
        </p:nvSpPr>
        <p:spPr>
          <a:xfrm>
            <a:off x="8667750" y="25527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09/25 저녁</a:t>
            </a:r>
            <a:endParaRPr lang="en-US" sz="1130" dirty="0"/>
          </a:p>
        </p:txBody>
      </p:sp>
      <p:sp>
        <p:nvSpPr>
          <p:cNvPr id="29" name="Text 26"/>
          <p:cNvSpPr txBox="1"/>
          <p:nvPr/>
        </p:nvSpPr>
        <p:spPr>
          <a:xfrm>
            <a:off x="10287000" y="255270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KBS2</a:t>
            </a:r>
            <a:endParaRPr lang="en-US" sz="1130" dirty="0"/>
          </a:p>
        </p:txBody>
      </p:sp>
      <p:sp>
        <p:nvSpPr>
          <p:cNvPr id="30" name="Shape 27"/>
          <p:cNvSpPr/>
          <p:nvPr/>
        </p:nvSpPr>
        <p:spPr>
          <a:xfrm>
            <a:off x="914400" y="2962275"/>
            <a:ext cx="10363200" cy="7144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14400" y="3028950"/>
            <a:ext cx="1809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육상 100m 결승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762250" y="3124200"/>
            <a:ext cx="3810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33" name="Shape 30"/>
          <p:cNvSpPr/>
          <p:nvPr/>
        </p:nvSpPr>
        <p:spPr>
          <a:xfrm>
            <a:off x="2762250" y="3124200"/>
            <a:ext cx="2095500" cy="114300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762750" y="302895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5.5%</a:t>
            </a:r>
            <a:endParaRPr lang="en-US" sz="1280" dirty="0"/>
          </a:p>
        </p:txBody>
      </p:sp>
      <p:sp>
        <p:nvSpPr>
          <p:cNvPr id="35" name="Text 32"/>
          <p:cNvSpPr txBox="1"/>
          <p:nvPr/>
        </p:nvSpPr>
        <p:spPr>
          <a:xfrm>
            <a:off x="7715250" y="302895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CFCFD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—</a:t>
            </a:r>
            <a:endParaRPr lang="en-US" sz="1130" dirty="0"/>
          </a:p>
        </p:txBody>
      </p:sp>
      <p:sp>
        <p:nvSpPr>
          <p:cNvPr id="36" name="Text 33"/>
          <p:cNvSpPr txBox="1"/>
          <p:nvPr/>
        </p:nvSpPr>
        <p:spPr>
          <a:xfrm>
            <a:off x="8667750" y="30289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09/25 22:05</a:t>
            </a:r>
            <a:endParaRPr lang="en-US" sz="1130" dirty="0"/>
          </a:p>
        </p:txBody>
      </p:sp>
      <p:sp>
        <p:nvSpPr>
          <p:cNvPr id="37" name="Text 34"/>
          <p:cNvSpPr txBox="1"/>
          <p:nvPr/>
        </p:nvSpPr>
        <p:spPr>
          <a:xfrm>
            <a:off x="10287000" y="30289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MBC</a:t>
            </a:r>
            <a:endParaRPr lang="en-US" sz="1130" dirty="0"/>
          </a:p>
        </p:txBody>
      </p:sp>
      <p:sp>
        <p:nvSpPr>
          <p:cNvPr id="38" name="Shape 35"/>
          <p:cNvSpPr/>
          <p:nvPr/>
        </p:nvSpPr>
        <p:spPr>
          <a:xfrm>
            <a:off x="914400" y="3438525"/>
            <a:ext cx="10363200" cy="7144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914400" y="3505200"/>
            <a:ext cx="1809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야구 한국-중국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2762250" y="3600450"/>
            <a:ext cx="3810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41" name="Shape 38"/>
          <p:cNvSpPr/>
          <p:nvPr/>
        </p:nvSpPr>
        <p:spPr>
          <a:xfrm>
            <a:off x="2762250" y="3600450"/>
            <a:ext cx="1638300" cy="114300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6762750" y="35052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4.3%</a:t>
            </a:r>
            <a:endParaRPr lang="en-US" sz="1280" dirty="0"/>
          </a:p>
        </p:txBody>
      </p:sp>
      <p:sp>
        <p:nvSpPr>
          <p:cNvPr id="43" name="Text 40"/>
          <p:cNvSpPr txBox="1"/>
          <p:nvPr/>
        </p:nvSpPr>
        <p:spPr>
          <a:xfrm>
            <a:off x="7715250" y="35052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CFCFD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—</a:t>
            </a:r>
            <a:endParaRPr lang="en-US" sz="1130" dirty="0"/>
          </a:p>
        </p:txBody>
      </p:sp>
      <p:sp>
        <p:nvSpPr>
          <p:cNvPr id="44" name="Text 41"/>
          <p:cNvSpPr txBox="1"/>
          <p:nvPr/>
        </p:nvSpPr>
        <p:spPr>
          <a:xfrm>
            <a:off x="8667750" y="35052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09/26 18:30</a:t>
            </a:r>
            <a:endParaRPr lang="en-US" sz="1130" dirty="0"/>
          </a:p>
        </p:txBody>
      </p:sp>
      <p:sp>
        <p:nvSpPr>
          <p:cNvPr id="45" name="Text 42"/>
          <p:cNvSpPr txBox="1"/>
          <p:nvPr/>
        </p:nvSpPr>
        <p:spPr>
          <a:xfrm>
            <a:off x="10287000" y="350520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SBS</a:t>
            </a:r>
            <a:endParaRPr lang="en-US" sz="1130" dirty="0"/>
          </a:p>
        </p:txBody>
      </p:sp>
      <p:sp>
        <p:nvSpPr>
          <p:cNvPr id="46" name="Shape 43"/>
          <p:cNvSpPr/>
          <p:nvPr/>
        </p:nvSpPr>
        <p:spPr>
          <a:xfrm>
            <a:off x="914400" y="3914775"/>
            <a:ext cx="10363200" cy="7144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914400" y="3981450"/>
            <a:ext cx="1809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여자농구 준결승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2762250" y="4076700"/>
            <a:ext cx="3810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49" name="Shape 46"/>
          <p:cNvSpPr/>
          <p:nvPr/>
        </p:nvSpPr>
        <p:spPr>
          <a:xfrm>
            <a:off x="2762250" y="4076700"/>
            <a:ext cx="1485900" cy="114300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6762750" y="398145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3.9%</a:t>
            </a:r>
            <a:endParaRPr lang="en-US" sz="1280" dirty="0"/>
          </a:p>
        </p:txBody>
      </p:sp>
      <p:sp>
        <p:nvSpPr>
          <p:cNvPr id="51" name="Text 48"/>
          <p:cNvSpPr txBox="1"/>
          <p:nvPr/>
        </p:nvSpPr>
        <p:spPr>
          <a:xfrm>
            <a:off x="7715250" y="398145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CFCFD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—</a:t>
            </a:r>
            <a:endParaRPr lang="en-US" sz="1130" dirty="0"/>
          </a:p>
        </p:txBody>
      </p:sp>
      <p:sp>
        <p:nvSpPr>
          <p:cNvPr id="52" name="Text 49"/>
          <p:cNvSpPr txBox="1"/>
          <p:nvPr/>
        </p:nvSpPr>
        <p:spPr>
          <a:xfrm>
            <a:off x="8667750" y="39814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09/25 16:00</a:t>
            </a:r>
            <a:endParaRPr lang="en-US" sz="1130" dirty="0"/>
          </a:p>
        </p:txBody>
      </p:sp>
      <p:sp>
        <p:nvSpPr>
          <p:cNvPr id="53" name="Text 50"/>
          <p:cNvSpPr txBox="1"/>
          <p:nvPr/>
        </p:nvSpPr>
        <p:spPr>
          <a:xfrm>
            <a:off x="10287000" y="39814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MBC</a:t>
            </a:r>
            <a:endParaRPr lang="en-US" sz="1130" dirty="0"/>
          </a:p>
        </p:txBody>
      </p:sp>
      <p:sp>
        <p:nvSpPr>
          <p:cNvPr id="54" name="Shape 51"/>
          <p:cNvSpPr/>
          <p:nvPr/>
        </p:nvSpPr>
        <p:spPr>
          <a:xfrm>
            <a:off x="914400" y="4391025"/>
            <a:ext cx="10363200" cy="7144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914400" y="4457700"/>
            <a:ext cx="1809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사격 10m 혼성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2762250" y="4552950"/>
            <a:ext cx="3810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57" name="Shape 54"/>
          <p:cNvSpPr/>
          <p:nvPr/>
        </p:nvSpPr>
        <p:spPr>
          <a:xfrm>
            <a:off x="2762250" y="4552950"/>
            <a:ext cx="1028700" cy="114300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6762750" y="44577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2.7%</a:t>
            </a:r>
            <a:endParaRPr lang="en-US" sz="1280" dirty="0"/>
          </a:p>
        </p:txBody>
      </p:sp>
      <p:sp>
        <p:nvSpPr>
          <p:cNvPr id="59" name="Text 56"/>
          <p:cNvSpPr txBox="1"/>
          <p:nvPr/>
        </p:nvSpPr>
        <p:spPr>
          <a:xfrm>
            <a:off x="7715250" y="44577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CFCFD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—</a:t>
            </a:r>
            <a:endParaRPr lang="en-US" sz="1130" dirty="0"/>
          </a:p>
        </p:txBody>
      </p:sp>
      <p:sp>
        <p:nvSpPr>
          <p:cNvPr id="60" name="Text 57"/>
          <p:cNvSpPr txBox="1"/>
          <p:nvPr/>
        </p:nvSpPr>
        <p:spPr>
          <a:xfrm>
            <a:off x="8667750" y="44577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09/25 12:00</a:t>
            </a:r>
            <a:endParaRPr lang="en-US" sz="1130" dirty="0"/>
          </a:p>
        </p:txBody>
      </p:sp>
      <p:sp>
        <p:nvSpPr>
          <p:cNvPr id="61" name="Text 58"/>
          <p:cNvSpPr txBox="1"/>
          <p:nvPr/>
        </p:nvSpPr>
        <p:spPr>
          <a:xfrm>
            <a:off x="10287000" y="445770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MBC</a:t>
            </a:r>
            <a:endParaRPr lang="en-US" sz="1130" dirty="0"/>
          </a:p>
        </p:txBody>
      </p:sp>
      <p:sp>
        <p:nvSpPr>
          <p:cNvPr id="62" name="Shape 59"/>
          <p:cNvSpPr/>
          <p:nvPr/>
        </p:nvSpPr>
        <p:spPr>
          <a:xfrm>
            <a:off x="914400" y="4867275"/>
            <a:ext cx="10363200" cy="7144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914400" y="4933950"/>
            <a:ext cx="1809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탁구 혼합/남복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2762250" y="5029200"/>
            <a:ext cx="3810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65" name="Shape 62"/>
          <p:cNvSpPr/>
          <p:nvPr/>
        </p:nvSpPr>
        <p:spPr>
          <a:xfrm>
            <a:off x="2762250" y="5029200"/>
            <a:ext cx="990600" cy="114300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6762750" y="493395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2.6%</a:t>
            </a:r>
            <a:endParaRPr lang="en-US" sz="1280" dirty="0"/>
          </a:p>
        </p:txBody>
      </p:sp>
      <p:sp>
        <p:nvSpPr>
          <p:cNvPr id="67" name="Text 64"/>
          <p:cNvSpPr txBox="1"/>
          <p:nvPr/>
        </p:nvSpPr>
        <p:spPr>
          <a:xfrm>
            <a:off x="7715250" y="493395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CFCFD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—</a:t>
            </a:r>
            <a:endParaRPr lang="en-US" sz="1130" dirty="0"/>
          </a:p>
        </p:txBody>
      </p:sp>
      <p:sp>
        <p:nvSpPr>
          <p:cNvPr id="68" name="Text 65"/>
          <p:cNvSpPr txBox="1"/>
          <p:nvPr/>
        </p:nvSpPr>
        <p:spPr>
          <a:xfrm>
            <a:off x="8667750" y="49339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09/25 오전</a:t>
            </a:r>
            <a:endParaRPr lang="en-US" sz="1130" dirty="0"/>
          </a:p>
        </p:txBody>
      </p:sp>
      <p:sp>
        <p:nvSpPr>
          <p:cNvPr id="69" name="Text 66"/>
          <p:cNvSpPr txBox="1"/>
          <p:nvPr/>
        </p:nvSpPr>
        <p:spPr>
          <a:xfrm>
            <a:off x="10287000" y="49339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MBC</a:t>
            </a:r>
            <a:endParaRPr lang="en-US" sz="1130" dirty="0"/>
          </a:p>
        </p:txBody>
      </p:sp>
      <p:sp>
        <p:nvSpPr>
          <p:cNvPr id="70" name="Shape 67"/>
          <p:cNvSpPr/>
          <p:nvPr/>
        </p:nvSpPr>
        <p:spPr>
          <a:xfrm>
            <a:off x="914400" y="5524500"/>
            <a:ext cx="10363200" cy="571500"/>
          </a:xfrm>
          <a:prstGeom prst="roundRect">
            <a:avLst>
              <a:gd name="adj" fmla="val 23333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1143000" y="5524500"/>
            <a:ext cx="990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해석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같은 대회라도 예선·중간 라운드보다 결승/메달 결정전과 저녁 프라임의 조합에서 시청 수요가 크게 확대.</a:t>
            </a:r>
            <a:endParaRPr lang="en-US" sz="1050" dirty="0"/>
          </a:p>
        </p:txBody>
      </p:sp>
      <p:sp>
        <p:nvSpPr>
          <p:cNvPr id="72" name="Text 69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외부 근거: 뉴시스 09/27 · iMBC 09/26 · 한국사회복지저널 09/26 · 닐슨 공표치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12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 · 아시안게임 × 당사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3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당사에 가장 위험했던 구간은 연휴 전체가 아니라 ‘저녁 2~3시간’이었다</a:t>
            </a:r>
            <a:endParaRPr lang="en-US" sz="233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중계 있는 시간 +47.2% vs 비중계 +19.2% / 당사 2049 3사는 각각 +20.5% vs -17.3%.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52600"/>
            <a:ext cx="3048000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04900" y="190500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중계 있는 시간</a:t>
            </a:r>
            <a:endParaRPr lang="en-US" sz="980" dirty="0"/>
          </a:p>
        </p:txBody>
      </p:sp>
      <p:sp>
        <p:nvSpPr>
          <p:cNvPr id="10" name="Text 7"/>
          <p:cNvSpPr txBox="1"/>
          <p:nvPr/>
        </p:nvSpPr>
        <p:spPr>
          <a:xfrm>
            <a:off x="1104900" y="2114550"/>
            <a:ext cx="266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시장 +47.2%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1104900" y="270510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당사 2049 3사 +20.5%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914400" y="3124200"/>
            <a:ext cx="3048000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04900" y="327660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중계 없는 시간</a:t>
            </a:r>
            <a:endParaRPr lang="en-US" sz="980" dirty="0"/>
          </a:p>
        </p:txBody>
      </p:sp>
      <p:sp>
        <p:nvSpPr>
          <p:cNvPr id="14" name="Text 11"/>
          <p:cNvSpPr txBox="1"/>
          <p:nvPr/>
        </p:nvSpPr>
        <p:spPr>
          <a:xfrm>
            <a:off x="1104900" y="3486150"/>
            <a:ext cx="266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시장 +19.2%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1104900" y="407670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당사 2049 3사 -17.3%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914400" y="4495800"/>
            <a:ext cx="3048000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04900" y="464820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비중계 프라임</a:t>
            </a:r>
            <a:endParaRPr lang="en-US" sz="980" dirty="0"/>
          </a:p>
        </p:txBody>
      </p:sp>
      <p:sp>
        <p:nvSpPr>
          <p:cNvPr id="18" name="Text 15"/>
          <p:cNvSpPr txBox="1"/>
          <p:nvPr/>
        </p:nvSpPr>
        <p:spPr>
          <a:xfrm>
            <a:off x="1104900" y="4857750"/>
            <a:ext cx="266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당사 -4.5%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1104900" y="544830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5시간 기준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4152900" y="1752600"/>
            <a:ext cx="71247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19600" y="1981200"/>
            <a:ext cx="6572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09/26 18:30~21:30 · 연휴 최대 격전 구간</a:t>
            </a:r>
            <a:endParaRPr lang="en-US" sz="1430" dirty="0"/>
          </a:p>
        </p:txBody>
      </p:sp>
      <p:sp>
        <p:nvSpPr>
          <p:cNvPr id="22" name="Shape 19"/>
          <p:cNvSpPr/>
          <p:nvPr/>
        </p:nvSpPr>
        <p:spPr>
          <a:xfrm>
            <a:off x="4419600" y="240030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14141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419600" y="240030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경쟁 이벤트</a:t>
            </a:r>
            <a:endParaRPr lang="en-US" sz="980" dirty="0"/>
          </a:p>
        </p:txBody>
      </p:sp>
      <p:sp>
        <p:nvSpPr>
          <p:cNvPr id="24" name="Text 21"/>
          <p:cNvSpPr txBox="1"/>
          <p:nvPr/>
        </p:nvSpPr>
        <p:spPr>
          <a:xfrm>
            <a:off x="5600700" y="2400300"/>
            <a:ext cx="542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D3D49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야구 한국-중국 + 펜싱 사브르 결승 + 여자농구 결승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419600" y="291465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676900" y="2914650"/>
            <a:ext cx="76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0.115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572250" y="3000375"/>
            <a:ext cx="4381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28" name="Shape 25"/>
          <p:cNvSpPr/>
          <p:nvPr/>
        </p:nvSpPr>
        <p:spPr>
          <a:xfrm>
            <a:off x="6572250" y="3000375"/>
            <a:ext cx="2862912" cy="114300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419600" y="339090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Play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676900" y="3390900"/>
            <a:ext cx="76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0.046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6572250" y="3476625"/>
            <a:ext cx="4381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32" name="Shape 29"/>
          <p:cNvSpPr/>
          <p:nvPr/>
        </p:nvSpPr>
        <p:spPr>
          <a:xfrm>
            <a:off x="6572250" y="3476625"/>
            <a:ext cx="1145165" cy="114300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419600" y="386715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Drama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676900" y="3867150"/>
            <a:ext cx="76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0.001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6572250" y="3952875"/>
            <a:ext cx="4381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36" name="Shape 33"/>
          <p:cNvSpPr/>
          <p:nvPr/>
        </p:nvSpPr>
        <p:spPr>
          <a:xfrm>
            <a:off x="6572250" y="39528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4419600" y="434340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OLIFE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676900" y="4343400"/>
            <a:ext cx="76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0.176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572250" y="4429125"/>
            <a:ext cx="4381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40" name="Shape 37"/>
          <p:cNvSpPr/>
          <p:nvPr/>
        </p:nvSpPr>
        <p:spPr>
          <a:xfrm>
            <a:off x="6572250" y="4429125"/>
            <a:ext cx="4381500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41" name="Shape 38"/>
          <p:cNvSpPr/>
          <p:nvPr/>
        </p:nvSpPr>
        <p:spPr>
          <a:xfrm>
            <a:off x="4381500" y="4953000"/>
            <a:ext cx="6667500" cy="609600"/>
          </a:xfrm>
          <a:prstGeom prst="roundRect">
            <a:avLst>
              <a:gd name="adj" fmla="val 21875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610100" y="4953000"/>
            <a:ext cx="6210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결론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‘대형 중계 시간 = 전 채널 포기’가 아니라 ‘고정비가 큰 2049 프라임만 선택 회피’가 정답.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2026 추석 연휴기간 시청률 분석(확정본) · 닐슨 실측 DB · 분석기간 09/23~09/27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· 당사 포트폴리오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당사 7개 채널: 시장보다 잘했는지는 단 한 곳만 ‘예’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‘지난 3주 같은 요일 실측 대비’ 성적과 시장 성장률을 함께 봐야 함.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14500"/>
          <a:ext cx="10363200" cy="914400"/>
        </p:xfrm>
        <a:graphic>
          <a:graphicData uri="http://schemas.openxmlformats.org/drawingml/2006/table">
            <a:tbl>
              <a:tblPr/>
              <a:tblGrid>
                <a:gridCol w="1602557"/>
                <a:gridCol w="1282045"/>
                <a:gridCol w="961534"/>
                <a:gridCol w="1602557"/>
                <a:gridCol w="1175208"/>
                <a:gridCol w="1068371"/>
                <a:gridCol w="1175208"/>
                <a:gridCol w="1495720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채널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지표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연휴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직전 3주 같은 요일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증감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시장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판정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등위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41A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ENA</a:t>
                      </a:r>
                      <a:endParaRPr lang="en-US" sz="12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개인2049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0.114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0.093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+23.0%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+40.1%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시장 미달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11→10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41A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ENA Play</a:t>
                      </a:r>
                      <a:endParaRPr lang="en-US" sz="12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개인2049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0.024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0.023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+5.4%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+40.1%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시장 미달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41→43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41A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ENA Drama</a:t>
                      </a:r>
                      <a:endParaRPr lang="en-US" sz="12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개인2049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0.018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0.027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-31.9%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+40.1%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시장 미달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35→50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41A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ENA Story</a:t>
                      </a:r>
                      <a:endParaRPr lang="en-US" sz="12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유료가구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0.065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0.047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+39.4%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+17.0%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9D6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시장 초과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72→61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41A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OLIFE</a:t>
                      </a:r>
                      <a:endParaRPr lang="en-US" sz="12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유료가구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0.106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0.114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-6.8%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+17.0%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시장 미달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31→37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41A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ONCE</a:t>
                      </a:r>
                      <a:endParaRPr lang="en-US" sz="12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유료가구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0.048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0.053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-8.6%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+17.0%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시장 미달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66→76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41A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skyUHD</a:t>
                      </a:r>
                      <a:endParaRPr lang="en-US" sz="12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유료가구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0.004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0.002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+155.1%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585866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+17.0%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A6A6B6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보류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201→187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914400" y="571500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판정: 채널 증감률이 해당 타깃 시장 증가율을 넘었는가 · skyUHD는 절대값이 낮아 보류</a:t>
            </a:r>
            <a:endParaRPr lang="en-US" sz="94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2026 추석 연휴기간 시청률 분석(확정본) · 닐슨 실측 DB · 분석기간 09/23~09/27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14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· 시청 행태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연휴에는 ‘들어온 사람’은 늘었지만 ‘머문 시간’은 채널별로 갈렸다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Reach·ATS를 함께 보면 단순 시청률 상승의 질을 판단할 수 있음.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171450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채널</a:t>
            </a:r>
            <a:endParaRPr lang="en-US" sz="940" dirty="0"/>
          </a:p>
        </p:txBody>
      </p:sp>
      <p:sp>
        <p:nvSpPr>
          <p:cNvPr id="9" name="Text 6"/>
          <p:cNvSpPr txBox="1"/>
          <p:nvPr/>
        </p:nvSpPr>
        <p:spPr>
          <a:xfrm>
            <a:off x="2476500" y="1714500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Reach 증감</a:t>
            </a:r>
            <a:endParaRPr lang="en-US" sz="940" dirty="0"/>
          </a:p>
        </p:txBody>
      </p:sp>
      <p:sp>
        <p:nvSpPr>
          <p:cNvPr id="10" name="Text 7"/>
          <p:cNvSpPr txBox="1"/>
          <p:nvPr/>
        </p:nvSpPr>
        <p:spPr>
          <a:xfrm>
            <a:off x="6572250" y="1714500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ATS 증감 (1인당 시청시간)</a:t>
            </a:r>
            <a:endParaRPr lang="en-US" sz="940" dirty="0"/>
          </a:p>
        </p:txBody>
      </p:sp>
      <p:sp>
        <p:nvSpPr>
          <p:cNvPr id="11" name="Text 8"/>
          <p:cNvSpPr txBox="1"/>
          <p:nvPr/>
        </p:nvSpPr>
        <p:spPr>
          <a:xfrm>
            <a:off x="10477500" y="171450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체류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914400" y="1962150"/>
            <a:ext cx="10363200" cy="11430"/>
          </a:xfrm>
          <a:prstGeom prst="rect">
            <a:avLst/>
          </a:prstGeom>
          <a:solidFill>
            <a:srgbClr val="CFCFD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28700" y="203835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476500" y="2200275"/>
            <a:ext cx="2857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15" name="Shape 12"/>
          <p:cNvSpPr/>
          <p:nvPr/>
        </p:nvSpPr>
        <p:spPr>
          <a:xfrm>
            <a:off x="2476500" y="2200275"/>
            <a:ext cx="1664494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29250" y="2038350"/>
            <a:ext cx="857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+23.3%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6572250" y="2200275"/>
            <a:ext cx="3238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18" name="Shape 15"/>
          <p:cNvSpPr/>
          <p:nvPr/>
        </p:nvSpPr>
        <p:spPr>
          <a:xfrm>
            <a:off x="8181975" y="2133600"/>
            <a:ext cx="19050" cy="247650"/>
          </a:xfrm>
          <a:prstGeom prst="rect">
            <a:avLst/>
          </a:prstGeom>
          <a:solidFill>
            <a:srgbClr val="A6A6B6"/>
          </a:solidFill>
          <a:ln/>
        </p:spPr>
      </p:sp>
      <p:sp>
        <p:nvSpPr>
          <p:cNvPr id="19" name="Shape 16"/>
          <p:cNvSpPr/>
          <p:nvPr/>
        </p:nvSpPr>
        <p:spPr>
          <a:xfrm>
            <a:off x="8191500" y="2200275"/>
            <a:ext cx="57150" cy="114300"/>
          </a:xfrm>
          <a:prstGeom prst="roundRect">
            <a:avLst>
              <a:gd name="adj" fmla="val 100000"/>
            </a:avLst>
          </a:prstGeom>
          <a:solidFill>
            <a:srgbClr val="2C24C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867900" y="2038350"/>
            <a:ext cx="666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+0.7%</a:t>
            </a:r>
            <a:endParaRPr lang="en-US" sz="1130" dirty="0"/>
          </a:p>
        </p:txBody>
      </p:sp>
      <p:sp>
        <p:nvSpPr>
          <p:cNvPr id="21" name="Shape 18"/>
          <p:cNvSpPr/>
          <p:nvPr/>
        </p:nvSpPr>
        <p:spPr>
          <a:xfrm>
            <a:off x="10534650" y="2124075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E8F5E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534650" y="2124075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F9D6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체류 ↑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914400" y="2533650"/>
            <a:ext cx="10363200" cy="7144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28700" y="259080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 Play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476500" y="2752725"/>
            <a:ext cx="2857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26" name="Shape 23"/>
          <p:cNvSpPr/>
          <p:nvPr/>
        </p:nvSpPr>
        <p:spPr>
          <a:xfrm>
            <a:off x="2476500" y="2752725"/>
            <a:ext cx="2371725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429250" y="2590800"/>
            <a:ext cx="857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+33.2%</a:t>
            </a:r>
            <a:endParaRPr lang="en-US" sz="1280" dirty="0"/>
          </a:p>
        </p:txBody>
      </p:sp>
      <p:sp>
        <p:nvSpPr>
          <p:cNvPr id="28" name="Shape 25"/>
          <p:cNvSpPr/>
          <p:nvPr/>
        </p:nvSpPr>
        <p:spPr>
          <a:xfrm>
            <a:off x="6572250" y="2752725"/>
            <a:ext cx="3238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29" name="Shape 26"/>
          <p:cNvSpPr/>
          <p:nvPr/>
        </p:nvSpPr>
        <p:spPr>
          <a:xfrm>
            <a:off x="8181975" y="2686050"/>
            <a:ext cx="19050" cy="247650"/>
          </a:xfrm>
          <a:prstGeom prst="rect">
            <a:avLst/>
          </a:prstGeom>
          <a:solidFill>
            <a:srgbClr val="A6A6B6"/>
          </a:solidFill>
          <a:ln/>
        </p:spPr>
      </p:sp>
      <p:sp>
        <p:nvSpPr>
          <p:cNvPr id="30" name="Shape 27"/>
          <p:cNvSpPr/>
          <p:nvPr/>
        </p:nvSpPr>
        <p:spPr>
          <a:xfrm>
            <a:off x="7537323" y="2752725"/>
            <a:ext cx="654177" cy="114300"/>
          </a:xfrm>
          <a:prstGeom prst="roundRect">
            <a:avLst>
              <a:gd name="adj" fmla="val 50000"/>
            </a:avLst>
          </a:prstGeom>
          <a:solidFill>
            <a:srgbClr val="D63B3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867900" y="2590800"/>
            <a:ext cx="666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-20.2%</a:t>
            </a:r>
            <a:endParaRPr lang="en-US" sz="1130" dirty="0"/>
          </a:p>
        </p:txBody>
      </p:sp>
      <p:sp>
        <p:nvSpPr>
          <p:cNvPr id="32" name="Shape 29"/>
          <p:cNvSpPr/>
          <p:nvPr/>
        </p:nvSpPr>
        <p:spPr>
          <a:xfrm>
            <a:off x="10534650" y="2676525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FBECE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534650" y="2676525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체류 ↓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914400" y="3086100"/>
            <a:ext cx="10363200" cy="7144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028700" y="314325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 Drama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2476500" y="3305175"/>
            <a:ext cx="2857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37" name="Shape 34"/>
          <p:cNvSpPr/>
          <p:nvPr/>
        </p:nvSpPr>
        <p:spPr>
          <a:xfrm>
            <a:off x="2476500" y="3305175"/>
            <a:ext cx="1907381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429250" y="3143250"/>
            <a:ext cx="857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+26.7%</a:t>
            </a:r>
            <a:endParaRPr lang="en-US" sz="1280" dirty="0"/>
          </a:p>
        </p:txBody>
      </p:sp>
      <p:sp>
        <p:nvSpPr>
          <p:cNvPr id="39" name="Shape 36"/>
          <p:cNvSpPr/>
          <p:nvPr/>
        </p:nvSpPr>
        <p:spPr>
          <a:xfrm>
            <a:off x="6572250" y="3305175"/>
            <a:ext cx="3238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40" name="Shape 37"/>
          <p:cNvSpPr/>
          <p:nvPr/>
        </p:nvSpPr>
        <p:spPr>
          <a:xfrm>
            <a:off x="8181975" y="3238500"/>
            <a:ext cx="19050" cy="247650"/>
          </a:xfrm>
          <a:prstGeom prst="rect">
            <a:avLst/>
          </a:prstGeom>
          <a:solidFill>
            <a:srgbClr val="A6A6B6"/>
          </a:solidFill>
          <a:ln/>
        </p:spPr>
      </p:sp>
      <p:sp>
        <p:nvSpPr>
          <p:cNvPr id="41" name="Shape 38"/>
          <p:cNvSpPr/>
          <p:nvPr/>
        </p:nvSpPr>
        <p:spPr>
          <a:xfrm>
            <a:off x="6692075" y="3305175"/>
            <a:ext cx="1499425" cy="114300"/>
          </a:xfrm>
          <a:prstGeom prst="roundRect">
            <a:avLst>
              <a:gd name="adj" fmla="val 50000"/>
            </a:avLst>
          </a:prstGeom>
          <a:solidFill>
            <a:srgbClr val="D63B3B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9867900" y="3143250"/>
            <a:ext cx="666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-46.3%</a:t>
            </a:r>
            <a:endParaRPr lang="en-US" sz="1130" dirty="0"/>
          </a:p>
        </p:txBody>
      </p:sp>
      <p:sp>
        <p:nvSpPr>
          <p:cNvPr id="43" name="Shape 40"/>
          <p:cNvSpPr/>
          <p:nvPr/>
        </p:nvSpPr>
        <p:spPr>
          <a:xfrm>
            <a:off x="10534650" y="3228975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FBECEC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10534650" y="3228975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체류 ↓</a:t>
            </a:r>
            <a:endParaRPr lang="en-US" sz="980" dirty="0"/>
          </a:p>
        </p:txBody>
      </p:sp>
      <p:sp>
        <p:nvSpPr>
          <p:cNvPr id="45" name="Shape 42"/>
          <p:cNvSpPr/>
          <p:nvPr/>
        </p:nvSpPr>
        <p:spPr>
          <a:xfrm>
            <a:off x="914400" y="3638550"/>
            <a:ext cx="10363200" cy="7144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46" name="Shape 43"/>
          <p:cNvSpPr/>
          <p:nvPr/>
        </p:nvSpPr>
        <p:spPr>
          <a:xfrm>
            <a:off x="914400" y="3657600"/>
            <a:ext cx="10363200" cy="514350"/>
          </a:xfrm>
          <a:prstGeom prst="rect">
            <a:avLst/>
          </a:prstGeom>
          <a:solidFill>
            <a:srgbClr val="F3F3FD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1028700" y="369570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 Story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2476500" y="3857625"/>
            <a:ext cx="2857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49" name="Shape 46"/>
          <p:cNvSpPr/>
          <p:nvPr/>
        </p:nvSpPr>
        <p:spPr>
          <a:xfrm>
            <a:off x="2476500" y="3857625"/>
            <a:ext cx="1907381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429250" y="3695700"/>
            <a:ext cx="857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+26.7%</a:t>
            </a:r>
            <a:endParaRPr lang="en-US" sz="1280" dirty="0"/>
          </a:p>
        </p:txBody>
      </p:sp>
      <p:sp>
        <p:nvSpPr>
          <p:cNvPr id="51" name="Shape 48"/>
          <p:cNvSpPr/>
          <p:nvPr/>
        </p:nvSpPr>
        <p:spPr>
          <a:xfrm>
            <a:off x="6572250" y="3857625"/>
            <a:ext cx="3238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52" name="Shape 49"/>
          <p:cNvSpPr/>
          <p:nvPr/>
        </p:nvSpPr>
        <p:spPr>
          <a:xfrm>
            <a:off x="8181975" y="3790950"/>
            <a:ext cx="19050" cy="247650"/>
          </a:xfrm>
          <a:prstGeom prst="rect">
            <a:avLst/>
          </a:prstGeom>
          <a:solidFill>
            <a:srgbClr val="A6A6B6"/>
          </a:solidFill>
          <a:ln/>
        </p:spPr>
      </p:sp>
      <p:sp>
        <p:nvSpPr>
          <p:cNvPr id="53" name="Shape 50"/>
          <p:cNvSpPr/>
          <p:nvPr/>
        </p:nvSpPr>
        <p:spPr>
          <a:xfrm>
            <a:off x="8191500" y="3857625"/>
            <a:ext cx="320612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9867900" y="3695700"/>
            <a:ext cx="666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+9.9%</a:t>
            </a:r>
            <a:endParaRPr lang="en-US" sz="1130" dirty="0"/>
          </a:p>
        </p:txBody>
      </p:sp>
      <p:sp>
        <p:nvSpPr>
          <p:cNvPr id="55" name="Shape 52"/>
          <p:cNvSpPr/>
          <p:nvPr/>
        </p:nvSpPr>
        <p:spPr>
          <a:xfrm>
            <a:off x="10534650" y="3781425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E8F5E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10534650" y="3781425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F9D6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체류 ↑</a:t>
            </a:r>
            <a:endParaRPr lang="en-US" sz="980" dirty="0"/>
          </a:p>
        </p:txBody>
      </p:sp>
      <p:sp>
        <p:nvSpPr>
          <p:cNvPr id="57" name="Shape 54"/>
          <p:cNvSpPr/>
          <p:nvPr/>
        </p:nvSpPr>
        <p:spPr>
          <a:xfrm>
            <a:off x="914400" y="4191000"/>
            <a:ext cx="10363200" cy="7144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1028700" y="424815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OLIFE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2476500" y="4410075"/>
            <a:ext cx="2857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60" name="Shape 57"/>
          <p:cNvSpPr/>
          <p:nvPr/>
        </p:nvSpPr>
        <p:spPr>
          <a:xfrm>
            <a:off x="2476500" y="4410075"/>
            <a:ext cx="642938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5429250" y="4248150"/>
            <a:ext cx="857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+9.0%</a:t>
            </a:r>
            <a:endParaRPr lang="en-US" sz="1280" dirty="0"/>
          </a:p>
        </p:txBody>
      </p:sp>
      <p:sp>
        <p:nvSpPr>
          <p:cNvPr id="62" name="Shape 59"/>
          <p:cNvSpPr/>
          <p:nvPr/>
        </p:nvSpPr>
        <p:spPr>
          <a:xfrm>
            <a:off x="6572250" y="4410075"/>
            <a:ext cx="3238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63" name="Shape 60"/>
          <p:cNvSpPr/>
          <p:nvPr/>
        </p:nvSpPr>
        <p:spPr>
          <a:xfrm>
            <a:off x="8181975" y="4343400"/>
            <a:ext cx="19050" cy="247650"/>
          </a:xfrm>
          <a:prstGeom prst="rect">
            <a:avLst/>
          </a:prstGeom>
          <a:solidFill>
            <a:srgbClr val="A6A6B6"/>
          </a:solidFill>
          <a:ln/>
        </p:spPr>
      </p:sp>
      <p:sp>
        <p:nvSpPr>
          <p:cNvPr id="64" name="Shape 61"/>
          <p:cNvSpPr/>
          <p:nvPr/>
        </p:nvSpPr>
        <p:spPr>
          <a:xfrm>
            <a:off x="7686294" y="4410075"/>
            <a:ext cx="505206" cy="114300"/>
          </a:xfrm>
          <a:prstGeom prst="roundRect">
            <a:avLst>
              <a:gd name="adj" fmla="val 50000"/>
            </a:avLst>
          </a:prstGeom>
          <a:solidFill>
            <a:srgbClr val="D63B3B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9867900" y="4248150"/>
            <a:ext cx="666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-15.6%</a:t>
            </a:r>
            <a:endParaRPr lang="en-US" sz="1130" dirty="0"/>
          </a:p>
        </p:txBody>
      </p:sp>
      <p:sp>
        <p:nvSpPr>
          <p:cNvPr id="66" name="Shape 63"/>
          <p:cNvSpPr/>
          <p:nvPr/>
        </p:nvSpPr>
        <p:spPr>
          <a:xfrm>
            <a:off x="10534650" y="4333875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FBECEC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10534650" y="4333875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체류 ↓</a:t>
            </a:r>
            <a:endParaRPr lang="en-US" sz="980" dirty="0"/>
          </a:p>
        </p:txBody>
      </p:sp>
      <p:sp>
        <p:nvSpPr>
          <p:cNvPr id="68" name="Shape 65"/>
          <p:cNvSpPr/>
          <p:nvPr/>
        </p:nvSpPr>
        <p:spPr>
          <a:xfrm>
            <a:off x="914400" y="4743450"/>
            <a:ext cx="10363200" cy="7144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1028700" y="480060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ONCE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2476500" y="4962525"/>
            <a:ext cx="2857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71" name="Shape 68"/>
          <p:cNvSpPr/>
          <p:nvPr/>
        </p:nvSpPr>
        <p:spPr>
          <a:xfrm>
            <a:off x="2476500" y="4962525"/>
            <a:ext cx="985838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5429250" y="4800600"/>
            <a:ext cx="857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+13.8%</a:t>
            </a:r>
            <a:endParaRPr lang="en-US" sz="1280" dirty="0"/>
          </a:p>
        </p:txBody>
      </p:sp>
      <p:sp>
        <p:nvSpPr>
          <p:cNvPr id="73" name="Shape 70"/>
          <p:cNvSpPr/>
          <p:nvPr/>
        </p:nvSpPr>
        <p:spPr>
          <a:xfrm>
            <a:off x="6572250" y="4962525"/>
            <a:ext cx="32385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74" name="Shape 71"/>
          <p:cNvSpPr/>
          <p:nvPr/>
        </p:nvSpPr>
        <p:spPr>
          <a:xfrm>
            <a:off x="8181975" y="4895850"/>
            <a:ext cx="19050" cy="247650"/>
          </a:xfrm>
          <a:prstGeom prst="rect">
            <a:avLst/>
          </a:prstGeom>
          <a:solidFill>
            <a:srgbClr val="A6A6B6"/>
          </a:solidFill>
          <a:ln/>
        </p:spPr>
      </p:sp>
      <p:sp>
        <p:nvSpPr>
          <p:cNvPr id="75" name="Shape 72"/>
          <p:cNvSpPr/>
          <p:nvPr/>
        </p:nvSpPr>
        <p:spPr>
          <a:xfrm>
            <a:off x="7537323" y="4962525"/>
            <a:ext cx="654177" cy="114300"/>
          </a:xfrm>
          <a:prstGeom prst="roundRect">
            <a:avLst>
              <a:gd name="adj" fmla="val 50000"/>
            </a:avLst>
          </a:prstGeom>
          <a:solidFill>
            <a:srgbClr val="D63B3B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9867900" y="4800600"/>
            <a:ext cx="666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-20.2%</a:t>
            </a:r>
            <a:endParaRPr lang="en-US" sz="1130" dirty="0"/>
          </a:p>
        </p:txBody>
      </p:sp>
      <p:sp>
        <p:nvSpPr>
          <p:cNvPr id="77" name="Shape 74"/>
          <p:cNvSpPr/>
          <p:nvPr/>
        </p:nvSpPr>
        <p:spPr>
          <a:xfrm>
            <a:off x="10534650" y="4886325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FBECEC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10534650" y="4886325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체류 ↓</a:t>
            </a:r>
            <a:endParaRPr lang="en-US" sz="980" dirty="0"/>
          </a:p>
        </p:txBody>
      </p:sp>
      <p:sp>
        <p:nvSpPr>
          <p:cNvPr id="79" name="Shape 76"/>
          <p:cNvSpPr/>
          <p:nvPr/>
        </p:nvSpPr>
        <p:spPr>
          <a:xfrm>
            <a:off x="914400" y="5429250"/>
            <a:ext cx="10363200" cy="628650"/>
          </a:xfrm>
          <a:prstGeom prst="roundRect">
            <a:avLst>
              <a:gd name="adj" fmla="val 21212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1143000" y="5429250"/>
            <a:ext cx="9906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가장 완성된 시청 구조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Story: Reach +26.7%와 ATS +9.9%가 동시에 상승. 나머지는 ‘유입 후 이탈’이 일부 발생.</a:t>
            </a:r>
            <a:endParaRPr lang="en-US" sz="1050" dirty="0"/>
          </a:p>
        </p:txBody>
      </p:sp>
      <p:sp>
        <p:nvSpPr>
          <p:cNvPr id="81" name="Text 78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2026 추석 연휴기간 시청률 분석(확정본) · 닐슨 실측 DB · 분석기간 09/23~09/27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15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· 채널 심층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FCFDA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|  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낮은 기회였고, 09/27에 마지막 회복이 확인됨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각 채널은 ‘시장 대비 → 시간대 → 특집/신규 효과 → 다음 액션’ 순으로 읽음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14500"/>
            <a:ext cx="1828800" cy="990600"/>
          </a:xfrm>
          <a:prstGeom prst="roundRect">
            <a:avLst>
              <a:gd name="adj" fmla="val 13462"/>
            </a:avLst>
          </a:prstGeom>
          <a:solidFill>
            <a:srgbClr val="2C24C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23950" y="186690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채널</a:t>
            </a:r>
            <a:endParaRPr lang="en-US" sz="980" dirty="0"/>
          </a:p>
        </p:txBody>
      </p:sp>
      <p:sp>
        <p:nvSpPr>
          <p:cNvPr id="10" name="Text 7"/>
          <p:cNvSpPr txBox="1"/>
          <p:nvPr/>
        </p:nvSpPr>
        <p:spPr>
          <a:xfrm>
            <a:off x="1123950" y="2076450"/>
            <a:ext cx="152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289560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6705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연휴</a:t>
            </a:r>
            <a:endParaRPr lang="en-US" sz="980" dirty="0"/>
          </a:p>
        </p:txBody>
      </p:sp>
      <p:sp>
        <p:nvSpPr>
          <p:cNvPr id="13" name="Text 10"/>
          <p:cNvSpPr txBox="1"/>
          <p:nvPr/>
        </p:nvSpPr>
        <p:spPr>
          <a:xfrm>
            <a:off x="306705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+23.0%</a:t>
            </a:r>
            <a:endParaRPr lang="en-US" sz="2030" dirty="0"/>
          </a:p>
        </p:txBody>
      </p:sp>
      <p:sp>
        <p:nvSpPr>
          <p:cNvPr id="14" name="Shape 11"/>
          <p:cNvSpPr/>
          <p:nvPr/>
        </p:nvSpPr>
        <p:spPr>
          <a:xfrm>
            <a:off x="460248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7393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시장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477393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+40.1%</a:t>
            </a:r>
            <a:endParaRPr lang="en-US" sz="2030" dirty="0"/>
          </a:p>
        </p:txBody>
      </p:sp>
      <p:sp>
        <p:nvSpPr>
          <p:cNvPr id="17" name="Shape 14"/>
          <p:cNvSpPr/>
          <p:nvPr/>
        </p:nvSpPr>
        <p:spPr>
          <a:xfrm>
            <a:off x="630936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8081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등위</a:t>
            </a:r>
            <a:endParaRPr lang="en-US" sz="980" dirty="0"/>
          </a:p>
        </p:txBody>
      </p:sp>
      <p:sp>
        <p:nvSpPr>
          <p:cNvPr id="19" name="Text 16"/>
          <p:cNvSpPr txBox="1"/>
          <p:nvPr/>
        </p:nvSpPr>
        <p:spPr>
          <a:xfrm>
            <a:off x="648081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11→10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801624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8769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Reach</a:t>
            </a:r>
            <a:endParaRPr lang="en-US" sz="980" dirty="0"/>
          </a:p>
        </p:txBody>
      </p:sp>
      <p:sp>
        <p:nvSpPr>
          <p:cNvPr id="22" name="Text 19"/>
          <p:cNvSpPr txBox="1"/>
          <p:nvPr/>
        </p:nvSpPr>
        <p:spPr>
          <a:xfrm>
            <a:off x="818769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+23.3%</a:t>
            </a:r>
            <a:endParaRPr lang="en-US" sz="2030" dirty="0"/>
          </a:p>
        </p:txBody>
      </p:sp>
      <p:sp>
        <p:nvSpPr>
          <p:cNvPr id="23" name="Shape 20"/>
          <p:cNvSpPr/>
          <p:nvPr/>
        </p:nvSpPr>
        <p:spPr>
          <a:xfrm>
            <a:off x="972312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9457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ATS</a:t>
            </a:r>
            <a:endParaRPr lang="en-US" sz="980" dirty="0"/>
          </a:p>
        </p:txBody>
      </p:sp>
      <p:sp>
        <p:nvSpPr>
          <p:cNvPr id="25" name="Text 22"/>
          <p:cNvSpPr txBox="1"/>
          <p:nvPr/>
        </p:nvSpPr>
        <p:spPr>
          <a:xfrm>
            <a:off x="989457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+0.7%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914400" y="28575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123950" y="30289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 판단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123950" y="33147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오전·오후·프라임이 모두 비교 기준을 웃돌았지만 시장 확대폭에는 미달.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2200" y="28575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381750" y="30289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데이터 근거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381750" y="33147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오전 +42.3%·프라임 +26.2%·09/27 0.149(기준 0.107). 〈신병4〉 3.61배·2.94배.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14400" y="42291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123950" y="44005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해석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23950" y="46863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콘텐츠 자체보다 자리의 힘이 갈림. 〈맡겨만 주십숏〉 첫방 0.25배와 강한 리드인 뒤 유실이 대표적.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172200" y="42291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81750" y="44005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다음 명절 액션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6381750" y="46863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검증 IP는 낮으로, 신규는 전야 또는 비경합 슬롯으로. 특선영화는 오전·점심 우선.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14400" y="571500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시간대 변화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1962150" y="5724525"/>
            <a:ext cx="1152525" cy="28575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962150" y="5724525"/>
            <a:ext cx="1152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오전 +42.3%</a:t>
            </a:r>
            <a:endParaRPr lang="en-US" sz="1010" dirty="0"/>
          </a:p>
        </p:txBody>
      </p:sp>
      <p:sp>
        <p:nvSpPr>
          <p:cNvPr id="41" name="Shape 38"/>
          <p:cNvSpPr/>
          <p:nvPr/>
        </p:nvSpPr>
        <p:spPr>
          <a:xfrm>
            <a:off x="3209925" y="5724525"/>
            <a:ext cx="1152525" cy="28575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209925" y="5724525"/>
            <a:ext cx="1152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오후 +37.5%</a:t>
            </a:r>
            <a:endParaRPr lang="en-US" sz="1010" dirty="0"/>
          </a:p>
        </p:txBody>
      </p:sp>
      <p:sp>
        <p:nvSpPr>
          <p:cNvPr id="43" name="Shape 40"/>
          <p:cNvSpPr/>
          <p:nvPr/>
        </p:nvSpPr>
        <p:spPr>
          <a:xfrm>
            <a:off x="4457700" y="5724525"/>
            <a:ext cx="1504950" cy="28575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457700" y="5724525"/>
            <a:ext cx="1504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저녁·심야 +24.3%</a:t>
            </a:r>
            <a:endParaRPr lang="en-US" sz="1010" dirty="0"/>
          </a:p>
        </p:txBody>
      </p:sp>
      <p:sp>
        <p:nvSpPr>
          <p:cNvPr id="45" name="Shape 42"/>
          <p:cNvSpPr/>
          <p:nvPr/>
        </p:nvSpPr>
        <p:spPr>
          <a:xfrm>
            <a:off x="6057900" y="5724525"/>
            <a:ext cx="1285875" cy="28575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6057900" y="5724525"/>
            <a:ext cx="1285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프라임 +26.2%</a:t>
            </a:r>
            <a:endParaRPr lang="en-US" sz="1010" dirty="0"/>
          </a:p>
        </p:txBody>
      </p:sp>
      <p:sp>
        <p:nvSpPr>
          <p:cNvPr id="47" name="Text 44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확정본 ENA 실측 · 09/27 신규 〈니돈내산〉 분석 포함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16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· 채널 심층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 Play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FCFDA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|  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예능은 강했지만, 프라임 영화 편성은 효율이 낮았다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각 채널은 ‘시장 대비 → 시간대 → 특집/신규 효과 → 다음 액션’ 순으로 읽음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14500"/>
            <a:ext cx="1828800" cy="990600"/>
          </a:xfrm>
          <a:prstGeom prst="roundRect">
            <a:avLst>
              <a:gd name="adj" fmla="val 13462"/>
            </a:avLst>
          </a:prstGeom>
          <a:solidFill>
            <a:srgbClr val="2C24C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23950" y="186690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채널</a:t>
            </a:r>
            <a:endParaRPr lang="en-US" sz="980" dirty="0"/>
          </a:p>
        </p:txBody>
      </p:sp>
      <p:sp>
        <p:nvSpPr>
          <p:cNvPr id="10" name="Text 7"/>
          <p:cNvSpPr txBox="1"/>
          <p:nvPr/>
        </p:nvSpPr>
        <p:spPr>
          <a:xfrm>
            <a:off x="1123950" y="2076450"/>
            <a:ext cx="152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 Play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89560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6705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연휴</a:t>
            </a:r>
            <a:endParaRPr lang="en-US" sz="980" dirty="0"/>
          </a:p>
        </p:txBody>
      </p:sp>
      <p:sp>
        <p:nvSpPr>
          <p:cNvPr id="13" name="Text 10"/>
          <p:cNvSpPr txBox="1"/>
          <p:nvPr/>
        </p:nvSpPr>
        <p:spPr>
          <a:xfrm>
            <a:off x="306705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+5.4%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460248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7393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시장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477393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+40.1%</a:t>
            </a:r>
            <a:endParaRPr lang="en-US" sz="2030" dirty="0"/>
          </a:p>
        </p:txBody>
      </p:sp>
      <p:sp>
        <p:nvSpPr>
          <p:cNvPr id="17" name="Shape 14"/>
          <p:cNvSpPr/>
          <p:nvPr/>
        </p:nvSpPr>
        <p:spPr>
          <a:xfrm>
            <a:off x="630936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8081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등위</a:t>
            </a:r>
            <a:endParaRPr lang="en-US" sz="980" dirty="0"/>
          </a:p>
        </p:txBody>
      </p:sp>
      <p:sp>
        <p:nvSpPr>
          <p:cNvPr id="19" name="Text 16"/>
          <p:cNvSpPr txBox="1"/>
          <p:nvPr/>
        </p:nvSpPr>
        <p:spPr>
          <a:xfrm>
            <a:off x="648081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41→43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801624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8769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Reach</a:t>
            </a:r>
            <a:endParaRPr lang="en-US" sz="980" dirty="0"/>
          </a:p>
        </p:txBody>
      </p:sp>
      <p:sp>
        <p:nvSpPr>
          <p:cNvPr id="22" name="Text 19"/>
          <p:cNvSpPr txBox="1"/>
          <p:nvPr/>
        </p:nvSpPr>
        <p:spPr>
          <a:xfrm>
            <a:off x="818769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+33.2%</a:t>
            </a:r>
            <a:endParaRPr lang="en-US" sz="2030" dirty="0"/>
          </a:p>
        </p:txBody>
      </p:sp>
      <p:sp>
        <p:nvSpPr>
          <p:cNvPr id="23" name="Shape 20"/>
          <p:cNvSpPr/>
          <p:nvPr/>
        </p:nvSpPr>
        <p:spPr>
          <a:xfrm>
            <a:off x="972312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9457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ATS</a:t>
            </a:r>
            <a:endParaRPr lang="en-US" sz="980" dirty="0"/>
          </a:p>
        </p:txBody>
      </p:sp>
      <p:sp>
        <p:nvSpPr>
          <p:cNvPr id="25" name="Text 22"/>
          <p:cNvSpPr txBox="1"/>
          <p:nvPr/>
        </p:nvSpPr>
        <p:spPr>
          <a:xfrm>
            <a:off x="989457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-20.2%</a:t>
            </a:r>
            <a:endParaRPr lang="en-US" sz="2030" dirty="0"/>
          </a:p>
        </p:txBody>
      </p:sp>
      <p:sp>
        <p:nvSpPr>
          <p:cNvPr id="26" name="Shape 23"/>
          <p:cNvSpPr/>
          <p:nvPr/>
        </p:nvSpPr>
        <p:spPr>
          <a:xfrm>
            <a:off x="914400" y="28575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123950" y="30289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 판단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123950" y="33147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낮 시간대에서 강한 유입을 만들었으나 저녁·심야에서 시청 지속이 급락.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2200" y="28575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381750" y="30289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데이터 근거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381750" y="33147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오전 +40.8%·오후 +23.9% / 프라임 -39.0%. 〈무한도전〉 8.53배.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14400" y="42291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123950" y="44005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해석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23950" y="46863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〈아이 캔 스피크〉 0.47배, 〈검은 사제들〉 0.43배. ‘영화 장르’가 아니라 구작·자리 조합 문제.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172200" y="42291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81750" y="44005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다음 명절 액션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6381750" y="46863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검증 예능 IP를 낮 블록 주력으로 고정. 영화는 최신성·TV 첫 공개·슬롯 적합도를 동시 평가.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14400" y="571500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 카드 비교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1962150" y="5724525"/>
            <a:ext cx="1400175" cy="28575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962150" y="5724525"/>
            <a:ext cx="14001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무한도전 8.53배</a:t>
            </a:r>
            <a:endParaRPr lang="en-US" sz="1010" dirty="0"/>
          </a:p>
        </p:txBody>
      </p:sp>
      <p:sp>
        <p:nvSpPr>
          <p:cNvPr id="41" name="Shape 38"/>
          <p:cNvSpPr/>
          <p:nvPr/>
        </p:nvSpPr>
        <p:spPr>
          <a:xfrm>
            <a:off x="3457575" y="5724525"/>
            <a:ext cx="1819275" cy="285750"/>
          </a:xfrm>
          <a:prstGeom prst="roundRect">
            <a:avLst>
              <a:gd name="adj" fmla="val 50000"/>
            </a:avLst>
          </a:prstGeom>
          <a:solidFill>
            <a:srgbClr val="FBECEC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457575" y="5724525"/>
            <a:ext cx="1819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아이 캔 스피크 0.47배</a:t>
            </a:r>
            <a:endParaRPr lang="en-US" sz="1010" dirty="0"/>
          </a:p>
        </p:txBody>
      </p:sp>
      <p:sp>
        <p:nvSpPr>
          <p:cNvPr id="43" name="Shape 40"/>
          <p:cNvSpPr/>
          <p:nvPr/>
        </p:nvSpPr>
        <p:spPr>
          <a:xfrm>
            <a:off x="5372100" y="5724525"/>
            <a:ext cx="1609725" cy="285750"/>
          </a:xfrm>
          <a:prstGeom prst="roundRect">
            <a:avLst>
              <a:gd name="adj" fmla="val 50000"/>
            </a:avLst>
          </a:prstGeom>
          <a:solidFill>
            <a:srgbClr val="FBECEC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372100" y="5724525"/>
            <a:ext cx="1609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검은 사제들 0.43배</a:t>
            </a:r>
            <a:endParaRPr lang="en-US" sz="1010" dirty="0"/>
          </a:p>
        </p:txBody>
      </p:sp>
      <p:sp>
        <p:nvSpPr>
          <p:cNvPr id="45" name="Text 42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확정본 ENA Play 실측 · 경쟁사 특선영화 비교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17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· 채널 심층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 Drama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FCFDA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|  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연속 편성은 유지하되, 라인업을 2049에 맞춰야 한다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각 채널은 ‘시장 대비 → 시간대 → 특집/신규 효과 → 다음 액션’ 순으로 읽음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14500"/>
            <a:ext cx="1828800" cy="990600"/>
          </a:xfrm>
          <a:prstGeom prst="roundRect">
            <a:avLst>
              <a:gd name="adj" fmla="val 13462"/>
            </a:avLst>
          </a:prstGeom>
          <a:solidFill>
            <a:srgbClr val="2C24C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23950" y="186690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채널</a:t>
            </a:r>
            <a:endParaRPr lang="en-US" sz="980" dirty="0"/>
          </a:p>
        </p:txBody>
      </p:sp>
      <p:sp>
        <p:nvSpPr>
          <p:cNvPr id="10" name="Text 7"/>
          <p:cNvSpPr txBox="1"/>
          <p:nvPr/>
        </p:nvSpPr>
        <p:spPr>
          <a:xfrm>
            <a:off x="1123950" y="2076450"/>
            <a:ext cx="152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 Drama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89560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6705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연휴</a:t>
            </a:r>
            <a:endParaRPr lang="en-US" sz="980" dirty="0"/>
          </a:p>
        </p:txBody>
      </p:sp>
      <p:sp>
        <p:nvSpPr>
          <p:cNvPr id="13" name="Text 10"/>
          <p:cNvSpPr txBox="1"/>
          <p:nvPr/>
        </p:nvSpPr>
        <p:spPr>
          <a:xfrm>
            <a:off x="306705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-31.9%</a:t>
            </a:r>
            <a:endParaRPr lang="en-US" sz="2030" dirty="0"/>
          </a:p>
        </p:txBody>
      </p:sp>
      <p:sp>
        <p:nvSpPr>
          <p:cNvPr id="14" name="Shape 11"/>
          <p:cNvSpPr/>
          <p:nvPr/>
        </p:nvSpPr>
        <p:spPr>
          <a:xfrm>
            <a:off x="460248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7393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시장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477393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+40.1%</a:t>
            </a:r>
            <a:endParaRPr lang="en-US" sz="2030" dirty="0"/>
          </a:p>
        </p:txBody>
      </p:sp>
      <p:sp>
        <p:nvSpPr>
          <p:cNvPr id="17" name="Shape 14"/>
          <p:cNvSpPr/>
          <p:nvPr/>
        </p:nvSpPr>
        <p:spPr>
          <a:xfrm>
            <a:off x="630936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8081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등위</a:t>
            </a:r>
            <a:endParaRPr lang="en-US" sz="980" dirty="0"/>
          </a:p>
        </p:txBody>
      </p:sp>
      <p:sp>
        <p:nvSpPr>
          <p:cNvPr id="19" name="Text 16"/>
          <p:cNvSpPr txBox="1"/>
          <p:nvPr/>
        </p:nvSpPr>
        <p:spPr>
          <a:xfrm>
            <a:off x="648081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35→50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801624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8769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Reach</a:t>
            </a:r>
            <a:endParaRPr lang="en-US" sz="980" dirty="0"/>
          </a:p>
        </p:txBody>
      </p:sp>
      <p:sp>
        <p:nvSpPr>
          <p:cNvPr id="22" name="Text 19"/>
          <p:cNvSpPr txBox="1"/>
          <p:nvPr/>
        </p:nvSpPr>
        <p:spPr>
          <a:xfrm>
            <a:off x="818769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+26.7%</a:t>
            </a:r>
            <a:endParaRPr lang="en-US" sz="2030" dirty="0"/>
          </a:p>
        </p:txBody>
      </p:sp>
      <p:sp>
        <p:nvSpPr>
          <p:cNvPr id="23" name="Shape 20"/>
          <p:cNvSpPr/>
          <p:nvPr/>
        </p:nvSpPr>
        <p:spPr>
          <a:xfrm>
            <a:off x="972312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9457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ATS</a:t>
            </a:r>
            <a:endParaRPr lang="en-US" sz="980" dirty="0"/>
          </a:p>
        </p:txBody>
      </p:sp>
      <p:sp>
        <p:nvSpPr>
          <p:cNvPr id="25" name="Text 22"/>
          <p:cNvSpPr txBox="1"/>
          <p:nvPr/>
        </p:nvSpPr>
        <p:spPr>
          <a:xfrm>
            <a:off x="989457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-46.3%</a:t>
            </a:r>
            <a:endParaRPr lang="en-US" sz="2030" dirty="0"/>
          </a:p>
        </p:txBody>
      </p:sp>
      <p:sp>
        <p:nvSpPr>
          <p:cNvPr id="26" name="Shape 23"/>
          <p:cNvSpPr/>
          <p:nvPr/>
        </p:nvSpPr>
        <p:spPr>
          <a:xfrm>
            <a:off x="914400" y="28575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123950" y="30289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 판단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123950" y="33147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유입은 있었지만 핵심 KPI인 수도권 2049가 크게 감소. 50대 이상 남성 쪽으로 시청이 이동.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2200" y="28575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381750" y="30289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데이터 근거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381750" y="33147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50대 남 +97.8%·60대+ 남 +68.3% 수준, 40대 남 -54.7%·40대 여 -39.5%.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14400" y="42291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123950" y="44005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해석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23950" y="46863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〈신병4〉 0.50~0.80배·〈재벌X형사2〉 0.23배. 같은 신병4가 ENA에서는 2.94배.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172200" y="42291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81750" y="44005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다음 명절 액션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6381750" y="46863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연속 편성 전술은 유지하되 3040 최근작으로 교체. 투입 전 2049 적합도 사전 검증.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14400" y="571500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타깃 변화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1962150" y="5724525"/>
            <a:ext cx="1390650" cy="28575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962150" y="5724525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50대 남 +97.8%</a:t>
            </a:r>
            <a:endParaRPr lang="en-US" sz="1010" dirty="0"/>
          </a:p>
        </p:txBody>
      </p:sp>
      <p:sp>
        <p:nvSpPr>
          <p:cNvPr id="41" name="Shape 38"/>
          <p:cNvSpPr/>
          <p:nvPr/>
        </p:nvSpPr>
        <p:spPr>
          <a:xfrm>
            <a:off x="3448050" y="5724525"/>
            <a:ext cx="1390650" cy="285750"/>
          </a:xfrm>
          <a:prstGeom prst="roundRect">
            <a:avLst>
              <a:gd name="adj" fmla="val 50000"/>
            </a:avLst>
          </a:prstGeom>
          <a:solidFill>
            <a:srgbClr val="FBECEC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448050" y="5724525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40대 남 -54.7%</a:t>
            </a:r>
            <a:endParaRPr lang="en-US" sz="1010" dirty="0"/>
          </a:p>
        </p:txBody>
      </p:sp>
      <p:sp>
        <p:nvSpPr>
          <p:cNvPr id="43" name="Shape 40"/>
          <p:cNvSpPr/>
          <p:nvPr/>
        </p:nvSpPr>
        <p:spPr>
          <a:xfrm>
            <a:off x="4933950" y="5724525"/>
            <a:ext cx="1390650" cy="285750"/>
          </a:xfrm>
          <a:prstGeom prst="roundRect">
            <a:avLst>
              <a:gd name="adj" fmla="val 50000"/>
            </a:avLst>
          </a:prstGeom>
          <a:solidFill>
            <a:srgbClr val="FBECEC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933950" y="5724525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40대 여 -39.5%</a:t>
            </a:r>
            <a:endParaRPr lang="en-US" sz="1010" dirty="0"/>
          </a:p>
        </p:txBody>
      </p:sp>
      <p:sp>
        <p:nvSpPr>
          <p:cNvPr id="45" name="Text 42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확정본 ENA Drama 실측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18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· 채널 심층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 Story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FCFDA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|  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이번 연휴에서 가장 재현 가능한 성공 사례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각 채널은 ‘시장 대비 → 시간대 → 특집/신규 효과 → 다음 액션’ 순으로 읽음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14500"/>
            <a:ext cx="1828800" cy="990600"/>
          </a:xfrm>
          <a:prstGeom prst="roundRect">
            <a:avLst>
              <a:gd name="adj" fmla="val 13462"/>
            </a:avLst>
          </a:prstGeom>
          <a:solidFill>
            <a:srgbClr val="2C24C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23950" y="186690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채널</a:t>
            </a:r>
            <a:endParaRPr lang="en-US" sz="980" dirty="0"/>
          </a:p>
        </p:txBody>
      </p:sp>
      <p:sp>
        <p:nvSpPr>
          <p:cNvPr id="10" name="Text 7"/>
          <p:cNvSpPr txBox="1"/>
          <p:nvPr/>
        </p:nvSpPr>
        <p:spPr>
          <a:xfrm>
            <a:off x="1123950" y="2076450"/>
            <a:ext cx="152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 Story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89560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6705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연휴</a:t>
            </a:r>
            <a:endParaRPr lang="en-US" sz="980" dirty="0"/>
          </a:p>
        </p:txBody>
      </p:sp>
      <p:sp>
        <p:nvSpPr>
          <p:cNvPr id="13" name="Text 10"/>
          <p:cNvSpPr txBox="1"/>
          <p:nvPr/>
        </p:nvSpPr>
        <p:spPr>
          <a:xfrm>
            <a:off x="306705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+39.4%</a:t>
            </a:r>
            <a:endParaRPr lang="en-US" sz="2030" dirty="0"/>
          </a:p>
        </p:txBody>
      </p:sp>
      <p:sp>
        <p:nvSpPr>
          <p:cNvPr id="14" name="Shape 11"/>
          <p:cNvSpPr/>
          <p:nvPr/>
        </p:nvSpPr>
        <p:spPr>
          <a:xfrm>
            <a:off x="460248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7393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시장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477393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+17.0%</a:t>
            </a:r>
            <a:endParaRPr lang="en-US" sz="2030" dirty="0"/>
          </a:p>
        </p:txBody>
      </p:sp>
      <p:sp>
        <p:nvSpPr>
          <p:cNvPr id="17" name="Shape 14"/>
          <p:cNvSpPr/>
          <p:nvPr/>
        </p:nvSpPr>
        <p:spPr>
          <a:xfrm>
            <a:off x="630936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8081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등위</a:t>
            </a:r>
            <a:endParaRPr lang="en-US" sz="980" dirty="0"/>
          </a:p>
        </p:txBody>
      </p:sp>
      <p:sp>
        <p:nvSpPr>
          <p:cNvPr id="19" name="Text 16"/>
          <p:cNvSpPr txBox="1"/>
          <p:nvPr/>
        </p:nvSpPr>
        <p:spPr>
          <a:xfrm>
            <a:off x="648081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72→61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801624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8769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Reach</a:t>
            </a:r>
            <a:endParaRPr lang="en-US" sz="980" dirty="0"/>
          </a:p>
        </p:txBody>
      </p:sp>
      <p:sp>
        <p:nvSpPr>
          <p:cNvPr id="22" name="Text 19"/>
          <p:cNvSpPr txBox="1"/>
          <p:nvPr/>
        </p:nvSpPr>
        <p:spPr>
          <a:xfrm>
            <a:off x="818769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+26.7%</a:t>
            </a:r>
            <a:endParaRPr lang="en-US" sz="2030" dirty="0"/>
          </a:p>
        </p:txBody>
      </p:sp>
      <p:sp>
        <p:nvSpPr>
          <p:cNvPr id="23" name="Shape 20"/>
          <p:cNvSpPr/>
          <p:nvPr/>
        </p:nvSpPr>
        <p:spPr>
          <a:xfrm>
            <a:off x="972312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9457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ATS</a:t>
            </a:r>
            <a:endParaRPr lang="en-US" sz="980" dirty="0"/>
          </a:p>
        </p:txBody>
      </p:sp>
      <p:sp>
        <p:nvSpPr>
          <p:cNvPr id="25" name="Text 22"/>
          <p:cNvSpPr txBox="1"/>
          <p:nvPr/>
        </p:nvSpPr>
        <p:spPr>
          <a:xfrm>
            <a:off x="989457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+9.9%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914400" y="28575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123950" y="30289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 판단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123950" y="33147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인기 IP 자체보다 ‘명절에 왜 보는가’를 콘텐츠 주제에 붙인 것이 주효.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2200" y="28575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381750" y="30289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데이터 근거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381750" y="33147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새벽 +72.2%·오전 +23.0%·오후 +33.4%·프라임 +31.2%로 전 구간 상승.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14400" y="42291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123950" y="44005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해석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23950" y="46863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〈한블리〉 귀성길 안전 큐레이션 2.27~3.14배. Reach와 ATS가 동시에 오른 유일 채널.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172200" y="42291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81750" y="44005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다음 명절 액션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6381750" y="46863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귀성·귀경·가족·안전을 축으로 전용 큐레이션. 전야/1일차와 마지막 날을 다르게 설계.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14400" y="571500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재현 포인트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1962150" y="5724525"/>
            <a:ext cx="1657350" cy="28575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962150" y="5724525"/>
            <a:ext cx="1657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한블리 2.27~3.14배</a:t>
            </a:r>
            <a:endParaRPr lang="en-US" sz="1010" dirty="0"/>
          </a:p>
        </p:txBody>
      </p:sp>
      <p:sp>
        <p:nvSpPr>
          <p:cNvPr id="41" name="Shape 38"/>
          <p:cNvSpPr/>
          <p:nvPr/>
        </p:nvSpPr>
        <p:spPr>
          <a:xfrm>
            <a:off x="3714750" y="5724525"/>
            <a:ext cx="1285875" cy="28575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714750" y="5724525"/>
            <a:ext cx="1285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프라임 +31.2%</a:t>
            </a:r>
            <a:endParaRPr lang="en-US" sz="1010" dirty="0"/>
          </a:p>
        </p:txBody>
      </p:sp>
      <p:sp>
        <p:nvSpPr>
          <p:cNvPr id="43" name="Shape 40"/>
          <p:cNvSpPr/>
          <p:nvPr/>
        </p:nvSpPr>
        <p:spPr>
          <a:xfrm>
            <a:off x="5095875" y="5724525"/>
            <a:ext cx="1466850" cy="285750"/>
          </a:xfrm>
          <a:prstGeom prst="roundRect">
            <a:avLst>
              <a:gd name="adj" fmla="val 50000"/>
            </a:avLst>
          </a:prstGeom>
          <a:solidFill>
            <a:srgbClr val="E8F5E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095875" y="5724525"/>
            <a:ext cx="1466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1F9D6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Reach·ATS 동시↑</a:t>
            </a:r>
            <a:endParaRPr lang="en-US" sz="1010" dirty="0"/>
          </a:p>
        </p:txBody>
      </p:sp>
      <p:sp>
        <p:nvSpPr>
          <p:cNvPr id="45" name="Text 42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확정본 ENA Story 실측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19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· 채널 심층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OLIFE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FCFDA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|  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성장보다 ‘중계 방어 채널’ 역할이 분명했다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각 채널은 ‘시장 대비 → 시간대 → 특집/신규 효과 → 다음 액션’ 순으로 읽음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14500"/>
            <a:ext cx="1828800" cy="990600"/>
          </a:xfrm>
          <a:prstGeom prst="roundRect">
            <a:avLst>
              <a:gd name="adj" fmla="val 13462"/>
            </a:avLst>
          </a:prstGeom>
          <a:solidFill>
            <a:srgbClr val="2C24C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23950" y="186690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채널</a:t>
            </a:r>
            <a:endParaRPr lang="en-US" sz="980" dirty="0"/>
          </a:p>
        </p:txBody>
      </p:sp>
      <p:sp>
        <p:nvSpPr>
          <p:cNvPr id="10" name="Text 7"/>
          <p:cNvSpPr txBox="1"/>
          <p:nvPr/>
        </p:nvSpPr>
        <p:spPr>
          <a:xfrm>
            <a:off x="1123950" y="2076450"/>
            <a:ext cx="152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OLIFE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289560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6705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연휴</a:t>
            </a:r>
            <a:endParaRPr lang="en-US" sz="980" dirty="0"/>
          </a:p>
        </p:txBody>
      </p:sp>
      <p:sp>
        <p:nvSpPr>
          <p:cNvPr id="13" name="Text 10"/>
          <p:cNvSpPr txBox="1"/>
          <p:nvPr/>
        </p:nvSpPr>
        <p:spPr>
          <a:xfrm>
            <a:off x="306705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-6.8%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460248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7393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시장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477393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+17.0%</a:t>
            </a:r>
            <a:endParaRPr lang="en-US" sz="2030" dirty="0"/>
          </a:p>
        </p:txBody>
      </p:sp>
      <p:sp>
        <p:nvSpPr>
          <p:cNvPr id="17" name="Shape 14"/>
          <p:cNvSpPr/>
          <p:nvPr/>
        </p:nvSpPr>
        <p:spPr>
          <a:xfrm>
            <a:off x="630936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8081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등위</a:t>
            </a:r>
            <a:endParaRPr lang="en-US" sz="980" dirty="0"/>
          </a:p>
        </p:txBody>
      </p:sp>
      <p:sp>
        <p:nvSpPr>
          <p:cNvPr id="19" name="Text 16"/>
          <p:cNvSpPr txBox="1"/>
          <p:nvPr/>
        </p:nvSpPr>
        <p:spPr>
          <a:xfrm>
            <a:off x="648081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31→37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801624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8769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Reach</a:t>
            </a:r>
            <a:endParaRPr lang="en-US" sz="980" dirty="0"/>
          </a:p>
        </p:txBody>
      </p:sp>
      <p:sp>
        <p:nvSpPr>
          <p:cNvPr id="22" name="Text 19"/>
          <p:cNvSpPr txBox="1"/>
          <p:nvPr/>
        </p:nvSpPr>
        <p:spPr>
          <a:xfrm>
            <a:off x="818769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+9.0%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972312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9457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ATS</a:t>
            </a:r>
            <a:endParaRPr lang="en-US" sz="980" dirty="0"/>
          </a:p>
        </p:txBody>
      </p:sp>
      <p:sp>
        <p:nvSpPr>
          <p:cNvPr id="25" name="Text 22"/>
          <p:cNvSpPr txBox="1"/>
          <p:nvPr/>
        </p:nvSpPr>
        <p:spPr>
          <a:xfrm>
            <a:off x="989457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-15.6%</a:t>
            </a:r>
            <a:endParaRPr lang="en-US" sz="2030" dirty="0"/>
          </a:p>
        </p:txBody>
      </p:sp>
      <p:sp>
        <p:nvSpPr>
          <p:cNvPr id="26" name="Shape 23"/>
          <p:cNvSpPr/>
          <p:nvPr/>
        </p:nvSpPr>
        <p:spPr>
          <a:xfrm>
            <a:off x="914400" y="28575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123950" y="30289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 판단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123950" y="33147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특집량은 적었지만 스포츠와 시청층이 덜 겹쳐 강중계 구간 방어력이 확인됨.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2200" y="28575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381750" y="30289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데이터 근거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381750" y="33147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09/26 18:30~21:30 0.176으로 당사 최고. 100m 결승 시각에도 0.118.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14400" y="42291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123950" y="44005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해석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23950" y="46863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〈세계테마기행〉 일부 회차 0.16~2.54배, 〈극한직업〉 일부 0.72~0.88배. 단순 간판 증편만으로는 부족.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172200" y="42291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81750" y="44005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다음 명절 액션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6381750" y="46863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명절 전용 신규·미방영 회차 확보. 강중계 저녁의 방어 슬롯으로 공식화.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14400" y="571500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방어 역할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1962150" y="5724525"/>
            <a:ext cx="2143125" cy="28575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962150" y="5724525"/>
            <a:ext cx="2143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09/26 18:30~21:30 0.176</a:t>
            </a:r>
            <a:endParaRPr lang="en-US" sz="1010" dirty="0"/>
          </a:p>
        </p:txBody>
      </p:sp>
      <p:sp>
        <p:nvSpPr>
          <p:cNvPr id="41" name="Shape 38"/>
          <p:cNvSpPr/>
          <p:nvPr/>
        </p:nvSpPr>
        <p:spPr>
          <a:xfrm>
            <a:off x="4200525" y="5724525"/>
            <a:ext cx="1466850" cy="285750"/>
          </a:xfrm>
          <a:prstGeom prst="roundRect">
            <a:avLst>
              <a:gd name="adj" fmla="val 50000"/>
            </a:avLst>
          </a:prstGeom>
          <a:solidFill>
            <a:srgbClr val="F3F3FD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200525" y="5724525"/>
            <a:ext cx="1466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100m 시각 0.118</a:t>
            </a:r>
            <a:endParaRPr lang="en-US" sz="1010" dirty="0"/>
          </a:p>
        </p:txBody>
      </p:sp>
      <p:sp>
        <p:nvSpPr>
          <p:cNvPr id="43" name="Text 40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확정본 OLIFE 실측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· 채널 심층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ONCE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FCFDA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|  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연휴 대응 편성과 구작 장편 몰아보기 모두 보강 필요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각 채널은 ‘시장 대비 → 시간대 → 특집/신규 효과 → 다음 액션’ 순으로 읽음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14500"/>
            <a:ext cx="1828800" cy="990600"/>
          </a:xfrm>
          <a:prstGeom prst="roundRect">
            <a:avLst>
              <a:gd name="adj" fmla="val 13462"/>
            </a:avLst>
          </a:prstGeom>
          <a:solidFill>
            <a:srgbClr val="2C24C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23950" y="186690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채널</a:t>
            </a:r>
            <a:endParaRPr lang="en-US" sz="980" dirty="0"/>
          </a:p>
        </p:txBody>
      </p:sp>
      <p:sp>
        <p:nvSpPr>
          <p:cNvPr id="10" name="Text 7"/>
          <p:cNvSpPr txBox="1"/>
          <p:nvPr/>
        </p:nvSpPr>
        <p:spPr>
          <a:xfrm>
            <a:off x="1123950" y="2076450"/>
            <a:ext cx="152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ONCE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289560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6705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연휴</a:t>
            </a:r>
            <a:endParaRPr lang="en-US" sz="980" dirty="0"/>
          </a:p>
        </p:txBody>
      </p:sp>
      <p:sp>
        <p:nvSpPr>
          <p:cNvPr id="13" name="Text 10"/>
          <p:cNvSpPr txBox="1"/>
          <p:nvPr/>
        </p:nvSpPr>
        <p:spPr>
          <a:xfrm>
            <a:off x="306705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-8.6%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460248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7393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시장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477393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+17.0%</a:t>
            </a:r>
            <a:endParaRPr lang="en-US" sz="2030" dirty="0"/>
          </a:p>
        </p:txBody>
      </p:sp>
      <p:sp>
        <p:nvSpPr>
          <p:cNvPr id="17" name="Shape 14"/>
          <p:cNvSpPr/>
          <p:nvPr/>
        </p:nvSpPr>
        <p:spPr>
          <a:xfrm>
            <a:off x="630936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8081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등위</a:t>
            </a:r>
            <a:endParaRPr lang="en-US" sz="980" dirty="0"/>
          </a:p>
        </p:txBody>
      </p:sp>
      <p:sp>
        <p:nvSpPr>
          <p:cNvPr id="19" name="Text 16"/>
          <p:cNvSpPr txBox="1"/>
          <p:nvPr/>
        </p:nvSpPr>
        <p:spPr>
          <a:xfrm>
            <a:off x="648081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66→76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801624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8769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Reach</a:t>
            </a:r>
            <a:endParaRPr lang="en-US" sz="980" dirty="0"/>
          </a:p>
        </p:txBody>
      </p:sp>
      <p:sp>
        <p:nvSpPr>
          <p:cNvPr id="22" name="Text 19"/>
          <p:cNvSpPr txBox="1"/>
          <p:nvPr/>
        </p:nvSpPr>
        <p:spPr>
          <a:xfrm>
            <a:off x="818769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+13.8%</a:t>
            </a:r>
            <a:endParaRPr lang="en-US" sz="2030" dirty="0"/>
          </a:p>
        </p:txBody>
      </p:sp>
      <p:sp>
        <p:nvSpPr>
          <p:cNvPr id="23" name="Shape 20"/>
          <p:cNvSpPr/>
          <p:nvPr/>
        </p:nvSpPr>
        <p:spPr>
          <a:xfrm>
            <a:off x="972312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9457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ATS</a:t>
            </a:r>
            <a:endParaRPr lang="en-US" sz="980" dirty="0"/>
          </a:p>
        </p:txBody>
      </p:sp>
      <p:sp>
        <p:nvSpPr>
          <p:cNvPr id="25" name="Text 22"/>
          <p:cNvSpPr txBox="1"/>
          <p:nvPr/>
        </p:nvSpPr>
        <p:spPr>
          <a:xfrm>
            <a:off x="989457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-20.2%</a:t>
            </a:r>
            <a:endParaRPr lang="en-US" sz="2030" dirty="0"/>
          </a:p>
        </p:txBody>
      </p:sp>
      <p:sp>
        <p:nvSpPr>
          <p:cNvPr id="26" name="Shape 23"/>
          <p:cNvSpPr/>
          <p:nvPr/>
        </p:nvSpPr>
        <p:spPr>
          <a:xfrm>
            <a:off x="914400" y="28575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123950" y="30289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 판단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123950" y="33147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연휴 유입은 늘었지만 체류가 감소. 장편 구작을 프라임까지 끌고 가는 전략은 효율이 낮음.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2200" y="28575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381750" y="30289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데이터 근거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381750" y="33147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프라임 -16.5%. 〈제빵왕 김탁구〉 몰아보기 0.51배, 1편→마지막 34%.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14400" y="42291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123950" y="44005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해석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23950" y="46863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오전 -2.3%, 오후 -7.2%보다 저녁·심야 +0.6%가 상대적으로 낫지만 큰 상승은 없음.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172200" y="42291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81750" y="44005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다음 명절 액션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6381750" y="46863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연휴 대응 비중부터 확보. 몰아보기는 낮·3편 이내로 축소하고 프라임 통과를 피함.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14400" y="571500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몰아보기 추이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1962150" y="5724525"/>
            <a:ext cx="1743075" cy="285750"/>
          </a:xfrm>
          <a:prstGeom prst="roundRect">
            <a:avLst>
              <a:gd name="adj" fmla="val 50000"/>
            </a:avLst>
          </a:prstGeom>
          <a:solidFill>
            <a:srgbClr val="FBECEC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962150" y="5724525"/>
            <a:ext cx="17430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제빵왕 김탁구 0.51배</a:t>
            </a:r>
            <a:endParaRPr lang="en-US" sz="1010" dirty="0"/>
          </a:p>
        </p:txBody>
      </p:sp>
      <p:sp>
        <p:nvSpPr>
          <p:cNvPr id="41" name="Shape 38"/>
          <p:cNvSpPr/>
          <p:nvPr/>
        </p:nvSpPr>
        <p:spPr>
          <a:xfrm>
            <a:off x="3800475" y="5724525"/>
            <a:ext cx="1343025" cy="285750"/>
          </a:xfrm>
          <a:prstGeom prst="roundRect">
            <a:avLst>
              <a:gd name="adj" fmla="val 50000"/>
            </a:avLst>
          </a:prstGeom>
          <a:solidFill>
            <a:srgbClr val="FBECEC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800475" y="5724525"/>
            <a:ext cx="13430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1편→마지막 34%</a:t>
            </a:r>
            <a:endParaRPr lang="en-US" sz="1010" dirty="0"/>
          </a:p>
        </p:txBody>
      </p:sp>
      <p:sp>
        <p:nvSpPr>
          <p:cNvPr id="43" name="Text 40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확정본 ONCE 실측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21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· 채널 심층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skyUHD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FCFDA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|  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절대값이 낮아 이번 확정본에서도 판정은 보류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각 채널은 ‘시장 대비 → 시간대 → 특집/신규 효과 → 다음 액션’ 순으로 읽음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14500"/>
            <a:ext cx="1828800" cy="990600"/>
          </a:xfrm>
          <a:prstGeom prst="roundRect">
            <a:avLst>
              <a:gd name="adj" fmla="val 13462"/>
            </a:avLst>
          </a:prstGeom>
          <a:solidFill>
            <a:srgbClr val="2C24C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23950" y="186690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채널</a:t>
            </a:r>
            <a:endParaRPr lang="en-US" sz="980" dirty="0"/>
          </a:p>
        </p:txBody>
      </p:sp>
      <p:sp>
        <p:nvSpPr>
          <p:cNvPr id="10" name="Text 7"/>
          <p:cNvSpPr txBox="1"/>
          <p:nvPr/>
        </p:nvSpPr>
        <p:spPr>
          <a:xfrm>
            <a:off x="1123950" y="2076450"/>
            <a:ext cx="152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skyUHD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289560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6705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연휴</a:t>
            </a:r>
            <a:endParaRPr lang="en-US" sz="980" dirty="0"/>
          </a:p>
        </p:txBody>
      </p:sp>
      <p:sp>
        <p:nvSpPr>
          <p:cNvPr id="13" name="Text 10"/>
          <p:cNvSpPr txBox="1"/>
          <p:nvPr/>
        </p:nvSpPr>
        <p:spPr>
          <a:xfrm>
            <a:off x="306705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+155.1%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460248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7393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시장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477393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+17.0%</a:t>
            </a:r>
            <a:endParaRPr lang="en-US" sz="2030" dirty="0"/>
          </a:p>
        </p:txBody>
      </p:sp>
      <p:sp>
        <p:nvSpPr>
          <p:cNvPr id="17" name="Shape 14"/>
          <p:cNvSpPr/>
          <p:nvPr/>
        </p:nvSpPr>
        <p:spPr>
          <a:xfrm>
            <a:off x="630936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8081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등위</a:t>
            </a:r>
            <a:endParaRPr lang="en-US" sz="980" dirty="0"/>
          </a:p>
        </p:txBody>
      </p:sp>
      <p:sp>
        <p:nvSpPr>
          <p:cNvPr id="19" name="Text 16"/>
          <p:cNvSpPr txBox="1"/>
          <p:nvPr/>
        </p:nvSpPr>
        <p:spPr>
          <a:xfrm>
            <a:off x="648081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201→187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801624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8769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연휴 시청률</a:t>
            </a:r>
            <a:endParaRPr lang="en-US" sz="980" dirty="0"/>
          </a:p>
        </p:txBody>
      </p:sp>
      <p:sp>
        <p:nvSpPr>
          <p:cNvPr id="22" name="Text 19"/>
          <p:cNvSpPr txBox="1"/>
          <p:nvPr/>
        </p:nvSpPr>
        <p:spPr>
          <a:xfrm>
            <a:off x="818769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0.004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9723120" y="1714500"/>
            <a:ext cx="155448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94570" y="1866900"/>
            <a:ext cx="1211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판정</a:t>
            </a:r>
            <a:endParaRPr lang="en-US" sz="980" dirty="0"/>
          </a:p>
        </p:txBody>
      </p:sp>
      <p:sp>
        <p:nvSpPr>
          <p:cNvPr id="25" name="Text 22"/>
          <p:cNvSpPr txBox="1"/>
          <p:nvPr/>
        </p:nvSpPr>
        <p:spPr>
          <a:xfrm>
            <a:off x="9894570" y="2076450"/>
            <a:ext cx="1211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A6A6B6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보류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914400" y="28575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123950" y="30289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 판단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123950" y="33147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증감률은 커 보이지만 절대 시청률 0.004 수준이어서 성과 순위를 같은 잣대로 매기기 어려움.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2200" y="28575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381750" y="30289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데이터 근거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381750" y="33147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Reach +53.2%가 확인되지만 프로그램 단위 연휴 데이터는 아직 판정용으로 충분하지 않음.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14400" y="42291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7F7F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123950" y="44005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해석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23950" y="46863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채널 단위 상승 자체는 확인. 다만 어떤 작품·시간대가 기여했는지는 이번 자료에서 확정하지 않음.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172200" y="4229100"/>
            <a:ext cx="5105400" cy="1257300"/>
          </a:xfrm>
          <a:prstGeom prst="roundRect">
            <a:avLst>
              <a:gd name="adj" fmla="val 10606"/>
            </a:avLst>
          </a:prstGeom>
          <a:solidFill>
            <a:srgbClr val="F3F3FD"/>
          </a:solidFill>
          <a:ln w="11430">
            <a:solidFill>
              <a:srgbClr val="CDCBF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81750" y="440055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다음 명절 액션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6381750" y="4686300"/>
            <a:ext cx="4686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프로그램 단위 집계가 완성된 뒤 별도 전략 수립. 현재는 특정 장르 추천을 보류.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14400" y="571500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판정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1962150" y="5724525"/>
            <a:ext cx="1209675" cy="28575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962150" y="5724525"/>
            <a:ext cx="12096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절대값 0.004</a:t>
            </a:r>
            <a:endParaRPr lang="en-US" sz="1010" dirty="0"/>
          </a:p>
        </p:txBody>
      </p:sp>
      <p:sp>
        <p:nvSpPr>
          <p:cNvPr id="41" name="Shape 38"/>
          <p:cNvSpPr/>
          <p:nvPr/>
        </p:nvSpPr>
        <p:spPr>
          <a:xfrm>
            <a:off x="3267075" y="5724525"/>
            <a:ext cx="1352550" cy="28575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267075" y="5724525"/>
            <a:ext cx="1352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프로그램 미확정</a:t>
            </a:r>
            <a:endParaRPr lang="en-US" sz="1010" dirty="0"/>
          </a:p>
        </p:txBody>
      </p:sp>
      <p:sp>
        <p:nvSpPr>
          <p:cNvPr id="43" name="Text 40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확정본 skyUHD 채널 실측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22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 · 다음 명절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다음 명절 수급: ‘살 콘텐츠’의 기준을 바꿔야 한다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이번 연휴 데이터를 다음 구매안·편성안의 체크리스트로 전환.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14500"/>
          <a:ext cx="10363200" cy="914400"/>
        </p:xfrm>
        <a:graphic>
          <a:graphicData uri="http://schemas.openxmlformats.org/drawingml/2006/table">
            <a:tbl>
              <a:tblPr/>
              <a:tblGrid>
                <a:gridCol w="697523"/>
                <a:gridCol w="1992923"/>
                <a:gridCol w="1295400"/>
                <a:gridCol w="2989385"/>
                <a:gridCol w="3387969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등급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콘텐츠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수급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적합 채널·자리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근거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C24CE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A</a:t>
                      </a:r>
                      <a:endParaRPr lang="en-US" sz="15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검증 예능 IP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적극 확보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ENA / ENA Play · 오전~오후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〈무한도전〉 8.53배 · 〈신병4〉 2.94배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C24CE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A</a:t>
                      </a:r>
                      <a:endParaRPr lang="en-US" sz="15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명절 상황형 기획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적극 확보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ENA Story · 귀성/귀경/안전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〈한블리〉 2.27~3.14배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D49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B</a:t>
                      </a:r>
                      <a:endParaRPr lang="en-US" sz="15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TV 최초 공개 영화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선별 확보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ENA / ENA Play · 낮 또는 비중계 저녁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경쟁사 특선영화 평균 1.93배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D49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B</a:t>
                      </a:r>
                      <a:endParaRPr lang="en-US" sz="15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최근작 드라마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선별 확보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ENA Drama · 저녁 누적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채널 KPI 2049 적합도 전제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D49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B</a:t>
                      </a:r>
                      <a:endParaRPr lang="en-US" sz="15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신규 예능/파일럿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조건부 확보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ENA · 전야/낮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〈니돈내산〉 4.98배 vs 〈맡겨만 주십숏〉 0.25배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A6A6B6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C</a:t>
                      </a:r>
                      <a:endParaRPr lang="en-US" sz="15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구작 대작 영화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A6A6B6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우선순위 ↓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—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〈검은 사제들〉 채널 대비 0.12배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914400" y="5219700"/>
            <a:ext cx="10363200" cy="685800"/>
          </a:xfrm>
          <a:prstGeom prst="roundRect">
            <a:avLst>
              <a:gd name="adj" fmla="val 19444"/>
            </a:avLst>
          </a:prstGeom>
          <a:solidFill>
            <a:srgbClr val="2C24CE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43000" y="5219700"/>
            <a:ext cx="990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구매 판단의 핵심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누적 관객수 하나로 고르지 말고 ‘우리 채널 체급 × 슬롯 × 최신성 × 명절 적합성’을 함께 검토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2026 추석 연휴기간 시청률 분석(확정본) · 닐슨 실측 DB · 분석기간 09/23~09/27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 · 다음 명절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다음 명절 편성 매트릭스: 콘텐츠보다 먼저 ‘자리의 역할’을 정한다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이번 연휴 데이터에서 확인된 시간대별 운영 원칙.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14500"/>
          <a:ext cx="10363200" cy="914400"/>
        </p:xfrm>
        <a:graphic>
          <a:graphicData uri="http://schemas.openxmlformats.org/drawingml/2006/table">
            <a:tbl>
              <a:tblPr/>
              <a:tblGrid>
                <a:gridCol w="1937047"/>
                <a:gridCol w="774819"/>
                <a:gridCol w="2518161"/>
                <a:gridCol w="2227604"/>
                <a:gridCol w="2905570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시간대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권장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주력 콘텐츠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적합 채널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실측 근거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연휴 전야 프라임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C24CE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◎</a:t>
                      </a:r>
                      <a:endParaRPr lang="en-US" sz="15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신작·파일럿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〈나는 SOLO〉 1.513·점유율 18.4%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오전 09~13시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C24CE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◎</a:t>
                      </a:r>
                      <a:endParaRPr lang="en-US" sz="15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검증 예능 / 특선영화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ENA·ENA Play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〈무한도전〉·〈도굴〉 강세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오후 14~18시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C24CE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◎</a:t>
                      </a:r>
                      <a:endParaRPr lang="en-US" sz="15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예능 IP / 최근작 드라마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ENA·ENA Play·ENA Drama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ENA 오전+오후 강세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저녁 · 강중계 있음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A6A6B6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△</a:t>
                      </a:r>
                      <a:endParaRPr lang="en-US" sz="15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방어형 교양·다큐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OLIFE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중계 격전구간에서 0.176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저녁 · 강중계 없음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C24CE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◎</a:t>
                      </a:r>
                      <a:endParaRPr lang="en-US" sz="15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TV 최초 공개 영화 / 검증 IP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ENA·ENA Play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경쟁사 영화 강세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심야 23~25시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A6A6B6"/>
                          </a:solidFill>
                          <a:latin typeface="KT Flow Black" pitchFamily="34" charset="0"/>
                          <a:ea typeface="KT Flow Black" pitchFamily="34" charset="-122"/>
                          <a:cs typeface="KT Flow Black" pitchFamily="34" charset="-120"/>
                        </a:rPr>
                        <a:t>△</a:t>
                      </a:r>
                      <a:endParaRPr lang="en-US" sz="1500" dirty="0">
                        <a:latin typeface="KT Flow Black" charset="0"/>
                        <a:ea typeface="KT Flow Black" charset="0"/>
                        <a:cs typeface="KT Flow Black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최근작 드라마 / 선택 영화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 Drama·ENA</a:t>
                      </a:r>
                      <a:endParaRPr lang="en-US" sz="113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구작·교양은 지양</a:t>
                      </a:r>
                      <a:endParaRPr lang="en-US" sz="113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914400" y="514350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◎ 적극 편성  ·  △ 조건부 편성</a:t>
            </a:r>
            <a:endParaRPr lang="en-US" sz="94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2026 추석 연휴기간 시청률 분석(확정본) · 닐슨 실측 DB · 분석기간 09/23~09/27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24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 · 최종 제언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다음 명절의 편성회의에서는 이 5가지만 먼저 확인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결론을 실행 항목으로 바꾸면 수급·편성 의사결정 속도가 빨라짐.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1714500"/>
            <a:ext cx="1036320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43000" y="1714500"/>
            <a:ext cx="571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01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771650" y="1866900"/>
            <a:ext cx="9525" cy="28575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62150" y="171450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낮을 기회 시간대로 확보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286500" y="1714500"/>
            <a:ext cx="4762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검증 예능·영화·연속편성을 1순위 배치</a:t>
            </a:r>
            <a:endParaRPr lang="en-US" sz="1160" dirty="0"/>
          </a:p>
        </p:txBody>
      </p:sp>
      <p:sp>
        <p:nvSpPr>
          <p:cNvPr id="13" name="Shape 10"/>
          <p:cNvSpPr/>
          <p:nvPr/>
        </p:nvSpPr>
        <p:spPr>
          <a:xfrm>
            <a:off x="914400" y="2400300"/>
            <a:ext cx="1036320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43000" y="2400300"/>
            <a:ext cx="571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02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1771650" y="2552700"/>
            <a:ext cx="9525" cy="28575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962150" y="240030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강중계 저녁은 선택 회피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286500" y="2400300"/>
            <a:ext cx="4762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연휴 전체가 아니라 대형 이벤트가 겹친 2~3시간만 비켜가기</a:t>
            </a:r>
            <a:endParaRPr lang="en-US" sz="1160" dirty="0"/>
          </a:p>
        </p:txBody>
      </p:sp>
      <p:sp>
        <p:nvSpPr>
          <p:cNvPr id="18" name="Shape 15"/>
          <p:cNvSpPr/>
          <p:nvPr/>
        </p:nvSpPr>
        <p:spPr>
          <a:xfrm>
            <a:off x="914400" y="3086100"/>
            <a:ext cx="1036320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43000" y="3086100"/>
            <a:ext cx="571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03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771650" y="3238500"/>
            <a:ext cx="9525" cy="28575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962150" y="308610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전야를 별도 자산으로 운영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6286500" y="3086100"/>
            <a:ext cx="4762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신규 론칭·파일럿을 전야 프라임에서 시험</a:t>
            </a:r>
            <a:endParaRPr lang="en-US" sz="1160" dirty="0"/>
          </a:p>
        </p:txBody>
      </p:sp>
      <p:sp>
        <p:nvSpPr>
          <p:cNvPr id="23" name="Shape 20"/>
          <p:cNvSpPr/>
          <p:nvPr/>
        </p:nvSpPr>
        <p:spPr>
          <a:xfrm>
            <a:off x="914400" y="3771900"/>
            <a:ext cx="1036320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143000" y="3771900"/>
            <a:ext cx="571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04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1771650" y="3924300"/>
            <a:ext cx="9525" cy="28575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962150" y="377190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채널별 KPI 적합도를 먼저 검증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6286500" y="3771900"/>
            <a:ext cx="4762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같은 IP도 ENA 2.94배 vs ENA Drama 0.80배처럼 결과가 달라짐</a:t>
            </a:r>
            <a:endParaRPr lang="en-US" sz="1160" dirty="0"/>
          </a:p>
        </p:txBody>
      </p:sp>
      <p:sp>
        <p:nvSpPr>
          <p:cNvPr id="28" name="Shape 25"/>
          <p:cNvSpPr/>
          <p:nvPr/>
        </p:nvSpPr>
        <p:spPr>
          <a:xfrm>
            <a:off x="914400" y="4457700"/>
            <a:ext cx="1036320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143000" y="4457700"/>
            <a:ext cx="571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05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1771650" y="4610100"/>
            <a:ext cx="9525" cy="28575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962150" y="4457700"/>
            <a:ext cx="4191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수급안을 ‘작품 리스트’가 아니라 ‘슬롯 포함 리스트’로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6286500" y="4457700"/>
            <a:ext cx="4762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콘텐츠 구매 시 예상 채널·시간대·경쟁 이벤트까지 함께 결정</a:t>
            </a:r>
            <a:endParaRPr lang="en-US" sz="1160" dirty="0"/>
          </a:p>
        </p:txBody>
      </p:sp>
      <p:sp>
        <p:nvSpPr>
          <p:cNvPr id="33" name="Shape 30"/>
          <p:cNvSpPr/>
          <p:nvPr/>
        </p:nvSpPr>
        <p:spPr>
          <a:xfrm>
            <a:off x="914400" y="5219700"/>
            <a:ext cx="10363200" cy="685800"/>
          </a:xfrm>
          <a:prstGeom prst="roundRect">
            <a:avLst>
              <a:gd name="adj" fmla="val 19444"/>
            </a:avLst>
          </a:prstGeom>
          <a:solidFill>
            <a:srgbClr val="2C24CE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143000" y="5219700"/>
            <a:ext cx="990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최종 메시지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‘특집 편성량’이 아니라 ‘시청 이유 × 시간대 × 채널 적합도’가 명절 성과를 결정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2026 추석 연휴기간 시청률 분석(확정본) · 닐슨 실측 DB · 분석기간 09/23~09/27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na-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218" y="419100"/>
            <a:ext cx="997382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25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628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5334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부록 · 출처</a:t>
            </a:r>
            <a:endParaRPr lang="en-US" sz="113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8382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외부 기사 및 공표자료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FCFDA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|  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보고서 근거 링크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314450"/>
            <a:ext cx="962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본문 수치는 당사 Nielsen 실측 DB, 외부 시장 맥락은 아래 기사·공표자료를 교차 확인.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14500"/>
          <a:ext cx="10363200" cy="914400"/>
        </p:xfrm>
        <a:graphic>
          <a:graphicData uri="http://schemas.openxmlformats.org/drawingml/2006/table">
            <a:tbl>
              <a:tblPr/>
              <a:tblGrid>
                <a:gridCol w="1259080"/>
                <a:gridCol w="5036321"/>
                <a:gridCol w="4067798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매체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기사 제목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링크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이데일리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흥행작 ‘왕과 사는 남자’, 안방서도 터졌다…추석 연휴 시청률 1위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u="sng" dirty="0">
                          <a:solidFill>
                            <a:srgbClr val="7C7C8C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https://www.edaily.co.kr/News/Read?mediaCodeNo=257&amp;newsId=01354646645584384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뉴스1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한가위 대기획 ‘이승철 콘서트’, 국대 축구 A매치도 이겼다…분당 최고 6.1%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u="sng" dirty="0">
                          <a:solidFill>
                            <a:srgbClr val="7C7C8C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https://www.news1.kr/entertain/broadcast-tv/6301566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이투데이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추석 연휴 TV특선 총정리⋯이승철 대형 프로젝트 전격 공개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u="sng" dirty="0">
                          <a:solidFill>
                            <a:srgbClr val="7C7C8C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https://www.etoday.co.kr/news/view/2628407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이투데이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추석 연휴 TV 특선영화 총정리⋯천만 ‘왕사남’→‘가오갤’ 온다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u="sng" dirty="0">
                          <a:solidFill>
                            <a:srgbClr val="7C7C8C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https://www.etoday.co.kr/news/view/2628325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뉴시스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12년 만의 女농구 韓日전 金…순간 시청률 19.3% ‘나고야 AG 최고치’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u="sng" dirty="0">
                          <a:solidFill>
                            <a:srgbClr val="7C7C8C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https://www.newsis.com/view/NISX20260927_0003804202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iMBC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“추석에 골 선물” 韓 남자축구, 4강 진출 확정! 3x3 남자농구 사상 첫 금메달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u="sng" dirty="0">
                          <a:solidFill>
                            <a:srgbClr val="7C7C8C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https://www.imbc.com/broad/enews/view.html?idx=519273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iMBC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오상욱이 완성한 펜싱 한일전 대역전극! MBC 시청률 1위!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u="sng" dirty="0">
                          <a:solidFill>
                            <a:srgbClr val="7C7C8C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https://enews.imbc.com/M/Detail/519332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Nielsen Korea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2026.09.26 지상파 일일 TOP 20</a:t>
                      </a:r>
                      <a:endParaRPr lang="en-US" sz="105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u="sng" dirty="0">
                          <a:solidFill>
                            <a:srgbClr val="7C7C8C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https://nielsenkorea.co.kr/tv_terrestrial_day.asp?area=01&amp;sub_menu=1_1</a:t>
                      </a:r>
                      <a:endParaRPr lang="en-US" sz="86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914400" y="571500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주: 외부 공표치는 전국 가구 등 당사 KPI와 모집단이 다르므로 직접 비교하지 않고 경쟁환경 설명에만 사용.</a:t>
            </a:r>
            <a:endParaRPr lang="en-US" sz="94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63436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외부 출처 링크는 2026-09-28 실시간 검색 확인 · 본문 당사 수치는 확정본 닐슨 실측 DB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ky tv/AppData/Roaming/Claude/local-agent-mode-sessions/skills-plugin/f9202597-b6b7-43cc-8152-f50de5910f85/b0046a59-6512-4a04-89c8-8c606a404801/skills/ena-design/assets/eod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2479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6D3F7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매일 새로운</a:t>
            </a:r>
            <a:endParaRPr lang="en-US" sz="1800" dirty="0"/>
          </a:p>
        </p:txBody>
      </p:sp>
      <p:pic>
        <p:nvPicPr>
          <p:cNvPr id="4" name="Image 1" descr="C:/Users/sky tv/AppData/Roaming/Claude/local-agent-mode-sessions/skills-plugin/f9202597-b6b7-43cc-8152-f50de5910f85/b0046a59-6512-4a04-89c8-8c606a404801/skills/ena-design/assets/ena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880" y="2762250"/>
            <a:ext cx="2194241" cy="838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0" y="5753100"/>
            <a:ext cx="1219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spc="900" kern="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E.O.D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KT ENA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추석 연휴기간 시청률 분석</dc:title>
  <dc:subject>PptxGenJS Presentation</dc:subject>
  <dc:creator>KT ENA</dc:creator>
  <cp:lastModifiedBy>KT ENA</cp:lastModifiedBy>
  <cp:revision>1</cp:revision>
  <dcterms:created xsi:type="dcterms:W3CDTF">2026-09-28T00:49:23Z</dcterms:created>
  <dcterms:modified xsi:type="dcterms:W3CDTF">2026-09-28T00:49:23Z</dcterms:modified>
</cp:coreProperties>
</file>