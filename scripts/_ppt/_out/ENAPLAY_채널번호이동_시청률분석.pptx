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ENA PLAY 주간 평균 시청률(%)</c:v>
                </c:pt>
              </c:strCache>
            </c:strRef>
          </c:tx>
          <c:spPr>
            <a:solidFill>
              <a:srgbClr val="2C24CE"/>
            </a:solidFill>
            <a:ln w="28575" cap="flat">
              <a:solidFill>
                <a:srgbClr val="2C24C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C24CE"/>
              </a:solidFill>
              <a:ln w="9525" cap="flat">
                <a:solidFill>
                  <a:srgbClr val="2C24C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Sheet1!$A$2:$A$79</c:f>
              <c:multiLvlStrCache>
                <c:ptCount val="78"/>
                <c:lvl>
                  <c:pt idx="0">
                    <c:v>25-01-02</c:v>
                  </c:pt>
                  <c:pt idx="1">
                    <c:v>25-01-09</c:v>
                  </c:pt>
                  <c:pt idx="2">
                    <c:v>25-01-16</c:v>
                  </c:pt>
                  <c:pt idx="3">
                    <c:v>25-01-23</c:v>
                  </c:pt>
                  <c:pt idx="4">
                    <c:v>25-01-30</c:v>
                  </c:pt>
                  <c:pt idx="5">
                    <c:v>25-02-06</c:v>
                  </c:pt>
                  <c:pt idx="6">
                    <c:v>25-02-13</c:v>
                  </c:pt>
                  <c:pt idx="7">
                    <c:v>25-02-20</c:v>
                  </c:pt>
                  <c:pt idx="8">
                    <c:v>25-02-27</c:v>
                  </c:pt>
                  <c:pt idx="9">
                    <c:v>25-03-06</c:v>
                  </c:pt>
                  <c:pt idx="10">
                    <c:v>25-03-13</c:v>
                  </c:pt>
                  <c:pt idx="11">
                    <c:v>25-03-20</c:v>
                  </c:pt>
                  <c:pt idx="12">
                    <c:v>25-03-27</c:v>
                  </c:pt>
                  <c:pt idx="13">
                    <c:v>25-04-03</c:v>
                  </c:pt>
                  <c:pt idx="14">
                    <c:v>25-04-10</c:v>
                  </c:pt>
                  <c:pt idx="15">
                    <c:v>25-04-17</c:v>
                  </c:pt>
                  <c:pt idx="16">
                    <c:v>25-04-24</c:v>
                  </c:pt>
                  <c:pt idx="17">
                    <c:v>25-05-01</c:v>
                  </c:pt>
                  <c:pt idx="18">
                    <c:v>25-05-08</c:v>
                  </c:pt>
                  <c:pt idx="19">
                    <c:v>25-05-15</c:v>
                  </c:pt>
                  <c:pt idx="20">
                    <c:v>25-05-22</c:v>
                  </c:pt>
                  <c:pt idx="21">
                    <c:v>25-05-29</c:v>
                  </c:pt>
                  <c:pt idx="22">
                    <c:v>25-06-05</c:v>
                  </c:pt>
                  <c:pt idx="23">
                    <c:v>25-06-12</c:v>
                  </c:pt>
                  <c:pt idx="24">
                    <c:v>25-06-19</c:v>
                  </c:pt>
                  <c:pt idx="25">
                    <c:v>25-06-26</c:v>
                  </c:pt>
                  <c:pt idx="26">
                    <c:v>25-07-03</c:v>
                  </c:pt>
                  <c:pt idx="27">
                    <c:v>25-07-10</c:v>
                  </c:pt>
                  <c:pt idx="28">
                    <c:v>25-07-17</c:v>
                  </c:pt>
                  <c:pt idx="29">
                    <c:v>25-07-24</c:v>
                  </c:pt>
                  <c:pt idx="30">
                    <c:v>25-07-31</c:v>
                  </c:pt>
                  <c:pt idx="31">
                    <c:v>25-08-07</c:v>
                  </c:pt>
                  <c:pt idx="32">
                    <c:v>25-08-14</c:v>
                  </c:pt>
                  <c:pt idx="33">
                    <c:v>25-08-21</c:v>
                  </c:pt>
                  <c:pt idx="34">
                    <c:v>25-08-28</c:v>
                  </c:pt>
                  <c:pt idx="35">
                    <c:v>25-09-04</c:v>
                  </c:pt>
                  <c:pt idx="36">
                    <c:v>25-09-11</c:v>
                  </c:pt>
                  <c:pt idx="37">
                    <c:v>25-09-18</c:v>
                  </c:pt>
                  <c:pt idx="38">
                    <c:v>25-09-25</c:v>
                  </c:pt>
                  <c:pt idx="39">
                    <c:v>26-01-01</c:v>
                  </c:pt>
                  <c:pt idx="40">
                    <c:v>26-01-08</c:v>
                  </c:pt>
                  <c:pt idx="41">
                    <c:v>26-01-15</c:v>
                  </c:pt>
                  <c:pt idx="42">
                    <c:v>26-01-22</c:v>
                  </c:pt>
                  <c:pt idx="43">
                    <c:v>26-01-29</c:v>
                  </c:pt>
                  <c:pt idx="44">
                    <c:v>26-02-05</c:v>
                  </c:pt>
                  <c:pt idx="45">
                    <c:v>26-02-12</c:v>
                  </c:pt>
                  <c:pt idx="46">
                    <c:v>26-02-19</c:v>
                  </c:pt>
                  <c:pt idx="47">
                    <c:v>26-02-26</c:v>
                  </c:pt>
                  <c:pt idx="48">
                    <c:v>26-03-05</c:v>
                  </c:pt>
                  <c:pt idx="49">
                    <c:v>26-03-12</c:v>
                  </c:pt>
                  <c:pt idx="50">
                    <c:v>26-03-19</c:v>
                  </c:pt>
                  <c:pt idx="51">
                    <c:v>26-03-26</c:v>
                  </c:pt>
                  <c:pt idx="52">
                    <c:v>26-04-02</c:v>
                  </c:pt>
                  <c:pt idx="53">
                    <c:v>26-04-09</c:v>
                  </c:pt>
                  <c:pt idx="54">
                    <c:v>26-04-16</c:v>
                  </c:pt>
                  <c:pt idx="55">
                    <c:v>26-04-23</c:v>
                  </c:pt>
                  <c:pt idx="56">
                    <c:v>26-04-30</c:v>
                  </c:pt>
                  <c:pt idx="57">
                    <c:v>26-05-07</c:v>
                  </c:pt>
                  <c:pt idx="58">
                    <c:v>26-05-14</c:v>
                  </c:pt>
                  <c:pt idx="59">
                    <c:v>26-05-21</c:v>
                  </c:pt>
                  <c:pt idx="60">
                    <c:v>26-05-28</c:v>
                  </c:pt>
                  <c:pt idx="61">
                    <c:v>26-06-04</c:v>
                  </c:pt>
                  <c:pt idx="62">
                    <c:v>26-06-11</c:v>
                  </c:pt>
                  <c:pt idx="63">
                    <c:v>26-06-18</c:v>
                  </c:pt>
                  <c:pt idx="64">
                    <c:v>26-06-25</c:v>
                  </c:pt>
                  <c:pt idx="65">
                    <c:v>26-07-02</c:v>
                  </c:pt>
                  <c:pt idx="66">
                    <c:v>26-07-09</c:v>
                  </c:pt>
                  <c:pt idx="67">
                    <c:v>26-07-16</c:v>
                  </c:pt>
                  <c:pt idx="68">
                    <c:v>26-07-23</c:v>
                  </c:pt>
                  <c:pt idx="69">
                    <c:v>26-07-30</c:v>
                  </c:pt>
                  <c:pt idx="70">
                    <c:v>26-08-06</c:v>
                  </c:pt>
                  <c:pt idx="71">
                    <c:v>26-08-13</c:v>
                  </c:pt>
                  <c:pt idx="72">
                    <c:v>26-08-20</c:v>
                  </c:pt>
                  <c:pt idx="73">
                    <c:v>26-08-27</c:v>
                  </c:pt>
                  <c:pt idx="74">
                    <c:v>26-09-03</c:v>
                  </c:pt>
                  <c:pt idx="75">
                    <c:v>26-09-10</c:v>
                  </c:pt>
                  <c:pt idx="76">
                    <c:v>26-09-17</c:v>
                  </c:pt>
                  <c:pt idx="77">
                    <c:v>26-09-24</c:v>
                  </c:pt>
                </c:lvl>
              </c:multiLvlStrCache>
            </c:multiLvlStrRef>
          </c:cat>
          <c:val>
            <c:numRef>
              <c:f>Sheet1!$B$2:$B$79</c:f>
              <c:numCache>
                <c:formatCode>General</c:formatCode>
                <c:ptCount val="78"/>
                <c:pt idx="0">
                  <c:v>0.0311</c:v>
                </c:pt>
                <c:pt idx="1">
                  <c:v>0.0264</c:v>
                </c:pt>
                <c:pt idx="2">
                  <c:v>0.0254</c:v>
                </c:pt>
                <c:pt idx="3">
                  <c:v>0.0318</c:v>
                </c:pt>
                <c:pt idx="4">
                  <c:v>0.0285</c:v>
                </c:pt>
                <c:pt idx="5">
                  <c:v>0.0263</c:v>
                </c:pt>
                <c:pt idx="6">
                  <c:v>0.0357</c:v>
                </c:pt>
                <c:pt idx="7">
                  <c:v>0.0347</c:v>
                </c:pt>
                <c:pt idx="8">
                  <c:v>0.0341</c:v>
                </c:pt>
                <c:pt idx="9">
                  <c:v>0.0247</c:v>
                </c:pt>
                <c:pt idx="10">
                  <c:v>0.031</c:v>
                </c:pt>
                <c:pt idx="11">
                  <c:v>0.0333</c:v>
                </c:pt>
                <c:pt idx="12">
                  <c:v>0.0321</c:v>
                </c:pt>
                <c:pt idx="13">
                  <c:v>0.0335</c:v>
                </c:pt>
                <c:pt idx="14">
                  <c:v>0.031</c:v>
                </c:pt>
                <c:pt idx="15">
                  <c:v>0.044</c:v>
                </c:pt>
                <c:pt idx="16">
                  <c:v>0.0292</c:v>
                </c:pt>
                <c:pt idx="17">
                  <c:v>0.0284</c:v>
                </c:pt>
                <c:pt idx="18">
                  <c:v>0.0436</c:v>
                </c:pt>
                <c:pt idx="19">
                  <c:v>0.0346</c:v>
                </c:pt>
                <c:pt idx="20">
                  <c:v>0.0275</c:v>
                </c:pt>
                <c:pt idx="21">
                  <c:v>0.0272</c:v>
                </c:pt>
                <c:pt idx="22">
                  <c:v>0.028</c:v>
                </c:pt>
                <c:pt idx="23">
                  <c:v>0.0367</c:v>
                </c:pt>
                <c:pt idx="24">
                  <c:v>0.0324</c:v>
                </c:pt>
                <c:pt idx="25">
                  <c:v>0.0358</c:v>
                </c:pt>
                <c:pt idx="26">
                  <c:v>0.0264</c:v>
                </c:pt>
                <c:pt idx="27">
                  <c:v>0.0318</c:v>
                </c:pt>
                <c:pt idx="28">
                  <c:v>0.0281</c:v>
                </c:pt>
                <c:pt idx="29">
                  <c:v>0.0254</c:v>
                </c:pt>
                <c:pt idx="30">
                  <c:v>0.0278</c:v>
                </c:pt>
                <c:pt idx="31">
                  <c:v>0.0252</c:v>
                </c:pt>
                <c:pt idx="32">
                  <c:v>0.0233</c:v>
                </c:pt>
                <c:pt idx="33">
                  <c:v>0.0295</c:v>
                </c:pt>
                <c:pt idx="34">
                  <c:v>0.0266</c:v>
                </c:pt>
                <c:pt idx="35">
                  <c:v>0.0228</c:v>
                </c:pt>
                <c:pt idx="36">
                  <c:v>0.021</c:v>
                </c:pt>
                <c:pt idx="37">
                  <c:v>0.0281</c:v>
                </c:pt>
                <c:pt idx="38">
                  <c:v>0.0262</c:v>
                </c:pt>
                <c:pt idx="39">
                  <c:v>0.0285</c:v>
                </c:pt>
                <c:pt idx="40">
                  <c:v>0.022</c:v>
                </c:pt>
                <c:pt idx="41">
                  <c:v>0.0244</c:v>
                </c:pt>
                <c:pt idx="42">
                  <c:v>0.0309</c:v>
                </c:pt>
                <c:pt idx="43">
                  <c:v>0.026</c:v>
                </c:pt>
                <c:pt idx="44">
                  <c:v>0.0319</c:v>
                </c:pt>
                <c:pt idx="45">
                  <c:v>0.0346</c:v>
                </c:pt>
                <c:pt idx="46">
                  <c:v>0.0476</c:v>
                </c:pt>
                <c:pt idx="47">
                  <c:v>0.0414</c:v>
                </c:pt>
                <c:pt idx="48">
                  <c:v>0.0237</c:v>
                </c:pt>
                <c:pt idx="49">
                  <c:v>0.0259</c:v>
                </c:pt>
                <c:pt idx="50">
                  <c:v>0.0253</c:v>
                </c:pt>
                <c:pt idx="51">
                  <c:v>0.0264</c:v>
                </c:pt>
                <c:pt idx="52">
                  <c:v>0.023</c:v>
                </c:pt>
                <c:pt idx="53">
                  <c:v>0.0214</c:v>
                </c:pt>
                <c:pt idx="54">
                  <c:v>0.0323</c:v>
                </c:pt>
                <c:pt idx="55">
                  <c:v>0.0262</c:v>
                </c:pt>
                <c:pt idx="56">
                  <c:v>0.0299</c:v>
                </c:pt>
                <c:pt idx="57">
                  <c:v>0.0286</c:v>
                </c:pt>
                <c:pt idx="58">
                  <c:v>0.0294</c:v>
                </c:pt>
                <c:pt idx="59">
                  <c:v>0.0268</c:v>
                </c:pt>
                <c:pt idx="60">
                  <c:v>0.0395</c:v>
                </c:pt>
                <c:pt idx="61">
                  <c:v>0.028</c:v>
                </c:pt>
                <c:pt idx="62">
                  <c:v>0.0217</c:v>
                </c:pt>
                <c:pt idx="63">
                  <c:v>0.0419</c:v>
                </c:pt>
                <c:pt idx="64">
                  <c:v>0.0266</c:v>
                </c:pt>
                <c:pt idx="65">
                  <c:v>0.0272</c:v>
                </c:pt>
                <c:pt idx="66">
                  <c:v>0.0209</c:v>
                </c:pt>
                <c:pt idx="67">
                  <c:v>0.0237</c:v>
                </c:pt>
                <c:pt idx="68">
                  <c:v>0.0268</c:v>
                </c:pt>
                <c:pt idx="69">
                  <c:v>0.0281</c:v>
                </c:pt>
                <c:pt idx="70">
                  <c:v>0.0299</c:v>
                </c:pt>
                <c:pt idx="71">
                  <c:v>0.0284</c:v>
                </c:pt>
                <c:pt idx="72">
                  <c:v>0.0246</c:v>
                </c:pt>
                <c:pt idx="73">
                  <c:v>0.0225</c:v>
                </c:pt>
                <c:pt idx="74">
                  <c:v>0.0189</c:v>
                </c:pt>
                <c:pt idx="75">
                  <c:v>0.019</c:v>
                </c:pt>
                <c:pt idx="76">
                  <c:v>0.024</c:v>
                </c:pt>
                <c:pt idx="77">
                  <c:v>0.0215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2EA"/>
            </a:solidFill>
            <a:prstDash val="solid"/>
            <a:round/>
          </a:ln>
        </c:spPr>
        <c:txPr>
          <a:bodyPr/>
          <a:lstStyle/>
          <a:p>
            <a:pPr>
              <a:defRPr sz="680" b="0" i="0" u="none" strike="noStrike">
                <a:solidFill>
                  <a:srgbClr val="A6A6B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8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.00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7C7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개편 전 4주</c:v>
                </c:pt>
              </c:strCache>
            </c:strRef>
          </c:tx>
          <c:spPr>
            <a:solidFill>
              <a:srgbClr val="A6A2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전체</c:v>
                  </c:pt>
                  <c:pt idx="1">
                    <c:v>케이블</c:v>
                  </c:pt>
                  <c:pt idx="2">
                    <c:v>IPTV 및 기타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0.0271</c:v>
                </c:pt>
                <c:pt idx="1">
                  <c:v>0.0015</c:v>
                </c:pt>
                <c:pt idx="2">
                  <c:v>0.0254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개편 후 27일</c:v>
                </c:pt>
              </c:strCache>
            </c:strRef>
          </c:tx>
          <c:spPr>
            <a:solidFill>
              <a:srgbClr val="D63B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전체</c:v>
                  </c:pt>
                  <c:pt idx="1">
                    <c:v>케이블</c:v>
                  </c:pt>
                  <c:pt idx="2">
                    <c:v>IPTV 및 기타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0.0206</c:v>
                </c:pt>
                <c:pt idx="1">
                  <c:v>0.0013</c:v>
                </c:pt>
                <c:pt idx="2">
                  <c:v>0.019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2E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3D4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.000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7C7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3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개편전4주→개편후27일 변화율</c:v>
                </c:pt>
              </c:strCache>
            </c:strRef>
          </c:tx>
          <c:spPr>
            <a:solidFill>
              <a:srgbClr val="D63B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도달율(전체)</c:v>
                  </c:pt>
                  <c:pt idx="1">
                    <c:v>시청률(전체)</c:v>
                  </c:pt>
                  <c:pt idx="2">
                    <c:v>배타도달율(전체)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-6.846361185983827</c:v>
                </c:pt>
                <c:pt idx="1">
                  <c:v>-23.98523985239852</c:v>
                </c:pt>
                <c:pt idx="2">
                  <c:v>-77.27272727272728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2E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3D4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7C7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배타도달율 변화율(전체)</c:v>
                </c:pt>
              </c:strCache>
            </c:strRef>
          </c:tx>
          <c:spPr>
            <a:solidFill>
              <a:srgbClr val="D63B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ENA PLAY(41)</c:v>
                  </c:pt>
                  <c:pt idx="1">
                    <c:v>ENA DRAMA(42)</c:v>
                  </c:pt>
                  <c:pt idx="2">
                    <c:v>ENA(1)</c:v>
                  </c:pt>
                  <c:pt idx="3">
                    <c:v>KBS JOY(999)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-77.27272727272728</c:v>
                </c:pt>
                <c:pt idx="1">
                  <c:v>-31.25</c:v>
                </c:pt>
                <c:pt idx="2">
                  <c:v>10.086956521739117</c:v>
                </c:pt>
                <c:pt idx="3">
                  <c:v>76.37795275590553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2EA"/>
            </a:solidFill>
            <a:prstDash val="solid"/>
            <a:round/>
          </a:ln>
        </c:spPr>
        <c:txPr>
          <a:bodyPr/>
          <a:lstStyle/>
          <a:p>
            <a:pPr>
              <a:defRPr sz="860" b="0" i="0" u="none" strike="noStrike">
                <a:solidFill>
                  <a:srgbClr val="3D3D4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7C7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ENA PLAY(999→41, 접근성 하락)</c:v>
                </c:pt>
              </c:strCache>
            </c:strRef>
          </c:tx>
          <c:spPr>
            <a:solidFill>
              <a:srgbClr val="D63B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전체</c:v>
                  </c:pt>
                  <c:pt idx="1">
                    <c:v>케이블</c:v>
                  </c:pt>
                  <c:pt idx="2">
                    <c:v>IPTV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-23.98523985239852</c:v>
                </c:pt>
                <c:pt idx="1">
                  <c:v>-13.33333333333334</c:v>
                </c:pt>
                <c:pt idx="2">
                  <c:v>-25.196850393700785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KBS JOY(41→999, 접근성 상승)</c:v>
                </c:pt>
              </c:strCache>
            </c:strRef>
          </c:tx>
          <c:spPr>
            <a:solidFill>
              <a:srgbClr val="1F9D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전체</c:v>
                  </c:pt>
                  <c:pt idx="1">
                    <c:v>케이블</c:v>
                  </c:pt>
                  <c:pt idx="2">
                    <c:v>IPTV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5.677655677655675</c:v>
                </c:pt>
                <c:pt idx="1">
                  <c:v>-18.749999999999996</c:v>
                </c:pt>
                <c:pt idx="2">
                  <c:v>7.520325203252036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2E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3D4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7C7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3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개편 전 4주</c:v>
                </c:pt>
              </c:strCache>
            </c:strRef>
          </c:tx>
          <c:spPr>
            <a:solidFill>
              <a:srgbClr val="A6A2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06-09</c:v>
                  </c:pt>
                  <c:pt idx="1">
                    <c:v>09-12</c:v>
                  </c:pt>
                  <c:pt idx="2">
                    <c:v>12-15</c:v>
                  </c:pt>
                  <c:pt idx="3">
                    <c:v>15-18</c:v>
                  </c:pt>
                  <c:pt idx="4">
                    <c:v>18-21</c:v>
                  </c:pt>
                  <c:pt idx="5">
                    <c:v>21-24</c:v>
                  </c:pt>
                  <c:pt idx="6">
                    <c:v>24시~익일2시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0.0081</c:v>
                </c:pt>
                <c:pt idx="1">
                  <c:v>0.0259</c:v>
                </c:pt>
                <c:pt idx="2">
                  <c:v>0.0244</c:v>
                </c:pt>
                <c:pt idx="3">
                  <c:v>0.0454</c:v>
                </c:pt>
                <c:pt idx="4">
                  <c:v>0.0514</c:v>
                </c:pt>
                <c:pt idx="5">
                  <c:v>0.0363</c:v>
                </c:pt>
                <c:pt idx="6">
                  <c:v>0.0327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개편 후 27일</c:v>
                </c:pt>
              </c:strCache>
            </c:strRef>
          </c:tx>
          <c:spPr>
            <a:solidFill>
              <a:srgbClr val="D63B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06-09</c:v>
                  </c:pt>
                  <c:pt idx="1">
                    <c:v>09-12</c:v>
                  </c:pt>
                  <c:pt idx="2">
                    <c:v>12-15</c:v>
                  </c:pt>
                  <c:pt idx="3">
                    <c:v>15-18</c:v>
                  </c:pt>
                  <c:pt idx="4">
                    <c:v>18-21</c:v>
                  </c:pt>
                  <c:pt idx="5">
                    <c:v>21-24</c:v>
                  </c:pt>
                  <c:pt idx="6">
                    <c:v>24시~익일2시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0.0056</c:v>
                </c:pt>
                <c:pt idx="1">
                  <c:v>0.0199</c:v>
                </c:pt>
                <c:pt idx="2">
                  <c:v>0.0296</c:v>
                </c:pt>
                <c:pt idx="3">
                  <c:v>0.0303</c:v>
                </c:pt>
                <c:pt idx="4">
                  <c:v>0.0265</c:v>
                </c:pt>
                <c:pt idx="5">
                  <c:v>0.034</c:v>
                </c:pt>
                <c:pt idx="6">
                  <c:v>0.021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2EA"/>
            </a:solidFill>
            <a:prstDash val="solid"/>
            <a:round/>
          </a:ln>
        </c:spPr>
        <c:txPr>
          <a:bodyPr/>
          <a:lstStyle/>
          <a:p>
            <a:pPr>
              <a:defRPr sz="790" b="0" i="0" u="none" strike="noStrike">
                <a:solidFill>
                  <a:srgbClr val="3D3D4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.00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7C7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9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01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5905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49530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9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Executive Summary</a:t>
            </a:r>
            <a:endParaRPr lang="en-US" sz="109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81050"/>
            <a:ext cx="1009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3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999(1번 인접·고접근성)에서 41(일반 채널대)로 — 접근성 하락이 시청 이탈로 이어짐</a:t>
            </a:r>
            <a:endParaRPr lang="en-US" sz="203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9200"/>
            <a:ext cx="1009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도달은 버텼지만 충성 시청(배타도달)이 붕괴, 시청층은 고령화, 인접한 ENA DRAMA(42)로의 카니발라이제이션 정황도 확인됨</a:t>
            </a:r>
            <a:endParaRPr lang="en-US" sz="1130" dirty="0"/>
          </a:p>
        </p:txBody>
      </p:sp>
      <p:sp>
        <p:nvSpPr>
          <p:cNvPr id="8" name="Shape 5"/>
          <p:cNvSpPr/>
          <p:nvPr/>
        </p:nvSpPr>
        <p:spPr>
          <a:xfrm>
            <a:off x="914400" y="1638300"/>
            <a:ext cx="2476500" cy="102870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04900" y="179070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전체 시청률(개편전4주→후)</a:t>
            </a:r>
            <a:endParaRPr lang="en-US" sz="940" dirty="0"/>
          </a:p>
        </p:txBody>
      </p:sp>
      <p:sp>
        <p:nvSpPr>
          <p:cNvPr id="10" name="Text 7"/>
          <p:cNvSpPr txBox="1"/>
          <p:nvPr/>
        </p:nvSpPr>
        <p:spPr>
          <a:xfrm>
            <a:off x="1104900" y="2000250"/>
            <a:ext cx="209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D63B3B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-24.0%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1104900" y="2343150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0.027%→0.021% · IPTV -25.2%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3543300" y="1638300"/>
            <a:ext cx="2476500" cy="102870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33800" y="179070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배타도달율(충성 시청)</a:t>
            </a:r>
            <a:endParaRPr lang="en-US" sz="940" dirty="0"/>
          </a:p>
        </p:txBody>
      </p:sp>
      <p:sp>
        <p:nvSpPr>
          <p:cNvPr id="14" name="Text 11"/>
          <p:cNvSpPr txBox="1"/>
          <p:nvPr/>
        </p:nvSpPr>
        <p:spPr>
          <a:xfrm>
            <a:off x="3733800" y="2000250"/>
            <a:ext cx="209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D63B3B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-77.3%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3733800" y="2343150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IPTV는 -91.5%로 사실상 붕괴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6172200" y="1638300"/>
            <a:ext cx="2476500" cy="102870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62700" y="179070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2049 핵심 타깃 비중</a:t>
            </a:r>
            <a:endParaRPr lang="en-US" sz="940" dirty="0"/>
          </a:p>
        </p:txBody>
      </p:sp>
      <p:sp>
        <p:nvSpPr>
          <p:cNvPr id="18" name="Text 15"/>
          <p:cNvSpPr txBox="1"/>
          <p:nvPr/>
        </p:nvSpPr>
        <p:spPr>
          <a:xfrm>
            <a:off x="6362700" y="2000250"/>
            <a:ext cx="209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D63B3B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-3.3%p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6362700" y="2343150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37.1%→33.8% · 50+는 오히려 확대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8801100" y="1638300"/>
            <a:ext cx="2476500" cy="1028700"/>
          </a:xfrm>
          <a:prstGeom prst="roundRect">
            <a:avLst>
              <a:gd name="adj" fmla="val 12963"/>
            </a:avLst>
          </a:prstGeom>
          <a:solidFill>
            <a:srgbClr val="2C24C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991600" y="179070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CDCBF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동일 프로그램 78개 평균</a:t>
            </a:r>
            <a:endParaRPr lang="en-US" sz="940" dirty="0"/>
          </a:p>
        </p:txBody>
      </p:sp>
      <p:sp>
        <p:nvSpPr>
          <p:cNvPr id="22" name="Text 19"/>
          <p:cNvSpPr txBox="1"/>
          <p:nvPr/>
        </p:nvSpPr>
        <p:spPr>
          <a:xfrm>
            <a:off x="8991600" y="2000250"/>
            <a:ext cx="209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-20.9%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8991600" y="2343150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E7E6FB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ENA DRAMA는 같은 78개가 +46.5%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914400" y="2819400"/>
            <a:ext cx="3352800" cy="1809750"/>
          </a:xfrm>
          <a:prstGeom prst="roundRect">
            <a:avLst>
              <a:gd name="adj" fmla="val 7368"/>
            </a:avLst>
          </a:prstGeom>
          <a:solidFill>
            <a:srgbClr val="F7F7F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123950" y="297180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① FACT</a:t>
            </a:r>
            <a:endParaRPr lang="en-US" sz="1010" dirty="0"/>
          </a:p>
        </p:txBody>
      </p:sp>
      <p:sp>
        <p:nvSpPr>
          <p:cNvPr id="26" name="Text 23"/>
          <p:cNvSpPr txBox="1"/>
          <p:nvPr/>
        </p:nvSpPr>
        <p:spPr>
          <a:xfrm>
            <a:off x="1123950" y="3257550"/>
            <a:ext cx="29337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40000"/>
              </a:lnSpc>
              <a:spcAft>
                <a:spcPts val="500"/>
              </a:spcAft>
              <a:buSzPct val="100000"/>
              <a:buChar char="▪"/>
            </a:pPr>
            <a:r>
              <a:rPr lang="en-US" sz="94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999는 셋톱 전원 시 기본 진입 채널(1번) 바로 옆(채널▼ 1회)이라 접근성이 높았고, 41은 일반 채널대라 접근성이 낮음(사용자 확인).</a:t>
            </a:r>
            <a:endParaRPr lang="en-US" sz="940" dirty="0"/>
          </a:p>
          <a:p>
            <a:pPr algn="l" marL="165100" indent="-165100">
              <a:lnSpc>
                <a:spcPct val="140000"/>
              </a:lnSpc>
              <a:spcAft>
                <a:spcPts val="500"/>
              </a:spcAft>
              <a:buSzPct val="100000"/>
              <a:buChar char="▪"/>
            </a:pPr>
            <a:r>
              <a:rPr lang="en-US" sz="94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ENA PLAY(999→41, 접근성↓)는 -24.0% 하락, KBS JOY(41→999, 접근성↑)는 +5.7% 상승 — 방향이 가설과 대칭적으로 일치.</a:t>
            </a:r>
            <a:endParaRPr lang="en-US" sz="940" dirty="0"/>
          </a:p>
        </p:txBody>
      </p:sp>
      <p:sp>
        <p:nvSpPr>
          <p:cNvPr id="27" name="Shape 24"/>
          <p:cNvSpPr/>
          <p:nvPr/>
        </p:nvSpPr>
        <p:spPr>
          <a:xfrm>
            <a:off x="4419600" y="2819400"/>
            <a:ext cx="3352800" cy="1809750"/>
          </a:xfrm>
          <a:prstGeom prst="roundRect">
            <a:avLst>
              <a:gd name="adj" fmla="val 7368"/>
            </a:avLst>
          </a:prstGeom>
          <a:solidFill>
            <a:srgbClr val="F7F7F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629150" y="297180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② MECHANISM</a:t>
            </a:r>
            <a:endParaRPr lang="en-US" sz="1010" dirty="0"/>
          </a:p>
        </p:txBody>
      </p:sp>
      <p:sp>
        <p:nvSpPr>
          <p:cNvPr id="29" name="Text 26"/>
          <p:cNvSpPr txBox="1"/>
          <p:nvPr/>
        </p:nvSpPr>
        <p:spPr>
          <a:xfrm>
            <a:off x="4629150" y="3257550"/>
            <a:ext cx="29337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40000"/>
              </a:lnSpc>
              <a:spcAft>
                <a:spcPts val="500"/>
              </a:spcAft>
              <a:buSzPct val="100000"/>
              <a:buChar char="▪"/>
            </a:pPr>
            <a:r>
              <a:rPr lang="en-US" sz="94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도달율은 -6.8%로 2025년 계절 하락(-13.7%)보다 덜 떨어졌지만, 배타도달율은 -77.3%로 붕괴 — '못 찾아서'보다 '찾아도 이탈'이 핵심.</a:t>
            </a:r>
            <a:endParaRPr lang="en-US" sz="940" dirty="0"/>
          </a:p>
          <a:p>
            <a:pPr algn="l" marL="165100" indent="-165100">
              <a:lnSpc>
                <a:spcPct val="140000"/>
              </a:lnSpc>
              <a:spcAft>
                <a:spcPts val="500"/>
              </a:spcAft>
              <a:buSzPct val="100000"/>
              <a:buChar char="▪"/>
            </a:pPr>
            <a:r>
              <a:rPr lang="en-US" sz="94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DB 기준 프로그램당 평균 시청시간도 687.7초→649.7초(-5.5%)로 감소.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7924800" y="2819400"/>
            <a:ext cx="3352800" cy="1809750"/>
          </a:xfrm>
          <a:prstGeom prst="roundRect">
            <a:avLst>
              <a:gd name="adj" fmla="val 7368"/>
            </a:avLst>
          </a:prstGeom>
          <a:solidFill>
            <a:srgbClr val="F7F7FA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134350" y="297180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③ CANNIBALIZATION</a:t>
            </a:r>
            <a:endParaRPr lang="en-US" sz="1010" dirty="0"/>
          </a:p>
        </p:txBody>
      </p:sp>
      <p:sp>
        <p:nvSpPr>
          <p:cNvPr id="32" name="Text 29"/>
          <p:cNvSpPr txBox="1"/>
          <p:nvPr/>
        </p:nvSpPr>
        <p:spPr>
          <a:xfrm>
            <a:off x="8134350" y="3257550"/>
            <a:ext cx="29337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40000"/>
              </a:lnSpc>
              <a:spcAft>
                <a:spcPts val="500"/>
              </a:spcAft>
              <a:buSzPct val="100000"/>
              <a:buChar char="▪"/>
            </a:pPr>
            <a:r>
              <a:rPr lang="en-US" sz="94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ENA PLAY 프로그램의 71%(78개)가 ENA DRAMA와 동일 — 이 78개의 평균 시청률이 PLAY -20.9%, DRAMA +46.5%로 정반대.</a:t>
            </a:r>
            <a:endParaRPr lang="en-US" sz="940" dirty="0"/>
          </a:p>
          <a:p>
            <a:pPr algn="l" marL="165100" indent="-165100">
              <a:lnSpc>
                <a:spcPct val="140000"/>
              </a:lnSpc>
              <a:spcAft>
                <a:spcPts val="500"/>
              </a:spcAft>
              <a:buSzPct val="100000"/>
              <a:buChar char="▪"/>
            </a:pPr>
            <a:r>
              <a:rPr lang="en-US" sz="94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2049 비중도 PLAY -3.3%p, DRAMA +6.7%p로 갈려 — 젊은 시청층이 인접채널로 옮겨간 정황과 부합.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914400" y="4781550"/>
            <a:ext cx="10363200" cy="571500"/>
          </a:xfrm>
          <a:prstGeom prst="roundRect">
            <a:avLst>
              <a:gd name="adj" fmla="val 23333"/>
            </a:avLst>
          </a:prstGeom>
          <a:solidFill>
            <a:srgbClr val="2C24CE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1143000" y="4781550"/>
            <a:ext cx="990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DCBF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핵심 결론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  </a:t>
            </a:r>
            <a:pPr algn="l" indent="0" marL="0">
              <a:lnSpc>
                <a:spcPct val="135000"/>
              </a:lnSpc>
              <a:buNone/>
            </a:pPr>
            <a:r>
              <a:rPr lang="en-US" sz="116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채널번호 접근성 가설은 KBS JOY와 대칭적으로 뒷받침되며, 이탈한 시청(특히 2049)은 인접한 ENA DRAMA로 흘러간 정황이 확인됨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914400" y="5505450"/>
            <a:ext cx="10363200" cy="800100"/>
          </a:xfrm>
          <a:prstGeom prst="roundRect">
            <a:avLst>
              <a:gd name="adj" fmla="val 16667"/>
            </a:avLst>
          </a:prstGeom>
          <a:solidFill>
            <a:srgbClr val="F7F7FA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123950" y="5657850"/>
            <a:ext cx="994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읽는 법</a:t>
            </a:r>
            <a:endParaRPr lang="en-US" sz="1010" dirty="0"/>
          </a:p>
        </p:txBody>
      </p:sp>
      <p:sp>
        <p:nvSpPr>
          <p:cNvPr id="37" name="Text 34"/>
          <p:cNvSpPr txBox="1"/>
          <p:nvPr/>
        </p:nvSpPr>
        <p:spPr>
          <a:xfrm>
            <a:off x="1123950" y="5943600"/>
            <a:ext cx="9944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이 페이지의 수치는 모두 '개편 전 4주 평균 → 개편 후 27일(진행 중) 평균' 비교이며, 2025년 동일기간은 계절성 통제를 위한 참고선임. 도달·배타도달·시청층·카니발라이제이션 상세는 4~7P 참고. 개인 단위 이동 데이터는 없어 인과관계를 단정하지 않음.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914400" y="6343650"/>
            <a:ext cx="952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닐슨 데일리그리드(수도권 2049) · ENA PLAY/ENA DRAMA/ENA/KBS JOY · 2025-01-02~2026-09-28 실측 15분 단위 전수 집계</a:t>
            </a:r>
            <a:endParaRPr lang="en-US" sz="8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02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5905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49530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9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01 · 채널번호 변경 개요</a:t>
            </a:r>
            <a:endParaRPr lang="en-US" sz="109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81050"/>
            <a:ext cx="1009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999번은 '나쁜 번호'가 아니라 셋톱 전원 시 자동 진입하는 1번 바로 옆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9200"/>
            <a:ext cx="1009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채널▼ 한 번으로 도달하는 999(바커)에서, 별도 탐색이 필요한 41로 이동 — 실질 접근성은 오히려 하락</a:t>
            </a:r>
            <a:endParaRPr lang="en-US" sz="113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52600"/>
          <a:ext cx="10363200" cy="914400"/>
        </p:xfrm>
        <a:graphic>
          <a:graphicData uri="http://schemas.openxmlformats.org/drawingml/2006/table">
            <a:tbl>
              <a:tblPr/>
              <a:tblGrid>
                <a:gridCol w="1753772"/>
                <a:gridCol w="2072640"/>
                <a:gridCol w="637735"/>
                <a:gridCol w="2072640"/>
                <a:gridCol w="3826412"/>
              </a:tblGrid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채널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개편 전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개편 후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비고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ENA PLAY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999번(바커)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→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41번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접근성 하락(1번 인접 → 일반 채널대)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KBS JOY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41번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→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F9D6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999번(바커)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접근성 상승(일반 채널대 → 1번 인접)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ENA DRAMA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42번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→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42번(불변)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41번 인접 배치 · 통제채널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ENA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1번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→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1번(불변)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셋톱 전원 시 기본 진입 채널 · 통제채널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914400" y="3543300"/>
            <a:ext cx="5029200" cy="2000250"/>
          </a:xfrm>
          <a:prstGeom prst="roundRect">
            <a:avLst>
              <a:gd name="adj" fmla="val 6667"/>
            </a:avLst>
          </a:prstGeom>
          <a:solidFill>
            <a:srgbClr val="F3F3FD"/>
          </a:solidFill>
          <a:ln w="11430">
            <a:solidFill>
              <a:srgbClr val="CDCB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143000" y="3733800"/>
            <a:ext cx="4572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999 = 접근성이 낮은 번호가 아님</a:t>
            </a:r>
            <a:endParaRPr lang="en-US" sz="116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403860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40000"/>
              </a:lnSpc>
              <a:spcAft>
                <a:spcPts val="600"/>
              </a:spcAft>
              <a:buSzPct val="100000"/>
              <a:buChar char="▪"/>
            </a:pPr>
            <a:r>
              <a:rPr lang="en-US" sz="98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KT IPTV 셋톱은 전원을 켜면 1번으로 진입하며, 999(바커채널)는 채널▼ 한 번(1→999 순환)으로 바로 닿는 자리임(사용자 확인).</a:t>
            </a:r>
            <a:endParaRPr lang="en-US" sz="980" dirty="0"/>
          </a:p>
          <a:p>
            <a:pPr algn="l" marL="165100" indent="-165100">
              <a:lnSpc>
                <a:spcPct val="140000"/>
              </a:lnSpc>
              <a:spcAft>
                <a:spcPts val="600"/>
              </a:spcAft>
              <a:buSzPct val="100000"/>
              <a:buChar char="▪"/>
            </a:pPr>
            <a:r>
              <a:rPr lang="en-US" sz="98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반대로 41번은 채널 목록을 탐색하거나 번호를 직접 입력해야 하는 '일반 채널대' — 999보다 접근성이 낮음.</a:t>
            </a:r>
            <a:endParaRPr lang="en-US" sz="980" dirty="0"/>
          </a:p>
          <a:p>
            <a:pPr algn="l" marL="165100" indent="-165100">
              <a:lnSpc>
                <a:spcPct val="140000"/>
              </a:lnSpc>
              <a:spcAft>
                <a:spcPts val="600"/>
              </a:spcAft>
              <a:buSzPct val="100000"/>
              <a:buChar char="▪"/>
            </a:pPr>
            <a:r>
              <a:rPr lang="en-US" sz="98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즉 ENA PLAY(999→41)는 접근성 하락, KBS JOY(41→999)는 접근성 상승 — 두 채널의 시청률 변화 방향은 이 가설과 일치함(7P).</a:t>
            </a:r>
            <a:endParaRPr lang="en-US" sz="980" dirty="0"/>
          </a:p>
        </p:txBody>
      </p:sp>
      <p:sp>
        <p:nvSpPr>
          <p:cNvPr id="12" name="Shape 8"/>
          <p:cNvSpPr/>
          <p:nvPr/>
        </p:nvSpPr>
        <p:spPr>
          <a:xfrm>
            <a:off x="6172200" y="3543300"/>
            <a:ext cx="5105400" cy="2000250"/>
          </a:xfrm>
          <a:prstGeom prst="roundRect">
            <a:avLst>
              <a:gd name="adj" fmla="val 6667"/>
            </a:avLst>
          </a:prstGeom>
          <a:solidFill>
            <a:srgbClr val="F7F7F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400800" y="3733800"/>
            <a:ext cx="4572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분석 설계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0" y="403860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개편 전 4주(08/05~09/01) vs 개편 후(09/02~09/28, 27일·진행 중) 1차 비교.</a:t>
            </a:r>
            <a:endParaRPr lang="en-US" sz="1010" dirty="0"/>
          </a:p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직전 8주(07/08~09/01) 추세와, 2025년 동일 캘린더 구간(계절성 통제)을 함께 확인.</a:t>
            </a:r>
            <a:endParaRPr lang="en-US" sz="1010" dirty="0"/>
          </a:p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요일 구성은 두 구간 모두 요일별 4일(±1일 이내)로 균형 — 요일 편중에 따른 왜곡 가능성은 낮음.</a:t>
            </a:r>
            <a:endParaRPr lang="en-US" sz="1010" dirty="0"/>
          </a:p>
        </p:txBody>
      </p:sp>
      <p:sp>
        <p:nvSpPr>
          <p:cNvPr id="15" name="Text 11"/>
          <p:cNvSpPr txBox="1"/>
          <p:nvPr/>
        </p:nvSpPr>
        <p:spPr>
          <a:xfrm>
            <a:off x="914400" y="6343650"/>
            <a:ext cx="952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999 접근 경로·개편 정보는 사용자 확인 사항 · 자료: 닐슨 데일리그리드(수도권 2049) · ENA PLAY/ENA DRAMA/ENA/KBS JOY · 2025-01-02~2026-09-28 실측 15분 단위 전수 집계</a:t>
            </a:r>
            <a:endParaRPr lang="en-US" sz="8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5905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49530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9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02 · ENA PLAY 장기 추세</a:t>
            </a:r>
            <a:endParaRPr lang="en-US" sz="109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81050"/>
            <a:ext cx="1009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개편 후 2주는 21개월 관측 구간 중 최저 수준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9200"/>
            <a:ext cx="1009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2025-01~2026-09 · ENA PLAY 전체 플랫폼 주간 평균 시청률 · 점선=9/2 채널번호 변경</a:t>
            </a:r>
            <a:endParaRPr lang="en-US" sz="113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14400" y="1752600"/>
          <a:ext cx="6667500" cy="31432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7180118" y="1809750"/>
            <a:ext cx="0" cy="2819400"/>
          </a:xfrm>
          <a:prstGeom prst="line">
            <a:avLst/>
          </a:prstGeom>
          <a:noFill/>
          <a:ln w="19050">
            <a:solidFill>
              <a:srgbClr val="D63B3B"/>
            </a:solidFill>
            <a:prstDash val="dash"/>
          </a:ln>
        </p:spPr>
      </p:sp>
      <p:sp>
        <p:nvSpPr>
          <p:cNvPr id="10" name="Shape 6"/>
          <p:cNvSpPr/>
          <p:nvPr/>
        </p:nvSpPr>
        <p:spPr>
          <a:xfrm>
            <a:off x="6856268" y="1714500"/>
            <a:ext cx="762000" cy="209550"/>
          </a:xfrm>
          <a:prstGeom prst="roundRect">
            <a:avLst>
              <a:gd name="adj" fmla="val 50000"/>
            </a:avLst>
          </a:prstGeom>
          <a:solidFill>
            <a:srgbClr val="FBECE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856268" y="1714500"/>
            <a:ext cx="762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9/2 개편</a:t>
            </a:r>
            <a:endParaRPr lang="en-US" sz="860" dirty="0"/>
          </a:p>
        </p:txBody>
      </p:sp>
      <p:sp>
        <p:nvSpPr>
          <p:cNvPr id="12" name="Shape 8"/>
          <p:cNvSpPr/>
          <p:nvPr/>
        </p:nvSpPr>
        <p:spPr>
          <a:xfrm>
            <a:off x="7772400" y="1752600"/>
            <a:ext cx="3505200" cy="314325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001000" y="1943100"/>
            <a:ext cx="3048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구간 평균 비교(전체 플랫폼)</a:t>
            </a:r>
            <a:endParaRPr lang="en-US" sz="113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2209800"/>
          <a:ext cx="3048000" cy="914400"/>
        </p:xfrm>
        <a:graphic>
          <a:graphicData uri="http://schemas.openxmlformats.org/drawingml/2006/table">
            <a:tbl>
              <a:tblPr/>
              <a:tblGrid>
                <a:gridCol w="2032000"/>
                <a:gridCol w="1016000"/>
              </a:tblGrid>
              <a:tr h="2095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구간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평균 시청률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개편 전 4주(08/05~09/01)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0.0271%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개편 후 27일(09/02~09/28)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0.0206%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직전 8주(07/08~09/01)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0.0256%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2025년 동일 개편전 4주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0.0251%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2025년 동일 개편후 구간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0.0232%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8001000" y="3886200"/>
            <a:ext cx="3048000" cy="914400"/>
          </a:xfrm>
          <a:prstGeom prst="roundRect">
            <a:avLst>
              <a:gd name="adj" fmla="val 14583"/>
            </a:avLst>
          </a:prstGeom>
          <a:solidFill>
            <a:srgbClr val="F3F3FD"/>
          </a:solidFill>
          <a:ln w="11430">
            <a:solidFill>
              <a:srgbClr val="CDCBF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210550" y="4038600"/>
            <a:ext cx="2628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해석</a:t>
            </a:r>
            <a:endParaRPr lang="en-US" sz="1010" dirty="0"/>
          </a:p>
        </p:txBody>
      </p:sp>
      <p:sp>
        <p:nvSpPr>
          <p:cNvPr id="17" name="Text 12"/>
          <p:cNvSpPr txBox="1"/>
          <p:nvPr/>
        </p:nvSpPr>
        <p:spPr>
          <a:xfrm>
            <a:off x="8210550" y="4324350"/>
            <a:ext cx="26289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4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개편 후 첫 2주(9/3·9/10 시작)는 2025년 1월 이후 78주 중 가장 낮은 두 개 주 — 단기 변동이 아니라 수 주간 이어지는 수준 하락임.</a:t>
            </a:r>
            <a:endParaRPr lang="en-US" sz="940" dirty="0"/>
          </a:p>
        </p:txBody>
      </p:sp>
      <p:sp>
        <p:nvSpPr>
          <p:cNvPr id="18" name="Text 13"/>
          <p:cNvSpPr txBox="1"/>
          <p:nvPr/>
        </p:nvSpPr>
        <p:spPr>
          <a:xfrm>
            <a:off x="914400" y="6343650"/>
            <a:ext cx="952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닐슨 데일리그리드(수도권 2049) · ENA PLAY/ENA DRAMA/ENA/KBS JOY · 2025-01-02~2026-09-28 실측 15분 단위 전수 집계 · 주 단위=데이터 시작일(1/2) 기준 7일 묶음(달력 월~일 아님)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04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5905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49530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9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 · 플랫폼별 효과</a:t>
            </a:r>
            <a:endParaRPr lang="en-US" sz="109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81050"/>
            <a:ext cx="1009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낙폭은 케이블보다 IPTV에서 더 크게 나타남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9200"/>
            <a:ext cx="1009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번호 변경이 실제로 일어난 플랫폼(IPTV)에 변화가 집중 — 접근성 가설과는 반대 방향의 변화</a:t>
            </a:r>
            <a:endParaRPr lang="en-US" sz="113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14400" y="1752600"/>
          <a:ext cx="4953000" cy="2857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6172200" y="1752600"/>
            <a:ext cx="51054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0" y="1943100"/>
            <a:ext cx="4572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 PLAY 플랫폼별 변화율</a:t>
            </a:r>
            <a:endParaRPr lang="en-US" sz="113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47900"/>
          <a:ext cx="4572000" cy="914400"/>
        </p:xfrm>
        <a:graphic>
          <a:graphicData uri="http://schemas.openxmlformats.org/drawingml/2006/table">
            <a:tbl>
              <a:tblPr/>
              <a:tblGrid>
                <a:gridCol w="1382233"/>
                <a:gridCol w="1063256"/>
                <a:gridCol w="1063256"/>
                <a:gridCol w="1063256"/>
              </a:tblGrid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지표(시청률)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개편전4주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개편후27일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변화율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전체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0.0271%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0.0206%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-24.0%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케이블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0.0015%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0.0013%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-13.3%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IPTV 및 기타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0.0254%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0.0190%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-25.2%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914400" y="4876800"/>
            <a:ext cx="10363200" cy="533400"/>
          </a:xfrm>
          <a:prstGeom prst="roundRect">
            <a:avLst>
              <a:gd name="adj" fmla="val 25000"/>
            </a:avLst>
          </a:prstGeom>
          <a:solidFill>
            <a:srgbClr val="F3F3FD"/>
          </a:solidFill>
          <a:ln w="11430">
            <a:solidFill>
              <a:srgbClr val="CDCBF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143000" y="48768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핵심 질문에 대한 답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  </a:t>
            </a:r>
            <a:pPr algn="l" indent="0" marL="0">
              <a:lnSpc>
                <a:spcPct val="135000"/>
              </a:lnSpc>
              <a:buNone/>
            </a:pPr>
            <a:r>
              <a:rPr lang="en-US" sz="116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전체 시장 변화가 아니라 ENA PLAY의 IPTV 시청에서 상대적으로 더 큰(하락) 변화가 확인됨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914400" y="5562600"/>
            <a:ext cx="10363200" cy="742950"/>
          </a:xfrm>
          <a:prstGeom prst="roundRect">
            <a:avLst>
              <a:gd name="adj" fmla="val 17949"/>
            </a:avLst>
          </a:prstGeom>
          <a:solidFill>
            <a:srgbClr val="F3F3FD"/>
          </a:solidFill>
          <a:ln w="11430">
            <a:solidFill>
              <a:srgbClr val="CDCBF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1123950" y="5715000"/>
            <a:ext cx="994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다음 페이지</a:t>
            </a:r>
            <a:endParaRPr lang="en-US" sz="1010" dirty="0"/>
          </a:p>
        </p:txBody>
      </p:sp>
      <p:sp>
        <p:nvSpPr>
          <p:cNvPr id="16" name="Text 11"/>
          <p:cNvSpPr txBox="1"/>
          <p:nvPr/>
        </p:nvSpPr>
        <p:spPr>
          <a:xfrm>
            <a:off x="1123950" y="6000750"/>
            <a:ext cx="994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4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‘왜’ IPTV 시청이 줄었는지는 도달율(찾아오는 정도)·배타도달율(충성 시청)을 분해해 다음 페이지에서 확인함 — 시청률만으로는 원인(접근 차단 vs 이탈)을 구분할 수 없음.</a:t>
            </a:r>
            <a:endParaRPr lang="en-US" sz="940" dirty="0"/>
          </a:p>
        </p:txBody>
      </p:sp>
      <p:sp>
        <p:nvSpPr>
          <p:cNvPr id="17" name="Text 12"/>
          <p:cNvSpPr txBox="1"/>
          <p:nvPr/>
        </p:nvSpPr>
        <p:spPr>
          <a:xfrm>
            <a:off x="914400" y="6343650"/>
            <a:ext cx="952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닐슨 데일리그리드(수도권 2049) · ENA PLAY/ENA DRAMA/ENA/KBS JOY · 2025-01-02~2026-09-28 실측 15분 단위 전수 집계</a:t>
            </a:r>
            <a:endParaRPr lang="en-US" sz="8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05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5905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49530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9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04 · 도달·충성도 분해</a:t>
            </a:r>
            <a:endParaRPr lang="en-US" sz="109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81050"/>
            <a:ext cx="1009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도달(발견)은 유지됐지만 배타도달(충성 시청)은 붕괴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9200"/>
            <a:ext cx="1009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시청률 하락은 '못 찾아서'보다 '찾아도 오래 안 봐서'에 가까움 · 자료: 일별 도달률 비교(닐슨, 02:00~25:59 전일 평균)</a:t>
            </a:r>
            <a:endParaRPr lang="en-US" sz="113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14400" y="1752600"/>
          <a:ext cx="4953000" cy="2857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6172200" y="1752600"/>
            <a:ext cx="51054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0" y="1905000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 PLAY 지표별 변화율</a:t>
            </a:r>
            <a:endParaRPr lang="en-US" sz="109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152650"/>
          <a:ext cx="4572000" cy="914400"/>
        </p:xfrm>
        <a:graphic>
          <a:graphicData uri="http://schemas.openxmlformats.org/drawingml/2006/table">
            <a:tbl>
              <a:tblPr/>
              <a:tblGrid>
                <a:gridCol w="1259633"/>
                <a:gridCol w="793102"/>
                <a:gridCol w="793102"/>
                <a:gridCol w="886408"/>
                <a:gridCol w="839755"/>
              </a:tblGrid>
              <a:tr h="190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지표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개편전4주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개편후27일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변화율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2025동일기간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도달율(전일)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1.855%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1.728%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D98A1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-6.8%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-13.7%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시청률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0.0271%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0.0206%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-24.0%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-7.6%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배타도달율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0.0132%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0.0030%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-77.3%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도달율(IPTV)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1.694%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1.568%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D98A1E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-7.4%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배타도달율(IPTV)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0.0129%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0.0011%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-91.5%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도달율(DB·프로그램당)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0.246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0.212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D98A1E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-13.8%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평균 시청시간(초/DB)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687.7초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649.7초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D98A1E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-5.5%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914400" y="4800600"/>
            <a:ext cx="10363200" cy="1409700"/>
          </a:xfrm>
          <a:prstGeom prst="roundRect">
            <a:avLst>
              <a:gd name="adj" fmla="val 9459"/>
            </a:avLst>
          </a:prstGeom>
          <a:solidFill>
            <a:srgbClr val="F3F3FD"/>
          </a:solidFill>
          <a:ln w="11430">
            <a:solidFill>
              <a:srgbClr val="CDCBF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123950" y="4953000"/>
            <a:ext cx="994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배타도달율이란? · 해석</a:t>
            </a:r>
            <a:endParaRPr lang="en-US" sz="1010" dirty="0"/>
          </a:p>
        </p:txBody>
      </p:sp>
      <p:sp>
        <p:nvSpPr>
          <p:cNvPr id="14" name="Text 9"/>
          <p:cNvSpPr txBox="1"/>
          <p:nvPr/>
        </p:nvSpPr>
        <p:spPr>
          <a:xfrm>
            <a:off x="1123950" y="5238750"/>
            <a:ext cx="99441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40000"/>
              </a:lnSpc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배타도달율은 그 시간대에 '오직 그 채널만' 본 시청자의 비율임. 여러 채널을 오가며 잠깐 스친 시청은 도달율에는 잡히지만 배타도달율에는 잡히지 않음 — 즉 배타도달율이 높을수록 그 채널에 '고정적으로 머문' 시청자가 많다는 뜻임.</a:t>
            </a:r>
            <a:endParaRPr lang="en-US" sz="900" dirty="0"/>
          </a:p>
          <a:p>
            <a:pPr algn="l" marL="165100" indent="-165100">
              <a:lnSpc>
                <a:spcPct val="140000"/>
              </a:lnSpc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도달율(하루 전체 기준)은 2025년 같은 기간의 계절 하락(-13.7%)보다도 덜 떨어져 '아예 못 찾는' 상황은 아님. 반면 배타도달율은 전체 -77.6%, IPTV -91.4%로 사실상 붕괴했고, DB의 프로그램당 평균 시청시간도 687.7초→649.7초(-5.5%)로 줄었음 — 채널에 들어오긴 해도 다른 채널로 이탈하며 오래 머무르지 않게 됐다는 뜻임.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914400" y="6343650"/>
            <a:ext cx="952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도달률 비교 xls(닐슨 일별) · Supabase ratings 테이블(DB, 프로그램당 도달율·시청시간, 수도권 2049)</a:t>
            </a:r>
            <a:endParaRPr lang="en-US" sz="8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06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5905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49530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9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05 · 인접채널 카니발라이제이션 ①</a:t>
            </a:r>
            <a:endParaRPr lang="en-US" sz="109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81050"/>
            <a:ext cx="1009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ENA PLAY·ENA DRAMA 배타도달율만 동반 붕괴 — 비인접 채널은 오히려 증가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9200"/>
            <a:ext cx="1009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41(ENA PLAY)–42(ENA DRAMA) 인접 배치 이후 두 채널만 충성 시청이 줄고, 1번·999번 채널은 늘어남</a:t>
            </a:r>
            <a:endParaRPr lang="en-US" sz="113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14400" y="1752600"/>
          <a:ext cx="5334000" cy="2857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6553200" y="1752600"/>
            <a:ext cx="47244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781800" y="1943100"/>
            <a:ext cx="419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채널별 배타도달율 변화율</a:t>
            </a:r>
            <a:endParaRPr lang="en-US" sz="109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81800" y="2247900"/>
          <a:ext cx="4191000" cy="914400"/>
        </p:xfrm>
        <a:graphic>
          <a:graphicData uri="http://schemas.openxmlformats.org/drawingml/2006/table">
            <a:tbl>
              <a:tblPr/>
              <a:tblGrid>
                <a:gridCol w="1072116"/>
                <a:gridCol w="974651"/>
                <a:gridCol w="1072116"/>
                <a:gridCol w="1072116"/>
              </a:tblGrid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채널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번호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변화율(전체)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변화율(IPTV)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ENA PLAY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41번(인접)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-77.3%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-91.5%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ENA DRAMA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42번(인접)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-31.3%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-76.6%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ENA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1번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1F9D6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+10.1%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1F9D6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+14.9%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KBS JOY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999번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1F9D6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+76.4%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1F9D6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+79.3%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914400" y="4800600"/>
            <a:ext cx="10363200" cy="723900"/>
          </a:xfrm>
          <a:prstGeom prst="roundRect">
            <a:avLst>
              <a:gd name="adj" fmla="val 18421"/>
            </a:avLst>
          </a:prstGeom>
          <a:solidFill>
            <a:srgbClr val="F3F3FD"/>
          </a:solidFill>
          <a:ln w="11430">
            <a:solidFill>
              <a:srgbClr val="CDCBF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123950" y="4953000"/>
            <a:ext cx="994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동일 시간대 동일 프로그램 동시편성(보조 근거)</a:t>
            </a:r>
            <a:endParaRPr lang="en-US" sz="1010" dirty="0"/>
          </a:p>
        </p:txBody>
      </p:sp>
      <p:sp>
        <p:nvSpPr>
          <p:cNvPr id="14" name="Text 9"/>
          <p:cNvSpPr txBox="1"/>
          <p:nvPr/>
        </p:nvSpPr>
        <p:spPr>
          <a:xfrm>
            <a:off x="1123950" y="5238750"/>
            <a:ext cx="9944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4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2026-07-08~09-28, 15분 슬롯 6.5%(515/7,968)에서 ENA PLAY·ENA DRAMA가 같은 시각 같은 제목을 방송(예: 신병4사보타주, 닥터섬보이, 생고생먹바라지투어쯔양몇끼) — 인접 번호로 채널을 옮겨도 같은 콘텐츠를 계속 보게 되는 구조. 더 강한 근거(DB 매칭 78개 동일 프로그램 성적 비교)는 다음 페이지 참고.</a:t>
            </a:r>
            <a:endParaRPr lang="en-US" sz="940" dirty="0"/>
          </a:p>
        </p:txBody>
      </p:sp>
      <p:sp>
        <p:nvSpPr>
          <p:cNvPr id="15" name="Text 10"/>
          <p:cNvSpPr txBox="1"/>
          <p:nvPr/>
        </p:nvSpPr>
        <p:spPr>
          <a:xfrm>
            <a:off x="914400" y="6343650"/>
            <a:ext cx="952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도달률 비교 xls(배타도달율) · Play 분석 자료.xlsx(동시편성 비율, 프로그램 라벨 기준)</a:t>
            </a:r>
            <a:endParaRPr lang="en-US" sz="8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07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5905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49530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9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05 · 인접채널 카니발라이제이션 ②</a:t>
            </a:r>
            <a:endParaRPr lang="en-US" sz="109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81050"/>
            <a:ext cx="1009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완전히 같은 프로그램인데, 채널만 다르면 성적이 정반대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9200"/>
            <a:ext cx="1009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Supabase DB에서 canonical_name이 일치하는 78개 프로그램(ENA PLAY 전체 110개 중 71%)을 채널별로 직접 매칭 비교</a:t>
            </a:r>
            <a:endParaRPr lang="en-US" sz="1130" dirty="0"/>
          </a:p>
        </p:txBody>
      </p:sp>
      <p:sp>
        <p:nvSpPr>
          <p:cNvPr id="8" name="Shape 5"/>
          <p:cNvSpPr/>
          <p:nvPr/>
        </p:nvSpPr>
        <p:spPr>
          <a:xfrm>
            <a:off x="914400" y="1752600"/>
            <a:ext cx="335280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04900" y="1905000"/>
            <a:ext cx="2971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매칭된 동일 프로그램 수</a:t>
            </a:r>
            <a:endParaRPr lang="en-US" sz="940" dirty="0"/>
          </a:p>
        </p:txBody>
      </p:sp>
      <p:sp>
        <p:nvSpPr>
          <p:cNvPr id="10" name="Text 7"/>
          <p:cNvSpPr txBox="1"/>
          <p:nvPr/>
        </p:nvSpPr>
        <p:spPr>
          <a:xfrm>
            <a:off x="1104900" y="2114550"/>
            <a:ext cx="2971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78개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1104900" y="2419350"/>
            <a:ext cx="297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ENA PLAY 전체 110개 중 71%가 ENA DRAMA와 중복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4419600" y="1752600"/>
            <a:ext cx="335280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10100" y="1905000"/>
            <a:ext cx="2971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 PLAY 시청률(동일 78개 평균)</a:t>
            </a:r>
            <a:endParaRPr lang="en-US" sz="940" dirty="0"/>
          </a:p>
        </p:txBody>
      </p:sp>
      <p:sp>
        <p:nvSpPr>
          <p:cNvPr id="14" name="Text 11"/>
          <p:cNvSpPr txBox="1"/>
          <p:nvPr/>
        </p:nvSpPr>
        <p:spPr>
          <a:xfrm>
            <a:off x="4610100" y="2114550"/>
            <a:ext cx="2971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D63B3B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-20.9%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4610100" y="2419350"/>
            <a:ext cx="297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0.0268%→0.0212%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7924800" y="1752600"/>
            <a:ext cx="3352800" cy="990600"/>
          </a:xfrm>
          <a:prstGeom prst="roundRect">
            <a:avLst>
              <a:gd name="adj" fmla="val 13462"/>
            </a:avLst>
          </a:prstGeom>
          <a:solidFill>
            <a:srgbClr val="2C24C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115300" y="1905000"/>
            <a:ext cx="2971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CDCBF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 DRAMA 시청률(동일 78개 평균)</a:t>
            </a:r>
            <a:endParaRPr lang="en-US" sz="940" dirty="0"/>
          </a:p>
        </p:txBody>
      </p:sp>
      <p:sp>
        <p:nvSpPr>
          <p:cNvPr id="18" name="Text 15"/>
          <p:cNvSpPr txBox="1"/>
          <p:nvPr/>
        </p:nvSpPr>
        <p:spPr>
          <a:xfrm>
            <a:off x="8115300" y="2114550"/>
            <a:ext cx="2971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+46.5%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8115300" y="2419350"/>
            <a:ext cx="297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E7E6FB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0.0239%→0.0350%</a:t>
            </a:r>
            <a:endParaRPr lang="en-US" sz="86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09900"/>
          <a:ext cx="10363200" cy="914400"/>
        </p:xfrm>
        <a:graphic>
          <a:graphicData uri="http://schemas.openxmlformats.org/drawingml/2006/table">
            <a:tbl>
              <a:tblPr/>
              <a:tblGrid>
                <a:gridCol w="2553252"/>
                <a:gridCol w="1276626"/>
                <a:gridCol w="1276626"/>
                <a:gridCol w="1351722"/>
                <a:gridCol w="1276626"/>
                <a:gridCol w="1276626"/>
                <a:gridCol w="1351722"/>
              </a:tblGrid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프로그램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PLAY 전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PLAY 후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PLAY 변화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DRAMA 전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DRAMA 후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DRAMA 변화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신병4사보타주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0.0318%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0.0236%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D63B3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-25.7%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0.0477%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0.0486%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+2.0%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나혼자산다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0.0397%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0.0356%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D63B3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-10.5%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0.0318%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0.0380%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1F9D6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+19.5%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캐리어하나로떠나는주문짐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0.0152%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0.0091%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-40.5%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0.0122%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0.0114%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D63B3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-6.6%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무한도전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0.0388%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0.0319%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D63B3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-17.8%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0.0392%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0.0226%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D63B3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-42.4%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생고생먹바라지투어쯔양몇끼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0.0239%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0.0103%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-57.1%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0.0336%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0.0280%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D63B3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-16.5%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7"/>
          <p:cNvSpPr/>
          <p:nvPr/>
        </p:nvSpPr>
        <p:spPr>
          <a:xfrm>
            <a:off x="914400" y="5105400"/>
            <a:ext cx="10363200" cy="1143000"/>
          </a:xfrm>
          <a:prstGeom prst="roundRect">
            <a:avLst>
              <a:gd name="adj" fmla="val 11667"/>
            </a:avLst>
          </a:prstGeom>
          <a:solidFill>
            <a:srgbClr val="F3F3FD"/>
          </a:solidFill>
          <a:ln w="11430">
            <a:solidFill>
              <a:srgbClr val="CDCBF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123950" y="5257800"/>
            <a:ext cx="994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해석 · 유의</a:t>
            </a:r>
            <a:endParaRPr lang="en-US" sz="1010" dirty="0"/>
          </a:p>
        </p:txBody>
      </p:sp>
      <p:sp>
        <p:nvSpPr>
          <p:cNvPr id="23" name="Text 19"/>
          <p:cNvSpPr txBox="1"/>
          <p:nvPr/>
        </p:nvSpPr>
        <p:spPr>
          <a:xfrm>
            <a:off x="1123950" y="5543550"/>
            <a:ext cx="99441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40000"/>
              </a:lnSpc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완전히 동일한 콘텐츠(같은 canonical_name)를 비교했으므로 '콘텐츠가 달라서'라는 설명은 제외됨. 78개 평균으로는 PLAY -20.9%, DRAMA +46.5%로 뚜렷하게 갈렸으나, 무한도전처럼 두 채널 모두 하락한 예외도 있어 100% 일관된 패턴은 아님.</a:t>
            </a:r>
            <a:endParaRPr lang="en-US" sz="900" dirty="0"/>
          </a:p>
          <a:p>
            <a:pPr algn="l" marL="165100" indent="-165100">
              <a:lnSpc>
                <a:spcPct val="140000"/>
              </a:lnSpc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채널 이동을 직접 추적한 개인 단위 데이터는 없어 인과관계를 단정할 수 없으나, 동일 콘텐츠 성적이 채널별로 갈린다는 점은 카니발라이제이션 가설의 가장 직접적인 정황 근거임.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914400" y="6343650"/>
            <a:ext cx="952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Supabase DB(programs.canonical_name 매칭, ratings 테이블) · 수도권 2049 시청률 · scripts/_tmp/db_shared_compare.mjs</a:t>
            </a:r>
            <a:endParaRPr lang="en-US" sz="8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08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5905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49530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9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06 · 시청층 변화</a:t>
            </a:r>
            <a:endParaRPr lang="en-US" sz="109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81050"/>
            <a:ext cx="1009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ENA PLAY만 시청층이 고령화 — ENA DRAMA는 오히려 젊어짐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9200"/>
            <a:ext cx="1009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2049 핵심 타깃 비중 축소, 50대 이상 비중 확대 — 번호 변경이 없는 ENA는 구성비가 그대로 유지됨</a:t>
            </a:r>
            <a:endParaRPr lang="en-US" sz="113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09750"/>
          <a:ext cx="10363200" cy="914400"/>
        </p:xfrm>
        <a:graphic>
          <a:graphicData uri="http://schemas.openxmlformats.org/drawingml/2006/table">
            <a:tbl>
              <a:tblPr/>
              <a:tblGrid>
                <a:gridCol w="1698885"/>
                <a:gridCol w="1868774"/>
                <a:gridCol w="1698885"/>
                <a:gridCol w="1698885"/>
                <a:gridCol w="1698885"/>
                <a:gridCol w="1698885"/>
              </a:tblGrid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채널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번호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2049 비중(전)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2049 비중(후)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50+ 비중(전)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50+ 비중(후)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ENA PLAY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41(접근성↓)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37.1%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33.8%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46.3%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54.7%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ENA DRAMA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42(불변,인접)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28.6%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1F9D6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35.3%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48.2%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49.5%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ENA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1(불변)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34.4%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34.3%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54.7%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52.3%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914400" y="3810000"/>
            <a:ext cx="10363200" cy="1047750"/>
          </a:xfrm>
          <a:prstGeom prst="roundRect">
            <a:avLst>
              <a:gd name="adj" fmla="val 12727"/>
            </a:avLst>
          </a:prstGeom>
          <a:solidFill>
            <a:srgbClr val="F3F3FD"/>
          </a:solidFill>
          <a:ln w="11430">
            <a:solidFill>
              <a:srgbClr val="CDCB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143000" y="4000500"/>
            <a:ext cx="990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1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 PLAY</a:t>
            </a:r>
            <a:pPr algn="l" indent="0" marL="0">
              <a:lnSpc>
                <a:spcPct val="150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는 2049 핵심 타깃 비중이 37.1%→33.8%(-3.3%p)로 줄고, 50대 이상은 46.3%→54.7%(+8.4%p)로 늘어남 — 특히 20대(5.6%→3.3%)·10대(7.2%→4.3%) 축소가 큼.</a:t>
            </a:r>
            <a:endParaRPr lang="en-US" sz="101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 DRAMA</a:t>
            </a:r>
            <a:pPr algn="l" indent="0" marL="0">
              <a:lnSpc>
                <a:spcPct val="150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는 정반대로 2049 비중이 28.6%→35.3%(+6.7%p)로 늘어남 — 같은 시기 ENA PLAY에서 빠진 비교적 젊은 시청층이 ENA DRAMA로 옮겨갔을 가능성과 부합.</a:t>
            </a:r>
            <a:endParaRPr lang="en-US" sz="101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10" dirty="0">
                <a:solidFill>
                  <a:srgbClr val="3D3D49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</a:t>
            </a:r>
            <a:pPr algn="l" indent="0" marL="0">
              <a:lnSpc>
                <a:spcPct val="150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(번호 불변)는 34.4%→34.3%로 구성비가 거의 그대로 유지 — 시청층 변화가 일반적 계절 현상이 아님을 뒷받침.</a:t>
            </a:r>
            <a:endParaRPr lang="en-US" sz="1010" dirty="0"/>
          </a:p>
        </p:txBody>
      </p:sp>
      <p:sp>
        <p:nvSpPr>
          <p:cNvPr id="11" name="Shape 7"/>
          <p:cNvSpPr/>
          <p:nvPr/>
        </p:nvSpPr>
        <p:spPr>
          <a:xfrm>
            <a:off x="914400" y="5010150"/>
            <a:ext cx="10363200" cy="571500"/>
          </a:xfrm>
          <a:prstGeom prst="roundRect">
            <a:avLst>
              <a:gd name="adj" fmla="val 23333"/>
            </a:avLst>
          </a:prstGeom>
          <a:solidFill>
            <a:srgbClr val="2C24CE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143000" y="5010150"/>
            <a:ext cx="990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DCBF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요약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  </a:t>
            </a:r>
            <a:pPr algn="l" indent="0" marL="0">
              <a:lnSpc>
                <a:spcPct val="135000"/>
              </a:lnSpc>
              <a:buNone/>
            </a:pPr>
            <a:r>
              <a:rPr lang="en-US" sz="116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 PLAY 이탈 시청자는 고르게 준 것이 아니라 젊은층 위주로 줄었고, 그만큼 인접한 ENA DRAMA의 젊은층 비중이 늘어난 것으로 확인됨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914400" y="5734050"/>
            <a:ext cx="10363200" cy="571500"/>
          </a:xfrm>
          <a:prstGeom prst="roundRect">
            <a:avLst>
              <a:gd name="adj" fmla="val 23333"/>
            </a:avLst>
          </a:prstGeom>
          <a:solidFill>
            <a:srgbClr val="F7F7FA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123950" y="5886450"/>
            <a:ext cx="994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유의</a:t>
            </a:r>
            <a:endParaRPr lang="en-US" sz="1010" dirty="0"/>
          </a:p>
        </p:txBody>
      </p:sp>
      <p:sp>
        <p:nvSpPr>
          <p:cNvPr id="15" name="Text 11"/>
          <p:cNvSpPr txBox="1"/>
          <p:nvPr/>
        </p:nvSpPr>
        <p:spPr>
          <a:xfrm>
            <a:off x="1123950" y="6172200"/>
            <a:ext cx="9944100" cy="19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연령대는 성별×10세 단위 target(수도권 남/여 0409~60대+) 라벨의 rating 합을 이용한 구성비이며, 개인 식별 이동 데이터가 아니므로 인과관계를 직접 증명하지 않음.</a:t>
            </a:r>
            <a:endParaRPr lang="en-US" sz="860" dirty="0"/>
          </a:p>
        </p:txBody>
      </p:sp>
      <p:sp>
        <p:nvSpPr>
          <p:cNvPr id="16" name="Text 12"/>
          <p:cNvSpPr txBox="1"/>
          <p:nvPr/>
        </p:nvSpPr>
        <p:spPr>
          <a:xfrm>
            <a:off x="914400" y="6343650"/>
            <a:ext cx="952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Supabase DB(ratings×targets, 성별×연령 10세 단위) · scripts/_tmp/db_age_agg.mjs · 개편전4주(08/05~09/01) vs 개편후27일(09/02~09/28)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09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5905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49530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9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07 · 번호 이동 비교군 — KBS JOY</a:t>
            </a:r>
            <a:endParaRPr lang="en-US" sz="109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81050"/>
            <a:ext cx="1009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접근성이 반대로 바뀐 KBS JOY도 반대 방향으로 상승 — 가설과 대칭적으로 일치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9200"/>
            <a:ext cx="1009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ENA PLAY(999→41, 접근성 하락→시청률 하락)와 KBS JOY(41→999, 접근성 상승→시청률 상승)가 같은 원리로 설명됨</a:t>
            </a:r>
            <a:endParaRPr lang="en-US" sz="113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14400" y="1752600"/>
          <a:ext cx="5334000" cy="2857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6553200" y="1752600"/>
            <a:ext cx="47244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781800" y="1943100"/>
            <a:ext cx="419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개편 전후 변화율</a:t>
            </a:r>
            <a:endParaRPr lang="en-US" sz="113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81800" y="2247900"/>
          <a:ext cx="4191000" cy="914400"/>
        </p:xfrm>
        <a:graphic>
          <a:graphicData uri="http://schemas.openxmlformats.org/drawingml/2006/table">
            <a:tbl>
              <a:tblPr/>
              <a:tblGrid>
                <a:gridCol w="1651000"/>
                <a:gridCol w="1270000"/>
                <a:gridCol w="1270000"/>
              </a:tblGrid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구분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ENA PLAY(접근성↓)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KBS JOY(접근성↑)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전체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-24.0%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1F9D6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+5.7%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케이블(번호 무관)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D63B3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-13.3%</a:t>
                      </a:r>
                      <a:endParaRPr lang="en-US" sz="94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D63B3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-18.7%</a:t>
                      </a:r>
                      <a:endParaRPr lang="en-US" sz="94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IPTV(번호 적용)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-25.2%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1F9D6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+7.5%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2025년 동일기간(전체)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-7.6%</a:t>
                      </a:r>
                      <a:endParaRPr lang="en-US" sz="94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-5.5%</a:t>
                      </a:r>
                      <a:endParaRPr lang="en-US" sz="94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914400" y="4800600"/>
            <a:ext cx="3352800" cy="952500"/>
          </a:xfrm>
          <a:prstGeom prst="roundRect">
            <a:avLst>
              <a:gd name="adj" fmla="val 14000"/>
            </a:avLst>
          </a:prstGeom>
          <a:solidFill>
            <a:srgbClr val="F7F7FA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1123950" y="495300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A. 접근성 방향과 시청률 방향이 일치하는가</a:t>
            </a:r>
            <a:endParaRPr lang="en-US" sz="1010" dirty="0"/>
          </a:p>
        </p:txBody>
      </p:sp>
      <p:sp>
        <p:nvSpPr>
          <p:cNvPr id="14" name="Text 9"/>
          <p:cNvSpPr txBox="1"/>
          <p:nvPr/>
        </p:nvSpPr>
        <p:spPr>
          <a:xfrm>
            <a:off x="1123950" y="5238750"/>
            <a:ext cx="2933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4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예 — 접근성이 나빠진 ENA PLAY는 하락, 좋아진 KBS JOY는 상승</a:t>
            </a:r>
            <a:endParaRPr lang="en-US" sz="940" dirty="0"/>
          </a:p>
        </p:txBody>
      </p:sp>
      <p:sp>
        <p:nvSpPr>
          <p:cNvPr id="15" name="Shape 10"/>
          <p:cNvSpPr/>
          <p:nvPr/>
        </p:nvSpPr>
        <p:spPr>
          <a:xfrm>
            <a:off x="4419600" y="4800600"/>
            <a:ext cx="3352800" cy="952500"/>
          </a:xfrm>
          <a:prstGeom prst="roundRect">
            <a:avLst>
              <a:gd name="adj" fmla="val 14000"/>
            </a:avLst>
          </a:prstGeom>
          <a:solidFill>
            <a:srgbClr val="F7F7F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4629150" y="495300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B. 변화가 번호 적용 플랫폼(IPTV)에 집중되는가</a:t>
            </a:r>
            <a:endParaRPr lang="en-US" sz="1010" dirty="0"/>
          </a:p>
        </p:txBody>
      </p:sp>
      <p:sp>
        <p:nvSpPr>
          <p:cNvPr id="17" name="Text 12"/>
          <p:cNvSpPr txBox="1"/>
          <p:nvPr/>
        </p:nvSpPr>
        <p:spPr>
          <a:xfrm>
            <a:off x="4629150" y="5238750"/>
            <a:ext cx="2933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4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예 — IPTV에서 ENA PLAY -25.2%, KBS JOY +7.5%로 격차가 가장 큼</a:t>
            </a:r>
            <a:endParaRPr lang="en-US" sz="940" dirty="0"/>
          </a:p>
        </p:txBody>
      </p:sp>
      <p:sp>
        <p:nvSpPr>
          <p:cNvPr id="18" name="Shape 13"/>
          <p:cNvSpPr/>
          <p:nvPr/>
        </p:nvSpPr>
        <p:spPr>
          <a:xfrm>
            <a:off x="7924800" y="4800600"/>
            <a:ext cx="3352800" cy="952500"/>
          </a:xfrm>
          <a:prstGeom prst="roundRect">
            <a:avLst>
              <a:gd name="adj" fmla="val 14000"/>
            </a:avLst>
          </a:prstGeom>
          <a:solidFill>
            <a:srgbClr val="F7F7FA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134350" y="495300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C. 번호와 무관한 케이블은 어떤가</a:t>
            </a:r>
            <a:endParaRPr lang="en-US" sz="1010" dirty="0"/>
          </a:p>
        </p:txBody>
      </p:sp>
      <p:sp>
        <p:nvSpPr>
          <p:cNvPr id="20" name="Text 15"/>
          <p:cNvSpPr txBox="1"/>
          <p:nvPr/>
        </p:nvSpPr>
        <p:spPr>
          <a:xfrm>
            <a:off x="8134350" y="5238750"/>
            <a:ext cx="2933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4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두 채널 모두 하락(-13.3% / -18.7%) — 케이블은 채널번호 체계가 달라 참고용</a:t>
            </a:r>
            <a:endParaRPr lang="en-US" sz="940" dirty="0"/>
          </a:p>
        </p:txBody>
      </p:sp>
      <p:sp>
        <p:nvSpPr>
          <p:cNvPr id="21" name="Text 16"/>
          <p:cNvSpPr txBox="1"/>
          <p:nvPr/>
        </p:nvSpPr>
        <p:spPr>
          <a:xfrm>
            <a:off x="914400" y="6343650"/>
            <a:ext cx="952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닐슨 데일리그리드(수도권 2049) · ENA PLAY/ENA DRAMA/ENA/KBS JOY · 2025-01-02~2026-09-28 실측 15분 단위 전수 집계 · KBS JOY 개편일은 ENA PLAY와 동일(9/2)로 가정 · 999 접근 경로는 사용자 확인 사항</a:t>
            </a:r>
            <a:endParaRPr lang="en-US" sz="8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10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5905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49530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9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08 · 통제채널 비교 — ENA · ENA DRAMA</a:t>
            </a:r>
            <a:endParaRPr lang="en-US" sz="109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81050"/>
            <a:ext cx="1009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4개 채널 중 ENA PLAY만 2025년 계절 기준선보다 부진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9200"/>
            <a:ext cx="1009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번호 변경이 없는 ENA·ENA DRAMA도 함께 상승 — 가을 개편기 전반의 계절 요인이 있었을 가능성</a:t>
            </a:r>
            <a:endParaRPr lang="en-US" sz="113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09750"/>
          <a:ext cx="10363200" cy="914400"/>
        </p:xfrm>
        <a:graphic>
          <a:graphicData uri="http://schemas.openxmlformats.org/drawingml/2006/table">
            <a:tbl>
              <a:tblPr/>
              <a:tblGrid>
                <a:gridCol w="1671484"/>
                <a:gridCol w="2674374"/>
                <a:gridCol w="1838632"/>
                <a:gridCol w="1838632"/>
                <a:gridCol w="2340077"/>
              </a:tblGrid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채널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번호 변경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2026 변화율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2025 동일기간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초과 변화(2026-2025)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ENA PLAY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접근성 하락(999→41)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-24.0%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-7.6%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-16.4%p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KBS JOY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접근성 상승(41→999)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1F9D6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+5.7%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-5.5%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1F9D6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+11.2%p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ENA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불변(통제, 1번)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1F9D6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+16.5%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+16.4%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+0.2%p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ENA DRAMA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불변(통제, 41 인접)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1F9D6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+25.5%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+0.5%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1F9D6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+25.0%p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914400" y="3810000"/>
            <a:ext cx="10363200" cy="914400"/>
          </a:xfrm>
          <a:prstGeom prst="roundRect">
            <a:avLst>
              <a:gd name="adj" fmla="val 14583"/>
            </a:avLst>
          </a:prstGeom>
          <a:solidFill>
            <a:srgbClr val="F3F3FD"/>
          </a:solidFill>
          <a:ln w="11430">
            <a:solidFill>
              <a:srgbClr val="CDCB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143000" y="4000500"/>
            <a:ext cx="9906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</a:t>
            </a:r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는 2026년 +16.5% 상승했지만 2025년에도 같은 기간 +16.4% 상승 — 두 해가 거의 동일한 계절 패턴으로, 가을 개편기 시장 확대가 매년 반복되는 것으로 보임(번호 변경과 무관).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 DRAMA</a:t>
            </a:r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는 2026년 +25.5%로 2025년(+0.5%) 대비 크게 초과 상승 — 콘텐츠 요인(신규 편성 IP)일 가능성이 높으며 번호 변경과는 무관한 채널임.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 PLAY</a:t>
            </a:r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만 유일하게 2025년 기준선보다 -16.4%p 초과 하락 — 4개 채널 중 유일한 역행 사례.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914400" y="4876800"/>
            <a:ext cx="10363200" cy="590550"/>
          </a:xfrm>
          <a:prstGeom prst="roundRect">
            <a:avLst>
              <a:gd name="adj" fmla="val 22581"/>
            </a:avLst>
          </a:prstGeom>
          <a:solidFill>
            <a:srgbClr val="2C24CE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143000" y="4876800"/>
            <a:ext cx="9906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DCBF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해석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  </a:t>
            </a:r>
            <a:pPr algn="l" indent="0" marL="0">
              <a:lnSpc>
                <a:spcPct val="135000"/>
              </a:lnSpc>
              <a:buNone/>
            </a:pPr>
            <a:r>
              <a:rPr lang="en-US" sz="116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41–42 인접 배치 이후 ENA PLAY와 ENA DRAMA의 IPTV 시청 변화 방향이 뚜렷하게 갈렸음 — 다만 시청자 이동을 직접 증명하는 데이터는 없어 “상대적 시청 변화”로만 서술함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6343650"/>
            <a:ext cx="952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닐슨 데일리그리드(수도권 2049) · ENA PLAY/ENA DRAMA/ENA/KBS JOY · 2025-01-02~2026-09-28 실측 15분 단위 전수 집계</a:t>
            </a:r>
            <a:endParaRPr lang="en-US" sz="8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11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5905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49530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9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09 · 시간대·프로그램 분석</a:t>
            </a:r>
            <a:endParaRPr lang="en-US" sz="109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81050"/>
            <a:ext cx="1009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특정 시간대·프로그램이 아니라 전반적으로 하락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9200"/>
            <a:ext cx="1009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비프라임을 포함한 대부분 시간대, 추적된 21개 상시 프로그램 중 17개에서 동반 하락</a:t>
            </a:r>
            <a:endParaRPr lang="en-US" sz="113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14400" y="1752600"/>
          <a:ext cx="5334000" cy="2857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6553200" y="1752600"/>
            <a:ext cx="47244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781800" y="1905000"/>
            <a:ext cx="438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상시 편성 프로그램 동일비교(상위 8건)</a:t>
            </a:r>
            <a:endParaRPr lang="en-US" sz="101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81800" y="2152650"/>
          <a:ext cx="4381500" cy="914400"/>
        </p:xfrm>
        <a:graphic>
          <a:graphicData uri="http://schemas.openxmlformats.org/drawingml/2006/table">
            <a:tbl>
              <a:tblPr/>
              <a:tblGrid>
                <a:gridCol w="1809750"/>
                <a:gridCol w="857250"/>
                <a:gridCol w="857250"/>
                <a:gridCol w="857250"/>
              </a:tblGrid>
              <a:tr h="2095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프로그램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개편전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개편후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변화율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24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유퀴즈온더블럭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0.046%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0.032%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-29.9%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24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무한도전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0.037%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0.029%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-22.2%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24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나는SOLO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0.028%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0.016%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-41.8%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24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황금어장라디오스타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0.028%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0.024%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-12.6%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24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신병4사보타주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0.027%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0.022%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-17.7%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24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나혼자산다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0.037%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0.034%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-8.9%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24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놀라운토요일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0.047%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0.016%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-67.1%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24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캐리어하나로떠나는주문짐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0.016%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0.009%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-45.9%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914400" y="4800600"/>
            <a:ext cx="10363200" cy="723900"/>
          </a:xfrm>
          <a:prstGeom prst="roundRect">
            <a:avLst>
              <a:gd name="adj" fmla="val 18421"/>
            </a:avLst>
          </a:prstGeom>
          <a:solidFill>
            <a:srgbClr val="F3F3FD"/>
          </a:solidFill>
          <a:ln w="11430">
            <a:solidFill>
              <a:srgbClr val="CDCBF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123950" y="4953000"/>
            <a:ext cx="994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해석 · 나는SOLO 재방 추정 슬롯</a:t>
            </a:r>
            <a:endParaRPr lang="en-US" sz="1010" dirty="0"/>
          </a:p>
        </p:txBody>
      </p:sp>
      <p:sp>
        <p:nvSpPr>
          <p:cNvPr id="14" name="Text 9"/>
          <p:cNvSpPr txBox="1"/>
          <p:nvPr/>
        </p:nvSpPr>
        <p:spPr>
          <a:xfrm>
            <a:off x="1123950" y="5238750"/>
            <a:ext cx="9944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동일 프로그램의 시청률이 개편 전후로 함께 낮아짐 — 콘텐츠 저하보다 채널 접근(유입) 자체가 줄었을 가능성을 시사함. 나는SOLO 계열은 하루 여러 차례 반복 편성돼 본방/재방 태그가 불가능하나, 일별 최고 시청 슬롯(대표 편성 추정, -31.1%)보다 나머지 반복 슬롯(재방 추정, -38.9%)의 낙폭이 더 커, 반복 시청 이탈 가능성과 부합함(단정은 어려움).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914400" y="6343650"/>
            <a:ext cx="952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닐슨 데일리그리드(수도권 2049) · ENA PLAY/ENA DRAMA/ENA/KBS JOY · 2025-01-02~2026-09-28 실측 15분 단위 전수 집계 · 프로그램명은 원자료 표기 그대로, 15분 미만 노출 구간은 집계에서 제외</a:t>
            </a:r>
            <a:endParaRPr lang="en-US" sz="8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12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5905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49530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9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10 · 결론 및 시사점</a:t>
            </a:r>
            <a:endParaRPr lang="en-US" sz="109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81050"/>
            <a:ext cx="1009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3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번호 변경과 시청 변화의 관계: 접근성 가설은 뒷받침, 카니발라이제이션 정황도 확인</a:t>
            </a:r>
            <a:endParaRPr lang="en-US" sz="203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9200"/>
            <a:ext cx="1009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Scenario 판정 — 4개 채널 중 ENA PLAY만 역행 · 데이터가 직접 증명하지 못하는 부분은 한계로 명시</a:t>
            </a:r>
            <a:endParaRPr lang="en-US" sz="113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76400"/>
          <a:ext cx="10363200" cy="914400"/>
        </p:xfrm>
        <a:graphic>
          <a:graphicData uri="http://schemas.openxmlformats.org/drawingml/2006/table">
            <a:tbl>
              <a:tblPr/>
              <a:tblGrid>
                <a:gridCol w="1792132"/>
                <a:gridCol w="8571068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구분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내용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① FACT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9/2 개편 후 27일, ENA PLAY 전체 시청률 -24.0%, IPTV -25.2%. 개편 직후 2주는 21개월 관측 최저 수준.</a:t>
                      </a:r>
                      <a:endParaRPr lang="en-US" sz="90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② ACCESSIBILITY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999는 셋톱 기본 진입 채널(1번) 바로 옆(채널▼ 1회)이라 접근성이 높고, 41은 일반 채널대라 접근성이 낮음(사용자 확인). ENA PLAY(접근성↓) -24.0%, KBS JOY(접근성↑, 41→999) +5.7%로 방향이 가설과 대칭적으로 일치.</a:t>
                      </a:r>
                      <a:endParaRPr lang="en-US" sz="90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③ MECHANISM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도달율(-6.8%)은 2025년 계절 하락(-13.7%)보다 덜 떨어졌으나, 배타도달율은 -77.3%(IPTV -91.5%)로 붕괴하고 평균 시청시간도 -5.5% 감소 — '못 찾아서'가 아니라 '찾아도 오래 안 머물러서'에 가까움.</a:t>
                      </a:r>
                      <a:endParaRPr lang="en-US" sz="90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④ CANNIBALIZATION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ENA PLAY 프로그램의 71%(78개)가 ENA DRAMA와 동일한데, 같은 78개의 평균 시청률이 PLAY -20.9%, DRAMA +46.5%로 정반대. 2049 비중도 PLAY -3.3%p, DRAMA +6.7%p로 갈려 — 이탈 시청(특히 젊은층)이 인접채널로 흘러간 정황과 부합하나, 개인 단위 이동 데이터는 없어 단정할 수 없음.</a:t>
                      </a:r>
                      <a:endParaRPr lang="en-US" sz="90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⑤ IMPLICATION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41번 이동이 시청 이탈과 겹친 것은 분명하나, 순수 번호효과·카니발라이제이션·기타 편성요인의 기여도는 분리되지 않음. 41–42 동시편성 축소, 편성·프로모션 변경 여부, 10월 데이터 재검증이 우선 필요.</a:t>
                      </a:r>
                      <a:endParaRPr lang="en-US" sz="90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914400" y="5581650"/>
            <a:ext cx="10363200" cy="533400"/>
          </a:xfrm>
          <a:prstGeom prst="roundRect">
            <a:avLst>
              <a:gd name="adj" fmla="val 25000"/>
            </a:avLst>
          </a:prstGeom>
          <a:solidFill>
            <a:srgbClr val="2C24CE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143000" y="558165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DCBF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다음 단계 제안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  </a:t>
            </a:r>
            <a:pPr algn="l" indent="0" marL="0">
              <a:lnSpc>
                <a:spcPct val="135000"/>
              </a:lnSpc>
              <a:buNone/>
            </a:pPr>
            <a:r>
              <a:rPr lang="en-US" sz="116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① ENA PLAY·ENA DRAMA 동시편성 비중 축소 검토 ② 9/2 전후 편성·프로모션 변경 여부 전수 확인 ③ 10월 한 달 데이터로 재검증(현재 27일은 잠정치)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6343650"/>
            <a:ext cx="952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닐슨 데일리그리드(수도권 2049) · ENA PLAY/ENA DRAMA/ENA/KBS JOY · 2025-01-02~2026-09-28 실측 15분 단위 전수 집계</a:t>
            </a:r>
            <a:endParaRPr lang="en-US" sz="8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5905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49530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9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Appendix</a:t>
            </a:r>
            <a:endParaRPr lang="en-US" sz="109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81050"/>
            <a:ext cx="1009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산출 기준 및 가정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9200"/>
            <a:ext cx="1009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본 보고서 수치 재현·검증을 위한 참고</a:t>
            </a:r>
            <a:endParaRPr lang="en-US" sz="113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543050"/>
          <a:ext cx="10363200" cy="914400"/>
        </p:xfrm>
        <a:graphic>
          <a:graphicData uri="http://schemas.openxmlformats.org/drawingml/2006/table">
            <a:tbl>
              <a:tblPr/>
              <a:tblGrid>
                <a:gridCol w="1727200"/>
                <a:gridCol w="8636000"/>
              </a:tblGrid>
              <a:tr h="1714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항목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기준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분석 대상</a:t>
                      </a:r>
                      <a:endParaRPr lang="en-US" sz="7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ENA PLAY, KBS JOY, ENA, ENA DRAMA · 수도권 2049 · 전체/지상파/케이블/스카이라이프/IPTV 및 기타</a:t>
                      </a:r>
                      <a:endParaRPr lang="en-US" sz="75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데이터 범위</a:t>
                      </a:r>
                      <a:endParaRPr lang="en-US" sz="7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2025-01-02~2025-09-29, 2026-01-01~2026-09-28 · 15분 단위, 542일 전수(결측·중복 없음 확인)</a:t>
                      </a:r>
                      <a:endParaRPr lang="en-US" sz="75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개편 전 4주</a:t>
                      </a:r>
                      <a:endParaRPr lang="en-US" sz="7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2026-08-05~2026-09-01(28일) · 개편 후: 2026-09-02~2026-09-28(27일, 데이터 종료로 인해 1일 짧음 · 잠정치)</a:t>
                      </a:r>
                      <a:endParaRPr lang="en-US" sz="75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2025년 비교 구간</a:t>
                      </a:r>
                      <a:endParaRPr lang="en-US" sz="7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2025-08-05~09-01(개편전 대응) / 2025-09-02~09-28(개편후 대응) · 계절성 통제 목적, 요일 배열은 연도별로 다를 수 있음</a:t>
                      </a:r>
                      <a:endParaRPr lang="en-US" sz="75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평균 시청률·점유율</a:t>
                      </a:r>
                      <a:endParaRPr lang="en-US" sz="7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"Play 분석 자료.xlsx"(닐슨 데일리그리드, 15분 단위) 해당 구간 슬롯 값의 단순평균 · 원자료 제공 값 그대로, 별도 재계산 없음</a:t>
                      </a:r>
                      <a:endParaRPr lang="en-US" sz="75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도달율·배타도달율(4~6P)</a:t>
                      </a:r>
                      <a:endParaRPr lang="en-US" sz="7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"도달률 비교_(...).xls"(닐슨, 02:00~25:59 전일 평균, 일 단위) 해당 구간 일별 값의 단순평균 — 15분 슬롯 데이터와는 별개 파일·별개 집계 단위</a:t>
                      </a:r>
                      <a:endParaRPr lang="en-US" sz="75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동시편성 비율(5P)</a:t>
                      </a:r>
                      <a:endParaRPr lang="en-US" sz="7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"Play 분석 자료.xlsx" 프로그램 라벨을 이어붙여(forward-fill) 추정, 2026-07-08~09-28 15분 슬롯 기준 ENA PLAY·ENA DRAMA 동일시각 동일제목 비율(보조 근거)</a:t>
                      </a:r>
                      <a:endParaRPr lang="en-US" sz="75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동일 프로그램 DB 매칭(5P)</a:t>
                      </a:r>
                      <a:endParaRPr lang="en-US" sz="7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Supabase DB의 programs.canonical_name이 ENA PLAY·ENA DRAMA에서 정확히 일치하는 78개 프로그램을 ratings 테이블(target=수도권 2049)로 직접 비교 — 원자료 라벨 추정이 아닌 DB 정식 매칭값</a:t>
                      </a:r>
                      <a:endParaRPr lang="en-US" sz="75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시청시간·프로그램당 도달율(4P)</a:t>
                      </a:r>
                      <a:endParaRPr lang="en-US" sz="7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Supabase ratings 테이블의 time_spent_seconds·reach 컬럼(target=수도권 2049) 구간 평균 — 도달률 xls의 '전일 평균' 도달율과는 산출 단위가 다름</a:t>
                      </a:r>
                      <a:endParaRPr lang="en-US" sz="75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연령대 구성(7P)</a:t>
                      </a:r>
                      <a:endParaRPr lang="en-US" sz="7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Supabase ratings×targets 테이블, '수도권 남/여 0409~60대+' 10세 단위 target label의 rating 합으로 구성비 산출 · 개인 식별 데이터 아님</a:t>
                      </a:r>
                      <a:endParaRPr lang="en-US" sz="75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프로그램 비교(9P)</a:t>
                      </a:r>
                      <a:endParaRPr lang="en-US" sz="7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원자료 프로그램 라벨을 이어붙여(forward-fill) 구간을 추정한 근사치이며, 개편 전·후 각 1시간 이상 노출된 프로그램만 포함</a:t>
                      </a:r>
                      <a:endParaRPr lang="en-US" sz="75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나는SOLO 피크/비피크(9P)</a:t>
                      </a:r>
                      <a:endParaRPr lang="en-US" sz="7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하루 중 나는SOLO 계열 최고 시청 슬롯=피크(대표 편성 추정), 나머지=비피크(재방 추정)로 근사 — DB의 is_first_run 필드는 이 프로그램에 채워져 있지 않아 정밀 본방/재방 구분은 불가</a:t>
                      </a:r>
                      <a:endParaRPr lang="en-US" sz="75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999 접근 경로</a:t>
                      </a:r>
                      <a:endParaRPr lang="en-US" sz="7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셋톱 전원 시 1번 자동 진입, 999(바커)는 채널▼ 1회로 도달 — 사용자 확인 사항이며 Nielsen 데이터로 직접 검증한 사실은 아님</a:t>
                      </a:r>
                      <a:endParaRPr lang="en-US" sz="75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KBS JOY 개편일</a:t>
                      </a:r>
                      <a:endParaRPr lang="en-US" sz="7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사용자 제공 정보 기준 ENA PLAY와 동일한 2026-09-02로 가정(원자료에 개편일 필드 없음)</a:t>
                      </a:r>
                      <a:endParaRPr lang="en-US" sz="75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914400" y="6343650"/>
            <a:ext cx="952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사용자 첨부 "Play 분석 자료.xlsx" · "도달률 비교_(ena play, ena drama, ena, kbs joy).xls"(닐슨) · Supabase DB(ratings/targets/programs)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KT ENA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ENA PLAY 채널번호 이동 후 시청률 추이 분석</dc:title>
  <dc:subject>PptxGenJS Presentation</dc:subject>
  <dc:creator>KT ENA</dc:creator>
  <cp:lastModifiedBy>KT ENA</cp:lastModifiedBy>
  <cp:revision>1</cp:revision>
  <dcterms:created xsi:type="dcterms:W3CDTF">2026-09-29T09:27:20Z</dcterms:created>
  <dcterms:modified xsi:type="dcterms:W3CDTF">2026-09-29T09:27:20Z</dcterms:modified>
</cp:coreProperties>
</file>