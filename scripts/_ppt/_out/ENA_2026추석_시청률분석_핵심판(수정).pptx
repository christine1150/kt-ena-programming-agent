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DB01"/>
    <a:srgbClr val="EE2A30"/>
    <a:srgbClr val="00C8D2"/>
    <a:srgbClr val="2C24CE"/>
    <a:srgbClr val="C9A67B"/>
    <a:srgbClr val="D52027"/>
    <a:srgbClr val="7826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141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882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883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72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8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774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5686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451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82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77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0827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CC346-D158-49DA-BCDE-61AEA82159D1}" type="datetimeFigureOut">
              <a:rPr lang="ko-KR" altLang="en-US" smtClean="0"/>
              <a:t>2026-09-29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66025D-7329-4411-8F8A-2B8179E8054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61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5325" y="876300"/>
            <a:ext cx="2857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mtClean="0">
                <a:solidFill>
                  <a:srgbClr val="FFFFFF"/>
                </a:solidFill>
                <a:latin typeface="KT Flow Thin" pitchFamily="2" charset="-127"/>
                <a:ea typeface="KT Flow Thin" pitchFamily="2" charset="-127"/>
                <a:sym typeface="KT Flow Thin" pitchFamily="2" charset="-127"/>
              </a:rPr>
              <a:t>매일 새로운</a:t>
            </a:r>
            <a:endParaRPr lang="ko-KR" altLang="en-US">
              <a:solidFill>
                <a:srgbClr val="FFFFFF"/>
              </a:solidFill>
              <a:latin typeface="KT Flow Thin" pitchFamily="2" charset="-127"/>
              <a:ea typeface="KT Flow Thin" pitchFamily="2" charset="-127"/>
              <a:sym typeface="KT Flow Thin" pitchFamily="2" charset="-127"/>
            </a:endParaRPr>
          </a:p>
        </p:txBody>
      </p:sp>
      <p:pic>
        <p:nvPicPr>
          <p:cNvPr id="4" name="그림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904875"/>
            <a:ext cx="747713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1333500"/>
            <a:ext cx="9525000" cy="1428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06000"/>
              </a:lnSpc>
            </a:pPr>
            <a:r>
              <a:rPr lang="en-US" altLang="ko-KR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2026 </a:t>
            </a:r>
            <a:r>
              <a:rPr lang="ko-KR" altLang="en-US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추석 연휴기간</a:t>
            </a:r>
          </a:p>
          <a:p>
            <a:pPr>
              <a:lnSpc>
                <a:spcPct val="106000"/>
              </a:lnSpc>
            </a:pPr>
            <a:r>
              <a:rPr lang="ko-KR" altLang="en-US" sz="4350" spc="-1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시청률 분석</a:t>
            </a:r>
            <a:endParaRPr lang="ko-KR" altLang="en-US" sz="4350" spc="-1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325" y="2838450"/>
            <a:ext cx="95250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특집 성과 → 당사 </a:t>
            </a:r>
            <a:r>
              <a:rPr lang="en-US" altLang="ko-KR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효과 → 다음 명절 수급</a:t>
            </a:r>
            <a:r>
              <a:rPr lang="en-US" altLang="ko-KR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4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전략</a:t>
            </a:r>
            <a:endParaRPr lang="ko-KR" altLang="en-US" sz="14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69532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4772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772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+40.1%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772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19087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34327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4327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+17.0%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4327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초과는 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68642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583882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 초과 채널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3882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</a:t>
            </a:r>
            <a:r>
              <a:rPr lang="ko-KR" altLang="en-US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3882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+39.4% (skyUHD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8181975" y="3276600"/>
            <a:ext cx="2324100" cy="876300"/>
          </a:xfrm>
          <a:prstGeom prst="roundRect">
            <a:avLst>
              <a:gd name="adj" fmla="val 13043"/>
            </a:avLst>
          </a:prstGeom>
          <a:solidFill>
            <a:srgbClr val="FFFFFF">
              <a:alpha val="14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8334375" y="33909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최고 편성 효과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334375" y="3543300"/>
            <a:ext cx="20193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8.53</a:t>
            </a:r>
            <a:r>
              <a:rPr lang="ko-KR" altLang="en-US" sz="240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40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34375" y="3924300"/>
            <a:ext cx="20193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〈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88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endParaRPr lang="ko-KR" altLang="en-US" sz="788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695325" y="4400550"/>
            <a:ext cx="28575" cy="381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4400550"/>
            <a:ext cx="6858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975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메시지  </a:t>
            </a:r>
            <a:r>
              <a:rPr lang="ko-KR" altLang="en-US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물량이 아니라 그 자리에 무엇이 있었는가</a:t>
            </a:r>
            <a:r>
              <a:rPr lang="en-US" altLang="ko-KR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(Slot)</a:t>
            </a:r>
            <a:r>
              <a:rPr lang="ko-KR" altLang="en-US" sz="127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 성패를 갈랐다</a:t>
            </a:r>
            <a:endParaRPr lang="ko-KR" altLang="en-US" sz="127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5325" y="52959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대상 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09/23(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전야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)~09/27(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09/24~09/27 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/ ENA </a:t>
            </a:r>
            <a:r>
              <a:rPr lang="en-US" altLang="ko-KR" sz="863" dirty="0" err="1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Story·OLIFE·ONCE·skyUHD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863" dirty="0" err="1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863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863" dirty="0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5325" y="550545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KT ENA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편성기획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팀 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2026.09.28 ·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확정본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00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3" name="모서리가 둥근 직사각형 2"/>
          <p:cNvSpPr/>
          <p:nvPr/>
        </p:nvSpPr>
        <p:spPr>
          <a:xfrm>
            <a:off x="914400" y="952500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57300" y="866775"/>
            <a:ext cx="3810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pc="8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Contents</a:t>
            </a:r>
            <a:endParaRPr lang="ko-KR" altLang="en-US" sz="1050" spc="8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1123950"/>
            <a:ext cx="57150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3450" spc="-1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목차</a:t>
            </a:r>
            <a:endParaRPr lang="ko-KR" altLang="en-US" sz="3450" spc="-1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914400" y="26670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20383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00200" y="20574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Executive Summary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00200" y="23241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 줄 결론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환경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판정 기준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914400" y="340995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78130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00200" y="280035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경쟁사 특집 성과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00200" y="306705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방송사별 사례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변수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914400" y="41529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5242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00200" y="35433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</a:t>
            </a:r>
            <a:r>
              <a:rPr lang="en-US" altLang="ko-KR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7</a:t>
            </a:r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채널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00200" y="38100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대비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배수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채널별 심층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(skyUHD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포함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예능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6248400" y="26670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48400" y="20383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04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34200" y="20574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확인된 패턴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34200" y="23241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13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패턴과 근거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22" name="직선 연결선 21"/>
          <p:cNvCxnSpPr/>
          <p:nvPr/>
        </p:nvCxnSpPr>
        <p:spPr>
          <a:xfrm>
            <a:off x="6248400" y="340995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248400" y="278130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05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4200" y="280035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전략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34200" y="306705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Matrix 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 우선순위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운영 </a:t>
            </a:r>
            <a:r>
              <a:rPr lang="en-US" altLang="ko-KR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원칙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26" name="직선 연결선 25"/>
          <p:cNvCxnSpPr/>
          <p:nvPr/>
        </p:nvCxnSpPr>
        <p:spPr>
          <a:xfrm>
            <a:off x="6248400" y="4152900"/>
            <a:ext cx="495300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48400" y="3524250"/>
            <a:ext cx="5715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06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34200" y="3543300"/>
            <a:ext cx="4191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결론</a:t>
            </a:r>
            <a:endParaRPr lang="ko-KR" altLang="en-US" sz="15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34200" y="3810000"/>
            <a:ext cx="419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최종 결론</a:t>
            </a:r>
            <a:endParaRPr lang="ko-KR" altLang="en-US" sz="97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2531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EXECUTIVE SUMMARY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연휴 시장은 커졌지만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당사의 성장은 시장을 따라가지 못했다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승부처는 편성 물량이 아니라 </a:t>
            </a:r>
            <a:r>
              <a:rPr lang="ko-KR" altLang="en-US" sz="1050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주요 슬롯에 어떤 콘텐츠가 </a:t>
            </a:r>
            <a:r>
              <a:rPr lang="ko-KR" altLang="en-US" sz="1050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있었는가</a:t>
            </a:r>
            <a:r>
              <a:rPr lang="ko-KR" altLang="en-US" sz="1050" dirty="0" err="1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였음</a:t>
            </a:r>
            <a:r>
              <a:rPr lang="en-US" altLang="ko-KR" sz="10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당사 채널은 </a:t>
            </a:r>
            <a:r>
              <a:rPr lang="en-US" altLang="ko-KR" sz="1050" dirty="0" smtClean="0">
                <a:solidFill>
                  <a:srgbClr val="7826D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</a:t>
            </a:r>
            <a:r>
              <a:rPr lang="ko-KR" altLang="en-US" sz="10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 </a:t>
            </a:r>
            <a:r>
              <a:rPr lang="en-US" altLang="ko-KR" sz="1050" dirty="0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(</a:t>
            </a:r>
            <a:r>
              <a:rPr lang="en-US" altLang="ko-KR" sz="1050" dirty="0" err="1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skyUHD</a:t>
            </a:r>
            <a:r>
              <a:rPr lang="ko-KR" altLang="en-US" sz="1050" dirty="0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는 절대값 </a:t>
            </a:r>
            <a:r>
              <a:rPr lang="en-US" altLang="ko-KR" sz="1050" dirty="0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0.004</a:t>
            </a:r>
            <a:r>
              <a:rPr lang="ko-KR" altLang="en-US" sz="1050" dirty="0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로 조건부</a:t>
            </a:r>
            <a:r>
              <a:rPr lang="en-US" altLang="ko-KR" sz="1050" dirty="0" smtClean="0">
                <a:solidFill>
                  <a:srgbClr val="585866"/>
                </a:solidFill>
                <a:latin typeface="KT Flow Thin" pitchFamily="2" charset="-127"/>
                <a:ea typeface="KT Flow Thin" pitchFamily="2" charset="-127"/>
                <a:sym typeface="KT Flow Medium" pitchFamily="2" charset="-127"/>
              </a:rPr>
              <a:t>)</a:t>
            </a:r>
            <a:endParaRPr lang="ko-KR" altLang="en-US" sz="1050" dirty="0">
              <a:solidFill>
                <a:srgbClr val="585866"/>
              </a:solidFill>
              <a:latin typeface="KT Flow Thin" pitchFamily="2" charset="-127"/>
              <a:ea typeface="KT Flow Thin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7048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85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+40.1%</a:t>
            </a:r>
            <a:endParaRPr lang="ko-KR" altLang="en-US" sz="2550" spc="-6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있는 시간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·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없는 시간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337185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5433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시장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4330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+17.0%</a:t>
            </a:r>
            <a:endParaRPr lang="ko-KR" altLang="en-US" sz="25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4330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초과 채널은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Story(+39.4%)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621030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638175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종합 승자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81750" y="1733550"/>
            <a:ext cx="2266950" cy="3619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</a:t>
            </a:r>
            <a:r>
              <a:rPr lang="ko-KR" altLang="en-US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위→</a:t>
            </a:r>
            <a:r>
              <a:rPr lang="en-US" altLang="ko-KR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</a:t>
            </a:r>
            <a:r>
              <a:rPr lang="ko-KR" altLang="en-US" sz="225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225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8175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3.499 ·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점유율 </a:t>
            </a: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41.2%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9048750" y="1428750"/>
            <a:ext cx="2609850" cy="10287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9220200" y="1543050"/>
            <a:ext cx="22669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최고 사례 </a:t>
            </a:r>
            <a:r>
              <a:rPr lang="en-US" altLang="ko-KR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220200" y="1733550"/>
            <a:ext cx="22669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550" spc="-60" smtClean="0">
                <a:solidFill>
                  <a:srgbClr val="7826D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2550" spc="-60">
              <a:solidFill>
                <a:srgbClr val="7826DC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20200" y="2171700"/>
            <a:ext cx="22669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 +26.7% · ATS +9.9% </a:t>
            </a:r>
            <a:r>
              <a:rPr lang="ko-KR" altLang="en-US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 상승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268605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85800" y="29337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38300" y="280035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+40.1%, </a:t>
            </a:r>
            <a:r>
              <a:rPr lang="ko-KR" altLang="en-US" sz="97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연휴 시장은 확실히 커짐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2000"/>
              </a:lnSpc>
            </a:pP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</a:t>
            </a:r>
            <a:r>
              <a:rPr lang="ko-KR" altLang="en-US" sz="97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확대분은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아시안게임 중계 시간대에 집중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평년 명절과 같은 선에 놓지 않음</a:t>
            </a:r>
            <a:endParaRPr lang="ko-KR" altLang="en-US" sz="975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382000" y="280035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·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비중계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33400" y="350520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685800" y="37528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경쟁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38300" y="361950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개인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종합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en-US" altLang="ko-KR" sz="975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>
              <a:lnSpc>
                <a:spcPct val="122000"/>
              </a:lnSpc>
            </a:pP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여자농구 결승 한 편으로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en-US" altLang="ko-KR" sz="975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r>
              <a:rPr lang="ko-KR" altLang="en-US" sz="97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특집 </a:t>
            </a:r>
            <a:r>
              <a:rPr lang="en-US" altLang="ko-KR" sz="97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5/5</a:t>
            </a:r>
            <a:r>
              <a:rPr lang="ko-KR" altLang="en-US" sz="97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성공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에도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975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0" y="361950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0.698 · KBS1 0.453 · tvN 0.365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533400" y="432435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685800" y="457200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38300" y="443865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곳은 </a:t>
            </a:r>
            <a:r>
              <a:rPr lang="en-US" altLang="ko-KR" sz="975" dirty="0" smtClean="0">
                <a:solidFill>
                  <a:srgbClr val="7826D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(+39.4%) 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하나</a:t>
            </a:r>
            <a:endParaRPr lang="en-US" altLang="ko-KR" sz="975" dirty="0" smtClean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>
              <a:lnSpc>
                <a:spcPct val="122000"/>
              </a:lnSpc>
            </a:pPr>
            <a:r>
              <a:rPr lang="en-US" altLang="ko-KR" sz="97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+23%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 미달이나 연휴 </a:t>
            </a:r>
            <a:r>
              <a:rPr lang="ko-KR" altLang="en-US" sz="97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마지막날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등위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위로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중 최고</a:t>
            </a:r>
            <a:endParaRPr lang="ko-KR" altLang="en-US" sz="975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82000" y="443865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en-US" altLang="ko-KR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+42.3% · </a:t>
            </a:r>
            <a:r>
              <a:rPr lang="ko-KR" altLang="en-US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 · </a:t>
            </a:r>
          </a:p>
          <a:p>
            <a:pPr>
              <a:lnSpc>
                <a:spcPct val="120000"/>
              </a:lnSpc>
            </a:pPr>
            <a:r>
              <a:rPr lang="en-US" altLang="ko-KR" sz="863" dirty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09/27 0.149(</a:t>
            </a:r>
            <a:r>
              <a:rPr lang="ko-KR" altLang="en-US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863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0.107)</a:t>
            </a:r>
            <a:endParaRPr lang="ko-KR" altLang="en-US" sz="863" dirty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533400" y="5143500"/>
            <a:ext cx="11125200" cy="74295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685800" y="5391150"/>
            <a:ext cx="800100" cy="247650"/>
          </a:xfrm>
          <a:prstGeom prst="roundRect">
            <a:avLst>
              <a:gd name="adj" fmla="val 50000"/>
            </a:avLst>
          </a:prstGeom>
          <a:solidFill>
            <a:srgbClr val="E7E6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신규 편성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38300" y="5257800"/>
            <a:ext cx="657225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예능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편이 자리에 따라 정반대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부진했던 일요일 자리 </a:t>
            </a:r>
            <a:r>
              <a:rPr lang="en-US" altLang="ko-KR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〈</a:t>
            </a:r>
            <a:r>
              <a:rPr lang="ko-KR" altLang="en-US" sz="975" dirty="0" err="1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니돈내산</a:t>
            </a:r>
            <a:r>
              <a:rPr lang="en-US" altLang="ko-KR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〉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4.98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성장</a:t>
            </a:r>
            <a:endParaRPr lang="en-US" altLang="ko-KR" sz="975" dirty="0" smtClean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>
              <a:lnSpc>
                <a:spcPct val="122000"/>
              </a:lnSpc>
            </a:pPr>
            <a:r>
              <a:rPr lang="en-US" altLang="ko-KR" sz="975" dirty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                                                           </a:t>
            </a:r>
            <a:r>
              <a:rPr lang="ko-KR" altLang="en-US" sz="97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검증받은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&lt;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4&gt;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975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재방이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지키던 금요일 자리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맡겨만 </a:t>
            </a:r>
            <a:r>
              <a:rPr lang="ko-KR" altLang="en-US" sz="975" dirty="0" err="1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주십숏</a:t>
            </a:r>
            <a:r>
              <a:rPr lang="en-US" altLang="ko-KR" sz="975" dirty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〉 </a:t>
            </a:r>
            <a:r>
              <a:rPr lang="en-US" altLang="ko-KR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</a:t>
            </a:r>
            <a:r>
              <a:rPr lang="ko-KR" altLang="en-US" sz="975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감소</a:t>
            </a:r>
            <a:endParaRPr lang="ko-KR" altLang="en-US" sz="975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82000" y="5257800"/>
            <a:ext cx="31242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근거 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편성물 본방 평균 대비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실측 대비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6000750"/>
            <a:ext cx="111252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6076950"/>
            <a:ext cx="1074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한 문장 결론  </a:t>
            </a:r>
            <a:r>
              <a:rPr lang="en-US" altLang="ko-KR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명절은 ‘특집을 얼마나 </a:t>
            </a:r>
            <a:r>
              <a:rPr lang="ko-KR" altLang="en-US" sz="975" dirty="0" err="1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늘릴까’가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 아니라 ‘</a:t>
            </a:r>
            <a:r>
              <a:rPr lang="ko-KR" altLang="en-US" sz="120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시청 이유가 있는 콘텐츠를 어느 자리에 </a:t>
            </a:r>
            <a:r>
              <a:rPr lang="ko-KR" altLang="en-US" sz="1200" dirty="0" err="1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놓을까</a:t>
            </a:r>
            <a:r>
              <a:rPr lang="ko-KR" altLang="en-US" sz="975" dirty="0" err="1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’의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 문제</a:t>
            </a:r>
            <a:endParaRPr lang="ko-KR" altLang="en-US" sz="975" dirty="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8006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ENVIRONMENT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2026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추석은 ‘평년 명절’과 다른 경기장이었다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언론 보도로 확인되는 외부 환경과 내부 실측 데이터가 같은 방향을 가리킴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5905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04850" y="16002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9" name="TextBox 8"/>
          <p:cNvSpPr txBox="1"/>
          <p:nvPr/>
        </p:nvSpPr>
        <p:spPr>
          <a:xfrm>
            <a:off x="819150" y="15716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언론 보도 ①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가변 편성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마이데일리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09/24)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4850" y="1809750"/>
            <a:ext cx="5562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경기 진행에 따라 프라임 편성이 유동적으로 바뀔 수 있어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방송사들이 대형 신규 파일럿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제작보다 가변 편성 대응을 택했다는 분석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연휴는 「무엇을 새로 만들어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걸었는가」보다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「있는 것을 어느 자리에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놓았는가」의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판이었음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2609850"/>
            <a:ext cx="5905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704850" y="2781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3" name="TextBox 12"/>
          <p:cNvSpPr txBox="1"/>
          <p:nvPr/>
        </p:nvSpPr>
        <p:spPr>
          <a:xfrm>
            <a:off x="819150" y="27527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언론 보도 ②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 축소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이투데이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09/24)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850" y="2990850"/>
            <a:ext cx="5562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여파로 추석 특선영화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프로그램 수가 예년보다 적었고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특선영화는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중심으로 집중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나머지는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tvN·OCN·JTBC·EBS1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이동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3676650"/>
            <a:ext cx="5905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704850" y="3848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17" name="TextBox 16"/>
          <p:cNvSpPr txBox="1"/>
          <p:nvPr/>
        </p:nvSpPr>
        <p:spPr>
          <a:xfrm>
            <a:off x="819150" y="3819525"/>
            <a:ext cx="5448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내부 실측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시장을 연 것은 중계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850" y="4057650"/>
            <a:ext cx="5562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있는 시간의 개인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vs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없는 시간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 시간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+20.5%,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비중계 시간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-17.3%.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대형 이벤트가 시장 확대를 주도했고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없던 시간대에서 당사는 역성장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4876800"/>
            <a:ext cx="59055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723900" y="4953000"/>
            <a:ext cx="5524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75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해석  </a:t>
            </a:r>
            <a:r>
              <a:rPr lang="ko-KR" altLang="en-US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이번 추석 명절은 ‘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아시안게임이 겹친 특수 </a:t>
            </a:r>
            <a:r>
              <a:rPr lang="ko-KR" altLang="en-US" sz="975" dirty="0" err="1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명절</a:t>
            </a:r>
            <a:r>
              <a:rPr lang="ko-KR" altLang="en-US" sz="975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’이라는</a:t>
            </a:r>
            <a:r>
              <a:rPr lang="ko-KR" altLang="en-US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전제 위에서 읽어야 함</a:t>
            </a:r>
            <a:r>
              <a:rPr lang="en-US" altLang="ko-KR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975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</a:t>
            </a:r>
            <a:r>
              <a:rPr lang="ko-KR" altLang="en-US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없는 명절이면 시장 확대는 </a:t>
            </a:r>
            <a:r>
              <a:rPr lang="en-US" altLang="ko-KR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 </a:t>
            </a:r>
            <a:r>
              <a:rPr lang="ko-KR" altLang="en-US" sz="975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안팎에 머물었을 가능성이 큼</a:t>
            </a:r>
            <a:endParaRPr lang="ko-KR" altLang="en-US" sz="975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667500" y="1428750"/>
            <a:ext cx="4991100" cy="4019550"/>
          </a:xfrm>
          <a:prstGeom prst="roundRect">
            <a:avLst>
              <a:gd name="adj" fmla="val 284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6896100" y="1600200"/>
            <a:ext cx="4572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주요 ‘시청 이유’가 발생한 시점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경기 시각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방송 시각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7067550" y="2057400"/>
            <a:ext cx="0" cy="3162300"/>
          </a:xfrm>
          <a:prstGeom prst="line">
            <a:avLst/>
          </a:prstGeom>
          <a:ln w="19050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/>
          <p:cNvSpPr/>
          <p:nvPr/>
        </p:nvSpPr>
        <p:spPr>
          <a:xfrm>
            <a:off x="7010400" y="2019300"/>
            <a:ext cx="114300" cy="114300"/>
          </a:xfrm>
          <a:prstGeom prst="ellipse">
            <a:avLst/>
          </a:prstGeom>
          <a:solidFill>
            <a:srgbClr val="6F69E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모서리가 둥근 직사각형 24"/>
          <p:cNvSpPr/>
          <p:nvPr/>
        </p:nvSpPr>
        <p:spPr>
          <a:xfrm>
            <a:off x="7258050" y="19621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 19:39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86750" y="19812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KBS2 〈</a:t>
            </a:r>
            <a:r>
              <a:rPr lang="ko-KR" altLang="en-US" sz="120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이승철</a:t>
            </a:r>
            <a:r>
              <a:rPr lang="en-US" altLang="ko-KR" sz="120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〉 3</a:t>
            </a:r>
            <a:r>
              <a:rPr lang="ko-KR" altLang="en-US" sz="120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부 연속</a:t>
            </a:r>
            <a:endParaRPr lang="ko-KR" altLang="en-US" sz="1200" dirty="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old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86750" y="21717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1.007 · 3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1.047 (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매치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1.757)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7010400" y="257175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258050" y="25146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16:00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86750" y="25336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여자농구 준결승 한국</a:t>
            </a:r>
            <a:r>
              <a:rPr lang="en-US" altLang="ko-KR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-</a:t>
            </a:r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중국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86750" y="27241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3.9%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7010400" y="312420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258050" y="30670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22:05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86750" y="30861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육상 남녀 </a:t>
            </a:r>
            <a:r>
              <a:rPr lang="en-US" altLang="ko-KR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100m </a:t>
            </a:r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결승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6750" y="32766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5.5%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사실상 공백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7010400" y="3676650"/>
            <a:ext cx="114300" cy="114300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258050" y="36195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19:20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86750" y="36385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여자농구 결승 한국</a:t>
            </a:r>
            <a:r>
              <a:rPr lang="en-US" altLang="ko-KR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-</a:t>
            </a:r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일본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0" y="38290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10.0%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순간 최고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19.3%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2049 2.734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7010400" y="4229100"/>
            <a:ext cx="114300" cy="114300"/>
          </a:xfrm>
          <a:prstGeom prst="ellipse">
            <a:avLst/>
          </a:prstGeom>
          <a:solidFill>
            <a:srgbClr val="2C24CE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258050" y="417195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22:31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86750" y="419100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SBS 〈</a:t>
            </a:r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왕과 사는 남자</a:t>
            </a:r>
            <a:r>
              <a:rPr lang="en-US" altLang="ko-KR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〉 TV </a:t>
            </a:r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최초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6750" y="438150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중계 지연으로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 밀려도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3.499 · </a:t>
            </a:r>
            <a:r>
              <a:rPr lang="ko-KR" altLang="en-US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41.2%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타원 43"/>
          <p:cNvSpPr/>
          <p:nvPr/>
        </p:nvSpPr>
        <p:spPr>
          <a:xfrm>
            <a:off x="7010400" y="4781550"/>
            <a:ext cx="114300" cy="114300"/>
          </a:xfrm>
          <a:prstGeom prst="ellipse">
            <a:avLst/>
          </a:prstGeom>
          <a:solidFill>
            <a:srgbClr val="7C7C8C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7258050" y="4724400"/>
            <a:ext cx="914400" cy="2286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 18:30</a:t>
            </a:r>
            <a:endParaRPr lang="ko-KR" altLang="en-US" sz="82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86750" y="4743450"/>
            <a:ext cx="3238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200" dirty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야구 금메달 </a:t>
            </a:r>
            <a:r>
              <a:rPr lang="ko-KR" altLang="en-US" sz="1200" dirty="0" err="1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old" pitchFamily="2" charset="-127"/>
              </a:rPr>
              <a:t>결정전</a:t>
            </a:r>
            <a:endParaRPr lang="ko-KR" altLang="en-US" sz="1200" dirty="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86750" y="4933950"/>
            <a:ext cx="32385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en-US" altLang="ko-KR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2.866 · </a:t>
            </a:r>
            <a:r>
              <a:rPr lang="ko-KR" altLang="en-US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2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〈</a:t>
            </a:r>
            <a:r>
              <a:rPr lang="ko-KR" altLang="en-US" sz="825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82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825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</a:t>
            </a:r>
            <a:r>
              <a:rPr lang="ko-KR" altLang="en-US" sz="825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825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0.392</a:t>
            </a:r>
            <a:endParaRPr lang="ko-KR" altLang="en-US" sz="825" dirty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근거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마이데일리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이투데이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이데일리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DB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651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01 · METHOD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성과는 ‘절대 시청률’이 아니라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축을 교차해 판정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비교 기준은 ‘직전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 평균’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 비교는 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보정값은 사용하지 않음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429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763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닐슨 등위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763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일자별 등위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 평균 등위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29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전체 채널 판에서 자리를 올렸는가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닐슨 집계값을 그대로 쓰며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4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평균을 반올림한 정수로 표기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2049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개인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가구 채널은 유료방송가입가구 등위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3053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45148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82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시장 대비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482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증감률 − 시장 총 시청량 증감률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48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커진 시장에서 제 몫 이상을 가져왔는가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100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함의하는 해당 타깃의 시장 전체 시청률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077200" y="1428750"/>
            <a:ext cx="3543300" cy="19050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8286750" y="1638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0150" y="1657350"/>
            <a:ext cx="2571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50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 배수</a:t>
            </a:r>
            <a:endParaRPr lang="ko-KR" altLang="en-US" sz="150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820150" y="1905000"/>
            <a:ext cx="2667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그 시간대 실적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÷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실측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6750" y="2209800"/>
            <a:ext cx="3124200" cy="1028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그 자리를 특집으로 바꿔 시청이 늘었는가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요일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단위 기준선에 편성이 점유한 분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分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만큼 가중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1.00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7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기준값과 동일</a:t>
            </a:r>
            <a:endParaRPr lang="ko-KR" altLang="en-US" sz="97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533400" y="3543300"/>
            <a:ext cx="11125200" cy="1866900"/>
          </a:xfrm>
          <a:prstGeom prst="roundRect">
            <a:avLst>
              <a:gd name="adj" fmla="val 6122"/>
            </a:avLst>
          </a:prstGeom>
          <a:solidFill>
            <a:srgbClr val="F7F7FA"/>
          </a:solidFill>
          <a:ln w="9525">
            <a:solidFill>
              <a:srgbClr val="E2E2E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762000" y="3695700"/>
            <a:ext cx="381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기준값과 집계 규칙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2000" y="3962400"/>
            <a:ext cx="51435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기준값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직전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요일의 닐슨 실측 평균</a:t>
            </a:r>
          </a:p>
          <a:p>
            <a:pPr>
              <a:lnSpc>
                <a:spcPct val="130000"/>
              </a:lnSpc>
            </a:pPr>
            <a:r>
              <a:rPr lang="ko-KR" altLang="en-US" sz="9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</a:t>
            </a:r>
            <a:r>
              <a:rPr lang="en-US" altLang="ko-KR" sz="9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→ 09/03·10·17  /  09/25 → 09/04·11·18  /  09/26 → 09/05·12·19  /  09/27 → 09/06·13·20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방송일 경계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02:00~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익일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01:59 ·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평일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토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공휴일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18~23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구분 새벽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02~08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09~13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14~18 /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86500" y="3962400"/>
            <a:ext cx="5181600" cy="1333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•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KPI 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ENA·ENA Play·ENA Drama 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/ ENA Story·OLIFE·ONCE·skyUHD =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시청률은 소수점 셋째 자리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정수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표기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• </a:t>
            </a: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아시안게임 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경기 시작시각과 방송사 중계 편성시각을 분리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경쟁에는 편성시각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이벤트 강도에는 공식 경기시각 사용</a:t>
            </a:r>
          </a:p>
          <a:p>
            <a:pPr>
              <a:lnSpc>
                <a:spcPct val="130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•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모집단이 달라 직접 비교하지 않고 경쟁환경 설명에만 사용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533400" y="5619750"/>
            <a:ext cx="111252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723900" y="5695950"/>
            <a:ext cx="107442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975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특집을 많이 걸었더라도 등위가 그대로면 승자로 보지 않음</a:t>
            </a:r>
            <a:r>
              <a:rPr lang="en-US" altLang="ko-KR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75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당사와 경쟁사에 같은 방법을 적용</a:t>
            </a:r>
            <a:endParaRPr lang="ko-KR" altLang="en-US" sz="975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486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NIELSEN RANK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 판에서 자리를 올린 채널은 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SBS·KBS1,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당사는 </a:t>
            </a:r>
            <a:r>
              <a:rPr lang="en-US" altLang="ko-KR" sz="2250" spc="-4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만 한 계단 상승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(09/24~27).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일자별 등위 평균을 반올림한 정수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변동은 정수 등위 차이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3906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실측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572500" y="1390650"/>
            <a:ext cx="3048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 </a:t>
            </a:r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(09/24~27)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3200400" y="167640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200400" y="167640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 flipV="1">
            <a:off x="3200400" y="212598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>
            <a:off x="3200400" y="212598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3200400" y="235077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3200400" y="2800350"/>
            <a:ext cx="4953000" cy="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3200400" y="3025140"/>
            <a:ext cx="4953000" cy="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/>
        </p:nvCxnSpPr>
        <p:spPr>
          <a:xfrm>
            <a:off x="3200400" y="3249930"/>
            <a:ext cx="4953000" cy="0"/>
          </a:xfrm>
          <a:prstGeom prst="line">
            <a:avLst/>
          </a:prstGeom>
          <a:ln w="33338">
            <a:solidFill>
              <a:srgbClr val="3C32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/>
          <p:cNvCxnSpPr/>
          <p:nvPr/>
        </p:nvCxnSpPr>
        <p:spPr>
          <a:xfrm flipV="1">
            <a:off x="3200400" y="347472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3200400" y="347472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/>
          <p:nvPr/>
        </p:nvCxnSpPr>
        <p:spPr>
          <a:xfrm>
            <a:off x="3200400" y="369951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/>
          <p:nvPr/>
        </p:nvCxnSpPr>
        <p:spPr>
          <a:xfrm flipV="1">
            <a:off x="3200400" y="4149090"/>
            <a:ext cx="4953000" cy="224790"/>
          </a:xfrm>
          <a:prstGeom prst="line">
            <a:avLst/>
          </a:prstGeom>
          <a:ln w="14288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>
            <a:off x="3200400" y="4149090"/>
            <a:ext cx="4953000" cy="22479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/>
          <p:nvPr/>
        </p:nvCxnSpPr>
        <p:spPr>
          <a:xfrm flipV="1">
            <a:off x="3200400" y="459867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/>
          <p:nvPr/>
        </p:nvCxnSpPr>
        <p:spPr>
          <a:xfrm flipV="1">
            <a:off x="3200400" y="482346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3200400" y="5048250"/>
            <a:ext cx="4953000" cy="44958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>
            <a:off x="3200400" y="5273040"/>
            <a:ext cx="4953000" cy="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V="1">
            <a:off x="3200400" y="5497830"/>
            <a:ext cx="4953000" cy="224790"/>
          </a:xfrm>
          <a:prstGeom prst="line">
            <a:avLst/>
          </a:prstGeom>
          <a:ln w="14288">
            <a:solidFill>
              <a:srgbClr val="6F69E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>
            <a:off x="3200400" y="4598670"/>
            <a:ext cx="4953000" cy="1123950"/>
          </a:xfrm>
          <a:prstGeom prst="line">
            <a:avLst/>
          </a:prstGeom>
          <a:ln w="14288">
            <a:solidFill>
              <a:srgbClr val="E9A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3200400" y="5947410"/>
            <a:ext cx="4953000" cy="224790"/>
          </a:xfrm>
          <a:prstGeom prst="line">
            <a:avLst/>
          </a:prstGeom>
          <a:ln w="33338">
            <a:solidFill>
              <a:srgbClr val="00A9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3200400" y="5947410"/>
            <a:ext cx="4953000" cy="224790"/>
          </a:xfrm>
          <a:prstGeom prst="line">
            <a:avLst/>
          </a:prstGeom>
          <a:ln w="33338">
            <a:solidFill>
              <a:srgbClr val="EE2A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33400" y="16002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9650" y="16002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57450" y="16002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0.411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3162300" y="16383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533400" y="182499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9650" y="18249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457450" y="18249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0.387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3162300" y="18630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533400" y="204978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09650" y="20497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57450" y="20497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0.309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3162300" y="20878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533400" y="22745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09650" y="22745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KBS2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457450" y="22745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0.222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3162300" y="23126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533400" y="249936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09650" y="24993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457450" y="24993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타원 48"/>
          <p:cNvSpPr/>
          <p:nvPr/>
        </p:nvSpPr>
        <p:spPr>
          <a:xfrm>
            <a:off x="3162300" y="25374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533400" y="272415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09650" y="27241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457450" y="27241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162300" y="27622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533400" y="294894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09650" y="29489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every1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457450" y="29489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3162300" y="29870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533400" y="317373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09650" y="31737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63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457450" y="31737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타원 60"/>
          <p:cNvSpPr/>
          <p:nvPr/>
        </p:nvSpPr>
        <p:spPr>
          <a:xfrm>
            <a:off x="3162300" y="3211830"/>
            <a:ext cx="76200" cy="76200"/>
          </a:xfrm>
          <a:prstGeom prst="ellipse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33400" y="339852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09650" y="33985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드라마넷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457450" y="33985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3162300" y="34366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533400" y="362331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009650" y="36233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Plus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457450" y="36233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3162300" y="366141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33400" y="38481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09650" y="38481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STORY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457450" y="38481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타원 72"/>
          <p:cNvSpPr/>
          <p:nvPr/>
        </p:nvSpPr>
        <p:spPr>
          <a:xfrm>
            <a:off x="3162300" y="38862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533400" y="407289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09650" y="40728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457450" y="40728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타원 76"/>
          <p:cNvSpPr/>
          <p:nvPr/>
        </p:nvSpPr>
        <p:spPr>
          <a:xfrm>
            <a:off x="3162300" y="41109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533400" y="429768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09650" y="42976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457450" y="42976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타원 80"/>
          <p:cNvSpPr/>
          <p:nvPr/>
        </p:nvSpPr>
        <p:spPr>
          <a:xfrm>
            <a:off x="3162300" y="43357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33400" y="452247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09650" y="45224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457450" y="45224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3162300" y="45605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533400" y="474726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09650" y="47472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CHOSUN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457450" y="47472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9" name="타원 88"/>
          <p:cNvSpPr/>
          <p:nvPr/>
        </p:nvSpPr>
        <p:spPr>
          <a:xfrm>
            <a:off x="3162300" y="47853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533400" y="497205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09650" y="49720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funE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2457450" y="49720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타원 92"/>
          <p:cNvSpPr/>
          <p:nvPr/>
        </p:nvSpPr>
        <p:spPr>
          <a:xfrm>
            <a:off x="3162300" y="50101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TextBox 93"/>
          <p:cNvSpPr txBox="1"/>
          <p:nvPr/>
        </p:nvSpPr>
        <p:spPr>
          <a:xfrm>
            <a:off x="533400" y="519684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009650" y="51968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SHOW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2457450" y="51968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타원 96"/>
          <p:cNvSpPr/>
          <p:nvPr/>
        </p:nvSpPr>
        <p:spPr>
          <a:xfrm>
            <a:off x="3162300" y="52349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TextBox 97"/>
          <p:cNvSpPr txBox="1"/>
          <p:nvPr/>
        </p:nvSpPr>
        <p:spPr>
          <a:xfrm>
            <a:off x="533400" y="542163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09650" y="54216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457450" y="54216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3162300" y="545973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533400" y="564642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1009650" y="56464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2457450" y="56464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5" name="타원 104"/>
          <p:cNvSpPr/>
          <p:nvPr/>
        </p:nvSpPr>
        <p:spPr>
          <a:xfrm>
            <a:off x="3162300" y="56845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105"/>
          <p:cNvSpPr txBox="1"/>
          <p:nvPr/>
        </p:nvSpPr>
        <p:spPr>
          <a:xfrm>
            <a:off x="533400" y="587121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35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1009650" y="58712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63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2457450" y="58712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9" name="타원 108"/>
          <p:cNvSpPr/>
          <p:nvPr/>
        </p:nvSpPr>
        <p:spPr>
          <a:xfrm>
            <a:off x="3162300" y="5909310"/>
            <a:ext cx="76200" cy="76200"/>
          </a:xfrm>
          <a:prstGeom prst="ellipse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TextBox 109"/>
          <p:cNvSpPr txBox="1"/>
          <p:nvPr/>
        </p:nvSpPr>
        <p:spPr>
          <a:xfrm>
            <a:off x="533400" y="6096000"/>
            <a:ext cx="381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09650" y="60960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63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2457450" y="60960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3" name="타원 112"/>
          <p:cNvSpPr/>
          <p:nvPr/>
        </p:nvSpPr>
        <p:spPr>
          <a:xfrm>
            <a:off x="3162300" y="6134100"/>
            <a:ext cx="76200" cy="76200"/>
          </a:xfrm>
          <a:prstGeom prst="ellipse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타원 113"/>
          <p:cNvSpPr/>
          <p:nvPr/>
        </p:nvSpPr>
        <p:spPr>
          <a:xfrm>
            <a:off x="8115300" y="16383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8305800" y="16002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0.698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8915400" y="16002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10344150" y="16002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10953750" y="16002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9" name="타원 118"/>
          <p:cNvSpPr/>
          <p:nvPr/>
        </p:nvSpPr>
        <p:spPr>
          <a:xfrm>
            <a:off x="8115300" y="18630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TextBox 119"/>
          <p:cNvSpPr txBox="1"/>
          <p:nvPr/>
        </p:nvSpPr>
        <p:spPr>
          <a:xfrm>
            <a:off x="8305800" y="18249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0.595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8915400" y="18249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344150" y="182499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10953750" y="182499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4" name="타원 123"/>
          <p:cNvSpPr/>
          <p:nvPr/>
        </p:nvSpPr>
        <p:spPr>
          <a:xfrm>
            <a:off x="8115300" y="20878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/>
          <p:cNvSpPr txBox="1"/>
          <p:nvPr/>
        </p:nvSpPr>
        <p:spPr>
          <a:xfrm>
            <a:off x="8305800" y="20497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0.453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915400" y="20497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0344150" y="204978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0953750" y="204978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8115300" y="23126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TextBox 129"/>
          <p:cNvSpPr txBox="1"/>
          <p:nvPr/>
        </p:nvSpPr>
        <p:spPr>
          <a:xfrm>
            <a:off x="8305800" y="22745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915400" y="22745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10344150" y="227457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10953750" y="227457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4" name="타원 133"/>
          <p:cNvSpPr/>
          <p:nvPr/>
        </p:nvSpPr>
        <p:spPr>
          <a:xfrm>
            <a:off x="8115300" y="25374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TextBox 134"/>
          <p:cNvSpPr txBox="1"/>
          <p:nvPr/>
        </p:nvSpPr>
        <p:spPr>
          <a:xfrm>
            <a:off x="8305800" y="24993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0.273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8915400" y="24993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KBS2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0344150" y="249936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0953750" y="249936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9" name="타원 138"/>
          <p:cNvSpPr/>
          <p:nvPr/>
        </p:nvSpPr>
        <p:spPr>
          <a:xfrm>
            <a:off x="8115300" y="27622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8305800" y="27241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8915400" y="27241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0344150" y="272415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953750" y="272415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4" name="타원 143"/>
          <p:cNvSpPr/>
          <p:nvPr/>
        </p:nvSpPr>
        <p:spPr>
          <a:xfrm>
            <a:off x="8115300" y="29870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TextBox 144"/>
          <p:cNvSpPr txBox="1"/>
          <p:nvPr/>
        </p:nvSpPr>
        <p:spPr>
          <a:xfrm>
            <a:off x="8305800" y="29489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8915400" y="29489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every1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10344150" y="294894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10953750" y="294894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9" name="타원 148"/>
          <p:cNvSpPr/>
          <p:nvPr/>
        </p:nvSpPr>
        <p:spPr>
          <a:xfrm>
            <a:off x="8115300" y="3211830"/>
            <a:ext cx="76200" cy="76200"/>
          </a:xfrm>
          <a:prstGeom prst="ellipse">
            <a:avLst/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TextBox 149"/>
          <p:cNvSpPr txBox="1"/>
          <p:nvPr/>
        </p:nvSpPr>
        <p:spPr>
          <a:xfrm>
            <a:off x="8305800" y="31737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8915400" y="31737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63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2" name="TextBox 151"/>
          <p:cNvSpPr txBox="1"/>
          <p:nvPr/>
        </p:nvSpPr>
        <p:spPr>
          <a:xfrm>
            <a:off x="10344150" y="317373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3" name="TextBox 152"/>
          <p:cNvSpPr txBox="1"/>
          <p:nvPr/>
        </p:nvSpPr>
        <p:spPr>
          <a:xfrm>
            <a:off x="10953750" y="317373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4" name="타원 153"/>
          <p:cNvSpPr/>
          <p:nvPr/>
        </p:nvSpPr>
        <p:spPr>
          <a:xfrm>
            <a:off x="8115300" y="34366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TextBox 154"/>
          <p:cNvSpPr txBox="1"/>
          <p:nvPr/>
        </p:nvSpPr>
        <p:spPr>
          <a:xfrm>
            <a:off x="8305800" y="33985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8915400" y="33985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STORY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10344150" y="339852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0953750" y="339852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9" name="타원 158"/>
          <p:cNvSpPr/>
          <p:nvPr/>
        </p:nvSpPr>
        <p:spPr>
          <a:xfrm>
            <a:off x="8115300" y="366141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TextBox 159"/>
          <p:cNvSpPr txBox="1"/>
          <p:nvPr/>
        </p:nvSpPr>
        <p:spPr>
          <a:xfrm>
            <a:off x="8305800" y="36233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1" name="TextBox 160"/>
          <p:cNvSpPr txBox="1"/>
          <p:nvPr/>
        </p:nvSpPr>
        <p:spPr>
          <a:xfrm>
            <a:off x="8915400" y="36233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드라마넷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10344150" y="362331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10953750" y="362331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4" name="타원 163"/>
          <p:cNvSpPr/>
          <p:nvPr/>
        </p:nvSpPr>
        <p:spPr>
          <a:xfrm>
            <a:off x="8115300" y="388620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5" name="TextBox 164"/>
          <p:cNvSpPr txBox="1"/>
          <p:nvPr/>
        </p:nvSpPr>
        <p:spPr>
          <a:xfrm>
            <a:off x="8305800" y="38481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8915400" y="38481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Plus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10344150" y="38481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10953750" y="38481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69" name="타원 168"/>
          <p:cNvSpPr/>
          <p:nvPr/>
        </p:nvSpPr>
        <p:spPr>
          <a:xfrm>
            <a:off x="8115300" y="411099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TextBox 169"/>
          <p:cNvSpPr txBox="1"/>
          <p:nvPr/>
        </p:nvSpPr>
        <p:spPr>
          <a:xfrm>
            <a:off x="8305800" y="407289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0.069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1" name="TextBox 170"/>
          <p:cNvSpPr txBox="1"/>
          <p:nvPr/>
        </p:nvSpPr>
        <p:spPr>
          <a:xfrm>
            <a:off x="8915400" y="407289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10344150" y="407289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10953750" y="407289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63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863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4" name="타원 173"/>
          <p:cNvSpPr/>
          <p:nvPr/>
        </p:nvSpPr>
        <p:spPr>
          <a:xfrm>
            <a:off x="8115300" y="433578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5" name="TextBox 174"/>
          <p:cNvSpPr txBox="1"/>
          <p:nvPr/>
        </p:nvSpPr>
        <p:spPr>
          <a:xfrm>
            <a:off x="8305800" y="429768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8915400" y="429768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 JOY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10344150" y="429768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10953750" y="429768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9" name="타원 178"/>
          <p:cNvSpPr/>
          <p:nvPr/>
        </p:nvSpPr>
        <p:spPr>
          <a:xfrm>
            <a:off x="8115300" y="456057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0" name="TextBox 179"/>
          <p:cNvSpPr txBox="1"/>
          <p:nvPr/>
        </p:nvSpPr>
        <p:spPr>
          <a:xfrm>
            <a:off x="8305800" y="452247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8915400" y="452247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CHOSUN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0344150" y="452247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0953750" y="452247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4" name="타원 183"/>
          <p:cNvSpPr/>
          <p:nvPr/>
        </p:nvSpPr>
        <p:spPr>
          <a:xfrm>
            <a:off x="8115300" y="478536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5" name="TextBox 184"/>
          <p:cNvSpPr txBox="1"/>
          <p:nvPr/>
        </p:nvSpPr>
        <p:spPr>
          <a:xfrm>
            <a:off x="8305800" y="474726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8915400" y="474726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funE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7" name="TextBox 186"/>
          <p:cNvSpPr txBox="1"/>
          <p:nvPr/>
        </p:nvSpPr>
        <p:spPr>
          <a:xfrm>
            <a:off x="10344150" y="474726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10953750" y="474726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9" name="타원 188"/>
          <p:cNvSpPr/>
          <p:nvPr/>
        </p:nvSpPr>
        <p:spPr>
          <a:xfrm>
            <a:off x="8115300" y="501015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0" name="TextBox 189"/>
          <p:cNvSpPr txBox="1"/>
          <p:nvPr/>
        </p:nvSpPr>
        <p:spPr>
          <a:xfrm>
            <a:off x="8305800" y="497205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8915400" y="497205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MBN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2" name="TextBox 191"/>
          <p:cNvSpPr txBox="1"/>
          <p:nvPr/>
        </p:nvSpPr>
        <p:spPr>
          <a:xfrm>
            <a:off x="10344150" y="497205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3" name="TextBox 192"/>
          <p:cNvSpPr txBox="1"/>
          <p:nvPr/>
        </p:nvSpPr>
        <p:spPr>
          <a:xfrm>
            <a:off x="10953750" y="497205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4" name="타원 193"/>
          <p:cNvSpPr/>
          <p:nvPr/>
        </p:nvSpPr>
        <p:spPr>
          <a:xfrm>
            <a:off x="8115300" y="523494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/>
          <p:cNvSpPr txBox="1"/>
          <p:nvPr/>
        </p:nvSpPr>
        <p:spPr>
          <a:xfrm>
            <a:off x="8305800" y="519684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8915400" y="519684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SHOW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10344150" y="519684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10953750" y="519684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9" name="타원 198"/>
          <p:cNvSpPr/>
          <p:nvPr/>
        </p:nvSpPr>
        <p:spPr>
          <a:xfrm>
            <a:off x="8115300" y="545973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TextBox 199"/>
          <p:cNvSpPr txBox="1"/>
          <p:nvPr/>
        </p:nvSpPr>
        <p:spPr>
          <a:xfrm>
            <a:off x="8305800" y="542163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8915400" y="542163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0344150" y="542163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3" name="TextBox 202"/>
          <p:cNvSpPr txBox="1"/>
          <p:nvPr/>
        </p:nvSpPr>
        <p:spPr>
          <a:xfrm>
            <a:off x="10953750" y="542163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▲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endParaRPr lang="ko-KR" altLang="en-US" sz="863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4" name="타원 203"/>
          <p:cNvSpPr/>
          <p:nvPr/>
        </p:nvSpPr>
        <p:spPr>
          <a:xfrm>
            <a:off x="8115300" y="5684520"/>
            <a:ext cx="76200" cy="76200"/>
          </a:xfrm>
          <a:prstGeom prst="ellipse">
            <a:avLst/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TextBox 204"/>
          <p:cNvSpPr txBox="1"/>
          <p:nvPr/>
        </p:nvSpPr>
        <p:spPr>
          <a:xfrm>
            <a:off x="8305800" y="564642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6" name="TextBox 205"/>
          <p:cNvSpPr txBox="1"/>
          <p:nvPr/>
        </p:nvSpPr>
        <p:spPr>
          <a:xfrm>
            <a:off x="8915400" y="564642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863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endParaRPr lang="ko-KR" altLang="en-US" sz="863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7" name="TextBox 206"/>
          <p:cNvSpPr txBox="1"/>
          <p:nvPr/>
        </p:nvSpPr>
        <p:spPr>
          <a:xfrm>
            <a:off x="10344150" y="564642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26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10953750" y="564642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9" name="타원 208"/>
          <p:cNvSpPr/>
          <p:nvPr/>
        </p:nvSpPr>
        <p:spPr>
          <a:xfrm>
            <a:off x="8115300" y="5909310"/>
            <a:ext cx="76200" cy="76200"/>
          </a:xfrm>
          <a:prstGeom prst="ellipse">
            <a:avLst/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/>
          <p:cNvSpPr txBox="1"/>
          <p:nvPr/>
        </p:nvSpPr>
        <p:spPr>
          <a:xfrm>
            <a:off x="8305800" y="587121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1" name="TextBox 210"/>
          <p:cNvSpPr txBox="1"/>
          <p:nvPr/>
        </p:nvSpPr>
        <p:spPr>
          <a:xfrm>
            <a:off x="8915400" y="587121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63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2" name="TextBox 211"/>
          <p:cNvSpPr txBox="1"/>
          <p:nvPr/>
        </p:nvSpPr>
        <p:spPr>
          <a:xfrm>
            <a:off x="10344150" y="587121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43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3" name="TextBox 212"/>
          <p:cNvSpPr txBox="1"/>
          <p:nvPr/>
        </p:nvSpPr>
        <p:spPr>
          <a:xfrm>
            <a:off x="10953750" y="587121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4" name="타원 213"/>
          <p:cNvSpPr/>
          <p:nvPr/>
        </p:nvSpPr>
        <p:spPr>
          <a:xfrm>
            <a:off x="8115300" y="6134100"/>
            <a:ext cx="76200" cy="76200"/>
          </a:xfrm>
          <a:prstGeom prst="ellipse">
            <a:avLst/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5" name="TextBox 214"/>
          <p:cNvSpPr txBox="1"/>
          <p:nvPr/>
        </p:nvSpPr>
        <p:spPr>
          <a:xfrm>
            <a:off x="8305800" y="60960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6" name="TextBox 215"/>
          <p:cNvSpPr txBox="1"/>
          <p:nvPr/>
        </p:nvSpPr>
        <p:spPr>
          <a:xfrm>
            <a:off x="8915400" y="6096000"/>
            <a:ext cx="14287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63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63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7" name="TextBox 216"/>
          <p:cNvSpPr txBox="1"/>
          <p:nvPr/>
        </p:nvSpPr>
        <p:spPr>
          <a:xfrm>
            <a:off x="10344150" y="6096000"/>
            <a:ext cx="476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50</a:t>
            </a:r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8" name="TextBox 217"/>
          <p:cNvSpPr txBox="1"/>
          <p:nvPr/>
        </p:nvSpPr>
        <p:spPr>
          <a:xfrm>
            <a:off x="10953750" y="6096000"/>
            <a:ext cx="7048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▼</a:t>
            </a:r>
            <a:r>
              <a:rPr lang="en-US" altLang="ko-KR" sz="863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15</a:t>
            </a:r>
            <a:endParaRPr lang="ko-KR" altLang="en-US" sz="863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9" name="모서리가 둥근 직사각형 218"/>
          <p:cNvSpPr/>
          <p:nvPr/>
        </p:nvSpPr>
        <p:spPr>
          <a:xfrm>
            <a:off x="533400" y="6248400"/>
            <a:ext cx="11125200" cy="247650"/>
          </a:xfrm>
          <a:prstGeom prst="roundRect">
            <a:avLst>
              <a:gd name="adj" fmla="val 3846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TextBox 219"/>
          <p:cNvSpPr txBox="1"/>
          <p:nvPr/>
        </p:nvSpPr>
        <p:spPr>
          <a:xfrm>
            <a:off x="723900" y="6324600"/>
            <a:ext cx="10744200" cy="95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2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(09/24·26·27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KBS1 5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위→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상승폭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Mnet 31→25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11→10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 35→50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전체 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42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상위권</a:t>
            </a:r>
            <a:r>
              <a:rPr lang="en-US" altLang="ko-KR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당사만 표기</a:t>
            </a:r>
            <a:endParaRPr lang="ko-KR" altLang="en-US" sz="75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1" name="TextBox 22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일간 등위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09/24~09/27 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29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HOUSEHOLD CHANNELS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유료가구 판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가구 채널 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중 등위를 올린 곳은 </a:t>
            </a:r>
            <a:r>
              <a:rPr lang="en-US" altLang="ko-KR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Story·skyUHD, OLIFE·ONCE</a:t>
            </a:r>
            <a:r>
              <a:rPr lang="ko-KR" altLang="en-US" sz="190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는 하락</a:t>
            </a:r>
            <a:endParaRPr lang="ko-KR" altLang="en-US" sz="190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 닐슨 시청률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ENA Story·OLIFE·ONCE·skyUHD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이 판에서 판정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상위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위권과 함께 표기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2768"/>
              </p:ext>
            </p:extLst>
          </p:nvPr>
        </p:nvGraphicFramePr>
        <p:xfrm>
          <a:off x="533400" y="1428750"/>
          <a:ext cx="7105650" cy="3733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2050">
                  <a:extLst>
                    <a:ext uri="{9D8B030D-6E8A-4147-A177-3AD203B41FA5}">
                      <a16:colId xmlns="" xmlns:a16="http://schemas.microsoft.com/office/drawing/2014/main" val="1737821045"/>
                    </a:ext>
                  </a:extLst>
                </a:gridCol>
                <a:gridCol w="742950">
                  <a:extLst>
                    <a:ext uri="{9D8B030D-6E8A-4147-A177-3AD203B41FA5}">
                      <a16:colId xmlns="" xmlns:a16="http://schemas.microsoft.com/office/drawing/2014/main" val="2488911344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332107582"/>
                    </a:ext>
                  </a:extLst>
                </a:gridCol>
                <a:gridCol w="742950">
                  <a:extLst>
                    <a:ext uri="{9D8B030D-6E8A-4147-A177-3AD203B41FA5}">
                      <a16:colId xmlns="" xmlns:a16="http://schemas.microsoft.com/office/drawing/2014/main" val="681638516"/>
                    </a:ext>
                  </a:extLst>
                </a:gridCol>
                <a:gridCol w="666750">
                  <a:extLst>
                    <a:ext uri="{9D8B030D-6E8A-4147-A177-3AD203B41FA5}">
                      <a16:colId xmlns="" xmlns:a16="http://schemas.microsoft.com/office/drawing/2014/main" val="417393810"/>
                    </a:ext>
                  </a:extLst>
                </a:gridCol>
                <a:gridCol w="552450">
                  <a:extLst>
                    <a:ext uri="{9D8B030D-6E8A-4147-A177-3AD203B41FA5}">
                      <a16:colId xmlns="" xmlns:a16="http://schemas.microsoft.com/office/drawing/2014/main" val="3647556386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3122719509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3631590864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2286737336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38732413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160380061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</a:t>
                      </a: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실측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변동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09/23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09/24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09/25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09/26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09/27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13826524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2.647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2.003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911732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1.927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1.257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5574633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1.850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1.324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—</a:t>
                      </a:r>
                      <a:endParaRPr lang="ko-KR" altLang="en-US" sz="825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047008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1.588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1.518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8893629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1.013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0.767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06438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0.668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0.563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4031156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 CHOSUN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0.630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0.633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4931395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JTBC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0.534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0.535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127266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 every1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0.442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0.342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852179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A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0.452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0.451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—</a:t>
                      </a:r>
                      <a:endParaRPr lang="ko-KR" altLang="en-US" sz="825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296129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825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6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3F8D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11626038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825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11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1E9F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1864893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002D5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825" b="0" i="0">
                        <a:solidFill>
                          <a:srgbClr val="002D5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▼</a:t>
                      </a:r>
                      <a:r>
                        <a:rPr lang="en-US" altLang="ko-KR" sz="825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10</a:t>
                      </a:r>
                      <a:endParaRPr lang="ko-KR" altLang="en-US" sz="825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78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55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101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77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3E9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62299602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825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187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</a:t>
                      </a:r>
                      <a:r>
                        <a:rPr lang="ko-KR" altLang="en-US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▲</a:t>
                      </a:r>
                      <a:r>
                        <a:rPr lang="en-US" altLang="ko-KR" sz="825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14</a:t>
                      </a:r>
                      <a:endParaRPr lang="ko-KR" altLang="en-US" sz="825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166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203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190</a:t>
                      </a:r>
                      <a:endParaRPr lang="ko-KR" altLang="en-US" sz="825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BE8E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9637591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7810500" y="1428750"/>
            <a:ext cx="3848100" cy="398145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981950" y="1543050"/>
            <a:ext cx="3524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 가구 채널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= 100)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81950" y="1733550"/>
            <a:ext cx="3524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대비 상대 길이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7981950" y="19621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34450" y="19812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→ 0.065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96500" y="19431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135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7981950" y="22479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7981950" y="2362200"/>
            <a:ext cx="1314450" cy="114300"/>
          </a:xfrm>
          <a:prstGeom prst="roundRect">
            <a:avLst>
              <a:gd name="adj" fmla="val 33333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/>
          <p:cNvCxnSpPr/>
          <p:nvPr/>
        </p:nvCxnSpPr>
        <p:spPr>
          <a:xfrm>
            <a:off x="9096375" y="22098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81950" y="25336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dirty="0" err="1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Reach·ATS</a:t>
            </a:r>
            <a:r>
              <a:rPr lang="en-US" altLang="ko-KR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 </a:t>
            </a:r>
            <a:r>
              <a:rPr lang="ko-KR" altLang="en-US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동시 상승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72→61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</a:t>
            </a:r>
            <a:endParaRPr lang="ko-KR" altLang="en-US" sz="750" dirty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7981950" y="28003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E24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1E24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34450" y="28194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 → 0.106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096500" y="27813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-6.8%</a:t>
            </a:r>
            <a:endParaRPr lang="ko-KR" altLang="en-US" sz="13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7981950" y="30861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7981950" y="3200400"/>
            <a:ext cx="885825" cy="114300"/>
          </a:xfrm>
          <a:prstGeom prst="roundRect">
            <a:avLst>
              <a:gd name="adj" fmla="val 33333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연결선 22"/>
          <p:cNvCxnSpPr/>
          <p:nvPr/>
        </p:nvCxnSpPr>
        <p:spPr>
          <a:xfrm>
            <a:off x="9096375" y="30480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81950" y="33718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중계 방어 </a:t>
            </a:r>
            <a:r>
              <a:rPr lang="en-US" altLang="ko-KR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0.176</a:t>
            </a:r>
            <a:r>
              <a:rPr lang="ko-KR" altLang="en-US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은 당사 최고</a:t>
            </a:r>
            <a:endParaRPr lang="ko-KR" altLang="en-US" sz="750" dirty="0">
              <a:latin typeface="KT Flow Bold" pitchFamily="2" charset="-127"/>
              <a:ea typeface="KT Flow Bold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7981950" y="36385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34450" y="36576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 → 0.048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096500" y="36195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-8.6%</a:t>
            </a:r>
            <a:endParaRPr lang="ko-KR" altLang="en-US" sz="13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981950" y="39243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981950" y="4038600"/>
            <a:ext cx="866775" cy="114300"/>
          </a:xfrm>
          <a:prstGeom prst="roundRect">
            <a:avLst>
              <a:gd name="adj" fmla="val 33333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>
            <a:off x="9096375" y="38862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981950" y="42100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 김탁구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잔류 </a:t>
            </a: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34%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7981950" y="4476750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skyUHD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34450" y="4495800"/>
            <a:ext cx="114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 → 0.004</a:t>
            </a:r>
            <a:endParaRPr lang="ko-KR" altLang="en-US" sz="825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96500" y="4457700"/>
            <a:ext cx="1428750" cy="247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135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+155.1%</a:t>
            </a:r>
            <a:endParaRPr lang="ko-KR" altLang="en-US" sz="135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7981950" y="4762500"/>
            <a:ext cx="952500" cy="76200"/>
          </a:xfrm>
          <a:prstGeom prst="roundRect">
            <a:avLst>
              <a:gd name="adj" fmla="val 50000"/>
            </a:avLst>
          </a:prstGeom>
          <a:solidFill>
            <a:srgbClr val="E2E2E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35"/>
          <p:cNvSpPr/>
          <p:nvPr/>
        </p:nvSpPr>
        <p:spPr>
          <a:xfrm>
            <a:off x="7981950" y="4876800"/>
            <a:ext cx="1905000" cy="114300"/>
          </a:xfrm>
          <a:prstGeom prst="roundRect">
            <a:avLst>
              <a:gd name="adj" fmla="val 33333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/>
          <p:nvPr/>
        </p:nvCxnSpPr>
        <p:spPr>
          <a:xfrm>
            <a:off x="9096375" y="4724400"/>
            <a:ext cx="0" cy="3048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981950" y="5048250"/>
            <a:ext cx="3524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· 09/24 </a:t>
            </a:r>
            <a:r>
              <a:rPr lang="en-US" altLang="ko-KR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〈</a:t>
            </a:r>
            <a:r>
              <a:rPr lang="ko-KR" altLang="en-US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이상한 변호사 </a:t>
            </a:r>
            <a:r>
              <a:rPr lang="ko-KR" altLang="en-US" sz="750" dirty="0" err="1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우영우</a:t>
            </a:r>
            <a:r>
              <a:rPr lang="en-US" altLang="ko-KR" sz="750" dirty="0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〉 </a:t>
            </a:r>
            <a:r>
              <a:rPr lang="ko-KR" altLang="en-US" sz="750" dirty="0" err="1" smtClean="0">
                <a:latin typeface="KT Flow Bold" pitchFamily="2" charset="-127"/>
                <a:ea typeface="KT Flow Bold" pitchFamily="2" charset="-127"/>
                <a:sym typeface="KT Flow Medium" pitchFamily="2" charset="-127"/>
              </a:rPr>
              <a:t>몰아보기</a:t>
            </a:r>
            <a:r>
              <a:rPr lang="ko-KR" altLang="en-US" sz="750" dirty="0" err="1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</a:t>
            </a:r>
            <a:r>
              <a:rPr lang="en-US" altLang="ko-KR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750" dirty="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50" dirty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5562600"/>
            <a:ext cx="11125200" cy="819150"/>
          </a:xfrm>
          <a:prstGeom prst="roundRect">
            <a:avLst>
              <a:gd name="adj" fmla="val 11628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5638800"/>
            <a:ext cx="107442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판정 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판은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1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고정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SBS 4→3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가구 채널 중 시장 성장률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넘긴 곳은 </a:t>
            </a:r>
            <a:r>
              <a:rPr lang="en-US" altLang="ko-KR" sz="900" dirty="0" smtClean="0">
                <a:solidFill>
                  <a:srgbClr val="7826D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(+39.4%)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900" dirty="0" err="1" smtClean="0">
                <a:solidFill>
                  <a:srgbClr val="D52027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(+155.1%,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 절대값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참고치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OLIFE(-6.8%)·ONCE(-8.6%)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시장이 커진 연휴에 오히려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역성장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채널의 명절 대응은 ‘명절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상황형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큐레이션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 Story)’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‘검증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en-US" altLang="ko-KR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우영우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통했고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</a:t>
            </a:r>
          </a:p>
          <a:p>
            <a:pPr>
              <a:lnSpc>
                <a:spcPct val="120000"/>
              </a:lnSpc>
            </a:pPr>
            <a:r>
              <a:rPr lang="en-US" altLang="ko-KR" sz="90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‘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간판 신규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대체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(OLIFE)’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‘구작 장편 프라임 통과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(ONCE)’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실패</a:t>
            </a:r>
            <a:endParaRPr lang="ko-KR" altLang="en-US" sz="9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유료방송가입가구 일간 시청률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09/24~09/27 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반올림 정수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단위는 수기 집계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반영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437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RESULT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경쟁사에서는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SBS·KBS1·tvN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 각각 다른 방식으로 성과를 만들었다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‘종합 우위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‘특집 자체의 고른 성공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 건수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)’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분리해 보는 것이 핵심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988128"/>
              </p:ext>
            </p:extLst>
          </p:nvPr>
        </p:nvGraphicFramePr>
        <p:xfrm>
          <a:off x="533400" y="1428750"/>
          <a:ext cx="111252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42950">
                  <a:extLst>
                    <a:ext uri="{9D8B030D-6E8A-4147-A177-3AD203B41FA5}">
                      <a16:colId xmlns="" xmlns:a16="http://schemas.microsoft.com/office/drawing/2014/main" val="69191040"/>
                    </a:ext>
                  </a:extLst>
                </a:gridCol>
                <a:gridCol w="819150">
                  <a:extLst>
                    <a:ext uri="{9D8B030D-6E8A-4147-A177-3AD203B41FA5}">
                      <a16:colId xmlns="" xmlns:a16="http://schemas.microsoft.com/office/drawing/2014/main" val="1054292566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307404464"/>
                    </a:ext>
                  </a:extLst>
                </a:gridCol>
                <a:gridCol w="704850">
                  <a:extLst>
                    <a:ext uri="{9D8B030D-6E8A-4147-A177-3AD203B41FA5}">
                      <a16:colId xmlns="" xmlns:a16="http://schemas.microsoft.com/office/drawing/2014/main" val="4025611616"/>
                    </a:ext>
                  </a:extLst>
                </a:gridCol>
                <a:gridCol w="704850">
                  <a:extLst>
                    <a:ext uri="{9D8B030D-6E8A-4147-A177-3AD203B41FA5}">
                      <a16:colId xmlns="" xmlns:a16="http://schemas.microsoft.com/office/drawing/2014/main" val="3449975487"/>
                    </a:ext>
                  </a:extLst>
                </a:gridCol>
                <a:gridCol w="704850">
                  <a:extLst>
                    <a:ext uri="{9D8B030D-6E8A-4147-A177-3AD203B41FA5}">
                      <a16:colId xmlns="" xmlns:a16="http://schemas.microsoft.com/office/drawing/2014/main" val="2154559247"/>
                    </a:ext>
                  </a:extLst>
                </a:gridCol>
                <a:gridCol w="704850">
                  <a:extLst>
                    <a:ext uri="{9D8B030D-6E8A-4147-A177-3AD203B41FA5}">
                      <a16:colId xmlns="" xmlns:a16="http://schemas.microsoft.com/office/drawing/2014/main" val="432389841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2435441910"/>
                    </a:ext>
                  </a:extLst>
                </a:gridCol>
                <a:gridCol w="5200650">
                  <a:extLst>
                    <a:ext uri="{9D8B030D-6E8A-4147-A177-3AD203B41FA5}">
                      <a16:colId xmlns="" xmlns:a16="http://schemas.microsoft.com/office/drawing/2014/main" val="1136249528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증감*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성공 건수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평균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배수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 분량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유형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읽을 포인트</a:t>
                      </a:r>
                      <a:endParaRPr lang="ko-KR" altLang="en-US" sz="100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037115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SBS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+80.4%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2→1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1.259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1.98</a:t>
                      </a: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462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한 방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3.499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편이 채널 전체를 견인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기안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6.98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배는 경쟁사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8485109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KBS1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+169.8%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5→3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2/4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1.25</a:t>
                      </a: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276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4A43D8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단일 이벤트</a:t>
                      </a:r>
                      <a:endParaRPr lang="ko-KR" altLang="en-US" sz="1050" b="0" i="0">
                        <a:solidFill>
                          <a:srgbClr val="4A43D8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2.734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 채널 상승의 핵심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자체는 평균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50356693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tvN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+18.2%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3→4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0.856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1.71</a:t>
                      </a: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447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1F9D6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고른 성공</a:t>
                      </a:r>
                      <a:endParaRPr lang="ko-KR" altLang="en-US" sz="1050" b="0" i="0">
                        <a:solidFill>
                          <a:srgbClr val="1F9D6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 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 영화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전부 기준 초과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3.0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 한 방은 없어 등위는 하락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6179941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KBS2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+22.8%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5→5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3/6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0.505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1.30</a:t>
                      </a: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274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6F69E2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대형 기획</a:t>
                      </a:r>
                      <a:endParaRPr lang="ko-KR" altLang="en-US" sz="1050" b="0" i="0">
                        <a:solidFill>
                          <a:srgbClr val="6F69E2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이승철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0.476 → 2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1.007 → 3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1.047 </a:t>
                      </a:r>
                      <a:r>
                        <a:rPr lang="ko-KR" altLang="en-US" sz="1000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회차별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 상승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8105988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MBC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+44.8%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2→2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0.168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0.37</a:t>
                      </a: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328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의존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00" b="0" i="0" dirty="0" smtClean="0">
                          <a:solidFill>
                            <a:srgbClr val="D52027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1000" b="0" i="0" dirty="0" smtClean="0">
                          <a:solidFill>
                            <a:srgbClr val="D52027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1000" b="0" i="0" dirty="0" smtClean="0">
                          <a:solidFill>
                            <a:srgbClr val="D52027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최고인데 특집은 </a:t>
                      </a:r>
                      <a:r>
                        <a:rPr lang="en-US" altLang="ko-KR" sz="1000" b="0" i="0" dirty="0" smtClean="0">
                          <a:solidFill>
                            <a:srgbClr val="D52027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 </a:t>
                      </a:r>
                      <a:r>
                        <a:rPr lang="ko-KR" altLang="en-US" sz="1000" b="0" i="0" dirty="0" smtClean="0">
                          <a:solidFill>
                            <a:srgbClr val="D52027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전패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성적은 중계가 만듦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787418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JTBC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+4.8%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7→6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4/5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0.178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1.71</a:t>
                      </a:r>
                      <a:r>
                        <a:rPr lang="ko-KR" altLang="en-US" sz="105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446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빈자리 효율</a:t>
                      </a:r>
                      <a:endParaRPr lang="ko-KR" altLang="en-US" sz="1050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헌트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1000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3.36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·〈</a:t>
                      </a:r>
                      <a:r>
                        <a:rPr lang="ko-KR" altLang="en-US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빅토리</a:t>
                      </a:r>
                      <a:r>
                        <a:rPr lang="en-US" altLang="ko-KR" sz="10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2.54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빈 슬롯의 </a:t>
                      </a:r>
                      <a:r>
                        <a:rPr lang="ko-KR" altLang="en-US" sz="1000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 효율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7617929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MBN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+51.4%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27→23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1/4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0.062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0.88</a:t>
                      </a:r>
                      <a:r>
                        <a:rPr lang="ko-KR" altLang="en-US" sz="105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105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225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7C7C8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미연결</a:t>
                      </a:r>
                      <a:endParaRPr lang="ko-KR" altLang="en-US" sz="1050" b="0" i="0">
                        <a:solidFill>
                          <a:srgbClr val="7C7C8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더 나은 미래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홈런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1000" b="0" i="0" dirty="0" err="1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재방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1.70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배가 유일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〈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동치미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2</a:t>
                      </a:r>
                      <a:r>
                        <a:rPr lang="ko-KR" altLang="en-US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10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</a:t>
                      </a:r>
                      <a:endParaRPr lang="ko-KR" altLang="en-US" sz="10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54100450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495300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723900" y="502920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38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종합 판정 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큰 종합 우위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성공률은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2/7) / KBS1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강한 단일 이벤트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tvN =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가장 안정적인 특집 운영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하락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‘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카드가 잘됨’과 ‘시장 우위 확보’는 다른 문제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 방이 있는 채널이 등위를 가져감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프로그램명에 명절 표기가 없어 특집 집계에서 제외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20→26</a:t>
            </a:r>
            <a:r>
              <a:rPr lang="ko-KR" altLang="en-US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38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5695950"/>
            <a:ext cx="111252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프로그램명에 추석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표기가 있거나 특선영화로 편성된 건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아시안게임 중계 별도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배수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이상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2049 4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반올림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*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증감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표기 시청률 기준 재산출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 보고서의 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+87.8%·MBC +6.7%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표기 시청률</a:t>
            </a:r>
            <a:r>
              <a:rPr lang="en-US" altLang="ko-KR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(0.698/0.387, 0.595/0.411)</a:t>
            </a:r>
            <a:r>
              <a:rPr lang="ko-KR" altLang="en-US" sz="788" smtClean="0">
                <a:solidFill>
                  <a:srgbClr val="D63B3B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맞지 않아 수정함</a:t>
            </a:r>
            <a:endParaRPr lang="ko-KR" altLang="en-US" sz="788">
              <a:solidFill>
                <a:srgbClr val="D63B3B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60845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COMPETITIVE CASES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SBS·KBS1·tvN·MBC 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네 가지 다른 방식의 결과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‘한 방’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·‘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단일 이벤트’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·‘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고른 성공’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·‘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의존’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이벤트 강도와 특집 성과를 분리해서 읽어야 함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2609850" cy="42862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53340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533400" y="1714500"/>
            <a:ext cx="2609850" cy="228600"/>
          </a:xfrm>
          <a:prstGeom prst="rect">
            <a:avLst/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0485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SBS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850" y="2057400"/>
            <a:ext cx="2286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한 방 </a:t>
            </a:r>
            <a:r>
              <a:rPr lang="en-US" altLang="ko-KR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종합 승자 </a:t>
            </a:r>
            <a:r>
              <a:rPr lang="en-US" altLang="ko-KR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</a:t>
            </a:r>
            <a:r>
              <a:rPr lang="ko-KR" altLang="en-US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위→</a:t>
            </a:r>
            <a:r>
              <a:rPr lang="en-US" altLang="ko-KR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r>
              <a:rPr lang="en-US" altLang="ko-KR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1100" dirty="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850" y="241935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3.499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850" y="28956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TV 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</a:p>
          <a:p>
            <a:pPr>
              <a:lnSpc>
                <a:spcPct val="120000"/>
              </a:lnSpc>
            </a:pP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22:31 · 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점유율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41.2%</a:t>
            </a:r>
            <a:endParaRPr lang="ko-KR" altLang="en-US" sz="1000" dirty="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704850" y="33528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4850" y="3467100"/>
            <a:ext cx="2286000" cy="2152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중계를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22:22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까지 이어간 뒤 후속으로 붙여 중계가 모은 수요를 영화가 받음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성공률은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2/7 — </a:t>
            </a:r>
          </a:p>
          <a:p>
            <a:pPr>
              <a:lnSpc>
                <a:spcPct val="130000"/>
              </a:lnSpc>
            </a:pP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이은결</a:t>
            </a:r>
            <a:r>
              <a:rPr lang="ko-KR" altLang="en-US" sz="1000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1000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매직콘서트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0.75~0.78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1000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추석특선다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큐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0.05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카드의 힘과 연결 타이밍이 핵심</a:t>
            </a:r>
            <a:endParaRPr lang="ko-KR" altLang="en-US" sz="10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3371850" y="1428750"/>
            <a:ext cx="2609850" cy="42862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337185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4A43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3371850" y="1714500"/>
            <a:ext cx="2609850" cy="228600"/>
          </a:xfrm>
          <a:prstGeom prst="rect">
            <a:avLst/>
          </a:prstGeom>
          <a:solidFill>
            <a:srgbClr val="4A43D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54330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KBS1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43300" y="2057400"/>
            <a:ext cx="2286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단일 이벤트 </a:t>
            </a:r>
            <a:r>
              <a:rPr lang="en-US" altLang="ko-KR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상승폭 </a:t>
            </a:r>
            <a:r>
              <a:rPr lang="en-US" altLang="ko-KR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 </a:t>
            </a:r>
            <a:r>
              <a:rPr lang="en-US" altLang="ko-KR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(5</a:t>
            </a:r>
            <a:r>
              <a:rPr lang="ko-KR" altLang="en-US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위→</a:t>
            </a:r>
            <a:r>
              <a:rPr lang="en-US" altLang="ko-KR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r>
              <a:rPr lang="en-US" altLang="ko-KR" sz="1100" dirty="0" smtClean="0">
                <a:solidFill>
                  <a:srgbClr val="4A43D8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1100" dirty="0">
              <a:solidFill>
                <a:srgbClr val="4A43D8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43300" y="241935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2.734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3300" y="28956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결승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전국 가구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10.0% · </a:t>
            </a:r>
          </a:p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순간 최고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19.3%</a:t>
            </a:r>
            <a:endParaRPr lang="ko-KR" altLang="en-US" sz="1000" dirty="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3" name="직선 연결선 22"/>
          <p:cNvCxnSpPr/>
          <p:nvPr/>
        </p:nvCxnSpPr>
        <p:spPr>
          <a:xfrm>
            <a:off x="3543300" y="33528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543300" y="3467100"/>
            <a:ext cx="2286000" cy="2152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등위는 결승 한 편이 끌어올림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특집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건은 평균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0.123(2/4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— </a:t>
            </a:r>
          </a:p>
          <a:p>
            <a:pPr>
              <a:lnSpc>
                <a:spcPct val="130000"/>
              </a:lnSpc>
            </a:pP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가요무대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00" dirty="0" err="1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6.04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배가 선전했을 뿐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평균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0.799 vs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밖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0.246</a:t>
            </a:r>
            <a:endParaRPr lang="ko-KR" altLang="en-US" sz="10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6210300" y="1428750"/>
            <a:ext cx="2609850" cy="42862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21030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1F9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6210300" y="1714500"/>
            <a:ext cx="2609850" cy="228600"/>
          </a:xfrm>
          <a:prstGeom prst="rect">
            <a:avLst/>
          </a:prstGeom>
          <a:solidFill>
            <a:srgbClr val="1F9D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38175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tvN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81750" y="2057400"/>
            <a:ext cx="24384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고른 성공 </a:t>
            </a:r>
            <a:r>
              <a:rPr lang="en-US" altLang="ko-KR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5/5</a:t>
            </a:r>
            <a:r>
              <a:rPr lang="ko-KR" altLang="en-US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건 성공</a:t>
            </a:r>
            <a:r>
              <a:rPr lang="en-US" altLang="ko-KR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등위는 </a:t>
            </a:r>
            <a:r>
              <a:rPr lang="en-US" altLang="ko-KR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3→4</a:t>
            </a:r>
            <a:r>
              <a:rPr lang="ko-KR" altLang="en-US" sz="1100" dirty="0" smtClean="0">
                <a:solidFill>
                  <a:srgbClr val="1F9D6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1100" dirty="0">
              <a:solidFill>
                <a:srgbClr val="1F9D6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81750" y="241935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1.71</a:t>
            </a:r>
            <a:r>
              <a:rPr lang="ko-KR" altLang="en-US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배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81750" y="28956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 영화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전부 기준 초과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</a:p>
          <a:p>
            <a:pPr>
              <a:lnSpc>
                <a:spcPct val="120000"/>
              </a:lnSpc>
            </a:pP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닥터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스트레인지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2〉 3.18~3.43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1000" dirty="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6381750" y="33528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381750" y="3467100"/>
            <a:ext cx="2286000" cy="2152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중계권 없이 최신 영화로 저녁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심야를 채움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09/26 21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dirty="0" err="1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포핸즈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2.110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여자농구 결승 직후 슬롯 확보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3%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이상의 한 방이 없어 시장이 커진 만큼은 못 </a:t>
            </a:r>
            <a:r>
              <a:rPr lang="ko-KR" altLang="en-US" sz="1000" dirty="0" err="1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가져감</a:t>
            </a:r>
            <a:endParaRPr lang="ko-KR" altLang="en-US" sz="10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9048750" y="1428750"/>
            <a:ext cx="2609850" cy="428625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9048750" y="1428750"/>
            <a:ext cx="2609850" cy="514350"/>
          </a:xfrm>
          <a:prstGeom prst="roundRect">
            <a:avLst>
              <a:gd name="adj" fmla="val 25926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9048750" y="1714500"/>
            <a:ext cx="2609850" cy="228600"/>
          </a:xfrm>
          <a:prstGeom prst="rect">
            <a:avLst/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9220200" y="1524000"/>
            <a:ext cx="22860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5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MBC</a:t>
            </a:r>
            <a:endParaRPr lang="ko-KR" altLang="en-US" sz="15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220200" y="2057400"/>
            <a:ext cx="22860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15000"/>
              </a:lnSpc>
            </a:pPr>
            <a:r>
              <a:rPr lang="ko-KR" altLang="en-US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의존 </a:t>
            </a:r>
            <a:r>
              <a:rPr lang="en-US" altLang="ko-KR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</a:t>
            </a:r>
            <a:r>
              <a:rPr lang="en-US" altLang="ko-KR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0/5 </a:t>
            </a:r>
            <a:r>
              <a:rPr lang="ko-KR" altLang="en-US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전패</a:t>
            </a:r>
            <a:r>
              <a:rPr lang="en-US" altLang="ko-KR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, </a:t>
            </a:r>
            <a:r>
              <a:rPr lang="ko-KR" altLang="en-US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등위 </a:t>
            </a:r>
            <a:r>
              <a:rPr lang="en-US" altLang="ko-KR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1100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</a:t>
            </a:r>
            <a:endParaRPr lang="ko-KR" altLang="en-US" sz="1100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20200" y="2419350"/>
            <a:ext cx="228600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700" spc="-8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69.4%</a:t>
            </a:r>
            <a:endParaRPr lang="ko-KR" altLang="en-US" sz="2700" spc="-8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220200" y="2895600"/>
            <a:ext cx="2286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편성 비중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지상파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 최고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</a:p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시간 평균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0.829 vs </a:t>
            </a:r>
            <a:r>
              <a:rPr lang="ko-KR" altLang="en-US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밖 </a:t>
            </a:r>
            <a:r>
              <a:rPr lang="en-US" altLang="ko-KR" sz="1000" dirty="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0.491</a:t>
            </a:r>
            <a:endParaRPr lang="ko-KR" altLang="en-US" sz="1000" dirty="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9220200" y="3352800"/>
            <a:ext cx="22669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220200" y="3467100"/>
            <a:ext cx="2286000" cy="2152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30000"/>
              </a:lnSpc>
            </a:pP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성적의 거의 전부를 중계가 만듦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표기 특집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전부 기준 미달</a:t>
            </a:r>
            <a:endParaRPr lang="en-US" altLang="ko-KR" sz="1000" dirty="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최고 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dirty="0" smtClean="0">
                <a:solidFill>
                  <a:srgbClr val="2C24CE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추석에도 놀면 뭐하니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0.54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성적이 좋다고 특집이 통한 것은 아님</a:t>
            </a:r>
            <a:endParaRPr lang="ko-KR" altLang="en-US" sz="10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533400" y="5867400"/>
            <a:ext cx="11125200" cy="438150"/>
          </a:xfrm>
          <a:prstGeom prst="roundRect">
            <a:avLst>
              <a:gd name="adj" fmla="val 21739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23900" y="5943600"/>
            <a:ext cx="107442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 </a:t>
            </a:r>
            <a:r>
              <a:rPr lang="en-US" altLang="ko-KR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카드가 잘됨’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en-US" altLang="ko-KR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‘시장 우위 확보’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(SBS)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다른 문제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 방이 있는 채널이 우위를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가져감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JTBC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4/5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성공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·1.71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빈자리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효율의 모델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헌트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3.36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모집단이 달라 직접 비교하지 않음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558055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ASIAN GAMES FACTOR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중계라는 변수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아시안게임이 없었다면 시장 확대는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+19.2%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수준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일의 각 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지상파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중계 여부로 나눠 시장과 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사를 비교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501478"/>
              </p:ext>
            </p:extLst>
          </p:nvPr>
        </p:nvGraphicFramePr>
        <p:xfrm>
          <a:off x="533400" y="1428750"/>
          <a:ext cx="6858000" cy="1714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="" xmlns:a16="http://schemas.microsoft.com/office/drawing/2014/main" val="2834517280"/>
                    </a:ext>
                  </a:extLst>
                </a:gridCol>
                <a:gridCol w="723900">
                  <a:extLst>
                    <a:ext uri="{9D8B030D-6E8A-4147-A177-3AD203B41FA5}">
                      <a16:colId xmlns="" xmlns:a16="http://schemas.microsoft.com/office/drawing/2014/main" val="517776129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1815147529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3673875624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3511728435"/>
                    </a:ext>
                  </a:extLst>
                </a:gridCol>
                <a:gridCol w="1047750">
                  <a:extLst>
                    <a:ext uri="{9D8B030D-6E8A-4147-A177-3AD203B41FA5}">
                      <a16:colId xmlns="" xmlns:a16="http://schemas.microsoft.com/office/drawing/2014/main" val="955558058"/>
                    </a:ext>
                  </a:extLst>
                </a:gridCol>
                <a:gridCol w="1276350">
                  <a:extLst>
                    <a:ext uri="{9D8B030D-6E8A-4147-A177-3AD203B41FA5}">
                      <a16:colId xmlns="" xmlns:a16="http://schemas.microsoft.com/office/drawing/2014/main" val="53897095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해당 시간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기준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연휴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증감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당사 </a:t>
                      </a: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2049 3</a:t>
                      </a: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사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판단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5244291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있던 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60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4.56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6.71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+47.2%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+20.5%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시장 급팽창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0019938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없던 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36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2.62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3.12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+19.2%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-17.3%</a:t>
                      </a:r>
                      <a:endParaRPr lang="ko-KR" altLang="en-US" sz="93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역성장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5855228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프라임 중 중계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15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7.70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10.60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+37.5%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+21.5%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밀렸으나 소폭 상승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21066223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프라임 중 비중계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8.69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9.99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+15.0%</a:t>
                      </a:r>
                      <a:endParaRPr lang="ko-KR" altLang="en-US" sz="938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3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-4.5%</a:t>
                      </a:r>
                      <a:endParaRPr lang="ko-KR" altLang="en-US" sz="93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3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없이도 하락</a:t>
                      </a:r>
                      <a:endParaRPr lang="ko-KR" altLang="en-US" sz="93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3204218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3314700"/>
            <a:ext cx="68580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중 하나라도 해당 시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時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이상을 중계로 덮으면 ‘중계가 있던 시간’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프로그램 행의 시청률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점유율이 함의하는 값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7620000" y="1428750"/>
            <a:ext cx="4038600" cy="224790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810500" y="1562100"/>
            <a:ext cx="3714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지상파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 중계 편성 비중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0500" y="1866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343900" y="1895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8343900" y="1895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0306050" y="1866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69.4%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744200" y="1866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0.829 / 0.491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10500" y="2247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8343900" y="2276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8343900" y="2276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306050" y="2247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68.5%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744200" y="2247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1.005 / 0.493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0500" y="2628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343900" y="2657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8343900" y="2657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0306050" y="2628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59.8%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744200" y="2628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0.427 / 0.184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10500" y="3009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8343900" y="3038475"/>
            <a:ext cx="1905000" cy="114300"/>
          </a:xfrm>
          <a:prstGeom prst="roundRect">
            <a:avLst>
              <a:gd name="adj" fmla="val 50000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8343900" y="3038475"/>
            <a:ext cx="28575" cy="1143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10306050" y="3009900"/>
            <a:ext cx="476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39%</a:t>
            </a:r>
            <a:endParaRPr lang="ko-KR" altLang="en-US" sz="9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744200" y="300990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0.799 / 0.246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10500" y="3390900"/>
            <a:ext cx="3714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 평균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밖 평균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2049). MBC·SBS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편성의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2/3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이상을 중계에 씀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TextBox 33"/>
          <p:cNvSpPr txBox="1"/>
          <p:nvPr/>
        </p:nvSpPr>
        <p:spPr>
          <a:xfrm>
            <a:off x="81915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① 시장 확대는 사실상 중계가 만듦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시간의 시장은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+47.2%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커진 반면 없던 시간은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대부분이 저녁 중계 시간대에 집중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32435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449580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461010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② 당사는 중계 없는 시간에도 빠짐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9580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 시간대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+20.5%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시장을 일부 따라갔으나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중계가 없던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36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시간에는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-17.3%.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비중계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시간에서도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-4.5% —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부진을 중계 탓으로만 돌릴 수 없음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8115300" y="3810000"/>
            <a:ext cx="3543300" cy="163830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8286750" y="3981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/>
          <p:cNvSpPr txBox="1"/>
          <p:nvPr/>
        </p:nvSpPr>
        <p:spPr>
          <a:xfrm>
            <a:off x="8401050" y="3952875"/>
            <a:ext cx="30861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③ 다음 명절에 대한 함의</a:t>
            </a:r>
            <a:endParaRPr lang="ko-KR" altLang="en-US" sz="100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86750" y="4191000"/>
            <a:ext cx="3200400" cy="114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없는 평범한 명절이면 시장 확대는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+19.2%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안팎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그 조건에서 이번과 같은 편성을 반복하면 시장이 커져도 점유를 잃음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중계를 빼고 보면 남는 문제는 프라임 콘텐츠 경쟁력 그 자체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0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45" name="TextBox 44"/>
          <p:cNvSpPr txBox="1"/>
          <p:nvPr/>
        </p:nvSpPr>
        <p:spPr>
          <a:xfrm>
            <a:off x="723900" y="5695950"/>
            <a:ext cx="107442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lang="ko-KR" altLang="en-US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따라서 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‘</a:t>
            </a:r>
            <a:r>
              <a:rPr lang="ko-KR" altLang="en-US" sz="105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대형 중계 시간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 채널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포기’가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아니라 ‘</a:t>
            </a:r>
            <a:r>
              <a:rPr lang="ko-KR" altLang="en-US" sz="105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고정비가 큰 </a:t>
            </a:r>
            <a:r>
              <a:rPr lang="en-US" altLang="ko-KR" sz="105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2049 </a:t>
            </a:r>
            <a:r>
              <a:rPr lang="ko-KR" altLang="en-US" sz="105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프라임만 선택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회피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’가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전략적 대안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회피 대상은 연휴 전체가 아니라 대형 이벤트가 겹친 저녁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105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아이치나고야 아시안게임」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「나고야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」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「여기는 나고야」 블록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4400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FILM SOURCING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특선영화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흥행 규모보다 ‘채널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슬롯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최신성’이 성적을 갈랐다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개봉연도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국내 누적 관객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TV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여부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편성은 채널 색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478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16192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· 9/26 22:31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00" y="14478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 · 1,692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500" y="16097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53000" y="1485900"/>
            <a:ext cx="53340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363200" y="15049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3.499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33400" y="17716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" y="18097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닥터 스트레인지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 (1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19812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9/25 22:11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57500" y="1809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588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7500" y="19716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953000" y="1847850"/>
            <a:ext cx="192405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6953250" y="18669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1.262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533400" y="21336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21717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닥터 스트레인지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 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23431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9/25 23:15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500" y="21717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588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7500" y="23336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953000" y="2209800"/>
            <a:ext cx="181927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6848475" y="22288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1.192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533400" y="24955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3400" y="25336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가디언즈 오브 갤럭시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 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7051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9/26 19:31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25336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2023 · 421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7500" y="26955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953000" y="2571750"/>
            <a:ext cx="14859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6515100" y="25908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0.975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533400" y="28575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28956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어쩔수가없다 확장판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400" y="30670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9/24 22:20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57500" y="28956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2025 · 250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57500" y="30575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953000" y="2933700"/>
            <a:ext cx="94297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5972175" y="29527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0.618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533400" y="32194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3400" y="32575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가디언즈 오브 갤럭시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 (1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3400" y="34290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 · 9/26 18:28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57500" y="3257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2023 · 421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57500" y="34194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TV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공개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953000" y="3295650"/>
            <a:ext cx="771525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800725" y="33147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0.508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533400" y="35814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3400" y="36195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도굴 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37909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· 9/26 11:12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7500" y="36195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2020 · 154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7500" y="37814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953000" y="3657600"/>
            <a:ext cx="333375" cy="209550"/>
          </a:xfrm>
          <a:prstGeom prst="roundRect">
            <a:avLst>
              <a:gd name="adj" fmla="val 1363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5362575" y="36766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0.82)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33400" y="39433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3400" y="39814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헌트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41529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 · 9/25 02:00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57500" y="39814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2022 · 435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57500" y="41433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953000" y="4019550"/>
            <a:ext cx="28575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5314950" y="403860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0.188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533400" y="43053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400" y="43434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빅토리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3400" y="45148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 · 9/25 13:48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57500" y="43434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2024 · 66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57500" y="45053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953000" y="4381500"/>
            <a:ext cx="238125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267325" y="44005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0.159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33400" y="46672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3400" y="47053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도굴 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r>
              <a:rPr lang="en-US" altLang="ko-KR" sz="938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3400" y="48768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· 9/25 22:48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57500" y="4705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2020 · 154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57500" y="48672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4953000" y="4743450"/>
            <a:ext cx="219075" cy="209550"/>
          </a:xfrm>
          <a:prstGeom prst="roundRect">
            <a:avLst>
              <a:gd name="adj" fmla="val 13636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5248275" y="47625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0.144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0.55)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533400" y="50292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3400" y="50673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아이 캔 스피크</a:t>
            </a:r>
            <a:endParaRPr lang="ko-KR" altLang="en-US" sz="938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3400" y="52387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· 9/26 14:31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57500" y="50673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2017 · 328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57500" y="52292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953000" y="5105400"/>
            <a:ext cx="28575" cy="2095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057775" y="51244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0.006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0.04)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533400" y="53911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3400" y="54292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검은 사제들</a:t>
            </a:r>
            <a:endParaRPr lang="ko-KR" altLang="en-US" sz="938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56007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 · 9/26 06:55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7500" y="54292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2015 · 544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857500" y="55911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953000" y="5467350"/>
            <a:ext cx="28575" cy="2095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5057775" y="54864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0.003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0.17)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타사 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0955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22860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타사 재방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3524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3714750" y="58102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4286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/>
          <p:cNvSpPr txBox="1"/>
          <p:nvPr/>
        </p:nvSpPr>
        <p:spPr>
          <a:xfrm>
            <a:off x="4476750" y="5810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5715000" y="5715000"/>
            <a:ext cx="59436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5905500" y="5791200"/>
            <a:ext cx="5562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편은 전부 </a:t>
            </a:r>
            <a:r>
              <a:rPr lang="en-US" altLang="ko-KR" sz="863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SBS·tvN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</a:p>
          <a:p>
            <a:pPr>
              <a:lnSpc>
                <a:spcPct val="120000"/>
              </a:lnSpc>
            </a:pPr>
            <a:r>
              <a:rPr lang="en-US" altLang="ko-KR" sz="863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</a:t>
            </a:r>
            <a:r>
              <a:rPr lang="ko-KR" altLang="en-US" sz="863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편은 전부 </a:t>
            </a:r>
            <a:r>
              <a:rPr lang="en-US" altLang="ko-KR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JTBC·ENA·ENA Play — </a:t>
            </a:r>
            <a:r>
              <a:rPr lang="ko-KR" altLang="en-US" sz="863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체급과 공개 방식이 완전히 겹침</a:t>
            </a:r>
            <a:endParaRPr lang="ko-KR" altLang="en-US" sz="863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개봉연도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관객은 영화진흥위원회 통계 및 언론 보도 인용 근사치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얇은 글씨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)=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채널만 표기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경쟁사는 가구 데이터 미보유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3411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ASIAN GAMES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아시안게임은 ‘강한 종목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강한 라운드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저녁’에서 폭발했다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공표 전국 가구 시청률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언론 보도 인용 닐슨 공표치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내부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모집단이 달라 직접 비교하지 않음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28750"/>
            <a:ext cx="2857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전국 가구 시청률</a:t>
            </a:r>
            <a:endParaRPr lang="ko-KR" altLang="en-US" sz="90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0" y="1428750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수도권</a:t>
            </a:r>
            <a:endParaRPr lang="ko-KR" altLang="en-US" sz="825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33400" y="16764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결승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일본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18573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19:20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2762250" y="1733550"/>
            <a:ext cx="2000250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838700" y="17335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10.0%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0" y="17430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9.7%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6286500" y="17335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KBS1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96100" y="17430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분당 최고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19.3% · 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대회 최고치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3400" y="21145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남자축구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8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 베트남전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3400" y="22955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—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762250" y="2171700"/>
            <a:ext cx="1260158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098608" y="21717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6.3%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0" y="21812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6286500" y="21717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KBS2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96100" y="21812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5.3% / SBS 2.3%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33400" y="25527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육상 남녀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100m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결승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" y="27336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22:05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2762250" y="2609850"/>
            <a:ext cx="1100138" cy="190500"/>
          </a:xfrm>
          <a:prstGeom prst="roundRect">
            <a:avLst>
              <a:gd name="adj" fmla="val 15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938588" y="26098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5.5%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0" y="26193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6286500" y="26098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96100" y="26193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시청자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150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만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천 명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29908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야구 슈퍼라운드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중국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33400" y="31718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18:30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762250" y="3048000"/>
            <a:ext cx="860108" cy="190500"/>
          </a:xfrm>
          <a:prstGeom prst="roundRect">
            <a:avLst>
              <a:gd name="adj" fmla="val 15000"/>
            </a:avLst>
          </a:prstGeom>
          <a:solidFill>
            <a:srgbClr val="A6A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3698558" y="30480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4.3%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0" y="30575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4.6%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286500" y="30480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SBS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896100" y="30575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3.7% / KBS2 3.0%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33400" y="34290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여자농구 준결승 한국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중국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3400" y="36099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16:00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762250" y="3486150"/>
            <a:ext cx="780097" cy="190500"/>
          </a:xfrm>
          <a:prstGeom prst="roundRect">
            <a:avLst>
              <a:gd name="adj" fmla="val 15000"/>
            </a:avLst>
          </a:prstGeom>
          <a:solidFill>
            <a:srgbClr val="A6A2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3618547" y="34861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3.9%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0" y="34956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3.7%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6286500" y="34861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896100" y="34956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종목별 </a:t>
            </a:r>
            <a:r>
              <a:rPr lang="en-US" altLang="ko-KR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88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33400" y="386715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사격 혼성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10m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공기권총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33400" y="404812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12:00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2762250" y="3924300"/>
            <a:ext cx="540067" cy="190500"/>
          </a:xfrm>
          <a:prstGeom prst="roundRect">
            <a:avLst>
              <a:gd name="adj" fmla="val 1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3378517" y="392430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2.7%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0" y="393382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6286500" y="392430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96100" y="393382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33400" y="4305300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탁구 혼합복식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남자복식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33400" y="4486275"/>
            <a:ext cx="2095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2762250" y="4362450"/>
            <a:ext cx="520065" cy="190500"/>
          </a:xfrm>
          <a:prstGeom prst="roundRect">
            <a:avLst>
              <a:gd name="adj" fmla="val 1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3358515" y="4362450"/>
            <a:ext cx="5715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10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2.6%</a:t>
            </a:r>
            <a:endParaRPr lang="ko-KR" altLang="en-US" sz="10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4000" y="4371975"/>
            <a:ext cx="857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863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</a:t>
            </a:r>
            <a:endParaRPr lang="ko-KR" altLang="en-US" sz="863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6286500" y="4362450"/>
            <a:ext cx="514350" cy="190500"/>
          </a:xfrm>
          <a:prstGeom prst="roundRect">
            <a:avLst>
              <a:gd name="adj" fmla="val 50000"/>
            </a:avLst>
          </a:prstGeom>
          <a:solidFill>
            <a:srgbClr val="26262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MBC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896100" y="4371975"/>
            <a:ext cx="2095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endParaRPr lang="ko-KR" altLang="en-US" sz="788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9143999" y="1428750"/>
            <a:ext cx="2654423" cy="3067050"/>
          </a:xfrm>
          <a:prstGeom prst="roundRect">
            <a:avLst>
              <a:gd name="adj" fmla="val 530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>
            <a:outerShdw blurRad="209550" dist="76200" dir="5400000" rotWithShape="0">
              <a:srgbClr val="2C24CE">
                <a:alpha val="28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9334500" y="1600200"/>
            <a:ext cx="2133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CDCBF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당사에 가장 위험했던 구간</a:t>
            </a:r>
            <a:endParaRPr lang="ko-KR" altLang="en-US" sz="900">
              <a:solidFill>
                <a:srgbClr val="CDCBF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334500" y="1809750"/>
            <a:ext cx="22479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425" spc="-4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09/26 18:30~21:30</a:t>
            </a:r>
            <a:endParaRPr lang="ko-KR" altLang="en-US" sz="1425" spc="-4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34500" y="2114550"/>
            <a:ext cx="2133600" cy="3238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펜싱 사브르 결승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결승이 연달아 편성된 </a:t>
            </a:r>
            <a:r>
              <a:rPr lang="en-US" altLang="ko-KR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825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825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334500" y="255270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10134600" y="257175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모서리가 둥근 직사각형 63"/>
          <p:cNvSpPr/>
          <p:nvPr/>
        </p:nvSpPr>
        <p:spPr>
          <a:xfrm>
            <a:off x="10134600" y="2571750"/>
            <a:ext cx="60007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11239500" y="255270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0.115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9334500" y="280035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134600" y="281940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134600" y="2819400"/>
            <a:ext cx="23812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11239500" y="280035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0.046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34500" y="304800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10134600" y="306705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모서리가 둥근 직사각형 71"/>
          <p:cNvSpPr/>
          <p:nvPr/>
        </p:nvSpPr>
        <p:spPr>
          <a:xfrm>
            <a:off x="10134600" y="3067050"/>
            <a:ext cx="28575" cy="1143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11239500" y="304800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34500" y="3295650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10134600" y="3314700"/>
            <a:ext cx="1047750" cy="114300"/>
          </a:xfrm>
          <a:prstGeom prst="roundRect">
            <a:avLst>
              <a:gd name="adj" fmla="val 50000"/>
            </a:avLst>
          </a:prstGeom>
          <a:solidFill>
            <a:srgbClr val="FFFFFF">
              <a:alpha val="2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모서리가 둥근 직사각형 75"/>
          <p:cNvSpPr/>
          <p:nvPr/>
        </p:nvSpPr>
        <p:spPr>
          <a:xfrm>
            <a:off x="10134600" y="3314700"/>
            <a:ext cx="923925" cy="1143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11239500" y="3295650"/>
            <a:ext cx="4191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0.176</a:t>
            </a:r>
            <a:endParaRPr lang="ko-KR" altLang="en-US" sz="8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334500" y="3600450"/>
            <a:ext cx="21336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 </a:t>
            </a:r>
            <a:r>
              <a:rPr lang="en-US" altLang="ko-KR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 2.734. 2049 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사실상 비고</a:t>
            </a:r>
            <a:r>
              <a:rPr lang="en-US" altLang="ko-KR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dirty="0" err="1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시청층이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덜 겹치는 </a:t>
            </a:r>
            <a:r>
              <a:rPr lang="en-US" altLang="ko-KR" sz="825" dirty="0" smtClean="0">
                <a:solidFill>
                  <a:srgbClr val="B9DB01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당사 최고 </a:t>
            </a:r>
            <a:r>
              <a:rPr lang="en-US" altLang="ko-KR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회피 대상은 연휴 전체가 아니라 이 </a:t>
            </a:r>
            <a:r>
              <a:rPr lang="en-US" altLang="ko-KR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825" dirty="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</a:t>
            </a:r>
            <a:endParaRPr lang="ko-KR" altLang="en-US" sz="825" dirty="0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533400" y="476250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723900" y="483870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해석  </a:t>
            </a:r>
            <a:r>
              <a:rPr lang="en-US" altLang="ko-KR" sz="9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시장을 가져간 것은 강도 높은 단일 이벤트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상위 세 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여자농구 결승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10.0%,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남자축구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강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6.3%,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4.3%)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모두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저녁에 겹침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대회라도 예선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중간 라운드는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2%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한중전은 지상파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동시 중계에서도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 4.6% / MBC 3.3% / KBS2 2.8%(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갈림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중계권만으로 성적이 정해지지 않음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3400" y="5524500"/>
            <a:ext cx="1112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육상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100m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결승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(22:05~22:25)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구간에 당사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0.038·ENA Play 0.002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사실상 비었고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가구 채널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0.118·ONCE 0.141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그 자리를 메움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심야에도 강한 이벤트가 들어오면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시청이 통째로 빠짐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남자축구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강은 원 보고서 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09/26(KBS2 6.3%)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정정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외부 근거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뉴시스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iMBC 09/26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뉴스엔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닐슨코리아 공표치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/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수치는 내부 닐슨 실측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4942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02 · PRIME SHARE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2049 3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사 프라임 점유율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전야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10.1% → 09/26 1.1% →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마지막날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3.1%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공휴일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주말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18~23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단위 가중 평균 점유율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(%).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ENA·ENA Play·ENA Drama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합계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1238250" y="5334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1500" y="5257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1238250" y="45085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1500" y="44323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1" name="직선 연결선 10"/>
          <p:cNvCxnSpPr/>
          <p:nvPr/>
        </p:nvCxnSpPr>
        <p:spPr>
          <a:xfrm>
            <a:off x="1238250" y="3683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00" y="3606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1238250" y="28575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71500" y="27813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5" name="직선 연결선 14"/>
          <p:cNvCxnSpPr/>
          <p:nvPr/>
        </p:nvCxnSpPr>
        <p:spPr>
          <a:xfrm>
            <a:off x="1238250" y="2032000"/>
            <a:ext cx="8286750" cy="0"/>
          </a:xfrm>
          <a:prstGeom prst="line">
            <a:avLst/>
          </a:prstGeom>
          <a:ln w="9525">
            <a:solidFill>
              <a:srgbClr val="E2E2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71500" y="1955800"/>
            <a:ext cx="571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40%</a:t>
            </a:r>
            <a:endParaRPr lang="ko-KR" altLang="en-US" sz="825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2000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33688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05375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77063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48750" y="5429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자유형 21"/>
          <p:cNvSpPr/>
          <p:nvPr/>
        </p:nvSpPr>
        <p:spPr>
          <a:xfrm>
            <a:off x="1238250" y="1932940"/>
            <a:ext cx="8286751" cy="3013076"/>
          </a:xfrm>
          <a:custGeom>
            <a:avLst/>
            <a:gdLst/>
            <a:ahLst/>
            <a:cxnLst/>
            <a:rect l="0" t="0" r="0" b="0"/>
            <a:pathLst>
              <a:path w="8286751" h="3013076">
                <a:moveTo>
                  <a:pt x="0" y="3013075"/>
                </a:moveTo>
                <a:lnTo>
                  <a:pt x="2071688" y="2798445"/>
                </a:lnTo>
                <a:lnTo>
                  <a:pt x="4143375" y="2014220"/>
                </a:lnTo>
                <a:lnTo>
                  <a:pt x="6215063" y="0"/>
                </a:lnTo>
                <a:lnTo>
                  <a:pt x="8286750" y="1717040"/>
                </a:lnTo>
              </a:path>
            </a:pathLst>
          </a:custGeom>
          <a:ln w="23813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1204913" y="4912678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3276600" y="4698047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5348288" y="391382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419975" y="189960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9491663" y="3616642"/>
            <a:ext cx="66675" cy="66675"/>
          </a:xfrm>
          <a:prstGeom prst="ellipse">
            <a:avLst/>
          </a:prstGeom>
          <a:solidFill>
            <a:srgbClr val="26262F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072313" y="168529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41.2%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9" name="직선 연결선 28"/>
          <p:cNvCxnSpPr/>
          <p:nvPr/>
        </p:nvCxnSpPr>
        <p:spPr>
          <a:xfrm>
            <a:off x="9906000" y="1752600"/>
            <a:ext cx="266700" cy="0"/>
          </a:xfrm>
          <a:prstGeom prst="line">
            <a:avLst/>
          </a:prstGeom>
          <a:ln w="28575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248900" y="16764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SBS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자유형 30"/>
          <p:cNvSpPr/>
          <p:nvPr/>
        </p:nvSpPr>
        <p:spPr>
          <a:xfrm>
            <a:off x="1238250" y="3996690"/>
            <a:ext cx="8286751" cy="792481"/>
          </a:xfrm>
          <a:custGeom>
            <a:avLst/>
            <a:gdLst/>
            <a:ahLst/>
            <a:cxnLst/>
            <a:rect l="0" t="0" r="0" b="0"/>
            <a:pathLst>
              <a:path w="8286751" h="792481">
                <a:moveTo>
                  <a:pt x="0" y="222885"/>
                </a:moveTo>
                <a:lnTo>
                  <a:pt x="2071688" y="792480"/>
                </a:lnTo>
                <a:lnTo>
                  <a:pt x="4143375" y="41275"/>
                </a:lnTo>
                <a:lnTo>
                  <a:pt x="6215063" y="363220"/>
                </a:lnTo>
                <a:lnTo>
                  <a:pt x="8286750" y="0"/>
                </a:lnTo>
              </a:path>
            </a:pathLst>
          </a:custGeom>
          <a:ln w="23813">
            <a:solidFill>
              <a:srgbClr val="7C7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/>
          <p:cNvSpPr/>
          <p:nvPr/>
        </p:nvSpPr>
        <p:spPr>
          <a:xfrm>
            <a:off x="1204913" y="4186238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3276600" y="4755833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5348288" y="4004628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7419975" y="4326572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9491663" y="3963353"/>
            <a:ext cx="66675" cy="66675"/>
          </a:xfrm>
          <a:prstGeom prst="ellipse">
            <a:avLst/>
          </a:prstGeom>
          <a:solidFill>
            <a:srgbClr val="7C7C8C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/>
          <p:nvPr/>
        </p:nvCxnSpPr>
        <p:spPr>
          <a:xfrm>
            <a:off x="9906000" y="2000250"/>
            <a:ext cx="266700" cy="0"/>
          </a:xfrm>
          <a:prstGeom prst="line">
            <a:avLst/>
          </a:prstGeom>
          <a:ln w="28575">
            <a:solidFill>
              <a:srgbClr val="7C7C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248900" y="192405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자유형 38"/>
          <p:cNvSpPr/>
          <p:nvPr/>
        </p:nvSpPr>
        <p:spPr>
          <a:xfrm>
            <a:off x="1238250" y="4211320"/>
            <a:ext cx="8286751" cy="726441"/>
          </a:xfrm>
          <a:custGeom>
            <a:avLst/>
            <a:gdLst/>
            <a:ahLst/>
            <a:cxnLst/>
            <a:rect l="0" t="0" r="0" b="0"/>
            <a:pathLst>
              <a:path w="8286751" h="726441">
                <a:moveTo>
                  <a:pt x="0" y="156845"/>
                </a:moveTo>
                <a:lnTo>
                  <a:pt x="2071688" y="726440"/>
                </a:lnTo>
                <a:lnTo>
                  <a:pt x="4143375" y="685165"/>
                </a:lnTo>
                <a:lnTo>
                  <a:pt x="6215063" y="0"/>
                </a:lnTo>
                <a:lnTo>
                  <a:pt x="8286750" y="198120"/>
                </a:lnTo>
              </a:path>
            </a:pathLst>
          </a:custGeom>
          <a:ln w="23813">
            <a:solidFill>
              <a:srgbClr val="A6A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204913" y="4334828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3276600" y="4904422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5348288" y="4863147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7419975" y="4177983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9491663" y="4376103"/>
            <a:ext cx="66675" cy="66675"/>
          </a:xfrm>
          <a:prstGeom prst="ellipse">
            <a:avLst/>
          </a:prstGeom>
          <a:solidFill>
            <a:srgbClr val="A6A6B6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연결선 44"/>
          <p:cNvCxnSpPr/>
          <p:nvPr/>
        </p:nvCxnSpPr>
        <p:spPr>
          <a:xfrm>
            <a:off x="9906000" y="2247900"/>
            <a:ext cx="266700" cy="0"/>
          </a:xfrm>
          <a:prstGeom prst="line">
            <a:avLst/>
          </a:prstGeom>
          <a:ln w="28575">
            <a:solidFill>
              <a:srgbClr val="A6A6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248900" y="21717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KBS1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자유형 46"/>
          <p:cNvSpPr/>
          <p:nvPr/>
        </p:nvSpPr>
        <p:spPr>
          <a:xfrm>
            <a:off x="1238250" y="4359910"/>
            <a:ext cx="8286751" cy="454026"/>
          </a:xfrm>
          <a:custGeom>
            <a:avLst/>
            <a:gdLst/>
            <a:ahLst/>
            <a:cxnLst/>
            <a:rect l="0" t="0" r="0" b="0"/>
            <a:pathLst>
              <a:path w="8286751" h="454026">
                <a:moveTo>
                  <a:pt x="0" y="148590"/>
                </a:moveTo>
                <a:lnTo>
                  <a:pt x="2071688" y="0"/>
                </a:lnTo>
                <a:lnTo>
                  <a:pt x="4143375" y="255905"/>
                </a:lnTo>
                <a:lnTo>
                  <a:pt x="6215063" y="280670"/>
                </a:lnTo>
                <a:lnTo>
                  <a:pt x="8286750" y="454025"/>
                </a:lnTo>
              </a:path>
            </a:pathLst>
          </a:custGeom>
          <a:ln w="23813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/>
          <p:cNvSpPr/>
          <p:nvPr/>
        </p:nvSpPr>
        <p:spPr>
          <a:xfrm>
            <a:off x="1204913" y="4475163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타원 48"/>
          <p:cNvSpPr/>
          <p:nvPr/>
        </p:nvSpPr>
        <p:spPr>
          <a:xfrm>
            <a:off x="3276600" y="4326572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타원 49"/>
          <p:cNvSpPr/>
          <p:nvPr/>
        </p:nvSpPr>
        <p:spPr>
          <a:xfrm>
            <a:off x="5348288" y="4582478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/>
          <p:cNvSpPr/>
          <p:nvPr/>
        </p:nvSpPr>
        <p:spPr>
          <a:xfrm>
            <a:off x="7419975" y="4607242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타원 51"/>
          <p:cNvSpPr/>
          <p:nvPr/>
        </p:nvSpPr>
        <p:spPr>
          <a:xfrm>
            <a:off x="9491663" y="4780597"/>
            <a:ext cx="66675" cy="66675"/>
          </a:xfrm>
          <a:prstGeom prst="ellipse">
            <a:avLst/>
          </a:prstGeom>
          <a:solidFill>
            <a:srgbClr val="CFCFDA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3" name="직선 연결선 52"/>
          <p:cNvCxnSpPr/>
          <p:nvPr/>
        </p:nvCxnSpPr>
        <p:spPr>
          <a:xfrm>
            <a:off x="9906000" y="2495550"/>
            <a:ext cx="266700" cy="0"/>
          </a:xfrm>
          <a:prstGeom prst="line">
            <a:avLst/>
          </a:prstGeom>
          <a:ln w="2857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48900" y="241935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tvN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자유형 54"/>
          <p:cNvSpPr/>
          <p:nvPr/>
        </p:nvSpPr>
        <p:spPr>
          <a:xfrm>
            <a:off x="1238250" y="4500245"/>
            <a:ext cx="8286751" cy="742951"/>
          </a:xfrm>
          <a:custGeom>
            <a:avLst/>
            <a:gdLst/>
            <a:ahLst/>
            <a:cxnLst/>
            <a:rect l="0" t="0" r="0" b="0"/>
            <a:pathLst>
              <a:path w="8286751" h="742951">
                <a:moveTo>
                  <a:pt x="0" y="0"/>
                </a:moveTo>
                <a:lnTo>
                  <a:pt x="2071688" y="454025"/>
                </a:lnTo>
                <a:lnTo>
                  <a:pt x="4143375" y="660400"/>
                </a:lnTo>
                <a:lnTo>
                  <a:pt x="6215063" y="742950"/>
                </a:lnTo>
                <a:lnTo>
                  <a:pt x="8286750" y="577850"/>
                </a:lnTo>
              </a:path>
            </a:pathLst>
          </a:custGeom>
          <a:ln w="47625">
            <a:solidFill>
              <a:srgbClr val="2C24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타원 55"/>
          <p:cNvSpPr/>
          <p:nvPr/>
        </p:nvSpPr>
        <p:spPr>
          <a:xfrm>
            <a:off x="1181100" y="444309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3252788" y="4897120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5324475" y="510349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7396163" y="518604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9467850" y="5020945"/>
            <a:ext cx="114300" cy="114300"/>
          </a:xfrm>
          <a:prstGeom prst="ellipse">
            <a:avLst/>
          </a:prstGeom>
          <a:solidFill>
            <a:srgbClr val="2C24CE"/>
          </a:solidFill>
          <a:ln w="14288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952500" y="459549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024188" y="5049520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4.6%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5095875" y="525589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167563" y="533844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239250" y="5173345"/>
            <a:ext cx="571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975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3.1%</a:t>
            </a:r>
            <a:endParaRPr lang="ko-KR" altLang="en-US" sz="975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9906000" y="2743200"/>
            <a:ext cx="266700" cy="0"/>
          </a:xfrm>
          <a:prstGeom prst="line">
            <a:avLst/>
          </a:prstGeom>
          <a:ln w="28575">
            <a:solidFill>
              <a:srgbClr val="2C24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10248900" y="2667000"/>
            <a:ext cx="1333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</a:t>
            </a:r>
            <a:r>
              <a:rPr lang="ko-KR" altLang="en-US" sz="9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계열 </a:t>
            </a:r>
            <a:r>
              <a:rPr lang="en-US" altLang="ko-KR" sz="9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9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 채널</a:t>
            </a:r>
            <a:endParaRPr lang="ko-KR" altLang="en-US" sz="900" dirty="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533400" y="569595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723900" y="577215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1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SBS 41.2%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왕과 사는 남자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 편의 결과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사는 중계가 몰린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09/25~26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1~2%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대로 밀렸다가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09/27 〈</a:t>
            </a:r>
            <a:r>
              <a:rPr lang="ko-KR" altLang="en-US" sz="11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3.1%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까지 회복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10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전야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(09/23) 10.1%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당사 프라임 최고 </a:t>
            </a:r>
            <a:r>
              <a:rPr lang="en-US" altLang="ko-KR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1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전야를 별도 자산으로 운영할 근거</a:t>
            </a:r>
            <a:endParaRPr lang="ko-KR" altLang="en-US" sz="11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사 값은 원 보고서 표기값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경쟁채널 곡선은 원 보고서 그래프 판독 근사치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참고용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99535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ENA PORTFOLIO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당사 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7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채널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시장보다 잘한 곳은 </a:t>
            </a:r>
            <a:r>
              <a:rPr lang="en-US" altLang="ko-KR" sz="2250" spc="-40" dirty="0" smtClean="0">
                <a:solidFill>
                  <a:srgbClr val="7826DC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하나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en-US" altLang="ko-KR" sz="2250" spc="-40" dirty="0" err="1" smtClean="0">
                <a:solidFill>
                  <a:srgbClr val="D52027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skyUHD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는 조건부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증감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해당 타깃 시장 성장률을 함께 봐야 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점선을 넘어야 실질 성과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4332365"/>
              </p:ext>
            </p:extLst>
          </p:nvPr>
        </p:nvGraphicFramePr>
        <p:xfrm>
          <a:off x="533400" y="1428750"/>
          <a:ext cx="565785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6300">
                  <a:extLst>
                    <a:ext uri="{9D8B030D-6E8A-4147-A177-3AD203B41FA5}">
                      <a16:colId xmlns="" xmlns:a16="http://schemas.microsoft.com/office/drawing/2014/main" val="1908714040"/>
                    </a:ext>
                  </a:extLst>
                </a:gridCol>
                <a:gridCol w="666750">
                  <a:extLst>
                    <a:ext uri="{9D8B030D-6E8A-4147-A177-3AD203B41FA5}">
                      <a16:colId xmlns="" xmlns:a16="http://schemas.microsoft.com/office/drawing/2014/main" val="1592875343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559062386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950803524"/>
                    </a:ext>
                  </a:extLst>
                </a:gridCol>
                <a:gridCol w="819150">
                  <a:extLst>
                    <a:ext uri="{9D8B030D-6E8A-4147-A177-3AD203B41FA5}">
                      <a16:colId xmlns="" xmlns:a16="http://schemas.microsoft.com/office/drawing/2014/main" val="3364895315"/>
                    </a:ext>
                  </a:extLst>
                </a:gridCol>
                <a:gridCol w="657687">
                  <a:extLst>
                    <a:ext uri="{9D8B030D-6E8A-4147-A177-3AD203B41FA5}">
                      <a16:colId xmlns="" xmlns:a16="http://schemas.microsoft.com/office/drawing/2014/main" val="3504804397"/>
                    </a:ext>
                  </a:extLst>
                </a:gridCol>
                <a:gridCol w="713913">
                  <a:extLst>
                    <a:ext uri="{9D8B030D-6E8A-4147-A177-3AD203B41FA5}">
                      <a16:colId xmlns="" xmlns:a16="http://schemas.microsoft.com/office/drawing/2014/main" val="805348075"/>
                    </a:ext>
                  </a:extLst>
                </a:gridCol>
                <a:gridCol w="781050">
                  <a:extLst>
                    <a:ext uri="{9D8B030D-6E8A-4147-A177-3AD203B41FA5}">
                      <a16:colId xmlns="" xmlns:a16="http://schemas.microsoft.com/office/drawing/2014/main" val="137799172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주지표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증감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판정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061848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(0.32)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0.093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(0.33)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+23.0%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11→10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5073394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dirty="0" smtClean="0">
                          <a:solidFill>
                            <a:srgbClr val="00C8D2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900" b="0" i="0" dirty="0">
                        <a:solidFill>
                          <a:srgbClr val="00C8D2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(0.08)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0.023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(0.06)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+5.4%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41→43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0179851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0.018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(0.11)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0.027</a:t>
                      </a:r>
                      <a:r>
                        <a:rPr lang="en-US" altLang="ko-KR" sz="8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(0.07)</a:t>
                      </a:r>
                      <a:endParaRPr lang="ko-KR" altLang="en-US" sz="8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-31.9%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+40.1%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35→50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513216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+39.4%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초과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72→61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43465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</a:t>
                      </a:r>
                      <a:endParaRPr lang="ko-KR" altLang="en-US" sz="900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0.106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-6.8%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31→37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4964234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02D5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ONCE</a:t>
                      </a:r>
                      <a:endParaRPr lang="ko-KR" altLang="en-US" sz="900" b="0" i="0">
                        <a:solidFill>
                          <a:srgbClr val="002D5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-8.6%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시장 미달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63B3B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66→76</a:t>
                      </a:r>
                      <a:endParaRPr lang="ko-KR" altLang="en-US" sz="900" b="0" i="0">
                        <a:solidFill>
                          <a:srgbClr val="D63B3B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483488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900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유료가구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+155.1%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+17.0%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조건부 초과</a:t>
                      </a:r>
                      <a:endParaRPr lang="ko-KR" altLang="en-US" sz="900" b="0" i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900" b="0" i="0" dirty="0" smtClean="0">
                          <a:solidFill>
                            <a:srgbClr val="2C24CE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201→187</a:t>
                      </a:r>
                      <a:endParaRPr lang="ko-KR" altLang="en-US" sz="900" b="0" i="0" dirty="0">
                        <a:solidFill>
                          <a:srgbClr val="2C24CE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3010014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1428750"/>
            <a:ext cx="476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증감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 성장률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점선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=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시장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개인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2049 +40.1% / </a:t>
            </a:r>
            <a:r>
              <a:rPr lang="ko-KR" altLang="en-US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 </a:t>
            </a:r>
            <a:r>
              <a:rPr lang="en-US" altLang="ko-KR" sz="863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+17.0%)</a:t>
            </a:r>
            <a:endParaRPr lang="ko-KR" altLang="en-US" sz="863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58000" y="17716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8572500" y="1752600"/>
            <a:ext cx="352425" cy="228600"/>
          </a:xfrm>
          <a:prstGeom prst="roundRect">
            <a:avLst>
              <a:gd name="adj" fmla="val 125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982075" y="17716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+23.0%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9183624" y="16954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0" y="22098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dirty="0" smtClean="0">
                <a:solidFill>
                  <a:srgbClr val="00C8D2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900" dirty="0">
              <a:solidFill>
                <a:srgbClr val="00C8D2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8572500" y="2190750"/>
            <a:ext cx="85725" cy="228600"/>
          </a:xfrm>
          <a:prstGeom prst="roundRect">
            <a:avLst>
              <a:gd name="adj" fmla="val 33333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8715375" y="22098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+5.4%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6" name="직선 연결선 15"/>
          <p:cNvCxnSpPr/>
          <p:nvPr/>
        </p:nvCxnSpPr>
        <p:spPr>
          <a:xfrm>
            <a:off x="9183624" y="21336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858000" y="26479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8086725" y="2628900"/>
            <a:ext cx="485775" cy="228600"/>
          </a:xfrm>
          <a:prstGeom prst="roundRect">
            <a:avLst>
              <a:gd name="adj" fmla="val 125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648700" y="26479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-31.9%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9183624" y="25717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0" y="30861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8572500" y="3067050"/>
            <a:ext cx="600075" cy="228600"/>
          </a:xfrm>
          <a:prstGeom prst="roundRect">
            <a:avLst>
              <a:gd name="adj" fmla="val 125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229725" y="30861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+39.4%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>
            <a:off x="8831580" y="30099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0" y="35242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8467725" y="3505200"/>
            <a:ext cx="104775" cy="228600"/>
          </a:xfrm>
          <a:prstGeom prst="roundRect">
            <a:avLst>
              <a:gd name="adj" fmla="val 27273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648700" y="35242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-6.8%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8" name="직선 연결선 27"/>
          <p:cNvCxnSpPr/>
          <p:nvPr/>
        </p:nvCxnSpPr>
        <p:spPr>
          <a:xfrm>
            <a:off x="8831580" y="34480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858000" y="396240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9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8439150" y="3943350"/>
            <a:ext cx="133350" cy="22860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8648700" y="396240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-8.6%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8831580" y="388620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0" y="4400550"/>
            <a:ext cx="1428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skyUHD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572500" y="4381500"/>
            <a:ext cx="2362200" cy="228600"/>
          </a:xfrm>
          <a:prstGeom prst="roundRect">
            <a:avLst>
              <a:gd name="adj" fmla="val 125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648700" y="4400550"/>
            <a:ext cx="2476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+155.1% (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절대값 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 · </a:t>
            </a:r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조건부</a:t>
            </a:r>
            <a:r>
              <a:rPr lang="en-US" altLang="ko-KR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8831580" y="4324350"/>
            <a:ext cx="0" cy="342900"/>
          </a:xfrm>
          <a:prstGeom prst="line">
            <a:avLst/>
          </a:prstGeom>
          <a:ln w="14288">
            <a:solidFill>
              <a:srgbClr val="D63B3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8572500" y="1676400"/>
            <a:ext cx="0" cy="3086100"/>
          </a:xfrm>
          <a:prstGeom prst="line">
            <a:avLst/>
          </a:prstGeom>
          <a:ln w="14288">
            <a:solidFill>
              <a:srgbClr val="2626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382000" y="4781550"/>
            <a:ext cx="381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50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0%</a:t>
            </a:r>
            <a:endParaRPr lang="ko-KR" altLang="en-US" sz="750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33400" y="501015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23900" y="508635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성장률을 넘긴 곳은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Story(+39.4% vs +17.0%)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(+155.1%,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단 절대값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라 조건부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ENA Play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+5.4%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시장에 크게 못 미쳤고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-31.9%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유일하게 감소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en-US" altLang="ko-KR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skyUHD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프로그램 단위 집계로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 〈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</a:t>
            </a:r>
            <a:r>
              <a:rPr lang="ko-KR" altLang="en-US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우영우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효과가 확인됨</a:t>
            </a:r>
            <a:endParaRPr lang="ko-KR" altLang="en-US" sz="10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5638800"/>
            <a:ext cx="11125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전체 채널 일간 평균 순위의 연휴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평균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반올림 정수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 보고서의 ‘연휴 주력 편성 비중’ 열은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EPG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대조가 진행 중인 항목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(ENA Drama 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1,715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분이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0%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집계되는 등 표기 불일치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이라 확정 전까지 제외함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99440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DAYPART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시간대별 연휴 성과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낮에는 올랐고 밤에는 밀렸다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같은 시간대 대비 증감률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칸 아래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실적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02~08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09~13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14~18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19~25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0500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7625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81025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62875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0" y="1428750"/>
            <a:ext cx="1905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75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975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33400" y="18478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</a:t>
            </a:r>
            <a:endParaRPr lang="ko-KR" altLang="en-US" sz="10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190500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-44.3%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0.038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857625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0.164 / 0.115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81025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+37.5%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0.152 / 0.111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7762875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0.191 / 0.154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9715500" y="1676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+26.2%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0.214 / 0.169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533400" y="25146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mtClean="0">
                <a:solidFill>
                  <a:srgbClr val="08393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</a:t>
            </a:r>
            <a:endParaRPr lang="ko-KR" altLang="en-US" sz="1050">
              <a:solidFill>
                <a:srgbClr val="08393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90500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+77.3%</a:t>
            </a:r>
            <a:endParaRPr lang="en-US" altLang="ko-KR" sz="75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0.006</a:t>
            </a:r>
            <a:endParaRPr lang="ko-KR" altLang="en-US" sz="75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857625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+40.8%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0.030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581025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+23.9%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0.045 / 0.036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7762875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-40.8%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0.035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9715500" y="2343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-39.0%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 / 0.037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533400" y="31813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</a:t>
            </a:r>
            <a:endParaRPr lang="ko-KR" altLang="en-US" sz="10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190500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+34.7%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0.009 / 0.007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3857625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-13.2%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0.025 / 0.029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81025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-43.9%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0.020 / 0.036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7762875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-45.2%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0.028 / 0.051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9715500" y="30099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-52.8%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0.066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33400" y="38481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</a:t>
            </a:r>
            <a:endParaRPr lang="ko-KR" altLang="en-US" sz="10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90500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+72.2%</a:t>
            </a:r>
            <a:endParaRPr lang="en-US" altLang="ko-KR" sz="75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0.038</a:t>
            </a:r>
            <a:endParaRPr lang="ko-KR" altLang="en-US" sz="75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3857625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+23.0%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0.078 / 0.064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581025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+33.4%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0.073 / 0.055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7762875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+34.3%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0.071 / 0.053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9715500" y="36766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+31.2%</a:t>
            </a:r>
            <a:endParaRPr lang="en-US" altLang="ko-KR" sz="75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0.086 / 0.066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51485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dirty="0" smtClean="0">
                <a:solidFill>
                  <a:schemeClr val="bg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</a:t>
            </a:r>
            <a:endParaRPr lang="ko-KR" altLang="en-US" sz="1050" dirty="0">
              <a:solidFill>
                <a:schemeClr val="bg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190500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-14.7%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0.060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3857625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+1.9%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0.146 / 0.144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81025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+10.5%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0.174 / 0.157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7762875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-25.4%</a:t>
            </a:r>
            <a:endParaRPr lang="en-US" altLang="ko-KR" sz="75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0.113 / 0.152</a:t>
            </a:r>
            <a:endParaRPr lang="ko-KR" altLang="en-US" sz="75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9715500" y="434340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-22.9%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 / 0.187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533400" y="5181600"/>
            <a:ext cx="1143000" cy="247650"/>
          </a:xfrm>
          <a:prstGeom prst="roundRect">
            <a:avLst>
              <a:gd name="adj" fmla="val 50000"/>
            </a:avLst>
          </a:prstGeom>
          <a:solidFill>
            <a:srgbClr val="C9A67B"/>
          </a:solidFill>
          <a:ln w="12700" cap="flat" cmpd="sng" algn="ctr">
            <a:noFill/>
            <a:prstDash val="solid"/>
            <a:miter lim="800000"/>
          </a:ln>
          <a:effectLst/>
          <a:ex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0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ONCE</a:t>
            </a:r>
            <a:endParaRPr lang="ko-KR" altLang="en-US" sz="10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190500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-24.7%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 / 0.027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3857625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-2.3%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0.060 / 0.061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81025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-7.2%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0.070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7762875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+0.6%</a:t>
            </a:r>
            <a:endParaRPr lang="en-US" altLang="ko-KR" sz="75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0.072 / 0.072</a:t>
            </a:r>
            <a:endParaRPr lang="ko-KR" altLang="en-US" sz="7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9715500" y="5010150"/>
            <a:ext cx="1905000" cy="590550"/>
          </a:xfrm>
          <a:prstGeom prst="roundRect">
            <a:avLst>
              <a:gd name="adj" fmla="val 9677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12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-16.5%</a:t>
            </a:r>
            <a:endParaRPr lang="en-US" altLang="ko-KR" sz="75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>
              <a:lnSpc>
                <a:spcPct val="105000"/>
              </a:lnSpc>
            </a:pPr>
            <a:r>
              <a:rPr lang="en-US" altLang="ko-KR" sz="75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0.071 / 0.085</a:t>
            </a:r>
            <a:endParaRPr lang="ko-KR" altLang="en-US" sz="75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5334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≥ </a:t>
            </a:r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+50%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31445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+15~50%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20955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0~+15%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287655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5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0~-25%</a:t>
            </a:r>
            <a:endParaRPr lang="ko-KR" altLang="en-US" sz="75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3657600" y="5772150"/>
            <a:ext cx="723900" cy="190500"/>
          </a:xfrm>
          <a:prstGeom prst="roundRect">
            <a:avLst>
              <a:gd name="adj" fmla="val 2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≤ </a:t>
            </a:r>
            <a:r>
              <a:rPr lang="en-US" altLang="ko-KR" sz="75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-25%</a:t>
            </a:r>
            <a:endParaRPr lang="ko-KR" altLang="en-US" sz="75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572000" y="5676900"/>
            <a:ext cx="7086600" cy="419100"/>
          </a:xfrm>
          <a:prstGeom prst="roundRect">
            <a:avLst>
              <a:gd name="adj" fmla="val 2272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4762500" y="5753100"/>
            <a:ext cx="67056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개가 오전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상승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하락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예외는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Story(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 구간 플러스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+31.2%)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ENA(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지만 시장 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 </a:t>
            </a:r>
            <a:r>
              <a:rPr lang="ko-KR" altLang="en-US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미달</a:t>
            </a:r>
            <a:r>
              <a:rPr lang="en-US" altLang="ko-KR" sz="85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85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1771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SPECIAL MULTIPLES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특집 편성 시간대 배수 상위 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건 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 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하위 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10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건 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낮의 </a:t>
            </a:r>
            <a:r>
              <a:rPr lang="ko-KR" altLang="en-US" sz="1950" spc="-4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검증 </a:t>
            </a:r>
            <a:r>
              <a:rPr lang="en-US" altLang="ko-KR" sz="1950" spc="-40" dirty="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IP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가 오르고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저녁의 구작</a:t>
            </a:r>
            <a:r>
              <a:rPr lang="en-US" altLang="ko-KR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19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신규가 무너졌다</a:t>
            </a:r>
            <a:endParaRPr lang="ko-KR" altLang="en-US" sz="19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실적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1.0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미만이면 통상 편성보다 못한 것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막대 색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총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48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중 발췌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cxnSp>
        <p:nvCxnSpPr>
          <p:cNvPr id="7" name="직선 연결선 6"/>
          <p:cNvCxnSpPr/>
          <p:nvPr/>
        </p:nvCxnSpPr>
        <p:spPr>
          <a:xfrm>
            <a:off x="533400" y="3543300"/>
            <a:ext cx="11125200" cy="0"/>
          </a:xfrm>
          <a:prstGeom prst="line">
            <a:avLst/>
          </a:prstGeom>
          <a:ln w="952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/>
          <p:nvPr/>
        </p:nvCxnSpPr>
        <p:spPr>
          <a:xfrm>
            <a:off x="6381750" y="3562350"/>
            <a:ext cx="0" cy="2095500"/>
          </a:xfrm>
          <a:prstGeom prst="line">
            <a:avLst/>
          </a:prstGeom>
          <a:ln w="9525">
            <a:solidFill>
              <a:srgbClr val="A6A6B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191250" y="5676900"/>
            <a:ext cx="381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1.0</a:t>
            </a:r>
            <a:r>
              <a:rPr lang="ko-KR" altLang="en-US" sz="71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배</a:t>
            </a:r>
            <a:endParaRPr lang="ko-KR" altLang="en-US" sz="71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14763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09/24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714500" y="14763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476750" y="1495425"/>
            <a:ext cx="5857875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10391775" y="14763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20.83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(0.116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3400" y="16859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14500" y="16859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 혼자 산다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4476750" y="1704975"/>
            <a:ext cx="3381375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7915275" y="16859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12.01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(0.181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33400" y="18954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14500" y="18954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476750" y="1914525"/>
            <a:ext cx="2400300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6934200" y="18954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8.53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(0.182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21050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09/27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714500" y="21050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니돈내산 첫방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4476750" y="2124075"/>
            <a:ext cx="1019175" cy="152400"/>
          </a:xfrm>
          <a:prstGeom prst="roundRect">
            <a:avLst>
              <a:gd name="adj" fmla="val 125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5553075" y="21050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3.62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(0.395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33400" y="23145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09/24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714500" y="23145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476750" y="2333625"/>
            <a:ext cx="1019175" cy="152400"/>
          </a:xfrm>
          <a:prstGeom prst="roundRect">
            <a:avLst>
              <a:gd name="adj" fmla="val 125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553075" y="23145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(0.308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33400" y="25241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09/25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714500" y="25241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476750" y="2543175"/>
            <a:ext cx="885825" cy="152400"/>
          </a:xfrm>
          <a:prstGeom prst="roundRect">
            <a:avLst>
              <a:gd name="adj" fmla="val 125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419725" y="25241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3.14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(0.124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" y="27336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714500" y="27336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4476750" y="2752725"/>
            <a:ext cx="828675" cy="152400"/>
          </a:xfrm>
          <a:prstGeom prst="roundRect">
            <a:avLst>
              <a:gd name="adj" fmla="val 125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5362575" y="27336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2.94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(0.202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0.069)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3400" y="29432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09/24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714500" y="29432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 한가위 선물 특집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476750" y="2962275"/>
            <a:ext cx="714375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5248275" y="29432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2.55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(0.046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33400" y="31527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09/26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714500" y="31527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통상 편성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오후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476750" y="3171825"/>
            <a:ext cx="695325" cy="152400"/>
          </a:xfrm>
          <a:prstGeom prst="roundRect">
            <a:avLst>
              <a:gd name="adj" fmla="val 125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5229225" y="31527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2.48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(0.088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400" y="33623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Story 09/24</a:t>
            </a:r>
            <a:endParaRPr lang="ko-KR" altLang="en-US" sz="9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714500" y="33623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 연속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귀성길 안전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4476750" y="3381375"/>
            <a:ext cx="638175" cy="152400"/>
          </a:xfrm>
          <a:prstGeom prst="roundRect">
            <a:avLst>
              <a:gd name="adj" fmla="val 125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5172075" y="33623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2.27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(0.096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35718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09/24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714500" y="35718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4476750" y="3590925"/>
            <a:ext cx="952500" cy="152400"/>
          </a:xfrm>
          <a:prstGeom prst="roundRect">
            <a:avLst>
              <a:gd name="adj" fmla="val 125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5486400" y="35718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0.50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(0.030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3400" y="37814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09/26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714500" y="37814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아이 캔 스피크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모서리가 둥근 직사각형 55"/>
          <p:cNvSpPr/>
          <p:nvPr/>
        </p:nvSpPr>
        <p:spPr>
          <a:xfrm>
            <a:off x="4476750" y="3800475"/>
            <a:ext cx="895350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5429250" y="37814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0.47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(0.006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33400" y="39909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09/26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714500" y="39909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검은 사제들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476750" y="4010025"/>
            <a:ext cx="819150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5353050" y="39909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0.43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33400" y="42005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09/25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714500" y="42005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맡겨만 주십숏 첫방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4476750" y="4219575"/>
            <a:ext cx="476250" cy="152400"/>
          </a:xfrm>
          <a:prstGeom prst="roundRect">
            <a:avLst>
              <a:gd name="adj" fmla="val 125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/>
          <p:cNvSpPr txBox="1"/>
          <p:nvPr/>
        </p:nvSpPr>
        <p:spPr>
          <a:xfrm>
            <a:off x="5010150" y="42005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(0.038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33400" y="44100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09/26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714500" y="44100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4476750" y="4429125"/>
            <a:ext cx="438150" cy="152400"/>
          </a:xfrm>
          <a:prstGeom prst="roundRect">
            <a:avLst>
              <a:gd name="adj" fmla="val 125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4972050" y="44100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0.23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(0.015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400" y="46196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OLIFE 09/24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1714500" y="46196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 서호주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1-2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4476750" y="4638675"/>
            <a:ext cx="304800" cy="152400"/>
          </a:xfrm>
          <a:prstGeom prst="roundRect">
            <a:avLst>
              <a:gd name="adj" fmla="val 125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4838700" y="46196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(0.028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0.178)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33400" y="48291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Drama 09/27</a:t>
            </a:r>
            <a:endParaRPr lang="ko-KR" altLang="en-US" sz="9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714500" y="48291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 연속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4476750" y="4848225"/>
            <a:ext cx="266700" cy="152400"/>
          </a:xfrm>
          <a:prstGeom prst="roundRect">
            <a:avLst>
              <a:gd name="adj" fmla="val 125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4800600" y="48291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3400" y="50387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714500" y="50387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아이 캔 스피크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4476750" y="5057775"/>
            <a:ext cx="209550" cy="152400"/>
          </a:xfrm>
          <a:prstGeom prst="roundRect">
            <a:avLst>
              <a:gd name="adj" fmla="val 125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4743450" y="50387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(0.003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0.030)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33400" y="524827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09/27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714500" y="524827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476750" y="5267325"/>
            <a:ext cx="76200" cy="152400"/>
          </a:xfrm>
          <a:prstGeom prst="roundRect">
            <a:avLst>
              <a:gd name="adj" fmla="val 25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5" name="TextBox 84"/>
          <p:cNvSpPr txBox="1"/>
          <p:nvPr/>
        </p:nvSpPr>
        <p:spPr>
          <a:xfrm>
            <a:off x="4610100" y="524827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(0.002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0.045)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533400" y="5457825"/>
            <a:ext cx="1143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ENA Play 09/25</a:t>
            </a:r>
            <a:endParaRPr lang="ko-KR" altLang="en-US" sz="9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714500" y="5457825"/>
            <a:ext cx="27241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검은 사제들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476750" y="5476875"/>
            <a:ext cx="19050" cy="1524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89" name="TextBox 88"/>
          <p:cNvSpPr txBox="1"/>
          <p:nvPr/>
        </p:nvSpPr>
        <p:spPr>
          <a:xfrm>
            <a:off x="4552950" y="5457825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(0.001 vs </a:t>
            </a:r>
            <a:r>
              <a:rPr lang="ko-KR" altLang="en-US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5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0.054)</a:t>
            </a:r>
            <a:endParaRPr lang="ko-KR" altLang="en-US" sz="75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6057900"/>
            <a:ext cx="11125200" cy="381000"/>
          </a:xfrm>
          <a:prstGeom prst="roundRect">
            <a:avLst>
              <a:gd name="adj" fmla="val 25000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6134100"/>
            <a:ext cx="10744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상위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건은 전부 낮 시간대 또는 검증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IP,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하위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건은 구작 영화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연속 편성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ko-KR" altLang="en-US" sz="105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콘텐츠도 자리를 바꾸면 결과가 뒤집힘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8.53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0.87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105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 주지표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배는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시각 기준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편성물 본방 평균 대비는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4.98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6224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낮은 기회였고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저녁은 자리를 잘못 잡았다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0.114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(0.32)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0.093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(0.33)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+23.0%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11→10</a:t>
            </a:r>
            <a:r>
              <a:rPr lang="ko-KR" altLang="en-US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+23.3%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5.48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+0.7%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프라임이 모두 기준을 웃돌았으나 시장 확대폭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(+40.1%)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에는 미달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점유율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-12.0%.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낮에 놓은 카드는 전부 기준 초과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저녁에 놓은 카드는 전부 미달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콘텐츠가 아니라 자리 배치의 문제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+42.3%·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+37.5%·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+26.2%.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3.61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)·2.94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낮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),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09/27 0.149(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0.107)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연휴 최고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21:19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0.038·0.25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0.311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리드인을 흘려보낸 자리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시각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MBC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1.547·SBS 1.283·tvN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1.262. 09/26 19:50 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짐쌀라비움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여자농구 결승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(2.734)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정면 충돌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0.92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CEBFC"/>
          </a:solidFill>
          <a:ln w="9525">
            <a:solidFill>
              <a:srgbClr val="3C32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론칭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주력 특집은 연휴 전야 또는 낮으로 이동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특선영화는 오전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점심 우선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대형 중계가 확정된 저녁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시간은 카드를 소진하지 않음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리드인이 강한 슬롯 뒤에는 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붙임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+14.9%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0.032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+54.7%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0.168 / 0.108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+81.7%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0.225 / 0.124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0.573 / 0.664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-5.7%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0.749 / 0.794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0.025 / 0.026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+172.0%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0.202 / 0.074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-74.4%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0.073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+0.9%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0.252 / 0.250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+11.0%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0.344 / 0.310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-19.0%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0.022 / 0.027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+124.3%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0.178 / 0.079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+126.9%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 / 0.063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+13.2%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0.143 / 0.126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0.147 / 0.153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-42.3%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0.034 / 0.059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+38.5%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0.157 / 0.114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+23.7%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0.142 / 0.115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-45.4%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0.081 / 0.148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0.075 / 0.097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-90.2%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/ 0.039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-41.8%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0.120 / 0.206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+69.6%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0.318 / 0.188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+248.9%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0.272 / 0.078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+152.9%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0.315 / 0.124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636156"/>
              </p:ext>
            </p:extLst>
          </p:nvPr>
        </p:nvGraphicFramePr>
        <p:xfrm>
          <a:off x="6286500" y="4752975"/>
          <a:ext cx="5372100" cy="1627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609865081"/>
                    </a:ext>
                  </a:extLst>
                </a:gridCol>
                <a:gridCol w="2305050">
                  <a:extLst>
                    <a:ext uri="{9D8B030D-6E8A-4147-A177-3AD203B41FA5}">
                      <a16:colId xmlns="" xmlns:a16="http://schemas.microsoft.com/office/drawing/2014/main" val="2890456246"/>
                    </a:ext>
                  </a:extLst>
                </a:gridCol>
                <a:gridCol w="952500">
                  <a:extLst>
                    <a:ext uri="{9D8B030D-6E8A-4147-A177-3AD203B41FA5}">
                      <a16:colId xmlns="" xmlns:a16="http://schemas.microsoft.com/office/drawing/2014/main" val="482836940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1163194312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74975402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75352041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4735674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3.61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125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36715354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2.94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2345463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(4~6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1.39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953338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도굴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0.220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(0.82)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1.90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783011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도굴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0.144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(0.55)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1.18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095653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0.100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(0.26)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1.74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8363188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짐쌀라비움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전야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0.128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(0.48)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0.92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938816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맡겨만 주십숏 첫방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(0.20)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81274424"/>
                  </a:ext>
                </a:extLst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4246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3C32E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ENA NEW LAUNCH</a:t>
            </a:r>
            <a:endParaRPr lang="ko-KR" altLang="en-US" sz="975" spc="60">
              <a:solidFill>
                <a:srgbClr val="3C32E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0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</a:t>
            </a:r>
            <a:r>
              <a:rPr lang="ko-KR" altLang="en-US" sz="220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신규 예능 </a:t>
            </a:r>
            <a:r>
              <a:rPr lang="en-US" altLang="ko-KR" sz="220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</a:t>
            </a:r>
            <a:r>
              <a:rPr lang="ko-KR" altLang="en-US" sz="220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</a:t>
            </a:r>
            <a:endParaRPr lang="ko-KR" altLang="en-US" sz="220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09/27(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20:30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0.392 vs 〈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09/25(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금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21:19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첫방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 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54483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723900" y="1600200"/>
            <a:ext cx="1047750" cy="247650"/>
          </a:xfrm>
          <a:prstGeom prst="roundRect">
            <a:avLst>
              <a:gd name="adj" fmla="val 50000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니돈내산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66900" y="1600200"/>
            <a:ext cx="3810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20:30~21:50 · </a:t>
            </a:r>
            <a:r>
              <a:rPr lang="ko-KR" altLang="en-US" sz="97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부진했던 자리 → 연휴 당사 최고 성과</a:t>
            </a:r>
            <a:endParaRPr lang="ko-KR" altLang="en-US" sz="97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1104900" y="2583180"/>
            <a:ext cx="857250" cy="274320"/>
          </a:xfrm>
          <a:prstGeom prst="roundRect">
            <a:avLst>
              <a:gd name="adj" fmla="val 1388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723900" y="2392680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0.128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(0.42)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39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리드인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19:06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39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526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857500" y="2017395"/>
            <a:ext cx="857250" cy="840105"/>
          </a:xfrm>
          <a:prstGeom prst="roundRect">
            <a:avLst>
              <a:gd name="adj" fmla="val 4535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2476500" y="1826895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0.392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(0.56)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765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첫 방송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20:30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765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052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610100" y="2006679"/>
            <a:ext cx="857250" cy="850821"/>
          </a:xfrm>
          <a:prstGeom prst="roundRect">
            <a:avLst>
              <a:gd name="adj" fmla="val 4478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4229100" y="1816179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0.397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(0.61)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291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연속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22:10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2291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95262"/>
              </p:ext>
            </p:extLst>
          </p:nvPr>
        </p:nvGraphicFramePr>
        <p:xfrm>
          <a:off x="723900" y="3314700"/>
          <a:ext cx="5067300" cy="135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57500">
                  <a:extLst>
                    <a:ext uri="{9D8B030D-6E8A-4147-A177-3AD203B41FA5}">
                      <a16:colId xmlns="" xmlns:a16="http://schemas.microsoft.com/office/drawing/2014/main" val="2698240175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68310963"/>
                    </a:ext>
                  </a:extLst>
                </a:gridCol>
                <a:gridCol w="666750">
                  <a:extLst>
                    <a:ext uri="{9D8B030D-6E8A-4147-A177-3AD203B41FA5}">
                      <a16:colId xmlns="" xmlns:a16="http://schemas.microsoft.com/office/drawing/2014/main" val="615856689"/>
                    </a:ext>
                  </a:extLst>
                </a:gridCol>
                <a:gridCol w="857250">
                  <a:extLst>
                    <a:ext uri="{9D8B030D-6E8A-4147-A177-3AD203B41FA5}">
                      <a16:colId xmlns="" xmlns:a16="http://schemas.microsoft.com/office/drawing/2014/main" val="26855435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비교 축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대상 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첫방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9275516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첫방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엑스 더 리그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08/02)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6.74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027362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본방 평균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0.079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4.98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669577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슬롯 직전 편성물 최고 회차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(08/16)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2.33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9594659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직전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일요일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20:30~21:50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실측 평균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4.67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8069589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구간 점유율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평균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0.8% → 2.4%)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2.4%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2.98</a:t>
                      </a:r>
                      <a:r>
                        <a:rPr lang="ko-KR" altLang="en-US" sz="788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62046673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23900" y="4743450"/>
            <a:ext cx="50673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동안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넘지 못한 자리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엑스 더 리그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평균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0.079).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리드인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0.128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3.07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스스로 올렸고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</a:p>
          <a:p>
            <a:pPr>
              <a:lnSpc>
                <a:spcPct val="125000"/>
              </a:lnSpc>
            </a:pP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야구 금메달 </a:t>
            </a:r>
            <a:r>
              <a:rPr lang="ko-KR" altLang="en-US" sz="900" dirty="0" err="1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결정전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(SBS 2.866)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정면으로 겹친 시각에도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등위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</a:t>
            </a:r>
          </a:p>
          <a:p>
            <a:pPr>
              <a:lnSpc>
                <a:spcPct val="125000"/>
              </a:lnSpc>
            </a:pP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 대 작품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(4.98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시각 대 시각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(4.67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같은 크기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한쪽 기준의 착시가 아님</a:t>
            </a:r>
            <a:endParaRPr lang="ko-KR" altLang="en-US" sz="9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6210300" y="1428750"/>
            <a:ext cx="5448300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모서리가 둥근 직사각형 26"/>
          <p:cNvSpPr/>
          <p:nvPr/>
        </p:nvSpPr>
        <p:spPr>
          <a:xfrm>
            <a:off x="6400800" y="1600200"/>
            <a:ext cx="1238250" cy="247650"/>
          </a:xfrm>
          <a:prstGeom prst="roundRect">
            <a:avLst>
              <a:gd name="adj" fmla="val 5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맡겨만 주십숏</a:t>
            </a:r>
            <a:endParaRPr lang="ko-KR" altLang="en-US" sz="900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34300" y="1600200"/>
            <a:ext cx="3810000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ko-KR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21:19~22:28 · 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검증된 </a:t>
            </a:r>
            <a:r>
              <a:rPr lang="ko-KR" altLang="en-US" sz="975" dirty="0" err="1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ko-KR" altLang="en-US" sz="975" dirty="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 자리를 비우고 들어갔으나 부진</a:t>
            </a:r>
            <a:endParaRPr lang="ko-KR" altLang="en-US" sz="975" dirty="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6781800" y="2190988"/>
            <a:ext cx="857250" cy="666512"/>
          </a:xfrm>
          <a:prstGeom prst="roundRect">
            <a:avLst>
              <a:gd name="adj" fmla="val 571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6400800" y="2000488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0.311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(0.71)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리드인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20:00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008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295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8534400" y="2776061"/>
            <a:ext cx="857250" cy="81439"/>
          </a:xfrm>
          <a:prstGeom prst="roundRect">
            <a:avLst>
              <a:gd name="adj" fmla="val 46784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/>
          <p:cNvSpPr txBox="1"/>
          <p:nvPr/>
        </p:nvSpPr>
        <p:spPr>
          <a:xfrm>
            <a:off x="8153400" y="2585561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0.038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(0.20)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534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첫 방송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21:19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534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맡겨만 주십숏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582150" y="2381250"/>
            <a:ext cx="381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→</a:t>
            </a:r>
            <a:endParaRPr lang="ko-KR" altLang="en-US" sz="1200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10287000" y="2548890"/>
            <a:ext cx="857250" cy="308610"/>
          </a:xfrm>
          <a:prstGeom prst="roundRect">
            <a:avLst>
              <a:gd name="adj" fmla="val 1234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9906000" y="2358390"/>
            <a:ext cx="16192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105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0.144</a:t>
            </a:r>
            <a:r>
              <a:rPr lang="en-US" altLang="ko-KR" sz="95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(0.55)</a:t>
            </a:r>
            <a:endParaRPr lang="ko-KR" altLang="en-US" sz="95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906000" y="29146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리드아웃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22:48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06000" y="30670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도굴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108551"/>
              </p:ext>
            </p:extLst>
          </p:nvPr>
        </p:nvGraphicFramePr>
        <p:xfrm>
          <a:off x="6400800" y="3314700"/>
          <a:ext cx="5067300" cy="1352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29000">
                  <a:extLst>
                    <a:ext uri="{9D8B030D-6E8A-4147-A177-3AD203B41FA5}">
                      <a16:colId xmlns="" xmlns:a16="http://schemas.microsoft.com/office/drawing/2014/main" val="2321323697"/>
                    </a:ext>
                  </a:extLst>
                </a:gridCol>
                <a:gridCol w="819150">
                  <a:extLst>
                    <a:ext uri="{9D8B030D-6E8A-4147-A177-3AD203B41FA5}">
                      <a16:colId xmlns="" xmlns:a16="http://schemas.microsoft.com/office/drawing/2014/main" val="4171393834"/>
                    </a:ext>
                  </a:extLst>
                </a:gridCol>
                <a:gridCol w="819150">
                  <a:extLst>
                    <a:ext uri="{9D8B030D-6E8A-4147-A177-3AD203B41FA5}">
                      <a16:colId xmlns="" xmlns:a16="http://schemas.microsoft.com/office/drawing/2014/main" val="1965897289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직전 </a:t>
                      </a:r>
                      <a:r>
                        <a:rPr lang="en-US" altLang="ko-KR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 금요일 같은 시각 </a:t>
                      </a:r>
                      <a:r>
                        <a:rPr lang="en-US" altLang="ko-KR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신병</a:t>
                      </a:r>
                      <a:r>
                        <a:rPr lang="en-US" altLang="ko-KR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4: </a:t>
                      </a:r>
                      <a:r>
                        <a:rPr lang="ko-KR" altLang="en-US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사보타주 </a:t>
                      </a:r>
                      <a:r>
                        <a:rPr lang="ko-KR" altLang="en-US" sz="750" b="0" i="0" dirty="0" err="1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재방</a:t>
                      </a:r>
                      <a:r>
                        <a:rPr lang="en-US" altLang="ko-KR" sz="750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50" b="0" i="0" dirty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시청률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3551345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08/28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2.0%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859593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09/04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3107272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09/11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0.159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1.5%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472737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09/18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0.250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2.7%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7150382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 실측 평균 → 첫방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0.038 = 0.25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점유율 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dirty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1.7%</a:t>
                      </a:r>
                      <a:endParaRPr lang="ko-KR" altLang="en-US" sz="788" b="0" i="0" dirty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8143649"/>
                  </a:ext>
                </a:extLst>
              </a:tr>
            </a:tbl>
          </a:graphicData>
        </a:graphic>
      </p:graphicFrame>
      <p:sp>
        <p:nvSpPr>
          <p:cNvPr id="44" name="TextBox 43"/>
          <p:cNvSpPr txBox="1"/>
          <p:nvPr/>
        </p:nvSpPr>
        <p:spPr>
          <a:xfrm>
            <a:off x="6400800" y="4743450"/>
            <a:ext cx="5067300" cy="6286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탓이 아님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0.311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빠졌고 뒤이은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도굴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0.144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회복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5000"/>
              </a:lnSpc>
            </a:pP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자리에서 앞뒤가 살아 있었으므로 유입을 받지 못한 것은 프로그램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5000"/>
              </a:lnSpc>
            </a:pP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2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0.100(2.61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올라와</a:t>
            </a:r>
            <a:r>
              <a:rPr lang="en-US" altLang="ko-KR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dirty="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작품보다 첫 노출 자리의 문제였을 가능성도 고려</a:t>
            </a:r>
            <a:endParaRPr lang="ko-KR" altLang="en-US" sz="900" dirty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533400" y="5600700"/>
            <a:ext cx="11125200" cy="533400"/>
          </a:xfrm>
          <a:prstGeom prst="roundRect">
            <a:avLst>
              <a:gd name="adj" fmla="val 17857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723900" y="5676900"/>
            <a:ext cx="10744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100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편성의 자리는 그 자리의 직전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실적을 먼저 보고 고름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기준을 밑돌던 자리는 신규로 바꿀 후보</a:t>
            </a:r>
            <a:endParaRPr lang="ko-KR" altLang="en-US" sz="10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 방송 블록 기준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시각은 닐슨 실측 블록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(EPG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와 몇 분 차이 가능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〈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니돈내산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 기준 첫방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0.560·2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0.611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4772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00C8D2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00C8D2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Play | </a:t>
            </a:r>
            <a:r>
              <a:rPr lang="ko-KR" altLang="en-US" sz="2250" spc="-40" dirty="0" smtClean="0">
                <a:solidFill>
                  <a:srgbClr val="00C8D2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예능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은 강했지만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저녁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심야 구작 영화 편성은 효율이 낮았다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99579"/>
            <a:ext cx="997268" cy="220042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dirty="0" smtClean="0">
                <a:solidFill>
                  <a:schemeClr val="bg1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Play</a:t>
            </a:r>
            <a:endParaRPr lang="ko-KR" altLang="en-US" sz="1350" dirty="0">
              <a:solidFill>
                <a:schemeClr val="bg1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0.024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(0.08)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0.023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(0.06)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+5.4%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41→43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+33.2%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2.35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36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10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 유입은 당사 최대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+40.8%·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+23.9%, Reach +33.2%)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였으나 저녁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-40.8%,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-39.0%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급락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41→43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장르가 아니라 작품과 자리의 문제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10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무한도전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선물 특집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20.83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)·8.53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당일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15:46 0.182 —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등록 경쟁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PP 1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(18:20)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놓은 회차는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0.87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10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+173.9%·20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+20.6%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 전 연령 상승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83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10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아이 캔 스피크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2017·〈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검은 사제들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2015)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전부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미만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총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565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분이 저성과 구간에 들어가 프라임이 무너짐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특선영화는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1.93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명절 최강 장르였고 작동한 작품은 전부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0F7F9"/>
          </a:solidFill>
          <a:ln w="9525">
            <a:solidFill>
              <a:srgbClr val="00C8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838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1000">
              <a:solidFill>
                <a:srgbClr val="00838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예능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를 명절 낮 블록의 주력으로 고정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가능하다면 영화 수급 기준을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가능 여부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개봉 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년 이내로 </a:t>
            </a:r>
            <a:r>
              <a:rPr lang="ko-KR" altLang="en-US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진행시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경쟁력 상승 기회 있음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유지하더라도 낮에 배치</a:t>
            </a:r>
            <a:r>
              <a:rPr lang="en-US" altLang="ko-KR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지상파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특집 </a:t>
            </a:r>
            <a:r>
              <a:rPr lang="ko-KR" altLang="en-US" sz="10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재방권</a:t>
            </a:r>
            <a:r>
              <a:rPr lang="ko-KR" altLang="en-US" sz="10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확보로 물량 확대</a:t>
            </a:r>
            <a:endParaRPr lang="ko-KR" altLang="en-US" sz="10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-56.1%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0.006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+41.1%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0.022 / 0.016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-28.0%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0.025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+70.2%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0.029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+35.3%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0.029 / 0.022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0.005 / 0.006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+666.9%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0.057 / 0.007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+13.6%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0.037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-47.1%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0.027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+123.0%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+214.5%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0.084 / 0.027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+335.0%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0.084 / 0.019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-88.2%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0.006 / 0.050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-94.3%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0.049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+448.0%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0.019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-33.3%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0.017 / 0.025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+4.4%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0.014 / 0.013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-2.7%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0.037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0.037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0.009 / 0.009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-97.4%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 / 0.069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0.076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+19.4%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0.027 / 0.023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-20.8%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0.026 / 0.033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024177"/>
              </p:ext>
            </p:extLst>
          </p:nvPr>
        </p:nvGraphicFramePr>
        <p:xfrm>
          <a:off x="6286500" y="4752975"/>
          <a:ext cx="5372100" cy="16097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040118847"/>
                    </a:ext>
                  </a:extLst>
                </a:gridCol>
                <a:gridCol w="2305050">
                  <a:extLst>
                    <a:ext uri="{9D8B030D-6E8A-4147-A177-3AD203B41FA5}">
                      <a16:colId xmlns="" xmlns:a16="http://schemas.microsoft.com/office/drawing/2014/main" val="497577511"/>
                    </a:ext>
                  </a:extLst>
                </a:gridCol>
                <a:gridCol w="952500">
                  <a:extLst>
                    <a:ext uri="{9D8B030D-6E8A-4147-A177-3AD203B41FA5}">
                      <a16:colId xmlns="" xmlns:a16="http://schemas.microsoft.com/office/drawing/2014/main" val="273761439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2112323125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1273712462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425014820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18901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한가위 선물 특집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0.116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20.83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198443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한가위 선물 특집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0.182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(0.15)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8.53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462262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저녁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0.87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0609409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아이 캔 스피크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0.005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(0.03)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1.92</a:t>
                      </a:r>
                      <a:r>
                        <a:rPr lang="ko-KR" altLang="en-US" sz="788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56039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아이 캔 스피크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0.47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3570969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검은 사제들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새벽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(0.17)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0.43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4246618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특선영화 검은 사제들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r>
                        <a:rPr lang="en-US" altLang="ko-KR" sz="700" b="0" i="0" smtClean="0">
                          <a:solidFill>
                            <a:srgbClr val="7C7C8C"/>
                          </a:solidFill>
                          <a:latin typeface="KT Flow Thin"/>
                          <a:ea typeface="KT Flow Medium" pitchFamily="2" charset="-127"/>
                          <a:sym typeface="KT Flow Medium" pitchFamily="2" charset="-127"/>
                        </a:rPr>
                        <a:t> (0.04)</a:t>
                      </a:r>
                      <a:endParaRPr lang="ko-KR" altLang="en-US" sz="700" b="0" i="0">
                        <a:solidFill>
                          <a:srgbClr val="7C7C8C"/>
                        </a:solidFill>
                        <a:latin typeface="KT Flow Thin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0.01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106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3898334"/>
                  </a:ext>
                </a:extLst>
              </a:tr>
            </a:tbl>
          </a:graphicData>
        </a:graphic>
      </p:graphicFrame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25742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EE2A3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EE2A3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Drama |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연속 편성은 유지하되</a:t>
            </a:r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라인업을 </a:t>
            </a:r>
            <a:r>
              <a:rPr lang="en-US" altLang="ko-KR" sz="2250" spc="-40" dirty="0" smtClean="0">
                <a:solidFill>
                  <a:srgbClr val="EE2A30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2049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에 맞춰야 한다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517420"/>
            <a:ext cx="997268" cy="184359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Drama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/>
                <a:ea typeface="KT Flow Black" pitchFamily="2" charset="-127"/>
                <a:sym typeface="KT Flow Black" pitchFamily="2" charset="-127"/>
              </a:rPr>
              <a:t>0.018</a:t>
            </a:r>
            <a:r>
              <a:rPr lang="en-US" altLang="ko-KR" sz="1550" spc="-40" smtClean="0">
                <a:solidFill>
                  <a:srgbClr val="7C7C8C"/>
                </a:solidFill>
                <a:latin typeface="KT Flow Thin"/>
                <a:ea typeface="KT Flow Black" pitchFamily="2" charset="-127"/>
                <a:sym typeface="KT Flow Black" pitchFamily="2" charset="-127"/>
              </a:rPr>
              <a:t> (0.11)</a:t>
            </a:r>
            <a:endParaRPr lang="ko-KR" altLang="en-US" sz="1550" spc="-40">
              <a:solidFill>
                <a:srgbClr val="7C7C8C"/>
              </a:solidFill>
              <a:latin typeface="KT Flow Thin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/>
                <a:ea typeface="KT Flow Medium" pitchFamily="2" charset="-127"/>
                <a:sym typeface="KT Flow Medium" pitchFamily="2" charset="-127"/>
              </a:rPr>
              <a:t>0.027</a:t>
            </a:r>
            <a:r>
              <a:rPr lang="en-US" altLang="ko-KR" sz="700" smtClean="0">
                <a:solidFill>
                  <a:srgbClr val="7C7C8C"/>
                </a:solidFill>
                <a:latin typeface="KT Flow Thin"/>
                <a:ea typeface="KT Flow Medium" pitchFamily="2" charset="-127"/>
                <a:sym typeface="KT Flow Medium" pitchFamily="2" charset="-127"/>
              </a:rPr>
              <a:t> (0.07)</a:t>
            </a:r>
            <a:endParaRPr lang="ko-KR" altLang="en-US" sz="700">
              <a:solidFill>
                <a:srgbClr val="7C7C8C"/>
              </a:solidFill>
              <a:latin typeface="KT Flow Thin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-31.9%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+40.1%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35→50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2.07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-46.3%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55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10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유입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(Reach +26.7%)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있었으나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KPI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2049 -31.9%, ATS -46.3%,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35→50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시청이 늘긴 했으나 전부 타깃 밖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(50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이상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늘어남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10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+97.8%·50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 여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+47.7%·60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+34.3%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상승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정작 타깃 상단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대는 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-49.8%·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여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-36.1%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이탈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0.23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0.50~0.80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유부녀 킬러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0.50~1.04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연속 편성 전 구간이 기준 이하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016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10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전술 자체는 유효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잔류가 축적형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 120%·〈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재벌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X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형사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2〉 136%).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2.94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ENA Drama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에서는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0.80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채널의 기존 시청 습관이 결과를 가름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DE9EA"/>
          </a:solidFill>
          <a:ln w="9525">
            <a:solidFill>
              <a:srgbClr val="EE2A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EE2A3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0161D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1000">
              <a:solidFill>
                <a:srgbClr val="D0161D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 전술은 유지하고 라인업을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3040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적합 최근작으로 교체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투입 전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적합도를 사전 검증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ATS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급락은 회차 길이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 길이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시작 시각으로 분해해 확인</a:t>
            </a:r>
            <a:endParaRPr lang="ko-KR" altLang="en-US" sz="10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-35.7%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0.013 / 0.019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+102.6%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0.066 / 0.033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-65.2%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+143.4%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0.052 / 0.021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+83.8%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0.065 / 0.035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+35.2%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0.003 / 0.002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-5.5%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0.008 / 0.009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-51.6%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0.021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-49.4%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-55.5%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0.036 / 0.081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+247.4%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0.010 / 0.003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-44.3%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 / 0.043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-58.3%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0.007 / 0.018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-10.9%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0.043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-27.4%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 / 0.055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+366.2%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0.024 / 0.005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+32.0%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 / 0.028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-68.4%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0.057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-72.4%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0.017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-79.9%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0.075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-99.9%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 / 0.017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0.030 / 0.029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0.043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-29.1%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0.026 / 0.037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 / 0.057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372680"/>
              </p:ext>
            </p:extLst>
          </p:nvPr>
        </p:nvGraphicFramePr>
        <p:xfrm>
          <a:off x="6286500" y="4752975"/>
          <a:ext cx="5372100" cy="15811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3273098974"/>
                    </a:ext>
                  </a:extLst>
                </a:gridCol>
                <a:gridCol w="2686050">
                  <a:extLst>
                    <a:ext uri="{9D8B030D-6E8A-4147-A177-3AD203B41FA5}">
                      <a16:colId xmlns="" xmlns:a16="http://schemas.microsoft.com/office/drawing/2014/main" val="1592572367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1648309887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78301735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227239310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13566713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074757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1.04</a:t>
                      </a:r>
                      <a:r>
                        <a:rPr lang="ko-KR" altLang="en-US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257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310557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263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511247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유부녀 킬러 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1.02</a:t>
                      </a:r>
                      <a:r>
                        <a:rPr lang="ko-KR" altLang="en-US" sz="788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274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0303328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0168897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8433374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재벌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X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형사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0.015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0.23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249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6754074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회차별 잔류 곡선은 ‘연속 편성’ 장 참조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20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4951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 |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연휴에서 가장 재현 가능한 성공 사례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510220"/>
            <a:ext cx="997268" cy="19876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ENA Story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0.065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+39.4%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72→61</a:t>
            </a:r>
            <a:r>
              <a:rPr lang="ko-KR" altLang="en-US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+26.7%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3.96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+9.9%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23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40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10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+39.4%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시장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두 배 이상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Reach +26.7%·ATS +9.9%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동시에 오른 유일한 채널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72→61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인기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자체보다 ‘명절에 왜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보는가’를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콘텐츠 주제에 붙인 것이 주효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10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+72.2%·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+23.0%·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+33.4%·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+31.2%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전 구간 플러스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상승은 당사 유일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〈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한블리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귀성길 안전 연속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09/24·25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네 블록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2.27~3.14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통상 편성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2.48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10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181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·176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분의 대량 편성인데도 배수가 희석되지 않음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귀성이라는 상황에 콘텐츠 주제를 맞춘 큐레이션이 통함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동시간대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위는 아님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(09/24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야간 블록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0.115 vs FUN TV 0.202·CMCTV 0.196). 09/27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통상 편성은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0.51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배로 마지막 날 설계는 별도 과제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1E9FB"/>
          </a:solidFill>
          <a:ln w="9525">
            <a:solidFill>
              <a:srgbClr val="7826D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7826D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7826D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1000">
              <a:solidFill>
                <a:srgbClr val="7826D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귀경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가족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안전을 축으로 명절 전용 큐레이션 설계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귀성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전야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·1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귀경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마지막 날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분리해 각각 편성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위를 노릴 시간대는 별도로 탐색</a:t>
            </a:r>
            <a:endParaRPr lang="ko-KR" altLang="en-US" sz="10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+91.4%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0.022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-29.3%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0.040 / 0.056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-33.7%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0.041 / 0.061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-42.8%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0.042 / 0.074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-39.2%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0.083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+158.2%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0.025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+190.9%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0.134 / 0.046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+2.3%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0.078 / 0.077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+24.1%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0.088 / 0.071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+12.4%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0.104 / 0.093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0.039 / 0.036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0.067 / 0.060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+218.9%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0.117 / 0.037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+15.0%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0.042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0.048 / 0.053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+76.8%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0.089 / 0.050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-46.6%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0.087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 / 0.043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+42.2%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0.077 / 0.054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+56.1%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0.099 / 0.063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+73.9%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0.066 / 0.038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0.063 / 0.059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-23.9%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0.047 / 0.062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+51.0%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 / 0.045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+64.2%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0.093 / 0.056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16404"/>
              </p:ext>
            </p:extLst>
          </p:nvPr>
        </p:nvGraphicFramePr>
        <p:xfrm>
          <a:off x="6286500" y="4752975"/>
          <a:ext cx="5372100" cy="1123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1538729893"/>
                    </a:ext>
                  </a:extLst>
                </a:gridCol>
                <a:gridCol w="2686050">
                  <a:extLst>
                    <a:ext uri="{9D8B030D-6E8A-4147-A177-3AD203B41FA5}">
                      <a16:colId xmlns="" xmlns:a16="http://schemas.microsoft.com/office/drawing/2014/main" val="2389680660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423767574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264574076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521073466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1633012803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09514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연속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귀성길 안전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2.27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181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58001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연속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추석 당일 낮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0.040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3.14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176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0445983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2.48</a:t>
                      </a:r>
                      <a:r>
                        <a:rPr lang="ko-KR" altLang="en-US" sz="788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482904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한블리 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오후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32968052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Story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21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5624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B9DB01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B9DB01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OLIFE | 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성장보다 ‘</a:t>
            </a:r>
            <a:r>
              <a:rPr lang="ko-KR" altLang="en-US" sz="2250" spc="-40" dirty="0" smtClean="0">
                <a:solidFill>
                  <a:srgbClr val="B9DB01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중계 방어 채널</a:t>
            </a:r>
            <a:r>
              <a:rPr lang="ko-KR" altLang="en-US" sz="22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’ 역할이 분명했다</a:t>
            </a:r>
            <a:endParaRPr lang="ko-KR" altLang="en-US" sz="22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9314" y="419100"/>
            <a:ext cx="861303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dirty="0" smtClean="0">
                <a:solidFill>
                  <a:schemeClr val="bg1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OLIFE</a:t>
            </a:r>
            <a:endParaRPr lang="ko-KR" altLang="en-US" sz="1350" dirty="0">
              <a:solidFill>
                <a:schemeClr val="bg1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0.106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0.114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-6.8%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31→37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+9.0%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3.88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-15.6%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39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-6.8%,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31→37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EPG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 결과 명절 특집은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한가위 편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(46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0.9%)</a:t>
            </a:r>
          </a:p>
          <a:p>
            <a:pPr>
              <a:lnSpc>
                <a:spcPct val="122000"/>
              </a:lnSpc>
            </a:pPr>
            <a:r>
              <a:rPr lang="en-US" altLang="ko-KR" sz="900" dirty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ko-KR" altLang="en-US" sz="9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(337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7.0%)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대체한 전술은 역효과</a:t>
            </a:r>
            <a:endParaRPr lang="ko-KR" altLang="en-US" sz="9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건은 프라임에 놓였는데도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0.88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회차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0.16~1.05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시간가중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0.70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0.72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같은 프로그램 그 외 회차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(1.01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·0.94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보다 낮음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날짜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시간대를 맞춰 짝지어도 신규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전부가 짝보다 낮음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(0.13~0.72p)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5F73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채널을 지탱한 것은 새벽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통상 편성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 09:25 〈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세계테마기행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2.54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09/25 02:00 〈</a:t>
            </a:r>
            <a:r>
              <a:rPr lang="ko-KR" altLang="en-US" sz="9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극한직업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2.53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격전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09/26 18:30~21:30 0.176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당사 최고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100m </a:t>
            </a:r>
            <a:r>
              <a:rPr lang="ko-KR" altLang="en-US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결승 시각에도 </a:t>
            </a:r>
            <a:r>
              <a:rPr lang="en-US" altLang="ko-KR" sz="9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0.118 — </a:t>
            </a:r>
          </a:p>
          <a:p>
            <a:pPr>
              <a:lnSpc>
                <a:spcPct val="122000"/>
              </a:lnSpc>
            </a:pPr>
            <a:r>
              <a:rPr lang="ko-KR" altLang="en-US" sz="900" dirty="0" smtClean="0">
                <a:solidFill>
                  <a:srgbClr val="B9DB01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중계와 </a:t>
            </a:r>
            <a:r>
              <a:rPr lang="ko-KR" altLang="en-US" sz="900" dirty="0" err="1" smtClean="0">
                <a:solidFill>
                  <a:srgbClr val="B9DB01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시청층이</a:t>
            </a:r>
            <a:r>
              <a:rPr lang="ko-KR" altLang="en-US" sz="900" dirty="0" smtClean="0">
                <a:solidFill>
                  <a:srgbClr val="B9DB01"/>
                </a:solidFill>
                <a:latin typeface="KT Flow Black" pitchFamily="2" charset="-127"/>
                <a:ea typeface="KT Flow Black" pitchFamily="2" charset="-127"/>
                <a:sym typeface="KT Flow Medium" pitchFamily="2" charset="-127"/>
              </a:rPr>
              <a:t> 겹치지 않은 교양 편성의 구조적 이점</a:t>
            </a:r>
            <a:endParaRPr lang="ko-KR" altLang="en-US" sz="900" dirty="0">
              <a:solidFill>
                <a:srgbClr val="B9DB01"/>
              </a:solidFill>
              <a:latin typeface="KT Flow Black" pitchFamily="2" charset="-127"/>
              <a:ea typeface="KT Flow Black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F3F8D5"/>
          </a:solidFill>
          <a:ln w="9525">
            <a:solidFill>
              <a:srgbClr val="B9DB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B9DB0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5F730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900">
              <a:solidFill>
                <a:srgbClr val="5F730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전용 특집을 최소 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건 프라임에 확보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</a:t>
            </a:r>
            <a:r>
              <a:rPr lang="ko-KR" altLang="en-US" sz="900" dirty="0" err="1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회차는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명절 낮이 아니라 평상 주간에 소비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2000"/>
              </a:lnSpc>
            </a:pP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새벽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교양 강세 슬롯을 주력으로 공식화하고</a:t>
            </a:r>
            <a:r>
              <a:rPr lang="en-US" altLang="ko-KR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집중 저녁은 중계 일정과 맞춰 방어 슬롯으로 배치</a:t>
            </a:r>
            <a:endParaRPr lang="ko-KR" altLang="en-US" sz="90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-22.1%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0.028 / 0.035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-37.9%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0.165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-17.1%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0.125 / 0.151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+42.9%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0.184 / 0.129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+23.9%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0.189 / 0.152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+3.2%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0.050 / 0.049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-52.3%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0.073 / 0.154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0.152 / 0.136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-11.3%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0.148 / 0.167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-14.9%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0.169 / 0.198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+6.0%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0.048 / 0.045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0.101 / 0.116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+0.2%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0.158 / 0.157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-18.4%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0.121 / 0.149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-7.0%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0.162 / 0.174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0.063 / 0.069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+82.2%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0.266 / 0.146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+26.3%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0.210 / 0.167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 / 0.140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-28.5%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0.134 / 0.187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-43.5%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0.044 / 0.078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-9.4%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0.146 / 0.161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+5.7%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0.175 / 0.166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-36.4%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0.096 / 0.151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-36.0%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0.123 / 0.192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620053"/>
              </p:ext>
            </p:extLst>
          </p:nvPr>
        </p:nvGraphicFramePr>
        <p:xfrm>
          <a:off x="6286500" y="4752975"/>
          <a:ext cx="5372100" cy="16273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2888043910"/>
                    </a:ext>
                  </a:extLst>
                </a:gridCol>
                <a:gridCol w="2686050">
                  <a:extLst>
                    <a:ext uri="{9D8B030D-6E8A-4147-A177-3AD203B41FA5}">
                      <a16:colId xmlns="" xmlns:a16="http://schemas.microsoft.com/office/drawing/2014/main" val="2742612095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761983347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3818353817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499267345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3210129892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7793187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한가위 편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(21:05)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0.198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0.88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70972030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서호주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1-2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(11:00)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0.028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0.178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0.16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68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34803626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헝가리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(15:59)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1.05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19399359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이탈리아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(11:24)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0.084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0.74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36535598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서호주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3-4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(12:44)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0.85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1649312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이동 양봉꾼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(21:09)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0.118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0.163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0.72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025296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세계테마기행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(09:25)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0.261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2.54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32499397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[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]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극한직업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(15:15)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0.247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2.53</a:t>
                      </a:r>
                      <a:r>
                        <a:rPr lang="ko-KR" altLang="en-US" sz="788" b="0" i="0" smtClean="0">
                          <a:solidFill>
                            <a:srgbClr val="5F7300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5F7300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75460001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OLIFE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특집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구분은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EPG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대조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09/26·27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여부 미확인분은 통상 편성 처리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22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124827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ONCE |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연휴 대응 편성과 구작 장편 몰아보기 모두 보강 필요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채널은 ‘시장 대비 → 시간대 → 특집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효과 → 다음 액션’ 순으로 읽음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86030"/>
            <a:ext cx="997268" cy="247139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ONCE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0.048</a:t>
            </a:r>
            <a:endParaRPr lang="ko-KR" altLang="en-US" sz="16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813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-8.6%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054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66→76</a:t>
            </a:r>
            <a:r>
              <a:rPr lang="ko-KR" altLang="en-US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294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▼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+13.8%</a:t>
            </a:r>
            <a:endParaRPr lang="ko-KR" altLang="en-US" sz="1650" spc="-4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95350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2.42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ATS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04775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1650" spc="-4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-20.2%</a:t>
            </a:r>
            <a:endParaRPr lang="ko-KR" altLang="en-US" sz="1650" spc="-4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77550" y="1771650"/>
            <a:ext cx="7239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29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 </a:t>
            </a:r>
            <a:r>
              <a:rPr lang="en-US" altLang="ko-KR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78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</a:t>
            </a:r>
            <a:endParaRPr lang="ko-KR" altLang="en-US" sz="78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533400" y="222885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704850" y="24003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0" name="TextBox 29"/>
          <p:cNvSpPr txBox="1"/>
          <p:nvPr/>
        </p:nvSpPr>
        <p:spPr>
          <a:xfrm>
            <a:off x="819150" y="23717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10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850" y="2609850"/>
            <a:ext cx="5181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-8.6%, ATS -20.2%,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66→76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유입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(Reach +13.8%)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늘었지만 체류가 감소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대응 편성 컨텐츠 자체가 부족해 비교할 시도가 적었음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533400" y="327660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3" name="모서리가 둥근 직사각형 32"/>
          <p:cNvSpPr/>
          <p:nvPr/>
        </p:nvSpPr>
        <p:spPr>
          <a:xfrm>
            <a:off x="704850" y="34480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4" name="TextBox 33"/>
          <p:cNvSpPr txBox="1"/>
          <p:nvPr/>
        </p:nvSpPr>
        <p:spPr>
          <a:xfrm>
            <a:off x="819150" y="34194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데이터 근거</a:t>
            </a:r>
            <a:endParaRPr lang="ko-KR" altLang="en-US" sz="10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4850" y="365760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유일한 특집 블록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제빵왕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김탁구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5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(09/26 17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~) 0.51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2000"/>
              </a:lnSpc>
            </a:pP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회차별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0.051→0.048→0.032→0.027→0.017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마지막 편이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편의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34%. </a:t>
            </a:r>
          </a:p>
          <a:p>
            <a:pPr>
              <a:lnSpc>
                <a:spcPct val="122000"/>
              </a:lnSpc>
            </a:pPr>
            <a:r>
              <a:rPr lang="ko-KR" altLang="en-US" sz="1000" dirty="0" err="1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동시간대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D-ONE 〈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자연인이다</a:t>
            </a:r>
            <a:r>
              <a:rPr lang="en-US" altLang="ko-KR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0.243·K STAR 0.330</a:t>
            </a:r>
            <a:r>
              <a:rPr lang="ko-KR" altLang="en-US" sz="1000" dirty="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크게 뒤짐</a:t>
            </a:r>
            <a:endParaRPr lang="ko-KR" altLang="en-US" sz="1000" dirty="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533400" y="4438650"/>
            <a:ext cx="5524500" cy="10668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7" name="모서리가 둥근 직사각형 36"/>
          <p:cNvSpPr/>
          <p:nvPr/>
        </p:nvSpPr>
        <p:spPr>
          <a:xfrm>
            <a:off x="704850" y="461010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8" name="TextBox 37"/>
          <p:cNvSpPr txBox="1"/>
          <p:nvPr/>
        </p:nvSpPr>
        <p:spPr>
          <a:xfrm>
            <a:off x="819150" y="458152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10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4850" y="4819650"/>
            <a:ext cx="5181600" cy="571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시에 시작해 프라임을 통과시키는 구작 장편 연속 구조가 작동하지 않음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연속 편성이라도 최근작을 쓴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Drama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블록은 잔류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100%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초과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-2.3%·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-7.2%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보다 저녁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심야 </a:t>
            </a:r>
            <a:r>
              <a:rPr lang="en-US" altLang="ko-KR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+0.6%</a:t>
            </a:r>
            <a:r>
              <a:rPr lang="ko-KR" altLang="en-US" sz="10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상대적으로 낫지만 큰 상승은 없음</a:t>
            </a:r>
            <a:endParaRPr lang="ko-KR" altLang="en-US" sz="10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533400" y="5600700"/>
            <a:ext cx="5524500" cy="838200"/>
          </a:xfrm>
          <a:prstGeom prst="roundRect">
            <a:avLst>
              <a:gd name="adj" fmla="val 13636"/>
            </a:avLst>
          </a:prstGeom>
          <a:solidFill>
            <a:srgbClr val="E3E9EF"/>
          </a:solidFill>
          <a:ln w="9525">
            <a:solidFill>
              <a:srgbClr val="002D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1" name="모서리가 둥근 직사각형 40"/>
          <p:cNvSpPr/>
          <p:nvPr/>
        </p:nvSpPr>
        <p:spPr>
          <a:xfrm>
            <a:off x="704850" y="57721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42" name="TextBox 41"/>
          <p:cNvSpPr txBox="1"/>
          <p:nvPr/>
        </p:nvSpPr>
        <p:spPr>
          <a:xfrm>
            <a:off x="819150" y="57435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002D50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1000">
              <a:solidFill>
                <a:srgbClr val="002D50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4850" y="5962650"/>
            <a:ext cx="5200650" cy="4381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대응 편성 비중을 최소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30%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수준까지 올려 다시 시도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몰아보기는 낮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·3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이내로 줄여 재검증하고 프라임 통과를 피함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프라임은 더 짧고 강한 포맷으로 채움</a:t>
            </a:r>
            <a:endParaRPr lang="ko-KR" altLang="en-US" sz="10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86500" y="2228850"/>
            <a:ext cx="2857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증감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직전 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</a:t>
            </a:r>
            <a:r>
              <a:rPr lang="ko-KR" altLang="en-US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 같은 요일 대비</a:t>
            </a:r>
            <a:r>
              <a:rPr lang="en-US" altLang="ko-KR" sz="863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63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2009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새벽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0577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1065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915525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</a:t>
            </a:r>
            <a:r>
              <a:rPr lang="en-US" altLang="ko-KR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0820400" y="2419350"/>
            <a:ext cx="8763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7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</a:t>
            </a:r>
            <a:endParaRPr lang="ko-KR" altLang="en-US" sz="7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286500" y="27051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09/23(</a:t>
            </a:r>
            <a:r>
              <a:rPr lang="ko-KR" altLang="en-US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</a:t>
            </a:r>
            <a:r>
              <a:rPr lang="en-US" altLang="ko-KR" sz="788" smtClean="0">
                <a:solidFill>
                  <a:srgbClr val="A6A6B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A6A6B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72009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-23.6%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 / 0.020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810577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-30.7%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0.053 / 0.077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901065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-34.2%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0.043 / 0.065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9915525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-4.2%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0.067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0820400" y="25908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-8.1%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0.068 / 0.074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286500" y="311467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모서리가 둥근 직사각형 56"/>
          <p:cNvSpPr/>
          <p:nvPr/>
        </p:nvSpPr>
        <p:spPr>
          <a:xfrm>
            <a:off x="72009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-50.7%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0.020 / 0.040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0577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+15.4%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0.074 / 0.065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모서리가 둥근 직사각형 58"/>
          <p:cNvSpPr/>
          <p:nvPr/>
        </p:nvSpPr>
        <p:spPr>
          <a:xfrm>
            <a:off x="901065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+12.5%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0.055 / 0.049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9915525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-3.9%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0.074 / 0.077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10820400" y="300037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0.086 / 0.085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286500" y="352425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2009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+54.2%</a:t>
            </a:r>
            <a:endParaRPr lang="en-US" altLang="ko-KR" sz="600" smtClean="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CDCBF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0.032 / 0.021</a:t>
            </a:r>
            <a:endParaRPr lang="ko-KR" altLang="en-US" sz="600">
              <a:solidFill>
                <a:srgbClr val="CDCBF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810577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+19.1%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0.095 / 0.080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1065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+6.6%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0.085 / 0.080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9915525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A9A5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+27.7%</a:t>
            </a:r>
            <a:endParaRPr lang="en-US" altLang="ko-KR" sz="600" smtClean="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0.081</a:t>
            </a:r>
            <a:endParaRPr lang="ko-KR" altLang="en-US" sz="6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820400" y="340995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+11.6%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0.103 / 0.092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286500" y="3933825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72009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-57.8%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0.012 / 0.029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810577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+4.8%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0.055 / 0.053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01065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0.049 / 0.079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모서리가 둥근 직사각형 71"/>
          <p:cNvSpPr/>
          <p:nvPr/>
        </p:nvSpPr>
        <p:spPr>
          <a:xfrm>
            <a:off x="9915525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-38.2%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0.051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모서리가 둥근 직사각형 72"/>
          <p:cNvSpPr/>
          <p:nvPr/>
        </p:nvSpPr>
        <p:spPr>
          <a:xfrm>
            <a:off x="10820400" y="3819525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-50.9%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 / 0.064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286500" y="4343400"/>
            <a:ext cx="8572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72009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-13.8%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0.018 / 0.021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6" name="모서리가 둥근 직사각형 75"/>
          <p:cNvSpPr/>
          <p:nvPr/>
        </p:nvSpPr>
        <p:spPr>
          <a:xfrm>
            <a:off x="810577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-49.5%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0.023 / 0.046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901065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E6E5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+9.1%</a:t>
            </a:r>
            <a:endParaRPr lang="en-US" altLang="ko-KR" sz="600" smtClean="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0.079 / 0.072</a:t>
            </a:r>
            <a:endParaRPr lang="ko-KR" altLang="en-US" sz="6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8" name="모서리가 둥근 직사각형 77"/>
          <p:cNvSpPr/>
          <p:nvPr/>
        </p:nvSpPr>
        <p:spPr>
          <a:xfrm>
            <a:off x="9915525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-2.6%</a:t>
            </a:r>
            <a:endParaRPr lang="en-US" altLang="ko-KR" sz="600" smtClean="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7C5A5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0.076 / 0.078</a:t>
            </a:r>
            <a:endParaRPr lang="ko-KR" altLang="en-US" sz="600">
              <a:solidFill>
                <a:srgbClr val="7C5A5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0820400" y="4229100"/>
            <a:ext cx="876300" cy="381000"/>
          </a:xfrm>
          <a:prstGeom prst="roundRect">
            <a:avLst>
              <a:gd name="adj" fmla="val 10000"/>
            </a:avLst>
          </a:prstGeom>
          <a:solidFill>
            <a:srgbClr val="D63B3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8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-32.8%</a:t>
            </a:r>
            <a:endParaRPr lang="en-US" altLang="ko-KR" sz="600" smtClean="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  <a:p>
            <a:pPr algn="ctr"/>
            <a:r>
              <a:rPr lang="en-US" altLang="ko-KR" sz="600" smtClean="0">
                <a:solidFill>
                  <a:srgbClr val="FFD6D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0.064 / 0.095</a:t>
            </a:r>
            <a:endParaRPr lang="ko-KR" altLang="en-US" sz="600">
              <a:solidFill>
                <a:srgbClr val="FFD6D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80" name="표 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851202"/>
              </p:ext>
            </p:extLst>
          </p:nvPr>
        </p:nvGraphicFramePr>
        <p:xfrm>
          <a:off x="6286500" y="4752975"/>
          <a:ext cx="5372100" cy="666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="" xmlns:a16="http://schemas.microsoft.com/office/drawing/2014/main" val="3719707102"/>
                    </a:ext>
                  </a:extLst>
                </a:gridCol>
                <a:gridCol w="2686050">
                  <a:extLst>
                    <a:ext uri="{9D8B030D-6E8A-4147-A177-3AD203B41FA5}">
                      <a16:colId xmlns="" xmlns:a16="http://schemas.microsoft.com/office/drawing/2014/main" val="3596477371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2033463551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4058196328"/>
                    </a:ext>
                  </a:extLst>
                </a:gridCol>
                <a:gridCol w="571500">
                  <a:extLst>
                    <a:ext uri="{9D8B030D-6E8A-4147-A177-3AD203B41FA5}">
                      <a16:colId xmlns="" xmlns:a16="http://schemas.microsoft.com/office/drawing/2014/main" val="1244361091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101075910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실적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분량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75589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제빵왕 김탁구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(17:09~22:34)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0.035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0.069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0.51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337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704546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제빵왕 김탁구 몰아보기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0.054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0.091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0.60</a:t>
                      </a:r>
                      <a:r>
                        <a:rPr lang="ko-KR" altLang="en-US" sz="788" b="0" i="0" smtClean="0">
                          <a:solidFill>
                            <a:srgbClr val="D63B3B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63B3B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78565654"/>
                  </a:ext>
                </a:extLst>
              </a:tr>
            </a:tbl>
          </a:graphicData>
        </a:graphic>
      </p:graphicFrame>
      <p:sp>
        <p:nvSpPr>
          <p:cNvPr id="81" name="TextBox 80"/>
          <p:cNvSpPr txBox="1"/>
          <p:nvPr/>
        </p:nvSpPr>
        <p:spPr>
          <a:xfrm>
            <a:off x="6286500" y="5553075"/>
            <a:ext cx="3810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제빵왕 김탁구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회차별 시청률 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(09/26 17:09~22:34, </a:t>
            </a:r>
            <a:r>
              <a:rPr lang="ko-KR" altLang="en-US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유료가구</a:t>
            </a:r>
            <a:r>
              <a:rPr lang="en-US" altLang="ko-KR" sz="825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825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모서리가 둥근 직사각형 81"/>
          <p:cNvSpPr/>
          <p:nvPr/>
        </p:nvSpPr>
        <p:spPr>
          <a:xfrm>
            <a:off x="6477000" y="5849216"/>
            <a:ext cx="571500" cy="618259"/>
          </a:xfrm>
          <a:prstGeom prst="roundRect">
            <a:avLst>
              <a:gd name="adj" fmla="val 5000"/>
            </a:avLst>
          </a:prstGeom>
          <a:solidFill>
            <a:srgbClr val="002D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/>
          <p:cNvSpPr txBox="1"/>
          <p:nvPr/>
        </p:nvSpPr>
        <p:spPr>
          <a:xfrm>
            <a:off x="6286500" y="5696816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0.051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2865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17:09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5" name="모서리가 둥근 직사각형 84"/>
          <p:cNvSpPr/>
          <p:nvPr/>
        </p:nvSpPr>
        <p:spPr>
          <a:xfrm>
            <a:off x="7543800" y="5885584"/>
            <a:ext cx="571500" cy="581891"/>
          </a:xfrm>
          <a:prstGeom prst="roundRect">
            <a:avLst>
              <a:gd name="adj" fmla="val 5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7353300" y="5733184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0.048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3533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18:29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8610600" y="6079548"/>
            <a:ext cx="571500" cy="387927"/>
          </a:xfrm>
          <a:prstGeom prst="roundRect">
            <a:avLst>
              <a:gd name="adj" fmla="val 736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8420100" y="5927148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0.032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4201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19:49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1" name="모서리가 둥근 직사각형 90"/>
          <p:cNvSpPr/>
          <p:nvPr/>
        </p:nvSpPr>
        <p:spPr>
          <a:xfrm>
            <a:off x="9677400" y="6140161"/>
            <a:ext cx="571500" cy="327314"/>
          </a:xfrm>
          <a:prstGeom prst="roundRect">
            <a:avLst>
              <a:gd name="adj" fmla="val 873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/>
          <p:cNvSpPr txBox="1"/>
          <p:nvPr/>
        </p:nvSpPr>
        <p:spPr>
          <a:xfrm>
            <a:off x="9486900" y="5987761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0.027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94869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21:11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10744200" y="6261389"/>
            <a:ext cx="571500" cy="206086"/>
          </a:xfrm>
          <a:prstGeom prst="roundRect">
            <a:avLst>
              <a:gd name="adj" fmla="val 1386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/>
          <p:cNvSpPr txBox="1"/>
          <p:nvPr/>
        </p:nvSpPr>
        <p:spPr>
          <a:xfrm>
            <a:off x="10553700" y="6108989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8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78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553700" y="6505575"/>
            <a:ext cx="9525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22:34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362700" y="6696075"/>
            <a:ext cx="5143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→ 마지막 편 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34% · 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동시간대 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D-ONE 〈</a:t>
            </a:r>
            <a:r>
              <a:rPr lang="ko-KR" altLang="en-US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나는 자연인이다</a:t>
            </a:r>
            <a:r>
              <a:rPr lang="en-US" altLang="ko-KR" sz="825" smtClean="0">
                <a:solidFill>
                  <a:srgbClr val="D63B3B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0.243 · K STAR 0.330</a:t>
            </a:r>
            <a:endParaRPr lang="ko-KR" altLang="en-US" sz="825">
              <a:solidFill>
                <a:srgbClr val="D63B3B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ONCE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5188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03 · CHANNEL DEEP DIVE</a:t>
            </a:r>
            <a:endParaRPr lang="ko-KR" altLang="en-US" sz="975" spc="6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1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skyUHD</a:t>
            </a:r>
            <a:r>
              <a:rPr lang="en-US" altLang="ko-KR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| 〈</a:t>
            </a:r>
            <a:r>
              <a:rPr lang="ko-KR" altLang="en-US" sz="21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우영우</a:t>
            </a:r>
            <a:r>
              <a:rPr lang="en-US" altLang="ko-KR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〉 </a:t>
            </a:r>
            <a:r>
              <a:rPr lang="ko-KR" altLang="en-US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첫날 낮 </a:t>
            </a:r>
            <a:r>
              <a:rPr lang="ko-KR" altLang="en-US" sz="21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몰아보기가</a:t>
            </a:r>
            <a:r>
              <a:rPr lang="ko-KR" altLang="en-US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</a:t>
            </a:r>
            <a:r>
              <a:rPr lang="en-US" altLang="ko-KR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9</a:t>
            </a:r>
            <a:r>
              <a:rPr lang="ko-KR" altLang="en-US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월 최고를 만들었고</a:t>
            </a:r>
            <a:r>
              <a:rPr lang="en-US" altLang="ko-KR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</a:t>
            </a:r>
            <a:r>
              <a:rPr lang="ko-KR" altLang="en-US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이튿날 </a:t>
            </a:r>
            <a:r>
              <a:rPr lang="ko-KR" altLang="en-US" sz="2150" spc="-40" dirty="0" err="1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이어보기는</a:t>
            </a:r>
            <a:r>
              <a:rPr lang="ko-KR" altLang="en-US" sz="2150" spc="-40" dirty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 </a:t>
            </a:r>
            <a:r>
              <a:rPr lang="ko-KR" altLang="en-US" sz="2150" spc="-40" dirty="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미약</a:t>
            </a:r>
            <a:endParaRPr lang="ko-KR" altLang="en-US" sz="2150" spc="-40" dirty="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 수기 집계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반영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단위는 시장 초과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(+155.1%)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이나 절대값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참고치로 읽고 프로그램 단위로 판정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주지표 유료가구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74747"/>
            <a:ext cx="997268" cy="269706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3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skyUHD</a:t>
            </a:r>
            <a:endParaRPr lang="ko-KR" altLang="en-US" sz="13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21145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2479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시청률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2479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0.004</a:t>
            </a:r>
            <a:endParaRPr lang="ko-KR" altLang="en-US" sz="15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0670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40386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1719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7195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+155.1%</a:t>
            </a:r>
            <a:endParaRPr lang="ko-KR" altLang="en-US" sz="150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9110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시장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+17.0%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9626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60960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닐슨 등위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0960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201→187</a:t>
            </a:r>
            <a:r>
              <a:rPr lang="ko-KR" altLang="en-US" sz="1500" spc="-6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위</a:t>
            </a:r>
            <a:endParaRPr lang="ko-KR" altLang="en-US" sz="1500" spc="-6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151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▲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788670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2005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Reach </a:t>
            </a:r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증감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2005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ko-KR" sz="1500" spc="-60" smtClean="0">
                <a:solidFill>
                  <a:srgbClr val="2C24C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+53.2%</a:t>
            </a:r>
            <a:endParaRPr lang="ko-KR" altLang="en-US" sz="1500" spc="-60">
              <a:solidFill>
                <a:srgbClr val="2C24C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3920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9810750" y="1428750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944100" y="1504950"/>
            <a:ext cx="161925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825" smtClean="0">
                <a:solidFill>
                  <a:srgbClr val="585866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판정</a:t>
            </a:r>
            <a:endParaRPr lang="ko-KR" altLang="en-US" sz="825">
              <a:solidFill>
                <a:srgbClr val="585866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944100" y="1676400"/>
            <a:ext cx="1333500" cy="28575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350" spc="-60" smtClean="0">
                <a:solidFill>
                  <a:srgbClr val="D98A1E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조건부 초과</a:t>
            </a:r>
            <a:endParaRPr lang="ko-KR" altLang="en-US" sz="1350" spc="-60">
              <a:solidFill>
                <a:srgbClr val="D98A1E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763250" y="1790700"/>
            <a:ext cx="8382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 유의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84675"/>
              </p:ext>
            </p:extLst>
          </p:nvPr>
        </p:nvGraphicFramePr>
        <p:xfrm>
          <a:off x="533400" y="2228850"/>
          <a:ext cx="5524500" cy="16960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5350">
                  <a:extLst>
                    <a:ext uri="{9D8B030D-6E8A-4147-A177-3AD203B41FA5}">
                      <a16:colId xmlns="" xmlns:a16="http://schemas.microsoft.com/office/drawing/2014/main" val="1226971985"/>
                    </a:ext>
                  </a:extLst>
                </a:gridCol>
                <a:gridCol w="685800">
                  <a:extLst>
                    <a:ext uri="{9D8B030D-6E8A-4147-A177-3AD203B41FA5}">
                      <a16:colId xmlns="" xmlns:a16="http://schemas.microsoft.com/office/drawing/2014/main" val="2961718422"/>
                    </a:ext>
                  </a:extLst>
                </a:gridCol>
                <a:gridCol w="533400">
                  <a:extLst>
                    <a:ext uri="{9D8B030D-6E8A-4147-A177-3AD203B41FA5}">
                      <a16:colId xmlns="" xmlns:a16="http://schemas.microsoft.com/office/drawing/2014/main" val="3372400639"/>
                    </a:ext>
                  </a:extLst>
                </a:gridCol>
                <a:gridCol w="552450">
                  <a:extLst>
                    <a:ext uri="{9D8B030D-6E8A-4147-A177-3AD203B41FA5}">
                      <a16:colId xmlns="" xmlns:a16="http://schemas.microsoft.com/office/drawing/2014/main" val="1556038134"/>
                    </a:ext>
                  </a:extLst>
                </a:gridCol>
                <a:gridCol w="495300">
                  <a:extLst>
                    <a:ext uri="{9D8B030D-6E8A-4147-A177-3AD203B41FA5}">
                      <a16:colId xmlns="" xmlns:a16="http://schemas.microsoft.com/office/drawing/2014/main" val="2856026230"/>
                    </a:ext>
                  </a:extLst>
                </a:gridCol>
                <a:gridCol w="590550">
                  <a:extLst>
                    <a:ext uri="{9D8B030D-6E8A-4147-A177-3AD203B41FA5}">
                      <a16:colId xmlns="" xmlns:a16="http://schemas.microsoft.com/office/drawing/2014/main" val="2762804584"/>
                    </a:ext>
                  </a:extLst>
                </a:gridCol>
                <a:gridCol w="1771650">
                  <a:extLst>
                    <a:ext uri="{9D8B030D-6E8A-4147-A177-3AD203B41FA5}">
                      <a16:colId xmlns="" xmlns:a16="http://schemas.microsoft.com/office/drawing/2014/main" val="2668666747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일자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일평균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배수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기준 등위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50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주력 편성</a:t>
                      </a:r>
                      <a:endParaRPr lang="ko-KR" altLang="en-US" sz="750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99318973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09/23(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전야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통상 편성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 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내 아이의 사생활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32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19:06 0.013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8119013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09/24(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목</a:t>
                      </a: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0.007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3.89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166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이상한 변호사 우영우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1~9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07:51~17:16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몰아보기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8909182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09/25(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금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0.002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3.16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203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209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이상한 변호사 우영우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9~16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07:53~17:28 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이어붙임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7615889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토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1.48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190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196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착한 여자 부세미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1~6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08:17~14:58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56489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09/27(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0.001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2.36</a:t>
                      </a:r>
                      <a:r>
                        <a:rPr lang="ko-KR" altLang="en-US" sz="788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배</a:t>
                      </a:r>
                      <a:endParaRPr lang="ko-KR" altLang="en-US" sz="788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190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착한 여자 부세미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7~12</a:t>
                      </a:r>
                      <a:r>
                        <a:rPr lang="ko-KR" altLang="en-US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788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08:29~14:59</a:t>
                      </a:r>
                      <a:endParaRPr lang="ko-KR" altLang="en-US" sz="788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1169491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33400" y="3905250"/>
            <a:ext cx="5524500" cy="266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=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직전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 같은 요일 채널 일평균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목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0.0025·0.0016·0.0016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금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0.0012·0.0001·0.0004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토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0.0003·0.0015·0.0057 /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0.0018·0.0009·0.0006).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원자료가 소수점 넷째 자리라 표기는 셋째 자리</a:t>
            </a:r>
            <a:r>
              <a:rPr lang="en-US" altLang="ko-KR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713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원값으로 산출</a:t>
            </a:r>
            <a:endParaRPr lang="ko-KR" altLang="en-US" sz="713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33400" y="4229100"/>
            <a:ext cx="5524500" cy="1009650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1" name="모서리가 둥근 직사각형 30"/>
          <p:cNvSpPr/>
          <p:nvPr/>
        </p:nvSpPr>
        <p:spPr>
          <a:xfrm>
            <a:off x="704850" y="44005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2" name="TextBox 31"/>
          <p:cNvSpPr txBox="1"/>
          <p:nvPr/>
        </p:nvSpPr>
        <p:spPr>
          <a:xfrm>
            <a:off x="819150" y="4371975"/>
            <a:ext cx="50673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핵심 판단</a:t>
            </a:r>
            <a:endParaRPr lang="ko-KR" altLang="en-US" sz="10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4850" y="4610100"/>
            <a:ext cx="5181600" cy="514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단위로는 시장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(+17.0%)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을 크게 넘겼고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최고 일평균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0.007·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최고 등위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166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다만 절대값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0.004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수준이라 등위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배수는 참고치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프로그램 단위에서 재현 가치가 확인된 카드는 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이상한 변호사 우영우</a:t>
            </a:r>
            <a:r>
              <a:rPr lang="en-US" altLang="ko-KR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</a:t>
            </a:r>
            <a:r>
              <a:rPr lang="ko-KR" altLang="en-US" sz="900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첫날 낮 몰아보기 하나</a:t>
            </a:r>
            <a:endParaRPr lang="ko-KR" altLang="en-US" sz="900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533400" y="5334000"/>
            <a:ext cx="5524500" cy="952500"/>
          </a:xfrm>
          <a:prstGeom prst="roundRect">
            <a:avLst>
              <a:gd name="adj" fmla="val 12000"/>
            </a:avLst>
          </a:prstGeom>
          <a:solidFill>
            <a:srgbClr val="FBE8E9"/>
          </a:solidFill>
          <a:ln w="9525">
            <a:solidFill>
              <a:srgbClr val="D520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5" name="모서리가 둥근 직사각형 34"/>
          <p:cNvSpPr/>
          <p:nvPr/>
        </p:nvSpPr>
        <p:spPr>
          <a:xfrm>
            <a:off x="704850" y="55054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36" name="TextBox 35"/>
          <p:cNvSpPr txBox="1"/>
          <p:nvPr/>
        </p:nvSpPr>
        <p:spPr>
          <a:xfrm>
            <a:off x="819150" y="5476875"/>
            <a:ext cx="4953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다음 명절 액션</a:t>
            </a:r>
            <a:endParaRPr lang="ko-KR" altLang="en-US" sz="10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4850" y="5695950"/>
            <a:ext cx="5200650" cy="552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몰아보기는 ‘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 완결형’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~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6~8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설계하고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일차는 다른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교체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주말 오전 드라마 블록은 유지하되 간판 재방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과 시간대를 나눔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절대값이 작은 채널이므로 시청률 배수 대신 </a:t>
            </a:r>
            <a:r>
              <a:rPr lang="en-US" altLang="ko-KR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Reach·</a:t>
            </a:r>
            <a:r>
              <a:rPr lang="ko-KR" altLang="en-US" sz="9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등위를 병행해 판정</a:t>
            </a:r>
            <a:endParaRPr lang="ko-KR" altLang="en-US" sz="9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6500" y="222885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이상한 변호사 우영우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몰아보기 회차별 시청률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09/24(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목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1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일차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09/25(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금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2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일차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286500" y="3600450"/>
            <a:ext cx="2571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09/24 1~9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미편성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62865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/>
          <p:cNvSpPr txBox="1"/>
          <p:nvPr/>
        </p:nvSpPr>
        <p:spPr>
          <a:xfrm>
            <a:off x="61912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03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66008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65055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46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915150" y="3333750"/>
            <a:ext cx="247650" cy="76200"/>
          </a:xfrm>
          <a:prstGeom prst="roundRect">
            <a:avLst>
              <a:gd name="adj" fmla="val 25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6819900" y="3200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8389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7229475" y="3333750"/>
            <a:ext cx="247650" cy="76200"/>
          </a:xfrm>
          <a:prstGeom prst="roundRect">
            <a:avLst>
              <a:gd name="adj" fmla="val 25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7134225" y="3200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532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75438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74485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4676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7858125" y="2771775"/>
            <a:ext cx="247650" cy="638175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7762875" y="263842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0.031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819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모서리가 둥근 직사각형 57"/>
          <p:cNvSpPr/>
          <p:nvPr/>
        </p:nvSpPr>
        <p:spPr>
          <a:xfrm>
            <a:off x="8172450" y="2600325"/>
            <a:ext cx="247650" cy="809625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/>
          <p:cNvSpPr txBox="1"/>
          <p:nvPr/>
        </p:nvSpPr>
        <p:spPr>
          <a:xfrm>
            <a:off x="8077200" y="24669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0962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1" name="모서리가 둥근 직사각형 60"/>
          <p:cNvSpPr/>
          <p:nvPr/>
        </p:nvSpPr>
        <p:spPr>
          <a:xfrm>
            <a:off x="8486775" y="2590800"/>
            <a:ext cx="247650" cy="819150"/>
          </a:xfrm>
          <a:prstGeom prst="roundRect">
            <a:avLst>
              <a:gd name="adj" fmla="val 7692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8391525" y="24574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0.040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4105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029700" y="3600450"/>
            <a:ext cx="2571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09/25 9~16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5" name="모서리가 둥근 직사각형 64"/>
          <p:cNvSpPr/>
          <p:nvPr/>
        </p:nvSpPr>
        <p:spPr>
          <a:xfrm>
            <a:off x="90297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89344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0.000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9535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93440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/>
          <p:cNvSpPr txBox="1"/>
          <p:nvPr/>
        </p:nvSpPr>
        <p:spPr>
          <a:xfrm>
            <a:off x="92487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2678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965835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956310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95821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997267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987742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8964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7" name="모서리가 둥근 직사각형 76"/>
          <p:cNvSpPr/>
          <p:nvPr/>
        </p:nvSpPr>
        <p:spPr>
          <a:xfrm>
            <a:off x="10287000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10191750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21080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060132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1050607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52512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3" name="모서리가 둥근 직사각형 82"/>
          <p:cNvSpPr/>
          <p:nvPr/>
        </p:nvSpPr>
        <p:spPr>
          <a:xfrm>
            <a:off x="10915650" y="3133725"/>
            <a:ext cx="247650" cy="276225"/>
          </a:xfrm>
          <a:prstGeom prst="roundRect">
            <a:avLst>
              <a:gd name="adj" fmla="val 7692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10820400" y="30003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0839450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모서리가 둥근 직사각형 85"/>
          <p:cNvSpPr/>
          <p:nvPr/>
        </p:nvSpPr>
        <p:spPr>
          <a:xfrm>
            <a:off x="11229975" y="3390900"/>
            <a:ext cx="2476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TextBox 86"/>
          <p:cNvSpPr txBox="1"/>
          <p:nvPr/>
        </p:nvSpPr>
        <p:spPr>
          <a:xfrm>
            <a:off x="11134725" y="32575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11153775" y="343852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89" name="직선 연결선 88"/>
          <p:cNvCxnSpPr/>
          <p:nvPr/>
        </p:nvCxnSpPr>
        <p:spPr>
          <a:xfrm>
            <a:off x="6286500" y="3409950"/>
            <a:ext cx="5334000" cy="0"/>
          </a:xfrm>
          <a:prstGeom prst="line">
            <a:avLst/>
          </a:prstGeom>
          <a:ln w="952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6286500" y="3771900"/>
            <a:ext cx="533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〈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착한 여자 부세미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 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주말 오전 블록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09/26(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토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1~6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vs 09/27(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</a:t>
            </a:r>
            <a:r>
              <a:rPr lang="en-US" altLang="ko-KR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 7~12</a:t>
            </a:r>
            <a:r>
              <a:rPr lang="ko-KR" altLang="en-US" sz="900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</a:t>
            </a:r>
            <a:endParaRPr lang="ko-KR" altLang="en-US" sz="900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6286500" y="4876800"/>
            <a:ext cx="2667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09/26 1~6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일평균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 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0.003)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2865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62103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62293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67056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95"/>
          <p:cNvSpPr txBox="1"/>
          <p:nvPr/>
        </p:nvSpPr>
        <p:spPr>
          <a:xfrm>
            <a:off x="66294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6484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7124700" y="4552950"/>
            <a:ext cx="285750" cy="133350"/>
          </a:xfrm>
          <a:prstGeom prst="roundRect">
            <a:avLst>
              <a:gd name="adj" fmla="val 14286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7048500" y="44196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0.004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0675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모서리가 둥근 직사각형 100"/>
          <p:cNvSpPr/>
          <p:nvPr/>
        </p:nvSpPr>
        <p:spPr>
          <a:xfrm>
            <a:off x="7543800" y="4391025"/>
            <a:ext cx="285750" cy="295275"/>
          </a:xfrm>
          <a:prstGeom prst="roundRect">
            <a:avLst>
              <a:gd name="adj" fmla="val 6667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/>
          <p:cNvSpPr txBox="1"/>
          <p:nvPr/>
        </p:nvSpPr>
        <p:spPr>
          <a:xfrm>
            <a:off x="7467600" y="42576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0.009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4866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7962900" y="4524375"/>
            <a:ext cx="285750" cy="161925"/>
          </a:xfrm>
          <a:prstGeom prst="roundRect">
            <a:avLst>
              <a:gd name="adj" fmla="val 11765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" name="TextBox 104"/>
          <p:cNvSpPr txBox="1"/>
          <p:nvPr/>
        </p:nvSpPr>
        <p:spPr>
          <a:xfrm>
            <a:off x="7886700" y="439102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0.005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79057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7" name="모서리가 둥근 직사각형 106"/>
          <p:cNvSpPr/>
          <p:nvPr/>
        </p:nvSpPr>
        <p:spPr>
          <a:xfrm>
            <a:off x="83820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A6A6B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TextBox 107"/>
          <p:cNvSpPr txBox="1"/>
          <p:nvPr/>
        </p:nvSpPr>
        <p:spPr>
          <a:xfrm>
            <a:off x="83058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83248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029700" y="4876800"/>
            <a:ext cx="2667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09/27 7~12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회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일평균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0.003 (</a:t>
            </a:r>
            <a:r>
              <a:rPr lang="ko-KR" altLang="en-US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기준 </a:t>
            </a:r>
            <a:r>
              <a:rPr lang="en-US" altLang="ko-KR" sz="788" smtClean="0">
                <a:solidFill>
                  <a:srgbClr val="3D3D49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0.001)</a:t>
            </a:r>
            <a:endParaRPr lang="ko-KR" altLang="en-US" sz="788">
              <a:solidFill>
                <a:srgbClr val="3D3D49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9029700" y="4667250"/>
            <a:ext cx="285750" cy="190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8953500" y="45339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9725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4" name="모서리가 둥근 직사각형 113"/>
          <p:cNvSpPr/>
          <p:nvPr/>
        </p:nvSpPr>
        <p:spPr>
          <a:xfrm>
            <a:off x="9448800" y="4648200"/>
            <a:ext cx="285750" cy="3810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TextBox 114"/>
          <p:cNvSpPr txBox="1"/>
          <p:nvPr/>
        </p:nvSpPr>
        <p:spPr>
          <a:xfrm>
            <a:off x="9372600" y="45148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0.001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93916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8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9867900" y="4095750"/>
            <a:ext cx="285750" cy="590550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117"/>
          <p:cNvSpPr txBox="1"/>
          <p:nvPr/>
        </p:nvSpPr>
        <p:spPr>
          <a:xfrm>
            <a:off x="9791700" y="396240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8107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0" name="모서리가 둥근 직사각형 119"/>
          <p:cNvSpPr/>
          <p:nvPr/>
        </p:nvSpPr>
        <p:spPr>
          <a:xfrm>
            <a:off x="10287000" y="4114800"/>
            <a:ext cx="285750" cy="571500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TextBox 120"/>
          <p:cNvSpPr txBox="1"/>
          <p:nvPr/>
        </p:nvSpPr>
        <p:spPr>
          <a:xfrm>
            <a:off x="10210800" y="3981450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0.017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02298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10706100" y="4619625"/>
            <a:ext cx="285750" cy="66675"/>
          </a:xfrm>
          <a:prstGeom prst="roundRect">
            <a:avLst>
              <a:gd name="adj" fmla="val 28571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4" name="TextBox 123"/>
          <p:cNvSpPr txBox="1"/>
          <p:nvPr/>
        </p:nvSpPr>
        <p:spPr>
          <a:xfrm>
            <a:off x="10629900" y="44862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0.002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106489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11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26" name="모서리가 둥근 직사각형 125"/>
          <p:cNvSpPr/>
          <p:nvPr/>
        </p:nvSpPr>
        <p:spPr>
          <a:xfrm>
            <a:off x="11125200" y="4162425"/>
            <a:ext cx="285750" cy="523875"/>
          </a:xfrm>
          <a:prstGeom prst="roundRect">
            <a:avLst>
              <a:gd name="adj" fmla="val 6667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/>
          <p:cNvSpPr txBox="1"/>
          <p:nvPr/>
        </p:nvSpPr>
        <p:spPr>
          <a:xfrm>
            <a:off x="11049000" y="4029075"/>
            <a:ext cx="4381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0.015</a:t>
            </a:r>
            <a:endParaRPr lang="ko-KR" altLang="en-US" sz="638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1068050" y="4714875"/>
            <a:ext cx="400050" cy="114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12</a:t>
            </a:r>
            <a:r>
              <a:rPr lang="ko-KR" altLang="en-US" sz="638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</a:t>
            </a:r>
            <a:endParaRPr lang="ko-KR" altLang="en-US" sz="638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cxnSp>
        <p:nvCxnSpPr>
          <p:cNvPr id="129" name="직선 연결선 128"/>
          <p:cNvCxnSpPr/>
          <p:nvPr/>
        </p:nvCxnSpPr>
        <p:spPr>
          <a:xfrm>
            <a:off x="6286500" y="4686300"/>
            <a:ext cx="5334000" cy="0"/>
          </a:xfrm>
          <a:prstGeom prst="line">
            <a:avLst/>
          </a:prstGeom>
          <a:ln w="9525">
            <a:solidFill>
              <a:srgbClr val="CFCFD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/>
          <p:cNvSpPr/>
          <p:nvPr/>
        </p:nvSpPr>
        <p:spPr>
          <a:xfrm>
            <a:off x="6286500" y="5067300"/>
            <a:ext cx="5372100" cy="12192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모서리가 둥근 직사각형 130"/>
          <p:cNvSpPr/>
          <p:nvPr/>
        </p:nvSpPr>
        <p:spPr>
          <a:xfrm>
            <a:off x="6457950" y="5238750"/>
            <a:ext cx="38100" cy="133350"/>
          </a:xfrm>
          <a:prstGeom prst="roundRect">
            <a:avLst>
              <a:gd name="adj" fmla="val 50000"/>
            </a:avLst>
          </a:prstGeom>
          <a:solidFill>
            <a:srgbClr val="D5202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TextBox 131"/>
          <p:cNvSpPr txBox="1"/>
          <p:nvPr/>
        </p:nvSpPr>
        <p:spPr>
          <a:xfrm>
            <a:off x="6572250" y="5210175"/>
            <a:ext cx="49149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00" smtClean="0">
                <a:solidFill>
                  <a:srgbClr val="D52027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편성 해석</a:t>
            </a:r>
            <a:endParaRPr lang="ko-KR" altLang="en-US" sz="900">
              <a:solidFill>
                <a:srgbClr val="D52027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457950" y="5448300"/>
            <a:ext cx="5029200" cy="723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2000"/>
              </a:lnSpc>
            </a:pP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우영우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에서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7~9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0.031~0.040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으로 회차마다 축적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월 프로그램 최고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9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0.046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 근접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요일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기준 약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의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30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안팎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).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이튿날 이어붙인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10~16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15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0.014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외 미측정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축적은 하루 안에 완성되고 다음 날로 넘기면 소멸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부세미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(09/27) 9~12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0.015~0.017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일차보다 높았고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09/26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에는 간판 재방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내 아이의 사생활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〉 15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회 </a:t>
            </a:r>
            <a:r>
              <a:rPr lang="en-US" altLang="ko-KR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0.021</a:t>
            </a:r>
            <a:r>
              <a:rPr lang="ko-KR" altLang="en-US" sz="825" smtClean="0">
                <a:solidFill>
                  <a:srgbClr val="26262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특집보다 높았음</a:t>
            </a:r>
            <a:endParaRPr lang="ko-KR" altLang="en-US" sz="825">
              <a:solidFill>
                <a:srgbClr val="26262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26 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시청률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(0927)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수기 집계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유료방송가입가구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‘—’ =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측정치 없음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(0.0000)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일평균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등위는 닐슨 일간 집계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24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2460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04 · CONFIRMED PATTERNS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연휴에서 확인된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13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패턴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— 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확인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, 1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개 단일 관찰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각 패턴의 근거는 당사</a:t>
            </a:r>
            <a:r>
              <a:rPr lang="en-US" altLang="ko-KR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경쟁사 닐슨 실측</a:t>
            </a:r>
            <a:r>
              <a:rPr lang="en-US" altLang="ko-KR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다음 명절 편성안</a:t>
            </a:r>
            <a:r>
              <a:rPr lang="en-US" altLang="ko-KR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10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수급안의 체크리스트로 전환</a:t>
            </a:r>
            <a:endParaRPr lang="ko-KR" altLang="en-US" sz="110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0423717"/>
              </p:ext>
            </p:extLst>
          </p:nvPr>
        </p:nvGraphicFramePr>
        <p:xfrm>
          <a:off x="533400" y="1428750"/>
          <a:ext cx="11125200" cy="4667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8150">
                  <a:extLst>
                    <a:ext uri="{9D8B030D-6E8A-4147-A177-3AD203B41FA5}">
                      <a16:colId xmlns="" xmlns:a16="http://schemas.microsoft.com/office/drawing/2014/main" val="3838168062"/>
                    </a:ext>
                  </a:extLst>
                </a:gridCol>
                <a:gridCol w="3429000">
                  <a:extLst>
                    <a:ext uri="{9D8B030D-6E8A-4147-A177-3AD203B41FA5}">
                      <a16:colId xmlns="" xmlns:a16="http://schemas.microsoft.com/office/drawing/2014/main" val="1452516616"/>
                    </a:ext>
                  </a:extLst>
                </a:gridCol>
                <a:gridCol w="6286500">
                  <a:extLst>
                    <a:ext uri="{9D8B030D-6E8A-4147-A177-3AD203B41FA5}">
                      <a16:colId xmlns="" xmlns:a16="http://schemas.microsoft.com/office/drawing/2014/main" val="3422095511"/>
                    </a:ext>
                  </a:extLst>
                </a:gridCol>
                <a:gridCol w="971550">
                  <a:extLst>
                    <a:ext uri="{9D8B030D-6E8A-4147-A177-3AD203B41FA5}">
                      <a16:colId xmlns="" xmlns:a16="http://schemas.microsoft.com/office/drawing/2014/main" val="4264254276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#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패턴</a:t>
                      </a:r>
                      <a:endParaRPr lang="ko-KR" altLang="en-US" sz="825" b="0" i="0" dirty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근거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dirty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확실성</a:t>
                      </a:r>
                      <a:endParaRPr lang="ko-KR" altLang="en-US" sz="825" b="0" i="0" dirty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9737527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낮이 기회</a:t>
                      </a:r>
                      <a:r>
                        <a:rPr lang="en-US" altLang="ko-KR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, </a:t>
                      </a: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연휴 밤이 위험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 채널 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개가 오전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오후 상승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하락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(ENA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+42.3%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프라임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+26.2%)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712266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2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검증 예능 </a:t>
                      </a: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IP × 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낮 시간대가 최고 효율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8.53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2.94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기안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84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에디션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6.98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1593367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3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같은 콘텐츠도 자리를 바꾸면 결과가 뒤집힘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심야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1.18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8.53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저녁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dirty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 dirty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78486129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4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특선영화 성과는 작품 속성보다 채널</a:t>
                      </a: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슬롯이 설명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log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변동의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98.0%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가 채널 간 발생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(R² 0.954).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동일 작품 슬롯만 바꿔도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0.95~1.92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이동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568457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4-1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누적 관객이 많은 구작이 유리하다는 증거 없음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누적 관객 대 체급 대비 배수 순위상관 −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0.52. 544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검은 사제들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0.12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최하위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154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도굴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1.95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8515888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5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명절 최강 장르는 특선영화</a:t>
                      </a: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, 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최약은 교양</a:t>
                      </a:r>
                      <a:r>
                        <a:rPr lang="en-US" altLang="ko-KR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·</a:t>
                      </a: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다큐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특집 기준 특선영화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교양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다큐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66537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6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상황 맞춤 기획이 범용 간판보다 강함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Story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귀성길 안전 특집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2.27~3.14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71070907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7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연속 편성은 최근작이면 쌓이고 구작이면 샘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136%·120%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ONCE 34%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554718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8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시간대에는 가구 채널이 </a:t>
                      </a:r>
                      <a:r>
                        <a:rPr lang="en-US" altLang="ko-KR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2049 </a:t>
                      </a: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채널보다 잘 버팀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09/26 18:30~21:30 OLIFE 0.176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 0.001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3590921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9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채널 성적이 좋다고 특집이 통한 것은 아님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최고이나 특집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유지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8028322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10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중계가 없던 시간대에서도 당사는 빠짐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없던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36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 시장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당사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2049 3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-17.3%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2886028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11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한 방이 있는 채널이 등위를 </a:t>
                      </a:r>
                      <a:r>
                        <a:rPr lang="ko-KR" altLang="en-US" sz="1050" b="0" i="0" dirty="0" err="1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가져감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성공률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인데 등위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2→1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tvN 5/5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인데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3→4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302546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12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 편성의 성패는 그 자리의 직전 실적이 가름</a:t>
                      </a:r>
                      <a:endParaRPr lang="ko-KR" altLang="en-US" sz="105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같은 채널 이틀 차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4.98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대 검증 본방 자리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0.25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확인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1476949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C24CE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13</a:t>
                      </a:r>
                      <a:endParaRPr lang="ko-KR" altLang="en-US" sz="863" b="0" i="0">
                        <a:solidFill>
                          <a:srgbClr val="2C24CE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050" b="0" i="0" dirty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신규가 리드인 없이도 스스로 모을 수 있음</a:t>
                      </a:r>
                      <a:endParaRPr lang="ko-KR" altLang="en-US" sz="1050" b="0" i="0" dirty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리드인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0.128 →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본방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0.392(3.07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), 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연속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0.397</a:t>
                      </a:r>
                      <a:r>
                        <a:rPr lang="ko-KR" altLang="en-US" sz="863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추가 상승</a:t>
                      </a:r>
                      <a:endParaRPr lang="ko-KR" altLang="en-US" sz="863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63" b="0" i="0" dirty="0" smtClean="0">
                          <a:solidFill>
                            <a:srgbClr val="D98A1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단일 관찰</a:t>
                      </a:r>
                      <a:endParaRPr lang="ko-KR" altLang="en-US" sz="863" b="0" i="0" dirty="0">
                        <a:solidFill>
                          <a:srgbClr val="D98A1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4931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25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945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편성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Matrix: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콘텐츠보다 먼저 ‘자리의 역할’을 정한다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IP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성격 권장도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◎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 배치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○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△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작품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상황 확인 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/ ✕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지양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8125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검증 대중 예능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3382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최근작 드라마 연속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특선영화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3897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교양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다큐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1550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신작</a:t>
            </a:r>
            <a:r>
              <a:rPr lang="en-US" altLang="ko-KR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</a:t>
            </a:r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파일럿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44125" y="142875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90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 장편</a:t>
            </a:r>
            <a:endParaRPr lang="ko-KR" altLang="en-US" sz="90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3400" y="18669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전야 프라임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238125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393382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548640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703897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8591550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10144125" y="1676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09~13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238125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93382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48640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703897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8591550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6" name="모서리가 둥근 직사각형 25"/>
          <p:cNvSpPr/>
          <p:nvPr/>
        </p:nvSpPr>
        <p:spPr>
          <a:xfrm>
            <a:off x="10144125" y="22860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33400" y="30861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오후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14~18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38125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393382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0" name="모서리가 둥근 직사각형 29"/>
          <p:cNvSpPr/>
          <p:nvPr/>
        </p:nvSpPr>
        <p:spPr>
          <a:xfrm>
            <a:off x="548640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703897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8591550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0144125" y="28956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3400" y="36957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 프라임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있음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238125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393382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548640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703897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0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 방어</a:t>
            </a:r>
            <a:endParaRPr lang="ko-KR" altLang="en-US" sz="10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8591550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10144125" y="35052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33400" y="43053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저녁 프라임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중계 없음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238125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93382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548640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◎</a:t>
            </a:r>
            <a:endParaRPr lang="ko-KR" altLang="en-US" sz="165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03897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8591550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10144125" y="41148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33400" y="4914900"/>
            <a:ext cx="180975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 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23~25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238125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393382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CDCB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○</a:t>
            </a:r>
            <a:endParaRPr lang="ko-KR" altLang="en-US" sz="165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1" name="모서리가 둥근 직사각형 50"/>
          <p:cNvSpPr/>
          <p:nvPr/>
        </p:nvSpPr>
        <p:spPr>
          <a:xfrm>
            <a:off x="548640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EEEE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585866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△</a:t>
            </a:r>
            <a:endParaRPr lang="ko-KR" altLang="en-US" sz="1650">
              <a:solidFill>
                <a:srgbClr val="585866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2" name="모서리가 둥근 직사각형 51"/>
          <p:cNvSpPr/>
          <p:nvPr/>
        </p:nvSpPr>
        <p:spPr>
          <a:xfrm>
            <a:off x="703897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8591550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4" name="모서리가 둥근 직사각형 53"/>
          <p:cNvSpPr/>
          <p:nvPr/>
        </p:nvSpPr>
        <p:spPr>
          <a:xfrm>
            <a:off x="10144125" y="4724400"/>
            <a:ext cx="1524000" cy="571500"/>
          </a:xfrm>
          <a:prstGeom prst="roundRect">
            <a:avLst>
              <a:gd name="adj" fmla="val 13333"/>
            </a:avLst>
          </a:prstGeom>
          <a:solidFill>
            <a:srgbClr val="FDE3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1650" smtClean="0">
                <a:solidFill>
                  <a:srgbClr val="D63B3B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✕</a:t>
            </a:r>
            <a:endParaRPr lang="ko-KR" altLang="en-US" sz="1650">
              <a:solidFill>
                <a:srgbClr val="D63B3B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533400" y="5429250"/>
            <a:ext cx="11125200" cy="628650"/>
          </a:xfrm>
          <a:prstGeom prst="roundRect">
            <a:avLst>
              <a:gd name="adj" fmla="val 15152"/>
            </a:avLst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56" name="TextBox 55"/>
          <p:cNvSpPr txBox="1"/>
          <p:nvPr/>
        </p:nvSpPr>
        <p:spPr>
          <a:xfrm>
            <a:off x="723900" y="5505450"/>
            <a:ext cx="10744200" cy="47625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원칙  </a:t>
            </a:r>
            <a:r>
              <a:rPr lang="en-US" altLang="ko-KR" sz="1050" dirty="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낮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오전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은 검증 예능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특선영화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최근작 연속의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순위 자리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50" dirty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          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저녁은 중계 유무로 갈라 중계가 있으면 교양 방어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없으면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TV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최초 공개 영화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IP.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신작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파일럿은 연휴 전야 프라임에서 시험</a:t>
            </a:r>
            <a:r>
              <a:rPr lang="en-US" altLang="ko-KR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dirty="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구작 장편은 전 시간대 지양</a:t>
            </a:r>
            <a:endParaRPr lang="ko-KR" altLang="en-US" sz="1050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26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58683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수급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살 콘텐츠’의 기준을 바꿔야 한다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 품질 평가가 아니라 당사 채널 편성 적합성 기준의 전략적 분류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우선순위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A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적극 확보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B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선별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조건부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/ C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우선순위 하향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383918"/>
              </p:ext>
            </p:extLst>
          </p:nvPr>
        </p:nvGraphicFramePr>
        <p:xfrm>
          <a:off x="533400" y="1428750"/>
          <a:ext cx="11125200" cy="3619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3400">
                  <a:extLst>
                    <a:ext uri="{9D8B030D-6E8A-4147-A177-3AD203B41FA5}">
                      <a16:colId xmlns="" xmlns:a16="http://schemas.microsoft.com/office/drawing/2014/main" val="2664288713"/>
                    </a:ext>
                  </a:extLst>
                </a:gridCol>
                <a:gridCol w="1809750">
                  <a:extLst>
                    <a:ext uri="{9D8B030D-6E8A-4147-A177-3AD203B41FA5}">
                      <a16:colId xmlns="" xmlns:a16="http://schemas.microsoft.com/office/drawing/2014/main" val="1951998721"/>
                    </a:ext>
                  </a:extLst>
                </a:gridCol>
                <a:gridCol w="1619250">
                  <a:extLst>
                    <a:ext uri="{9D8B030D-6E8A-4147-A177-3AD203B41FA5}">
                      <a16:colId xmlns="" xmlns:a16="http://schemas.microsoft.com/office/drawing/2014/main" val="1323157089"/>
                    </a:ext>
                  </a:extLst>
                </a:gridCol>
                <a:gridCol w="1428750">
                  <a:extLst>
                    <a:ext uri="{9D8B030D-6E8A-4147-A177-3AD203B41FA5}">
                      <a16:colId xmlns="" xmlns:a16="http://schemas.microsoft.com/office/drawing/2014/main" val="4129520792"/>
                    </a:ext>
                  </a:extLst>
                </a:gridCol>
                <a:gridCol w="5734050">
                  <a:extLst>
                    <a:ext uri="{9D8B030D-6E8A-4147-A177-3AD203B41FA5}">
                      <a16:colId xmlns="" xmlns:a16="http://schemas.microsoft.com/office/drawing/2014/main" val="48651450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우선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콘텐츠 유형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권장 자리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적합 채널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이번 근거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3767513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FFFFFF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A</a:t>
                      </a:r>
                      <a:endParaRPr lang="ko-KR" altLang="en-US" sz="1050" b="0" i="0">
                        <a:solidFill>
                          <a:srgbClr val="FFFFFF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2C24C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검증 예능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IP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블록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/ ENA Play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시간대 배수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20.83~8.53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〉) ·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2.94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344673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FFFFFF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A</a:t>
                      </a:r>
                      <a:endParaRPr lang="ko-KR" altLang="en-US" sz="1050" b="0" i="0">
                        <a:solidFill>
                          <a:srgbClr val="FFFFFF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2C24CE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명절 상황 맞춤 기획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귀성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귀경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안전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09/24·25 2.27~3.14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블록당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분 편성에도 희석 없음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340364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TV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최초 공개 특선영화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 또는 중계 없는 저녁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/ ENA Play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최초 공개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0.508~3.499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구작 재방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0.003~0.220 ·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경쟁사 특선영화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1.93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2685797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최근작 드라마 몰아보기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저녁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~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심야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블록 잔류는 축적형이나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KPI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0.23~1.04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적합도 전제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2674449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14141A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B</a:t>
                      </a:r>
                      <a:endParaRPr lang="ko-KR" altLang="en-US" sz="1050" b="0" i="0">
                        <a:solidFill>
                          <a:srgbClr val="14141A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CDCBF6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오리지널 신규 파일럿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전야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4.98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자리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vs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0.25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프라임 검증 본방 자리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488135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구작 대작 영화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검은 사제들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544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0.003,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아이 캔 스피크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약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328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0.006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흥행 규모가 성적을 보장하지 않음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0420854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특집 없이 신규 회차로 대체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배로 같은 프로그램 그 외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배보다 낮음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077410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050" b="0" i="0" smtClean="0">
                          <a:solidFill>
                            <a:srgbClr val="3D3D49"/>
                          </a:solidFill>
                          <a:latin typeface="KT Flow Black" pitchFamily="2" charset="-127"/>
                          <a:ea typeface="KT Flow Black" pitchFamily="2" charset="-127"/>
                          <a:sym typeface="KT Flow Black" pitchFamily="2" charset="-127"/>
                        </a:rPr>
                        <a:t>C</a:t>
                      </a:r>
                      <a:endParaRPr lang="ko-KR" altLang="en-US" sz="1050" b="0" i="0">
                        <a:solidFill>
                          <a:srgbClr val="3D3D49"/>
                        </a:solidFill>
                        <a:latin typeface="KT Flow Black" pitchFamily="2" charset="-127"/>
                        <a:ea typeface="KT Flow Black" pitchFamily="2" charset="-127"/>
                        <a:sym typeface="KT Flow Black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E2E2E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구작 장편 몰아보기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통과 금지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ONCE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0795685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>
          <a:xfrm>
            <a:off x="533400" y="5295900"/>
            <a:ext cx="111252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/>
          </a:p>
        </p:txBody>
      </p:sp>
      <p:sp>
        <p:nvSpPr>
          <p:cNvPr id="9" name="TextBox 8"/>
          <p:cNvSpPr txBox="1"/>
          <p:nvPr/>
        </p:nvSpPr>
        <p:spPr>
          <a:xfrm>
            <a:off x="723900" y="5372100"/>
            <a:ext cx="107442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구매 판단의 핵심  </a:t>
            </a:r>
            <a:r>
              <a:rPr lang="en-US" altLang="ko-KR" sz="100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| 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누적 관객수 하나로 고르지 말고 ‘우리 채널 체급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슬롯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최신성 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×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명절 적합성’을 함께 검토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수급안은 ‘작품 리스트’가 아니라 예상 채널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</a:t>
            </a:r>
            <a:r>
              <a:rPr lang="en-US" altLang="ko-KR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00" smtClean="0">
                <a:solidFill>
                  <a:srgbClr val="14141A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이벤트까지 포함한 ‘슬롯 포함 리스트’로 작성</a:t>
            </a:r>
            <a:endParaRPr lang="ko-KR" altLang="en-US" sz="100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27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79955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05 · NEXT HOLIDAY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다음 명절 편성회의에서는 이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5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가지만 먼저 확인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결론을 실행 항목으로 바꾸면 수급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의사결정 속도가 빨라짐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모서리가 둥근 직사각형 6"/>
          <p:cNvSpPr/>
          <p:nvPr/>
        </p:nvSpPr>
        <p:spPr>
          <a:xfrm>
            <a:off x="533400" y="14287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685800" y="15811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01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57300" y="15430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낮을 기회 시간대로 설계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57300" y="17907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6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 중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5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개가 오전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오후 플러스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IP·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영화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연속 편성의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순위 자리를 낮으로 옮김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33400" y="224790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85800" y="24003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02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57300" y="236220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대형 중계 저녁은 선택 회피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57300" y="260985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연휴 전체가 아니라 대형 이벤트가 겹친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2~3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시간만 비켜감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09/26 18:30~21:30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채널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0.001~0.115.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국제대회 일정은 수개월 전 공개되므로 편성 확정 전 대조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533400" y="30670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685800" y="32194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03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7300" y="31813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연휴 전야를 별도 자산으로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257300" y="34290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연휴 최고 실적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1.513(〈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나는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SOLO〉)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전야 프라임에서 나옴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프라임 점유율도 전야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10.1%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최고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론칭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파일럿을 전야에서 시험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33400" y="388620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685800" y="403860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04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57300" y="400050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강한 리드인 뒤에 신규를 놓지 않음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자리의 직전 실적을 먼저 봄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57300" y="424815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09/25 ENA 20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0.311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이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21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시대 신규 첫방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0.038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이어지지 못함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기준을 밑돌던 자리는 신규 후보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검증 본방 자리는 연휴에 건드리지 않음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533400" y="4705350"/>
            <a:ext cx="1112520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E2E2EA"/>
            </a:solidFill>
          </a:ln>
          <a:effectLst>
            <a:outerShdw blurRad="76200" dist="19050" dir="5400000" rotWithShape="0">
              <a:srgbClr val="14141A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85800" y="4857750"/>
            <a:ext cx="419100" cy="419100"/>
          </a:xfrm>
          <a:prstGeom prst="roundRect">
            <a:avLst>
              <a:gd name="adj" fmla="val 22727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2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05</a:t>
            </a:r>
            <a:endParaRPr lang="ko-KR" altLang="en-US" sz="12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57300" y="4819650"/>
            <a:ext cx="10191750" cy="228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채널별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KPI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로 다르게 판정 </a:t>
            </a:r>
            <a:r>
              <a:rPr lang="en-US" altLang="ko-KR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· </a:t>
            </a:r>
            <a:r>
              <a:rPr lang="ko-KR" altLang="en-US" sz="1125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수급안은 ‘슬롯 포함 리스트’로</a:t>
            </a:r>
            <a:endParaRPr lang="ko-KR" altLang="en-US" sz="1125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257300" y="5067300"/>
            <a:ext cx="10191750" cy="304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ENA·Play·Drama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수도권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2049, Story·OLIFE·ONCE·skyUHD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유료가구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〈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신병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4〉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가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2.94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 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vs ENA Drama 0.80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배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콘텐츠 구매 시 예상 채널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시간대</a:t>
            </a:r>
            <a:r>
              <a:rPr lang="en-US" altLang="ko-KR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900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이벤트까지 함께 결정</a:t>
            </a:r>
            <a:endParaRPr lang="ko-KR" altLang="en-US" sz="900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533400" y="5562600"/>
            <a:ext cx="11125200" cy="495300"/>
          </a:xfrm>
          <a:prstGeom prst="roundRect">
            <a:avLst>
              <a:gd name="adj" fmla="val 23077"/>
            </a:avLst>
          </a:prstGeom>
          <a:solidFill>
            <a:srgbClr val="1414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75" smtClean="0">
                <a:solidFill>
                  <a:srgbClr val="A6A2E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FINAL MESSAGE  | 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‘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특집 편성량’이 아니라 ‘시청 이유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시간대 </a:t>
            </a:r>
            <a:r>
              <a:rPr lang="en-US" altLang="ko-KR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× </a:t>
            </a:r>
            <a:r>
              <a:rPr lang="ko-KR" altLang="en-US" sz="1125" smtClean="0">
                <a:solidFill>
                  <a:srgbClr val="FFFFF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적합도’가 명절 성과를 결정</a:t>
            </a:r>
            <a:endParaRPr lang="ko-KR" altLang="en-US" sz="1125">
              <a:solidFill>
                <a:srgbClr val="FFFFF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2026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추석 연휴기간 시청률 분석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수도권 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2049(ENA Story·OLIFE·ONCE·skyUHD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09/23~09/27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28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5790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06 · CONCLUSION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이번 추석의 승부처는 편성 물량이 아니라 ‘이벤트 강도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×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시간대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×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채널 적합도’였다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확정본 최종 결론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—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경쟁 판정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중계 변수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7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 채널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다음 명절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46963"/>
              </p:ext>
            </p:extLst>
          </p:nvPr>
        </p:nvGraphicFramePr>
        <p:xfrm>
          <a:off x="533400" y="1428750"/>
          <a:ext cx="11125200" cy="46005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28750">
                  <a:extLst>
                    <a:ext uri="{9D8B030D-6E8A-4147-A177-3AD203B41FA5}">
                      <a16:colId xmlns="" xmlns:a16="http://schemas.microsoft.com/office/drawing/2014/main" val="4200987052"/>
                    </a:ext>
                  </a:extLst>
                </a:gridCol>
                <a:gridCol w="9696450">
                  <a:extLst>
                    <a:ext uri="{9D8B030D-6E8A-4147-A177-3AD203B41FA5}">
                      <a16:colId xmlns="" xmlns:a16="http://schemas.microsoft.com/office/drawing/2014/main" val="319227190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구분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825" b="0" i="0" smtClean="0">
                          <a:solidFill>
                            <a:srgbClr val="585866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결론</a:t>
                      </a:r>
                      <a:endParaRPr lang="ko-KR" altLang="en-US" sz="825" b="0" i="0">
                        <a:solidFill>
                          <a:srgbClr val="585866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B w="9525">
                      <a:solidFill>
                        <a:srgbClr val="A6A6B6"/>
                      </a:solidFill>
                    </a:lnB>
                    <a:solidFill>
                      <a:srgbClr val="F7F7F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57439261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종합 승자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SBS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개인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2049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닐슨 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09/26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단독 점유율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41.2%.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성공률은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2/7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건이지만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왕과 사는 남자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한 방이 판을 가져감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A6A6B6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2374248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상승폭 </a:t>
                      </a: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KBS1 — 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여자농구 결승 한 편이 만든 결과이며 명절 특집 자체는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0.123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497933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가장 고른 성공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tvN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5/5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전부 기준값 초과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다만 한 방이 없어 등위는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위→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1883102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최대 실패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MBC 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비중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69.4%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로 최고인데 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0/5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 유지에 그침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82652327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중계 변수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시장 확대는 사실상 중계가 만듦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시간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+47.2%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비중계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+19.2%).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없는 명절이면 시장은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+19.2%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수준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1514783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3C32E1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</a:t>
                      </a:r>
                      <a:endParaRPr lang="ko-KR" altLang="en-US" sz="900" b="0" i="0">
                        <a:solidFill>
                          <a:srgbClr val="3C32E1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낮이 기회였고 연휴 마지막날이 최고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오전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+42.3%,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+26.2%, 09/27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연휴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평균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11→10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13480889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신규 예능 </a:t>
                      </a: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편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자리가 결과를 갈랐음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니돈내산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부진 일요일 자리에서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0.392(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본방 평균 대비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4.98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),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맡겨만 주십숏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신병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4〉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본방 자리에서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0.25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89514144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00838A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Play</a:t>
                      </a:r>
                      <a:endParaRPr lang="ko-KR" altLang="en-US" sz="900" b="0" i="0">
                        <a:solidFill>
                          <a:srgbClr val="00838A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예능 강세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/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영화 실패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무한도전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8.53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영화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2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1.0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 미만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41→43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06314196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0161D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Drama</a:t>
                      </a:r>
                      <a:endParaRPr lang="ko-KR" altLang="en-US" sz="900" b="0" i="0">
                        <a:solidFill>
                          <a:srgbClr val="D0161D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타깃 미스매치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KPI -31.9%, 50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대 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+97.8%,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35→50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24640614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7826DC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ENA Story</a:t>
                      </a:r>
                      <a:endParaRPr lang="ko-KR" altLang="en-US" sz="900" b="0" i="0">
                        <a:solidFill>
                          <a:srgbClr val="7826DC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상황 맞춤 큐레이션 효과 확인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— +39.4%, Reach·ATS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동시 상승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72→61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51699952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OLIFE · ONCE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OLIFE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특집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건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0.88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·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 회차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0.70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배로 공격은 실패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중계 방어는 당사 최고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(0.176) / ONCE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구작 장편 몰아보기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0.51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잔류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34%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61842655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en-US" altLang="ko-KR" sz="900" b="0" i="0" smtClean="0">
                          <a:solidFill>
                            <a:srgbClr val="D52027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skyUHD</a:t>
                      </a:r>
                      <a:endParaRPr lang="ko-KR" altLang="en-US" sz="900" b="0" i="0">
                        <a:solidFill>
                          <a:srgbClr val="D52027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채널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+155.1%(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절대값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0.004,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조건부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) — 09/24 〈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우영우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〉 1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일 몰아보기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7~9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회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0.031~0.040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으로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9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월 최고 등위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166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위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이튿날 이어붙이기는 소멸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91653144"/>
                  </a:ext>
                </a:extLst>
              </a:tr>
              <a:tr h="333375"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C24CE"/>
                          </a:solidFill>
                          <a:latin typeface="KT Flow Bold" pitchFamily="2" charset="-127"/>
                          <a:ea typeface="KT Flow Bold" pitchFamily="2" charset="-127"/>
                          <a:sym typeface="KT Flow Bold" pitchFamily="2" charset="-127"/>
                        </a:rPr>
                        <a:t>다음 명절</a:t>
                      </a:r>
                      <a:endParaRPr lang="ko-KR" altLang="en-US" sz="900" b="0" i="0">
                        <a:solidFill>
                          <a:srgbClr val="2C24CE"/>
                        </a:solidFill>
                        <a:latin typeface="KT Flow Bold" pitchFamily="2" charset="-127"/>
                        <a:ea typeface="KT Flow Bold" pitchFamily="2" charset="-127"/>
                        <a:sym typeface="KT Flow Bold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IP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는 낮에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신규는 직전 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4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주 실적이 기준을 밑돌던 자리에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,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검증 본방 자리는 건드리지 않음</a:t>
                      </a:r>
                      <a:r>
                        <a:rPr lang="en-US" altLang="ko-KR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. </a:t>
                      </a:r>
                      <a:r>
                        <a:rPr lang="ko-KR" altLang="en-US" sz="900" b="0" i="0" smtClean="0">
                          <a:solidFill>
                            <a:srgbClr val="26262F"/>
                          </a:solidFill>
                          <a:latin typeface="KT Flow Medium" pitchFamily="2" charset="-127"/>
                          <a:ea typeface="KT Flow Medium" pitchFamily="2" charset="-127"/>
                          <a:sym typeface="KT Flow Medium" pitchFamily="2" charset="-127"/>
                        </a:rPr>
                        <a:t>프라임은 중계 일정을 먼저 보고 들어갈지 정함</a:t>
                      </a:r>
                      <a:endParaRPr lang="ko-KR" altLang="en-US" sz="900" b="0" i="0">
                        <a:solidFill>
                          <a:srgbClr val="26262F"/>
                        </a:solidFill>
                        <a:latin typeface="KT Flow Medium" pitchFamily="2" charset="-127"/>
                        <a:ea typeface="KT Flow Medium" pitchFamily="2" charset="-127"/>
                        <a:sym typeface="KT Flow Medium" pitchFamily="2" charset="-127"/>
                      </a:endParaRPr>
                    </a:p>
                  </a:txBody>
                  <a:tcPr marL="76200" marR="76200" marT="28575" marB="28575" anchor="ctr">
                    <a:lnT w="9525">
                      <a:solidFill>
                        <a:srgbClr val="E2E2EA"/>
                      </a:solidFill>
                    </a:lnT>
                    <a:lnB w="9525">
                      <a:solidFill>
                        <a:srgbClr val="E2E2EA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318609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본 문서는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2026-09-23~09-27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DB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로 작성한 확정판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모든 기준값은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3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신규 편성 비교는 직전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4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주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같은 요일의 실측 평균이며 추정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보정값은 쓰지 않음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n-US" altLang="ko-KR" sz="825" spc="50" smtClean="0">
                <a:solidFill>
                  <a:srgbClr val="7C7C8C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29</a:t>
            </a:r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847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33400" y="466725"/>
            <a:ext cx="247650" cy="38100"/>
          </a:xfrm>
          <a:prstGeom prst="roundRect">
            <a:avLst>
              <a:gd name="adj" fmla="val 50000"/>
            </a:avLst>
          </a:prstGeom>
          <a:solidFill>
            <a:srgbClr val="2C24C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876300" y="381000"/>
            <a:ext cx="7620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75" spc="60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07 · REFERENCE CHANNELS</a:t>
            </a:r>
            <a:endParaRPr lang="ko-KR" altLang="en-US" sz="975" spc="60">
              <a:solidFill>
                <a:srgbClr val="2C24CE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" y="600075"/>
            <a:ext cx="100012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EBS·OCN 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계열 학습 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12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편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: ‘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신작</a:t>
            </a:r>
            <a:r>
              <a:rPr lang="en-US" altLang="ko-KR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·</a:t>
            </a:r>
            <a:r>
              <a:rPr lang="ko-KR" altLang="en-US" sz="2250" spc="-40" smtClean="0">
                <a:solidFill>
                  <a:srgbClr val="14141A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구작’보다 ‘채널 프라임 설계’가 성적을 갈랐다</a:t>
            </a:r>
            <a:endParaRPr lang="ko-KR" altLang="en-US" sz="2250" spc="-40">
              <a:solidFill>
                <a:srgbClr val="14141A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0" y="1009650"/>
            <a:ext cx="10572750" cy="2095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실측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,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괄호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얇은 글씨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는 전국 유료가구</a:t>
            </a:r>
            <a:r>
              <a:rPr lang="en-US" altLang="ko-KR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. EBS·OCN·OCN Movies·OCN Movies2·cineF 09/24~09/27 </a:t>
            </a:r>
            <a:r>
              <a:rPr lang="ko-KR" altLang="en-US" sz="1050" smtClean="0">
                <a:solidFill>
                  <a:srgbClr val="585866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편성 전수 학습</a:t>
            </a:r>
            <a:endParaRPr lang="ko-KR" altLang="en-US" sz="1050">
              <a:solidFill>
                <a:srgbClr val="585866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6" name="그림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1332" y="419100"/>
            <a:ext cx="997268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14478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왕과 사는 남자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영화판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33400" y="16192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9/27 13:30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00" y="14478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57500" y="16097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53000" y="1485900"/>
            <a:ext cx="53340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0363200" y="15049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0.470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1.75)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533400" y="17716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3400" y="18097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사운드 오브 뮤직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3400" y="19812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9/25 14:14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57500" y="18097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57500" y="19716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추석특선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4953000" y="1847850"/>
            <a:ext cx="474345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772650" y="18669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0.418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1.28)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0" name="직선 연결선 19"/>
          <p:cNvCxnSpPr/>
          <p:nvPr/>
        </p:nvCxnSpPr>
        <p:spPr>
          <a:xfrm>
            <a:off x="533400" y="21336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3400" y="21717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어벤져스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인피니티 워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3400" y="23431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9/24 21:00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857500" y="21717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57500" y="23336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프라임 본방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5" name="모서리가 둥근 직사각형 24"/>
          <p:cNvSpPr/>
          <p:nvPr/>
        </p:nvSpPr>
        <p:spPr>
          <a:xfrm>
            <a:off x="4952999" y="2209800"/>
            <a:ext cx="39382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8967470" y="22288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0.347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0.70)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>
            <a:off x="533400" y="24955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3400" y="25336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파묘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3400" y="27051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9/24 16:22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57500" y="25336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57500" y="26955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953000" y="2571750"/>
            <a:ext cx="26555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684770" y="25908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0.234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0.40)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>
            <a:off x="533400" y="28575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33400" y="28956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범죄도시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3400" y="30670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9/25 20:07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57500" y="28956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57500" y="30575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4952999" y="2933700"/>
            <a:ext cx="258699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616190" y="29527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0.63)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1" name="직선 연결선 40"/>
          <p:cNvCxnSpPr/>
          <p:nvPr/>
        </p:nvCxnSpPr>
        <p:spPr>
          <a:xfrm>
            <a:off x="533400" y="32194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33400" y="32575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도둑들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33400" y="34290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Movies · 9/24 08:24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857500" y="32575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857500" y="34194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Movies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4952999" y="3295650"/>
            <a:ext cx="256540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7594600" y="33147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0.226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0.29)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533400" y="35814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33400" y="36195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인턴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400" y="37909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Movies · 9/27 09:20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2857500" y="36195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857500" y="37814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Movies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4952999" y="3657600"/>
            <a:ext cx="239522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7424420" y="36766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0.211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0.37)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55" name="직선 연결선 54"/>
          <p:cNvCxnSpPr/>
          <p:nvPr/>
        </p:nvCxnSpPr>
        <p:spPr>
          <a:xfrm>
            <a:off x="533400" y="39433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33400" y="39814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정보원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3400" y="41529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· 9/27 11:20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857500" y="39814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857500" y="41433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재방</a:t>
            </a:r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최초 </a:t>
            </a:r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9/24)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4953000" y="4019550"/>
            <a:ext cx="233807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367270" y="40386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0.206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0.42)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2" name="직선 연결선 61"/>
          <p:cNvCxnSpPr/>
          <p:nvPr/>
        </p:nvCxnSpPr>
        <p:spPr>
          <a:xfrm>
            <a:off x="533400" y="43053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33400" y="43434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좀비딸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(2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부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33400" y="45148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cineF · 9/25 14:19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2857500" y="43434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2857500" y="45053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cineF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구작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4952999" y="4381500"/>
            <a:ext cx="2043430" cy="209550"/>
          </a:xfrm>
          <a:prstGeom prst="roundRect">
            <a:avLst>
              <a:gd name="adj" fmla="val 13636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7072630" y="44005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0.180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0.08)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69" name="직선 연결선 68"/>
          <p:cNvCxnSpPr/>
          <p:nvPr/>
        </p:nvCxnSpPr>
        <p:spPr>
          <a:xfrm>
            <a:off x="533400" y="46672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33400" y="47053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본 슈프리머시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533400" y="48768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9/26 23:08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857500" y="47053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857500" y="48672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4" name="모서리가 둥근 직사각형 73"/>
          <p:cNvSpPr/>
          <p:nvPr/>
        </p:nvSpPr>
        <p:spPr>
          <a:xfrm>
            <a:off x="4952999" y="4743450"/>
            <a:ext cx="1135380" cy="209550"/>
          </a:xfrm>
          <a:prstGeom prst="roundRect">
            <a:avLst>
              <a:gd name="adj" fmla="val 13636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6164580" y="47625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0.100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0.55)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76" name="직선 연결선 75"/>
          <p:cNvCxnSpPr/>
          <p:nvPr/>
        </p:nvCxnSpPr>
        <p:spPr>
          <a:xfrm>
            <a:off x="533400" y="502920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533400" y="506730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조선명탐정</a:t>
            </a:r>
            <a:r>
              <a:rPr lang="en-US" altLang="ko-KR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: </a:t>
            </a:r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각시투구꽃의 비밀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33400" y="523875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9/27 23:14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857500" y="506730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2857500" y="522922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심야특선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1" name="모서리가 둥근 직사각형 80"/>
          <p:cNvSpPr/>
          <p:nvPr/>
        </p:nvSpPr>
        <p:spPr>
          <a:xfrm>
            <a:off x="4952999" y="5105400"/>
            <a:ext cx="657860" cy="20955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/>
          <p:cNvSpPr txBox="1"/>
          <p:nvPr/>
        </p:nvSpPr>
        <p:spPr>
          <a:xfrm>
            <a:off x="5687060" y="512445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0.058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0.63)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cxnSp>
        <p:nvCxnSpPr>
          <p:cNvPr id="83" name="직선 연결선 82"/>
          <p:cNvCxnSpPr/>
          <p:nvPr/>
        </p:nvCxnSpPr>
        <p:spPr>
          <a:xfrm>
            <a:off x="533400" y="5391150"/>
            <a:ext cx="11125200" cy="0"/>
          </a:xfrm>
          <a:prstGeom prst="line">
            <a:avLst/>
          </a:prstGeom>
          <a:ln w="9525">
            <a:solidFill>
              <a:srgbClr val="EEEE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3400" y="5429250"/>
            <a:ext cx="219075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938" smtClean="0">
                <a:solidFill>
                  <a:srgbClr val="14141A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집으로 가는 길</a:t>
            </a:r>
            <a:endParaRPr lang="ko-KR" altLang="en-US" sz="938">
              <a:solidFill>
                <a:srgbClr val="14141A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400" y="5600700"/>
            <a:ext cx="219075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 · 9/27 13:34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7500" y="5429250"/>
            <a:ext cx="1905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 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857500" y="5591175"/>
            <a:ext cx="1905000" cy="1333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EBS </a:t>
            </a:r>
            <a:r>
              <a:rPr lang="ko-KR" altLang="en-US" sz="750" smtClean="0">
                <a:solidFill>
                  <a:srgbClr val="26262F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일요특선</a:t>
            </a:r>
            <a:endParaRPr lang="ko-KR" altLang="en-US" sz="750">
              <a:solidFill>
                <a:srgbClr val="26262F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4952999" y="5467350"/>
            <a:ext cx="590550" cy="209550"/>
          </a:xfrm>
          <a:prstGeom prst="roundRect">
            <a:avLst>
              <a:gd name="adj" fmla="val 50000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5619750" y="5486400"/>
            <a:ext cx="14986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900" smtClean="0">
                <a:solidFill>
                  <a:srgbClr val="14141A"/>
                </a:solidFill>
                <a:latin typeface="KT Flow Bold"/>
                <a:ea typeface="KT Flow Bold" pitchFamily="2" charset="-127"/>
                <a:sym typeface="KT Flow Bold" pitchFamily="2" charset="-127"/>
              </a:rPr>
              <a:t>0.052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 (</a:t>
            </a:r>
            <a:r>
              <a:rPr lang="ko-KR" altLang="en-US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가구 </a:t>
            </a:r>
            <a:r>
              <a:rPr lang="en-US" altLang="ko-KR" sz="800" smtClean="0">
                <a:solidFill>
                  <a:srgbClr val="7C7C8C"/>
                </a:solidFill>
                <a:latin typeface="KT Flow Thin"/>
                <a:ea typeface="KT Flow Bold" pitchFamily="2" charset="-127"/>
                <a:sym typeface="KT Flow Bold" pitchFamily="2" charset="-127"/>
              </a:rPr>
              <a:t>0.75)</a:t>
            </a:r>
            <a:endParaRPr lang="ko-KR" altLang="en-US" sz="800">
              <a:solidFill>
                <a:srgbClr val="7C7C8C"/>
              </a:solidFill>
              <a:latin typeface="KT Flow Thin"/>
              <a:ea typeface="KT Flow Bold" pitchFamily="2" charset="-127"/>
              <a:sym typeface="KT Flow Bold" pitchFamily="2" charset="-127"/>
            </a:endParaRPr>
          </a:p>
        </p:txBody>
      </p:sp>
      <p:sp>
        <p:nvSpPr>
          <p:cNvPr id="90" name="모서리가 둥근 직사각형 89"/>
          <p:cNvSpPr/>
          <p:nvPr/>
        </p:nvSpPr>
        <p:spPr>
          <a:xfrm>
            <a:off x="5334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58586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/>
          <p:cNvSpPr txBox="1"/>
          <p:nvPr/>
        </p:nvSpPr>
        <p:spPr>
          <a:xfrm>
            <a:off x="7239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OCN </a:t>
            </a:r>
            <a:r>
              <a:rPr lang="ko-KR" altLang="en-US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계열</a:t>
            </a:r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(OCN·Movies·Movies2·cineF)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2" name="모서리가 둥근 직사각형 91"/>
          <p:cNvSpPr/>
          <p:nvPr/>
        </p:nvSpPr>
        <p:spPr>
          <a:xfrm>
            <a:off x="209550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CFCFD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2286000" y="5810250"/>
            <a:ext cx="1524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EBS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4" name="모서리가 둥근 직사각형 93" hidden="1"/>
          <p:cNvSpPr/>
          <p:nvPr/>
        </p:nvSpPr>
        <p:spPr>
          <a:xfrm>
            <a:off x="3524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3C32E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TextBox 94" hidden="1"/>
          <p:cNvSpPr txBox="1"/>
          <p:nvPr/>
        </p:nvSpPr>
        <p:spPr>
          <a:xfrm>
            <a:off x="3714750" y="5810250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6" name="모서리가 둥근 직사각형 95" hidden="1"/>
          <p:cNvSpPr/>
          <p:nvPr/>
        </p:nvSpPr>
        <p:spPr>
          <a:xfrm>
            <a:off x="4286250" y="5829300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00C8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 hidden="1"/>
          <p:cNvSpPr txBox="1"/>
          <p:nvPr/>
        </p:nvSpPr>
        <p:spPr>
          <a:xfrm>
            <a:off x="4476750" y="5810250"/>
            <a:ext cx="9525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altLang="ko-KR" sz="825" smtClean="0">
                <a:solidFill>
                  <a:srgbClr val="3D3D49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ENA Play</a:t>
            </a:r>
            <a:endParaRPr lang="ko-KR" altLang="en-US" sz="825">
              <a:solidFill>
                <a:srgbClr val="3D3D49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5715000" y="5715000"/>
            <a:ext cx="5943600" cy="571500"/>
          </a:xfrm>
          <a:prstGeom prst="roundRect">
            <a:avLst/>
          </a:prstGeom>
          <a:solidFill>
            <a:srgbClr val="F3F3FD"/>
          </a:solidFill>
          <a:ln w="9525">
            <a:solidFill>
              <a:srgbClr val="CDCBF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/>
          <p:cNvSpPr txBox="1"/>
          <p:nvPr/>
        </p:nvSpPr>
        <p:spPr>
          <a:xfrm>
            <a:off x="5905500" y="5791200"/>
            <a:ext cx="55626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읽기 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OCN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계열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8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중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6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편이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0.2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이상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매일 프라임에 본방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편을 배치하고 나머지는 구작을 다회전 재방하는 ‘티어링 편성’이 안정적 성적을 만듦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. EBS 〈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사운드 오브 뮤직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〉(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가족 고전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)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은 참고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12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편 중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2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위 </a:t>
            </a:r>
            <a:r>
              <a:rPr lang="en-US" altLang="ko-KR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— </a:t>
            </a:r>
            <a:r>
              <a:rPr lang="ko-KR" altLang="en-US" sz="863" smtClean="0">
                <a:solidFill>
                  <a:srgbClr val="2C24CE"/>
                </a:solidFill>
                <a:latin typeface="KT Flow Bold" pitchFamily="2" charset="-127"/>
                <a:ea typeface="KT Flow Bold" pitchFamily="2" charset="-127"/>
                <a:sym typeface="KT Flow Bold" pitchFamily="2" charset="-127"/>
              </a:rPr>
              <a:t>채널 체급과 무관하게 콘텐츠 자체 힘으로 성과를 낸 유일한 사례</a:t>
            </a:r>
            <a:endParaRPr lang="ko-KR" altLang="en-US" sz="863" dirty="0">
              <a:solidFill>
                <a:srgbClr val="14141A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533400" y="6562725"/>
            <a:ext cx="97155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자료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: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닐슨 실측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개인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2049·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전국 유료가구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 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분석기간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09/24~09/27 · EBS·OCN·OCN Movies·OCN Movies2·cineF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학습 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· 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참고용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(</a:t>
            </a:r>
            <a:r>
              <a:rPr lang="ko-KR" altLang="en-US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당사 편성 아님</a:t>
            </a:r>
            <a:r>
              <a:rPr lang="en-US" altLang="ko-KR" sz="750" smtClean="0">
                <a:solidFill>
                  <a:srgbClr val="7C7C8C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)</a:t>
            </a:r>
            <a:endParaRPr lang="ko-KR" altLang="en-US" sz="750">
              <a:solidFill>
                <a:srgbClr val="7C7C8C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10896600" y="6543675"/>
            <a:ext cx="762000" cy="1714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endParaRPr lang="ko-KR" altLang="en-US" sz="825" spc="50">
              <a:solidFill>
                <a:srgbClr val="7C7C8C"/>
              </a:solidFill>
              <a:latin typeface="KT Flow Bold" pitchFamily="2" charset="-127"/>
              <a:ea typeface="KT Flow Bold" pitchFamily="2" charset="-127"/>
              <a:sym typeface="KT Flow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68496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2819400"/>
            <a:ext cx="12192000" cy="28575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ko-KR" altLang="en-US" sz="1650" smtClean="0">
                <a:solidFill>
                  <a:srgbClr val="FFFFFF"/>
                </a:solidFill>
                <a:latin typeface="KT Flow Medium" pitchFamily="2" charset="-127"/>
                <a:ea typeface="KT Flow Medium" pitchFamily="2" charset="-127"/>
                <a:sym typeface="KT Flow Medium" pitchFamily="2" charset="-127"/>
              </a:rPr>
              <a:t>매일 새로운</a:t>
            </a:r>
            <a:endParaRPr lang="ko-KR" altLang="en-US" sz="1650">
              <a:solidFill>
                <a:srgbClr val="FFFFFF"/>
              </a:solidFill>
              <a:latin typeface="KT Flow Medium" pitchFamily="2" charset="-127"/>
              <a:ea typeface="KT Flow Medium" pitchFamily="2" charset="-127"/>
              <a:sym typeface="KT Flow Medium" pitchFamily="2" charset="-127"/>
            </a:endParaRPr>
          </a:p>
        </p:txBody>
      </p:sp>
      <p:pic>
        <p:nvPicPr>
          <p:cNvPr id="4" name="그림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5" y="3200400"/>
            <a:ext cx="2190750" cy="8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5905500"/>
            <a:ext cx="121920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n-US" altLang="ko-KR" sz="2700" spc="800" smtClean="0">
                <a:solidFill>
                  <a:srgbClr val="FFFFFF"/>
                </a:solidFill>
                <a:latin typeface="KT Flow Black" pitchFamily="2" charset="-127"/>
                <a:ea typeface="KT Flow Black" pitchFamily="2" charset="-127"/>
                <a:sym typeface="KT Flow Black" pitchFamily="2" charset="-127"/>
              </a:rPr>
              <a:t>E.O.D</a:t>
            </a:r>
            <a:endParaRPr lang="ko-KR" altLang="en-US" sz="2700" spc="800">
              <a:solidFill>
                <a:srgbClr val="FFFFFF"/>
              </a:solidFill>
              <a:latin typeface="KT Flow Black" pitchFamily="2" charset="-127"/>
              <a:ea typeface="KT Flow Black" pitchFamily="2" charset="-127"/>
              <a:sym typeface="KT Flow Black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3331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14141A"/>
      </a:dk1>
      <a:lt1>
        <a:srgbClr val="FFFFFF"/>
      </a:lt1>
      <a:dk2>
        <a:srgbClr val="26262F"/>
      </a:dk2>
      <a:lt2>
        <a:srgbClr val="F7F7FA"/>
      </a:lt2>
      <a:accent1>
        <a:srgbClr val="2C24CE"/>
      </a:accent1>
      <a:accent2>
        <a:srgbClr val="3C32E1"/>
      </a:accent2>
      <a:accent3>
        <a:srgbClr val="00C8D2"/>
      </a:accent3>
      <a:accent4>
        <a:srgbClr val="EE2A30"/>
      </a:accent4>
      <a:accent5>
        <a:srgbClr val="7826DC"/>
      </a:accent5>
      <a:accent6>
        <a:srgbClr val="B9DB01"/>
      </a:accent6>
      <a:hlink>
        <a:srgbClr val="2C24CE"/>
      </a:hlink>
      <a:folHlink>
        <a:srgbClr val="6F69E2"/>
      </a:folHlink>
    </a:clrScheme>
    <a:fontScheme name="Office">
      <a:majorFont>
        <a:latin typeface="KT Flow Bold" panose="020F0302020204030204"/>
        <a:ea typeface="KT Flow Bold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KT Flow Medium" panose="020F0502020204030204"/>
        <a:ea typeface="KT Flow Medium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11641</Words>
  <Application>Microsoft Office PowerPoint</Application>
  <PresentationFormat>사용자 지정</PresentationFormat>
  <Paragraphs>2361</Paragraphs>
  <Slides>31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2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chris</dc:creator>
  <cp:lastModifiedBy>sky tv</cp:lastModifiedBy>
  <cp:revision>8</cp:revision>
  <dcterms:created xsi:type="dcterms:W3CDTF">2026-09-28T03:15:09Z</dcterms:created>
  <dcterms:modified xsi:type="dcterms:W3CDTF">2026-09-29T12:10:10Z</dcterms:modified>
</cp:coreProperties>
</file>