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월평균 시청률</c:v>
                </c:pt>
              </c:strCache>
            </c:strRef>
          </c:tx>
          <c:spPr>
            <a:solidFill>
              <a:srgbClr val="2C24CE"/>
            </a:solidFill>
            <a:ln w="38100" cap="flat">
              <a:solidFill>
                <a:srgbClr val="2C24C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C24CE"/>
              </a:solidFill>
              <a:ln w="9525" cap="flat">
                <a:solidFill>
                  <a:srgbClr val="2C24C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Sheet1!$A$2:$A$34</c:f>
              <c:multiLvlStrCache>
                <c:ptCount val="33"/>
                <c:lvl>
                  <c:pt idx="0">
                    <c:v>24-01</c:v>
                  </c:pt>
                  <c:pt idx="1">
                    <c:v>24-02</c:v>
                  </c:pt>
                  <c:pt idx="2">
                    <c:v>24-03</c:v>
                  </c:pt>
                  <c:pt idx="3">
                    <c:v>24-04</c:v>
                  </c:pt>
                  <c:pt idx="4">
                    <c:v>24-05</c:v>
                  </c:pt>
                  <c:pt idx="5">
                    <c:v>24-06</c:v>
                  </c:pt>
                  <c:pt idx="6">
                    <c:v>24-07</c:v>
                  </c:pt>
                  <c:pt idx="7">
                    <c:v>24-08</c:v>
                  </c:pt>
                  <c:pt idx="8">
                    <c:v>24-09</c:v>
                  </c:pt>
                  <c:pt idx="9">
                    <c:v>24-10</c:v>
                  </c:pt>
                  <c:pt idx="10">
                    <c:v>24-11</c:v>
                  </c:pt>
                  <c:pt idx="11">
                    <c:v>24-12</c:v>
                  </c:pt>
                  <c:pt idx="12">
                    <c:v>25-01</c:v>
                  </c:pt>
                  <c:pt idx="13">
                    <c:v>25-02</c:v>
                  </c:pt>
                  <c:pt idx="14">
                    <c:v>25-03</c:v>
                  </c:pt>
                  <c:pt idx="15">
                    <c:v>25-04</c:v>
                  </c:pt>
                  <c:pt idx="16">
                    <c:v>25-05</c:v>
                  </c:pt>
                  <c:pt idx="17">
                    <c:v>25-06</c:v>
                  </c:pt>
                  <c:pt idx="18">
                    <c:v>25-07</c:v>
                  </c:pt>
                  <c:pt idx="19">
                    <c:v>25-08</c:v>
                  </c:pt>
                  <c:pt idx="20">
                    <c:v>25-09</c:v>
                  </c:pt>
                  <c:pt idx="21">
                    <c:v>25-10</c:v>
                  </c:pt>
                  <c:pt idx="22">
                    <c:v>25-11</c:v>
                  </c:pt>
                  <c:pt idx="23">
                    <c:v>25-12</c:v>
                  </c:pt>
                  <c:pt idx="24">
                    <c:v>26-01</c:v>
                  </c:pt>
                  <c:pt idx="25">
                    <c:v>26-02</c:v>
                  </c:pt>
                  <c:pt idx="26">
                    <c:v>26-03</c:v>
                  </c:pt>
                  <c:pt idx="27">
                    <c:v>26-04</c:v>
                  </c:pt>
                  <c:pt idx="28">
                    <c:v>26-05</c:v>
                  </c:pt>
                  <c:pt idx="29">
                    <c:v>26-06</c:v>
                  </c:pt>
                  <c:pt idx="30">
                    <c:v>26-07</c:v>
                  </c:pt>
                  <c:pt idx="31">
                    <c:v>26-08</c:v>
                  </c:pt>
                  <c:pt idx="32">
                    <c:v>26-09</c:v>
                  </c:pt>
                </c:lvl>
              </c:multiLvlStrCache>
            </c:multiLvlStrRef>
          </c:cat>
          <c:val>
            <c:numRef>
              <c:f>Sheet1!$B$2:$B$34</c:f>
              <c:numCache>
                <c:formatCode>General</c:formatCode>
                <c:ptCount val="33"/>
                <c:pt idx="0">
                  <c:v>0.07179</c:v>
                </c:pt>
                <c:pt idx="1">
                  <c:v>0.07861</c:v>
                </c:pt>
                <c:pt idx="2">
                  <c:v>0.0815</c:v>
                </c:pt>
                <c:pt idx="3">
                  <c:v>0.07667</c:v>
                </c:pt>
                <c:pt idx="4">
                  <c:v>0.08263</c:v>
                </c:pt>
                <c:pt idx="5">
                  <c:v>0.08355</c:v>
                </c:pt>
                <c:pt idx="6">
                  <c:v>0.07971</c:v>
                </c:pt>
                <c:pt idx="7">
                  <c:v>0.0788</c:v>
                </c:pt>
                <c:pt idx="8">
                  <c:v>0.0735</c:v>
                </c:pt>
                <c:pt idx="9">
                  <c:v>0.06817</c:v>
                </c:pt>
                <c:pt idx="10">
                  <c:v>0.07473</c:v>
                </c:pt>
                <c:pt idx="11">
                  <c:v>0.08478</c:v>
                </c:pt>
                <c:pt idx="12">
                  <c:v>0.09987</c:v>
                </c:pt>
                <c:pt idx="13">
                  <c:v>0.09042</c:v>
                </c:pt>
                <c:pt idx="14">
                  <c:v>0.08986</c:v>
                </c:pt>
                <c:pt idx="15">
                  <c:v>0.07634</c:v>
                </c:pt>
                <c:pt idx="16">
                  <c:v>0.08454</c:v>
                </c:pt>
                <c:pt idx="17">
                  <c:v>0.09184</c:v>
                </c:pt>
                <c:pt idx="18">
                  <c:v>0.09064</c:v>
                </c:pt>
                <c:pt idx="19">
                  <c:v>0.10016</c:v>
                </c:pt>
                <c:pt idx="20">
                  <c:v>0.0892</c:v>
                </c:pt>
                <c:pt idx="21">
                  <c:v>0.09038</c:v>
                </c:pt>
                <c:pt idx="22">
                  <c:v>0.09887</c:v>
                </c:pt>
                <c:pt idx="23">
                  <c:v>0.10282</c:v>
                </c:pt>
                <c:pt idx="24">
                  <c:v>0.09782</c:v>
                </c:pt>
                <c:pt idx="25">
                  <c:v>0.09787</c:v>
                </c:pt>
                <c:pt idx="26">
                  <c:v>0.09117</c:v>
                </c:pt>
                <c:pt idx="27">
                  <c:v>0.09132</c:v>
                </c:pt>
                <c:pt idx="28">
                  <c:v>0.10559</c:v>
                </c:pt>
                <c:pt idx="29">
                  <c:v>0.11984</c:v>
                </c:pt>
                <c:pt idx="30">
                  <c:v>0.133</c:v>
                </c:pt>
                <c:pt idx="31">
                  <c:v>0.12501</c:v>
                </c:pt>
                <c:pt idx="32">
                  <c:v>0.12202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FCFDA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C7C8C"/>
                </a:solidFill>
                <a:latin typeface="KT Flow Medium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3"/>
      </c:catAx>
      <c:valAx>
        <c:axId val="2094734552"/>
        <c:scaling>
          <c:orientation val="minMax"/>
          <c:max val="0.14"/>
          <c:min val="0.06"/>
        </c:scaling>
        <c:delete val="0"/>
        <c:axPos val="l"/>
        <c:majorGridlines>
          <c:spPr>
            <a:ln w="12700" cap="flat">
              <a:solidFill>
                <a:srgbClr val="E2E2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C7C8C"/>
                </a:solidFill>
                <a:latin typeface="KT Flow Medium"/>
              </a:defRPr>
            </a:pPr>
            <a:endParaRPr lang="en-US"/>
          </a:p>
        </c:txPr>
        <c:crossAx val="2094734554"/>
        <c:crosses val="autoZero"/>
        <c:crossBetween val="between"/>
        <c:majorUnit val="0.02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ring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A6A6B6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E2E2EA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0</c:v>
                </c:pt>
                <c:pt idx="1">
                  <c:v>1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2.9</c:v>
                </c:pt>
                <c:pt idx="1">
                  <c:v>37.1</c:v>
                </c:pt>
              </c:numCache>
            </c:numRef>
          </c:val>
        </c:ser>
        <c:firstSliceAng val="0"/>
        <c:holeSize val="74"/>
      </c:doughnutChart>
      <c:spPr>
        <a:solidFill>
          <a:srgbClr val="FFFFFF">
            <a:alpha val="0"/>
          </a:srgbClr>
        </a:solidFill>
        <a:ln>
          <a:noFill/>
        </a:ln>
        <a:effectLst/>
      </c:spPr>
    </c:plotArea>
    <c:plotVisOnly val="1"/>
    <c:dispBlanksAs val="span"/>
  </c:chart>
  <c:spPr>
    <a:solidFill>
      <a:srgbClr val="FFFFFF">
        <a:alpha val="0"/>
      </a:srgbClr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ring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C24CE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E2E2EA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0</c:v>
                </c:pt>
                <c:pt idx="1">
                  <c:v>1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34.5</c:v>
                </c:pt>
                <c:pt idx="1">
                  <c:v>5.5</c:v>
                </c:pt>
              </c:numCache>
            </c:numRef>
          </c:val>
        </c:ser>
        <c:firstSliceAng val="0"/>
        <c:holeSize val="74"/>
      </c:doughnutChart>
      <c:spPr>
        <a:solidFill>
          <a:srgbClr val="FFFFFF">
            <a:alpha val="0"/>
          </a:srgbClr>
        </a:solidFill>
        <a:ln>
          <a:noFill/>
        </a:ln>
        <a:effectLst/>
      </c:spPr>
    </c:plotArea>
    <c:plotVisOnly val="1"/>
    <c:dispBlanksAs val="span"/>
  </c:chart>
  <c:spPr>
    <a:solidFill>
      <a:srgbClr val="FFFFFF">
        <a:alpha val="0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1" Type="http://schemas.openxmlformats.org/officeDocument/2006/relationships/image" Target="../media/image-5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cripts/_ppt/_gr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scripts/_ppt/assets/olife-bang-was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1927" y="381000"/>
            <a:ext cx="1135673" cy="5905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95325" y="952500"/>
            <a:ext cx="190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삶의 여유,</a:t>
            </a:r>
            <a:endParaRPr lang="en-US" sz="1800" dirty="0"/>
          </a:p>
        </p:txBody>
      </p:sp>
      <p:pic>
        <p:nvPicPr>
          <p:cNvPr id="5" name="Image 2" descr="scripts/_ppt/assets/olife-logo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3550" y="990600"/>
            <a:ext cx="639279" cy="28575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695325" y="1447800"/>
            <a:ext cx="857250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500" dirty="0">
                <a:solidFill>
                  <a:srgbClr val="FFFFFF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OLIFE,</a:t>
            </a:r>
            <a:endParaRPr lang="en-US" sz="45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4500" dirty="0">
                <a:solidFill>
                  <a:srgbClr val="FFFFFF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잘 나오는 채널에서</a:t>
            </a:r>
            <a:endParaRPr lang="en-US" sz="45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4500" dirty="0">
                <a:solidFill>
                  <a:srgbClr val="FFFFFF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오래 보는 채널로</a:t>
            </a:r>
            <a:endParaRPr lang="en-US" sz="4500" dirty="0"/>
          </a:p>
        </p:txBody>
      </p:sp>
      <p:sp>
        <p:nvSpPr>
          <p:cNvPr id="7" name="Text 2"/>
          <p:cNvSpPr/>
          <p:nvPr/>
        </p:nvSpPr>
        <p:spPr>
          <a:xfrm>
            <a:off x="695325" y="3676650"/>
            <a:ext cx="857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0EEF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2025년 1월 편성 변화 이후, OLIFE는 어떻게 성장했는가</a:t>
            </a:r>
            <a:endParaRPr lang="en-US" sz="1500" dirty="0"/>
          </a:p>
        </p:txBody>
      </p:sp>
      <p:sp>
        <p:nvSpPr>
          <p:cNvPr id="8" name="Text 3"/>
          <p:cNvSpPr/>
          <p:nvPr/>
        </p:nvSpPr>
        <p:spPr>
          <a:xfrm>
            <a:off x="695325" y="3962400"/>
            <a:ext cx="8572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40" dirty="0">
                <a:solidFill>
                  <a:srgbClr val="D9D6F5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도달보다 체류, 프로그램보다 편성, 편성보다 '시청 경험'을 설계함</a:t>
            </a:r>
            <a:endParaRPr lang="en-US" sz="1240" dirty="0"/>
          </a:p>
        </p:txBody>
      </p:sp>
      <p:sp>
        <p:nvSpPr>
          <p:cNvPr id="9" name="Shape 4"/>
          <p:cNvSpPr/>
          <p:nvPr/>
        </p:nvSpPr>
        <p:spPr>
          <a:xfrm>
            <a:off x="695325" y="4419600"/>
            <a:ext cx="6858000" cy="13335"/>
          </a:xfrm>
          <a:prstGeom prst="rect">
            <a:avLst/>
          </a:prstGeom>
          <a:solidFill>
            <a:srgbClr val="6E68D6"/>
          </a:solidFill>
          <a:ln/>
        </p:spPr>
      </p:sp>
      <p:sp>
        <p:nvSpPr>
          <p:cNvPr id="10" name="Text 5"/>
          <p:cNvSpPr/>
          <p:nvPr/>
        </p:nvSpPr>
        <p:spPr>
          <a:xfrm>
            <a:off x="695325" y="4552950"/>
            <a:ext cx="8572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D9D6F5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분석기간 2024.01.01 – 2026.09.06 · 전국 유료방송가구 기준 · 출처 닐슨 코리아</a:t>
            </a:r>
            <a:endParaRPr lang="en-US" sz="9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cripts/_ppt/assets/olife-logo-l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6228" y="419100"/>
            <a:ext cx="852372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087100" y="6324600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02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914400" y="1019175"/>
            <a:ext cx="2857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5" name="Text 2"/>
          <p:cNvSpPr/>
          <p:nvPr/>
        </p:nvSpPr>
        <p:spPr>
          <a:xfrm>
            <a:off x="1314450" y="895350"/>
            <a:ext cx="6667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spc="100" kern="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목차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914400" y="1333500"/>
            <a:ext cx="10668000" cy="5741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345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보고 순서</a:t>
            </a:r>
            <a:endParaRPr lang="en-US" sz="3450" dirty="0"/>
          </a:p>
        </p:txBody>
      </p:sp>
      <p:sp>
        <p:nvSpPr>
          <p:cNvPr id="7" name="Text 4"/>
          <p:cNvSpPr/>
          <p:nvPr/>
        </p:nvSpPr>
        <p:spPr>
          <a:xfrm>
            <a:off x="914400" y="2266950"/>
            <a:ext cx="495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2C24CE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638300" y="2209800"/>
            <a:ext cx="381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3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성과</a:t>
            </a:r>
            <a:endParaRPr lang="en-US" sz="1730" dirty="0"/>
          </a:p>
        </p:txBody>
      </p:sp>
      <p:sp>
        <p:nvSpPr>
          <p:cNvPr id="9" name="Text 6"/>
          <p:cNvSpPr/>
          <p:nvPr/>
        </p:nvSpPr>
        <p:spPr>
          <a:xfrm>
            <a:off x="1638300" y="2533650"/>
            <a:ext cx="3810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9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어디까지 올라왔는가</a:t>
            </a:r>
            <a:endParaRPr lang="en-US" sz="1090" dirty="0"/>
          </a:p>
        </p:txBody>
      </p:sp>
      <p:sp>
        <p:nvSpPr>
          <p:cNvPr id="10" name="Shape 7"/>
          <p:cNvSpPr/>
          <p:nvPr/>
        </p:nvSpPr>
        <p:spPr>
          <a:xfrm>
            <a:off x="914400" y="2876550"/>
            <a:ext cx="4876800" cy="13335"/>
          </a:xfrm>
          <a:prstGeom prst="rect">
            <a:avLst/>
          </a:prstGeom>
          <a:solidFill>
            <a:srgbClr val="E2E2EA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0" y="2266950"/>
            <a:ext cx="495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2C24CE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04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7124700" y="2209800"/>
            <a:ext cx="381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3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검증</a:t>
            </a:r>
            <a:endParaRPr lang="en-US" sz="1730" dirty="0"/>
          </a:p>
        </p:txBody>
      </p:sp>
      <p:sp>
        <p:nvSpPr>
          <p:cNvPr id="13" name="Text 10"/>
          <p:cNvSpPr/>
          <p:nvPr/>
        </p:nvSpPr>
        <p:spPr>
          <a:xfrm>
            <a:off x="7124700" y="2533650"/>
            <a:ext cx="3810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9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잘된 사례와 실패한 실험</a:t>
            </a:r>
            <a:endParaRPr lang="en-US" sz="1090" dirty="0"/>
          </a:p>
        </p:txBody>
      </p:sp>
      <p:sp>
        <p:nvSpPr>
          <p:cNvPr id="14" name="Shape 11"/>
          <p:cNvSpPr/>
          <p:nvPr/>
        </p:nvSpPr>
        <p:spPr>
          <a:xfrm>
            <a:off x="6400800" y="2876550"/>
            <a:ext cx="4876800" cy="13335"/>
          </a:xfrm>
          <a:prstGeom prst="rect">
            <a:avLst/>
          </a:prstGeom>
          <a:solidFill>
            <a:srgbClr val="E2E2EA"/>
          </a:solidFill>
          <a:ln/>
        </p:spPr>
      </p:sp>
      <p:sp>
        <p:nvSpPr>
          <p:cNvPr id="15" name="Text 12"/>
          <p:cNvSpPr/>
          <p:nvPr/>
        </p:nvSpPr>
        <p:spPr>
          <a:xfrm>
            <a:off x="914400" y="3143250"/>
            <a:ext cx="495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2C24CE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02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1638300" y="3086100"/>
            <a:ext cx="381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3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원인</a:t>
            </a:r>
            <a:endParaRPr lang="en-US" sz="1730" dirty="0"/>
          </a:p>
        </p:txBody>
      </p:sp>
      <p:sp>
        <p:nvSpPr>
          <p:cNvPr id="17" name="Text 14"/>
          <p:cNvSpPr/>
          <p:nvPr/>
        </p:nvSpPr>
        <p:spPr>
          <a:xfrm>
            <a:off x="1638300" y="3409950"/>
            <a:ext cx="3810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9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성장의 본질과 주역</a:t>
            </a:r>
            <a:endParaRPr lang="en-US" sz="1090" dirty="0"/>
          </a:p>
        </p:txBody>
      </p:sp>
      <p:sp>
        <p:nvSpPr>
          <p:cNvPr id="18" name="Shape 15"/>
          <p:cNvSpPr/>
          <p:nvPr/>
        </p:nvSpPr>
        <p:spPr>
          <a:xfrm>
            <a:off x="914400" y="3752850"/>
            <a:ext cx="4876800" cy="13335"/>
          </a:xfrm>
          <a:prstGeom prst="rect">
            <a:avLst/>
          </a:prstGeom>
          <a:solidFill>
            <a:srgbClr val="E2E2EA"/>
          </a:solidFill>
          <a:ln/>
        </p:spPr>
      </p:sp>
      <p:sp>
        <p:nvSpPr>
          <p:cNvPr id="19" name="Text 16"/>
          <p:cNvSpPr/>
          <p:nvPr/>
        </p:nvSpPr>
        <p:spPr>
          <a:xfrm>
            <a:off x="6400800" y="3143250"/>
            <a:ext cx="495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2C24CE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05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7124700" y="3086100"/>
            <a:ext cx="381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3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발견</a:t>
            </a:r>
            <a:endParaRPr lang="en-US" sz="1730" dirty="0"/>
          </a:p>
        </p:txBody>
      </p:sp>
      <p:sp>
        <p:nvSpPr>
          <p:cNvPr id="21" name="Text 18"/>
          <p:cNvSpPr/>
          <p:nvPr/>
        </p:nvSpPr>
        <p:spPr>
          <a:xfrm>
            <a:off x="7124700" y="3409950"/>
            <a:ext cx="3810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9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데이터가 새로 보여준 것</a:t>
            </a:r>
            <a:endParaRPr lang="en-US" sz="1090" dirty="0"/>
          </a:p>
        </p:txBody>
      </p:sp>
      <p:sp>
        <p:nvSpPr>
          <p:cNvPr id="22" name="Shape 19"/>
          <p:cNvSpPr/>
          <p:nvPr/>
        </p:nvSpPr>
        <p:spPr>
          <a:xfrm>
            <a:off x="6400800" y="3752850"/>
            <a:ext cx="4876800" cy="13335"/>
          </a:xfrm>
          <a:prstGeom prst="rect">
            <a:avLst/>
          </a:prstGeom>
          <a:solidFill>
            <a:srgbClr val="E2E2EA"/>
          </a:solidFill>
          <a:ln/>
        </p:spPr>
      </p:sp>
      <p:sp>
        <p:nvSpPr>
          <p:cNvPr id="23" name="Text 20"/>
          <p:cNvSpPr/>
          <p:nvPr/>
        </p:nvSpPr>
        <p:spPr>
          <a:xfrm>
            <a:off x="914400" y="4019550"/>
            <a:ext cx="495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2C24CE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03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1638300" y="3962400"/>
            <a:ext cx="381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3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실행</a:t>
            </a:r>
            <a:endParaRPr lang="en-US" sz="1730" dirty="0"/>
          </a:p>
        </p:txBody>
      </p:sp>
      <p:sp>
        <p:nvSpPr>
          <p:cNvPr id="25" name="Text 22"/>
          <p:cNvSpPr/>
          <p:nvPr/>
        </p:nvSpPr>
        <p:spPr>
          <a:xfrm>
            <a:off x="1638300" y="4286250"/>
            <a:ext cx="3810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9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무엇을 어떻게 바꿨는가</a:t>
            </a:r>
            <a:endParaRPr lang="en-US" sz="1090" dirty="0"/>
          </a:p>
        </p:txBody>
      </p:sp>
      <p:sp>
        <p:nvSpPr>
          <p:cNvPr id="26" name="Shape 23"/>
          <p:cNvSpPr/>
          <p:nvPr/>
        </p:nvSpPr>
        <p:spPr>
          <a:xfrm>
            <a:off x="914400" y="4629150"/>
            <a:ext cx="4876800" cy="13335"/>
          </a:xfrm>
          <a:prstGeom prst="rect">
            <a:avLst/>
          </a:prstGeom>
          <a:solidFill>
            <a:srgbClr val="E2E2EA"/>
          </a:solidFill>
          <a:ln/>
        </p:spPr>
      </p:sp>
      <p:sp>
        <p:nvSpPr>
          <p:cNvPr id="27" name="Text 24"/>
          <p:cNvSpPr/>
          <p:nvPr/>
        </p:nvSpPr>
        <p:spPr>
          <a:xfrm>
            <a:off x="6400800" y="4019550"/>
            <a:ext cx="495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2C24CE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06</a:t>
            </a:r>
            <a:endParaRPr lang="en-US" sz="2400" dirty="0"/>
          </a:p>
        </p:txBody>
      </p:sp>
      <p:sp>
        <p:nvSpPr>
          <p:cNvPr id="28" name="Text 25"/>
          <p:cNvSpPr/>
          <p:nvPr/>
        </p:nvSpPr>
        <p:spPr>
          <a:xfrm>
            <a:off x="7124700" y="3962400"/>
            <a:ext cx="381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3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실행 원칙</a:t>
            </a:r>
            <a:endParaRPr lang="en-US" sz="1730" dirty="0"/>
          </a:p>
        </p:txBody>
      </p:sp>
      <p:sp>
        <p:nvSpPr>
          <p:cNvPr id="29" name="Text 26"/>
          <p:cNvSpPr/>
          <p:nvPr/>
        </p:nvSpPr>
        <p:spPr>
          <a:xfrm>
            <a:off x="7124700" y="4286250"/>
            <a:ext cx="3810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9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재현 가능한 편성 원칙</a:t>
            </a:r>
            <a:endParaRPr lang="en-US" sz="1090" dirty="0"/>
          </a:p>
        </p:txBody>
      </p:sp>
      <p:sp>
        <p:nvSpPr>
          <p:cNvPr id="30" name="Shape 27"/>
          <p:cNvSpPr/>
          <p:nvPr/>
        </p:nvSpPr>
        <p:spPr>
          <a:xfrm>
            <a:off x="6400800" y="4629150"/>
            <a:ext cx="4876800" cy="13335"/>
          </a:xfrm>
          <a:prstGeom prst="rect">
            <a:avLst/>
          </a:prstGeom>
          <a:solidFill>
            <a:srgbClr val="E2E2EA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cripts/_ppt/assets/olife-logo-l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6228" y="419100"/>
            <a:ext cx="852372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087100" y="6324600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03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914400" y="1019175"/>
            <a:ext cx="2857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5" name="Text 2"/>
          <p:cNvSpPr/>
          <p:nvPr/>
        </p:nvSpPr>
        <p:spPr>
          <a:xfrm>
            <a:off x="1314450" y="895350"/>
            <a:ext cx="6667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spc="100" kern="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01 성과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914400" y="1333500"/>
            <a:ext cx="10668000" cy="1046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330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2025년 이후 OLIFE의 시청 성과는</a:t>
            </a:r>
            <a:endParaRPr lang="en-US" sz="3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330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한 단계 올라섰음</a:t>
            </a:r>
            <a:endParaRPr lang="en-US" sz="3300" dirty="0"/>
          </a:p>
        </p:txBody>
      </p:sp>
      <p:sp>
        <p:nvSpPr>
          <p:cNvPr id="7" name="Shape 4"/>
          <p:cNvSpPr/>
          <p:nvPr/>
        </p:nvSpPr>
        <p:spPr>
          <a:xfrm>
            <a:off x="914400" y="2514600"/>
            <a:ext cx="2462213" cy="1428750"/>
          </a:xfrm>
          <a:prstGeom prst="roundRect">
            <a:avLst>
              <a:gd name="adj" fmla="val 10667"/>
            </a:avLst>
          </a:prstGeom>
          <a:solidFill>
            <a:srgbClr val="2C24CE"/>
          </a:solidFill>
          <a:ln w="12700">
            <a:solidFill>
              <a:srgbClr val="2C24C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43000" y="2743200"/>
            <a:ext cx="20050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90" dirty="0">
                <a:solidFill>
                  <a:srgbClr val="FFFFFF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평균 시청률</a:t>
            </a:r>
            <a:endParaRPr lang="en-US" sz="1090" dirty="0"/>
          </a:p>
        </p:txBody>
      </p:sp>
      <p:sp>
        <p:nvSpPr>
          <p:cNvPr id="9" name="Text 6"/>
          <p:cNvSpPr/>
          <p:nvPr/>
        </p:nvSpPr>
        <p:spPr>
          <a:xfrm>
            <a:off x="1143000" y="2990850"/>
            <a:ext cx="2005013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900" dirty="0">
                <a:solidFill>
                  <a:srgbClr val="FFFFFF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+39.1</a:t>
            </a:r>
            <a:pPr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%</a:t>
            </a:r>
            <a:endParaRPr lang="en-US" sz="3900" dirty="0"/>
          </a:p>
        </p:txBody>
      </p:sp>
      <p:sp>
        <p:nvSpPr>
          <p:cNvPr id="10" name="Text 7"/>
          <p:cNvSpPr/>
          <p:nvPr/>
        </p:nvSpPr>
        <p:spPr>
          <a:xfrm>
            <a:off x="1143000" y="3581400"/>
            <a:ext cx="20050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10" dirty="0">
                <a:solidFill>
                  <a:srgbClr val="FFFFFF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0.078 → 0.108</a:t>
            </a:r>
            <a:endParaRPr lang="en-US" sz="1010" dirty="0"/>
          </a:p>
        </p:txBody>
      </p:sp>
      <p:sp>
        <p:nvSpPr>
          <p:cNvPr id="11" name="Shape 8"/>
          <p:cNvSpPr/>
          <p:nvPr/>
        </p:nvSpPr>
        <p:spPr>
          <a:xfrm>
            <a:off x="3548063" y="2514600"/>
            <a:ext cx="2462213" cy="142875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2E2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776662" y="2743200"/>
            <a:ext cx="20050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90" dirty="0">
                <a:solidFill>
                  <a:srgbClr val="585866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1인당 시청시간</a:t>
            </a:r>
            <a:endParaRPr lang="en-US" sz="1090" dirty="0"/>
          </a:p>
        </p:txBody>
      </p:sp>
      <p:sp>
        <p:nvSpPr>
          <p:cNvPr id="13" name="Text 10"/>
          <p:cNvSpPr/>
          <p:nvPr/>
        </p:nvSpPr>
        <p:spPr>
          <a:xfrm>
            <a:off x="3776662" y="2990850"/>
            <a:ext cx="2005013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900" dirty="0">
                <a:solidFill>
                  <a:srgbClr val="2C24CE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+34.5</a:t>
            </a:r>
            <a:pPr indent="0" marL="0">
              <a:buNone/>
            </a:pPr>
            <a:r>
              <a:rPr lang="en-US" sz="1950" dirty="0">
                <a:solidFill>
                  <a:srgbClr val="2C24CE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%</a:t>
            </a:r>
            <a:endParaRPr lang="en-US" sz="3900" dirty="0"/>
          </a:p>
        </p:txBody>
      </p:sp>
      <p:sp>
        <p:nvSpPr>
          <p:cNvPr id="14" name="Text 11"/>
          <p:cNvSpPr/>
          <p:nvPr/>
        </p:nvSpPr>
        <p:spPr>
          <a:xfrm>
            <a:off x="3776662" y="3581400"/>
            <a:ext cx="20050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1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31분 01초 → 41분 43초</a:t>
            </a:r>
            <a:endParaRPr lang="en-US" sz="1010" dirty="0"/>
          </a:p>
        </p:txBody>
      </p:sp>
      <p:sp>
        <p:nvSpPr>
          <p:cNvPr id="15" name="Shape 12"/>
          <p:cNvSpPr/>
          <p:nvPr/>
        </p:nvSpPr>
        <p:spPr>
          <a:xfrm>
            <a:off x="6181725" y="2514600"/>
            <a:ext cx="2462213" cy="142875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2E2E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10325" y="2743200"/>
            <a:ext cx="20050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90" dirty="0">
                <a:solidFill>
                  <a:srgbClr val="585866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점유율</a:t>
            </a:r>
            <a:endParaRPr lang="en-US" sz="1090" dirty="0"/>
          </a:p>
        </p:txBody>
      </p:sp>
      <p:sp>
        <p:nvSpPr>
          <p:cNvPr id="17" name="Text 14"/>
          <p:cNvSpPr/>
          <p:nvPr/>
        </p:nvSpPr>
        <p:spPr>
          <a:xfrm>
            <a:off x="6410325" y="2990850"/>
            <a:ext cx="2005013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900" dirty="0">
                <a:solidFill>
                  <a:srgbClr val="2C24CE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+37.3</a:t>
            </a:r>
            <a:pPr indent="0" marL="0">
              <a:buNone/>
            </a:pPr>
            <a:r>
              <a:rPr lang="en-US" sz="1950" dirty="0">
                <a:solidFill>
                  <a:srgbClr val="2C24CE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%</a:t>
            </a:r>
            <a:endParaRPr lang="en-US" sz="3900" dirty="0"/>
          </a:p>
        </p:txBody>
      </p:sp>
      <p:sp>
        <p:nvSpPr>
          <p:cNvPr id="18" name="Text 15"/>
          <p:cNvSpPr/>
          <p:nvPr/>
        </p:nvSpPr>
        <p:spPr>
          <a:xfrm>
            <a:off x="6410325" y="3581400"/>
            <a:ext cx="20050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1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0.00284 → 0.00390</a:t>
            </a:r>
            <a:endParaRPr lang="en-US" sz="1010" dirty="0"/>
          </a:p>
        </p:txBody>
      </p:sp>
      <p:sp>
        <p:nvSpPr>
          <p:cNvPr id="19" name="Shape 16"/>
          <p:cNvSpPr/>
          <p:nvPr/>
        </p:nvSpPr>
        <p:spPr>
          <a:xfrm>
            <a:off x="8815388" y="2514600"/>
            <a:ext cx="2462213" cy="1428750"/>
          </a:xfrm>
          <a:prstGeom prst="roundRect">
            <a:avLst>
              <a:gd name="adj" fmla="val 10667"/>
            </a:avLst>
          </a:prstGeom>
          <a:solidFill>
            <a:srgbClr val="F3F3FD"/>
          </a:solidFill>
          <a:ln w="12700">
            <a:solidFill>
              <a:srgbClr val="CDCBF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043988" y="2743200"/>
            <a:ext cx="20050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90" dirty="0">
                <a:solidFill>
                  <a:srgbClr val="585866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도달률</a:t>
            </a:r>
            <a:endParaRPr lang="en-US" sz="1090" dirty="0"/>
          </a:p>
        </p:txBody>
      </p:sp>
      <p:sp>
        <p:nvSpPr>
          <p:cNvPr id="21" name="Text 18"/>
          <p:cNvSpPr/>
          <p:nvPr/>
        </p:nvSpPr>
        <p:spPr>
          <a:xfrm>
            <a:off x="9043988" y="2990850"/>
            <a:ext cx="2005013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900" dirty="0">
                <a:solidFill>
                  <a:srgbClr val="2C24CE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+2.9</a:t>
            </a:r>
            <a:pPr indent="0" marL="0">
              <a:buNone/>
            </a:pPr>
            <a:r>
              <a:rPr lang="en-US" sz="1950" dirty="0">
                <a:solidFill>
                  <a:srgbClr val="2C24CE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%</a:t>
            </a:r>
            <a:endParaRPr lang="en-US" sz="3900" dirty="0"/>
          </a:p>
        </p:txBody>
      </p:sp>
      <p:sp>
        <p:nvSpPr>
          <p:cNvPr id="22" name="Text 19"/>
          <p:cNvSpPr/>
          <p:nvPr/>
        </p:nvSpPr>
        <p:spPr>
          <a:xfrm>
            <a:off x="9043988" y="3581400"/>
            <a:ext cx="20050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1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0.03621 → 0.03726</a:t>
            </a:r>
            <a:endParaRPr lang="en-US" sz="1010" dirty="0"/>
          </a:p>
        </p:txBody>
      </p:sp>
      <p:sp>
        <p:nvSpPr>
          <p:cNvPr id="23" name="Shape 20"/>
          <p:cNvSpPr/>
          <p:nvPr/>
        </p:nvSpPr>
        <p:spPr>
          <a:xfrm>
            <a:off x="914400" y="4191000"/>
            <a:ext cx="10363200" cy="13335"/>
          </a:xfrm>
          <a:prstGeom prst="rect">
            <a:avLst/>
          </a:prstGeom>
          <a:solidFill>
            <a:srgbClr val="E2E2EA"/>
          </a:solidFill>
          <a:ln/>
        </p:spPr>
      </p:sp>
      <p:sp>
        <p:nvSpPr>
          <p:cNvPr id="24" name="Text 21"/>
          <p:cNvSpPr/>
          <p:nvPr/>
        </p:nvSpPr>
        <p:spPr>
          <a:xfrm>
            <a:off x="914400" y="4305300"/>
            <a:ext cx="3810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40" spc="100" kern="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연도별 평균 시청률</a:t>
            </a:r>
            <a:endParaRPr lang="en-US" sz="940" dirty="0"/>
          </a:p>
        </p:txBody>
      </p:sp>
      <p:sp>
        <p:nvSpPr>
          <p:cNvPr id="25" name="Text 22"/>
          <p:cNvSpPr/>
          <p:nvPr/>
        </p:nvSpPr>
        <p:spPr>
          <a:xfrm>
            <a:off x="914400" y="4619625"/>
            <a:ext cx="876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2024년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1905000" y="4591050"/>
            <a:ext cx="7086600" cy="209550"/>
          </a:xfrm>
          <a:prstGeom prst="roundRect">
            <a:avLst>
              <a:gd name="adj" fmla="val 50000"/>
            </a:avLst>
          </a:prstGeom>
          <a:solidFill>
            <a:srgbClr val="EEEEF3"/>
          </a:solidFill>
          <a:ln/>
        </p:spPr>
      </p:sp>
      <p:sp>
        <p:nvSpPr>
          <p:cNvPr id="27" name="Shape 24"/>
          <p:cNvSpPr/>
          <p:nvPr/>
        </p:nvSpPr>
        <p:spPr>
          <a:xfrm>
            <a:off x="1905000" y="4591050"/>
            <a:ext cx="4606290" cy="209550"/>
          </a:xfrm>
          <a:prstGeom prst="roundRect">
            <a:avLst>
              <a:gd name="adj" fmla="val 50000"/>
            </a:avLst>
          </a:prstGeom>
          <a:solidFill>
            <a:srgbClr val="CFCFDA"/>
          </a:solidFill>
          <a:ln/>
        </p:spPr>
      </p:sp>
      <p:sp>
        <p:nvSpPr>
          <p:cNvPr id="28" name="Text 25"/>
          <p:cNvSpPr/>
          <p:nvPr/>
        </p:nvSpPr>
        <p:spPr>
          <a:xfrm>
            <a:off x="6625590" y="4610100"/>
            <a:ext cx="114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85866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0.078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914400" y="4924425"/>
            <a:ext cx="876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2025년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1905000" y="4895850"/>
            <a:ext cx="7086600" cy="209550"/>
          </a:xfrm>
          <a:prstGeom prst="roundRect">
            <a:avLst>
              <a:gd name="adj" fmla="val 50000"/>
            </a:avLst>
          </a:prstGeom>
          <a:solidFill>
            <a:srgbClr val="EEEEF3"/>
          </a:solidFill>
          <a:ln/>
        </p:spPr>
      </p:sp>
      <p:sp>
        <p:nvSpPr>
          <p:cNvPr id="31" name="Shape 28"/>
          <p:cNvSpPr/>
          <p:nvPr/>
        </p:nvSpPr>
        <p:spPr>
          <a:xfrm>
            <a:off x="1905000" y="4895850"/>
            <a:ext cx="5433060" cy="209550"/>
          </a:xfrm>
          <a:prstGeom prst="roundRect">
            <a:avLst>
              <a:gd name="adj" fmla="val 50000"/>
            </a:avLst>
          </a:prstGeom>
          <a:solidFill>
            <a:srgbClr val="6F69E2"/>
          </a:solidFill>
          <a:ln/>
        </p:spPr>
      </p:sp>
      <p:sp>
        <p:nvSpPr>
          <p:cNvPr id="32" name="Text 29"/>
          <p:cNvSpPr/>
          <p:nvPr/>
        </p:nvSpPr>
        <p:spPr>
          <a:xfrm>
            <a:off x="7452360" y="4914900"/>
            <a:ext cx="114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85866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0.092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914400" y="5229225"/>
            <a:ext cx="876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2026년 누적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1905000" y="5200650"/>
            <a:ext cx="7086600" cy="209550"/>
          </a:xfrm>
          <a:prstGeom prst="roundRect">
            <a:avLst>
              <a:gd name="adj" fmla="val 50000"/>
            </a:avLst>
          </a:prstGeom>
          <a:solidFill>
            <a:srgbClr val="EEEEF3"/>
          </a:solidFill>
          <a:ln/>
        </p:spPr>
      </p:sp>
      <p:sp>
        <p:nvSpPr>
          <p:cNvPr id="35" name="Shape 32"/>
          <p:cNvSpPr/>
          <p:nvPr/>
        </p:nvSpPr>
        <p:spPr>
          <a:xfrm>
            <a:off x="1905000" y="5200650"/>
            <a:ext cx="6377940" cy="20955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36" name="Text 33"/>
          <p:cNvSpPr/>
          <p:nvPr/>
        </p:nvSpPr>
        <p:spPr>
          <a:xfrm>
            <a:off x="8397240" y="5219700"/>
            <a:ext cx="114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0.108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914400" y="5753100"/>
            <a:ext cx="103632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OLIFE의 성장은 도달을 크게 늘린 성장이라기보다, </a:t>
            </a:r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시청자의 체류 깊이가 강화된 성장</a:t>
            </a:r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에 가까움.  </a:t>
            </a:r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A6A6B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· 2024년 → 2026년 누적(~09.06) · 전국 유료방송가구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cripts/_ppt/assets/olife-logo-l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6228" y="419100"/>
            <a:ext cx="852372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087100" y="6324600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04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914400" y="1019175"/>
            <a:ext cx="2857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5" name="Text 2"/>
          <p:cNvSpPr/>
          <p:nvPr/>
        </p:nvSpPr>
        <p:spPr>
          <a:xfrm>
            <a:off x="1314450" y="895350"/>
            <a:ext cx="6667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spc="100" kern="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01 성과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914400" y="1333500"/>
            <a:ext cx="10668000" cy="551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330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2026년, 가장 강한 성장 구간에 진입함</a:t>
            </a:r>
            <a:endParaRPr lang="en-US" sz="33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838200" y="1866900"/>
          <a:ext cx="10515600" cy="28575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8572500" y="1962150"/>
            <a:ext cx="27051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최고 0.133 (2026년 7월)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914400" y="4819650"/>
            <a:ext cx="3219450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E2E2E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085850" y="4933950"/>
            <a:ext cx="2876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2026.04.20</a:t>
            </a:r>
            <a:endParaRPr lang="en-US" sz="1130" dirty="0"/>
          </a:p>
        </p:txBody>
      </p:sp>
      <p:sp>
        <p:nvSpPr>
          <p:cNvPr id="11" name="Text 7"/>
          <p:cNvSpPr/>
          <p:nvPr/>
        </p:nvSpPr>
        <p:spPr>
          <a:xfrm>
            <a:off x="1085850" y="5133975"/>
            <a:ext cx="2876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80" dirty="0">
                <a:solidFill>
                  <a:srgbClr val="14141A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성장 시작</a:t>
            </a:r>
            <a:endParaRPr lang="en-US" sz="1280" dirty="0"/>
          </a:p>
        </p:txBody>
      </p:sp>
      <p:sp>
        <p:nvSpPr>
          <p:cNvPr id="12" name="Text 8"/>
          <p:cNvSpPr/>
          <p:nvPr/>
        </p:nvSpPr>
        <p:spPr>
          <a:xfrm>
            <a:off x="1085850" y="5353050"/>
            <a:ext cx="2876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8주 추세기울기 음(-)→양(+) 전환</a:t>
            </a:r>
            <a:endParaRPr lang="en-US" sz="980" dirty="0"/>
          </a:p>
        </p:txBody>
      </p:sp>
      <p:sp>
        <p:nvSpPr>
          <p:cNvPr id="13" name="Text 9"/>
          <p:cNvSpPr/>
          <p:nvPr/>
        </p:nvSpPr>
        <p:spPr>
          <a:xfrm>
            <a:off x="4191000" y="5124450"/>
            <a:ext cx="238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FCFDA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→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4486275" y="4819650"/>
            <a:ext cx="3219450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E2E2EA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657725" y="4933950"/>
            <a:ext cx="2876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2026.07.06</a:t>
            </a:r>
            <a:endParaRPr lang="en-US" sz="1130" dirty="0"/>
          </a:p>
        </p:txBody>
      </p:sp>
      <p:sp>
        <p:nvSpPr>
          <p:cNvPr id="16" name="Text 12"/>
          <p:cNvSpPr/>
          <p:nvPr/>
        </p:nvSpPr>
        <p:spPr>
          <a:xfrm>
            <a:off x="4657725" y="5133975"/>
            <a:ext cx="2876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80" dirty="0">
                <a:solidFill>
                  <a:srgbClr val="14141A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상승세 가속</a:t>
            </a:r>
            <a:endParaRPr lang="en-US" sz="1280" dirty="0"/>
          </a:p>
        </p:txBody>
      </p:sp>
      <p:sp>
        <p:nvSpPr>
          <p:cNvPr id="17" name="Text 13"/>
          <p:cNvSpPr/>
          <p:nvPr/>
        </p:nvSpPr>
        <p:spPr>
          <a:xfrm>
            <a:off x="4657725" y="5353050"/>
            <a:ext cx="2876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8주 기울기 +0.00616로 최대</a:t>
            </a:r>
            <a:endParaRPr lang="en-US" sz="980" dirty="0"/>
          </a:p>
        </p:txBody>
      </p:sp>
      <p:sp>
        <p:nvSpPr>
          <p:cNvPr id="18" name="Text 14"/>
          <p:cNvSpPr/>
          <p:nvPr/>
        </p:nvSpPr>
        <p:spPr>
          <a:xfrm>
            <a:off x="7762875" y="5124450"/>
            <a:ext cx="238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FCFDA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→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8058150" y="4819650"/>
            <a:ext cx="3219450" cy="819150"/>
          </a:xfrm>
          <a:prstGeom prst="roundRect">
            <a:avLst>
              <a:gd name="adj" fmla="val 13953"/>
            </a:avLst>
          </a:prstGeom>
          <a:solidFill>
            <a:srgbClr val="F3F3FD"/>
          </a:solidFill>
          <a:ln w="12700">
            <a:solidFill>
              <a:srgbClr val="2C24CE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8229600" y="4933950"/>
            <a:ext cx="2876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2026.08.03</a:t>
            </a:r>
            <a:endParaRPr lang="en-US" sz="1130" dirty="0"/>
          </a:p>
        </p:txBody>
      </p:sp>
      <p:sp>
        <p:nvSpPr>
          <p:cNvPr id="21" name="Text 17"/>
          <p:cNvSpPr/>
          <p:nvPr/>
        </p:nvSpPr>
        <p:spPr>
          <a:xfrm>
            <a:off x="8229600" y="5133975"/>
            <a:ext cx="2876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80" dirty="0">
                <a:solidFill>
                  <a:srgbClr val="14141A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8주 이동평균 고점</a:t>
            </a:r>
            <a:endParaRPr lang="en-US" sz="1280" dirty="0"/>
          </a:p>
        </p:txBody>
      </p:sp>
      <p:sp>
        <p:nvSpPr>
          <p:cNvPr id="22" name="Text 18"/>
          <p:cNvSpPr/>
          <p:nvPr/>
        </p:nvSpPr>
        <p:spPr>
          <a:xfrm>
            <a:off x="8229600" y="5353050"/>
            <a:ext cx="2876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0.131 · 분석기간 내 최고</a:t>
            </a:r>
            <a:endParaRPr lang="en-US" sz="980" dirty="0"/>
          </a:p>
        </p:txBody>
      </p:sp>
      <p:sp>
        <p:nvSpPr>
          <p:cNvPr id="23" name="Text 19"/>
          <p:cNvSpPr/>
          <p:nvPr/>
        </p:nvSpPr>
        <p:spPr>
          <a:xfrm>
            <a:off x="914400" y="5753100"/>
            <a:ext cx="103632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2025년 1월의 편성 변화가 즉시 수치로 나타난 것이 아니라, </a:t>
            </a:r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변화가 축적된 뒤 2026년 봄부터 성장 속도가 가팔라졌음.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cripts/_ppt/assets/olife-logo-l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6228" y="419100"/>
            <a:ext cx="852372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087100" y="6324600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05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914400" y="1019175"/>
            <a:ext cx="2857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5" name="Text 2"/>
          <p:cNvSpPr/>
          <p:nvPr/>
        </p:nvSpPr>
        <p:spPr>
          <a:xfrm>
            <a:off x="1314450" y="895350"/>
            <a:ext cx="6667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spc="100" kern="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02 원인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914400" y="1333500"/>
            <a:ext cx="10668000" cy="1046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330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성장은 '더 많은 사람'보다</a:t>
            </a:r>
            <a:endParaRPr lang="en-US" sz="3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330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'더 오래 보는 사람'에서 시작됨</a:t>
            </a:r>
            <a:endParaRPr lang="en-US" sz="3300" dirty="0"/>
          </a:p>
        </p:txBody>
      </p:sp>
      <p:sp>
        <p:nvSpPr>
          <p:cNvPr id="7" name="Shape 4"/>
          <p:cNvSpPr/>
          <p:nvPr/>
        </p:nvSpPr>
        <p:spPr>
          <a:xfrm>
            <a:off x="914400" y="2495550"/>
            <a:ext cx="5095875" cy="2819400"/>
          </a:xfrm>
          <a:prstGeom prst="roundRect">
            <a:avLst>
              <a:gd name="adj" fmla="val 5405"/>
            </a:avLst>
          </a:prstGeom>
          <a:solidFill>
            <a:srgbClr val="F3F3FD"/>
          </a:solidFill>
          <a:ln w="12700">
            <a:solidFill>
              <a:srgbClr val="CDCBF6"/>
            </a:solidFill>
            <a:prstDash val="solid"/>
          </a:ln>
        </p:spPr>
      </p:sp>
      <p:graphicFrame>
        <p:nvGraphicFramePr>
          <p:cNvPr id="8" name="Chart 0" descr=""/>
          <p:cNvGraphicFramePr/>
          <p:nvPr/>
        </p:nvGraphicFramePr>
        <p:xfrm>
          <a:off x="1219200" y="2781300"/>
          <a:ext cx="2000250" cy="200025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1219200" y="3537109"/>
            <a:ext cx="200025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30" dirty="0">
                <a:solidFill>
                  <a:srgbClr val="7C7C8C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+2.9%</a:t>
            </a:r>
            <a:endParaRPr lang="en-US" sz="2030" dirty="0"/>
          </a:p>
        </p:txBody>
      </p:sp>
      <p:sp>
        <p:nvSpPr>
          <p:cNvPr id="10" name="Text 6"/>
          <p:cNvSpPr/>
          <p:nvPr/>
        </p:nvSpPr>
        <p:spPr>
          <a:xfrm>
            <a:off x="1219200" y="3863721"/>
            <a:ext cx="2000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8B949B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도달률</a:t>
            </a:r>
            <a:endParaRPr lang="en-US" sz="980" dirty="0"/>
          </a:p>
        </p:txBody>
      </p:sp>
      <p:graphicFrame>
        <p:nvGraphicFramePr>
          <p:cNvPr id="11" name="Chart 1" descr=""/>
          <p:cNvGraphicFramePr/>
          <p:nvPr/>
        </p:nvGraphicFramePr>
        <p:xfrm>
          <a:off x="3771900" y="2781300"/>
          <a:ext cx="2000250" cy="200025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 7"/>
          <p:cNvSpPr/>
          <p:nvPr/>
        </p:nvSpPr>
        <p:spPr>
          <a:xfrm>
            <a:off x="3771900" y="3537109"/>
            <a:ext cx="200025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30" dirty="0">
                <a:solidFill>
                  <a:srgbClr val="2C24CE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+34.5%</a:t>
            </a:r>
            <a:endParaRPr lang="en-US" sz="2030" dirty="0"/>
          </a:p>
        </p:txBody>
      </p:sp>
      <p:sp>
        <p:nvSpPr>
          <p:cNvPr id="13" name="Text 8"/>
          <p:cNvSpPr/>
          <p:nvPr/>
        </p:nvSpPr>
        <p:spPr>
          <a:xfrm>
            <a:off x="3771900" y="3863721"/>
            <a:ext cx="2000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8B949B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1인당 시청시간</a:t>
            </a:r>
            <a:endParaRPr lang="en-US" sz="980" dirty="0"/>
          </a:p>
        </p:txBody>
      </p:sp>
      <p:sp>
        <p:nvSpPr>
          <p:cNvPr id="14" name="Text 9"/>
          <p:cNvSpPr/>
          <p:nvPr/>
        </p:nvSpPr>
        <p:spPr>
          <a:xfrm>
            <a:off x="914400" y="4972050"/>
            <a:ext cx="509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2024년 → 2026년 누적 증가율 · 링 눈금 최대 40%</a:t>
            </a:r>
            <a:endParaRPr lang="en-US" sz="980" dirty="0"/>
          </a:p>
        </p:txBody>
      </p:sp>
      <p:sp>
        <p:nvSpPr>
          <p:cNvPr id="15" name="Text 10"/>
          <p:cNvSpPr/>
          <p:nvPr/>
        </p:nvSpPr>
        <p:spPr>
          <a:xfrm>
            <a:off x="6429375" y="2457450"/>
            <a:ext cx="48482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05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도달보다</a:t>
            </a:r>
            <a:endParaRPr lang="en-US" sz="40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405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체류</a:t>
            </a:r>
            <a:endParaRPr lang="en-US" sz="4050" dirty="0"/>
          </a:p>
        </p:txBody>
      </p:sp>
      <p:sp>
        <p:nvSpPr>
          <p:cNvPr id="16" name="Shape 11"/>
          <p:cNvSpPr/>
          <p:nvPr/>
        </p:nvSpPr>
        <p:spPr>
          <a:xfrm>
            <a:off x="6429375" y="3933825"/>
            <a:ext cx="85725" cy="85725"/>
          </a:xfrm>
          <a:prstGeom prst="roundRect">
            <a:avLst>
              <a:gd name="adj" fmla="val 33333"/>
            </a:avLst>
          </a:prstGeom>
          <a:solidFill>
            <a:srgbClr val="2C24CE"/>
          </a:solidFill>
          <a:ln/>
        </p:spPr>
      </p:sp>
      <p:sp>
        <p:nvSpPr>
          <p:cNvPr id="17" name="Text 12"/>
          <p:cNvSpPr/>
          <p:nvPr/>
        </p:nvSpPr>
        <p:spPr>
          <a:xfrm>
            <a:off x="6562725" y="3867150"/>
            <a:ext cx="471487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8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시청률 +39.1%를 만든 것은 도달(+2.9%)이 아니라 </a:t>
            </a:r>
            <a:pPr indent="0" marL="0">
              <a:lnSpc>
                <a:spcPct val="145000"/>
              </a:lnSpc>
              <a:buNone/>
            </a:pPr>
            <a:r>
              <a:rPr lang="en-US" sz="128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1인당 시청시간(+34.5%)</a:t>
            </a:r>
            <a:pPr indent="0" marL="0">
              <a:lnSpc>
                <a:spcPct val="145000"/>
              </a:lnSpc>
              <a:buNone/>
            </a:pPr>
            <a:r>
              <a:rPr lang="en-US" sz="128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임</a:t>
            </a:r>
            <a:endParaRPr lang="en-US" sz="1280" dirty="0"/>
          </a:p>
        </p:txBody>
      </p:sp>
      <p:sp>
        <p:nvSpPr>
          <p:cNvPr id="18" name="Shape 13"/>
          <p:cNvSpPr/>
          <p:nvPr/>
        </p:nvSpPr>
        <p:spPr>
          <a:xfrm>
            <a:off x="6429375" y="4524375"/>
            <a:ext cx="85725" cy="85725"/>
          </a:xfrm>
          <a:prstGeom prst="roundRect">
            <a:avLst>
              <a:gd name="adj" fmla="val 33333"/>
            </a:avLst>
          </a:prstGeom>
          <a:solidFill>
            <a:srgbClr val="2C24CE"/>
          </a:solidFill>
          <a:ln/>
        </p:spPr>
      </p:sp>
      <p:sp>
        <p:nvSpPr>
          <p:cNvPr id="19" name="Text 14"/>
          <p:cNvSpPr/>
          <p:nvPr/>
        </p:nvSpPr>
        <p:spPr>
          <a:xfrm>
            <a:off x="6562725" y="4457700"/>
            <a:ext cx="471487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8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1인당 평균 시청시간 </a:t>
            </a:r>
            <a:pPr indent="0" marL="0">
              <a:lnSpc>
                <a:spcPct val="145000"/>
              </a:lnSpc>
              <a:buNone/>
            </a:pPr>
            <a:r>
              <a:rPr lang="en-US" sz="128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31분 01초 → 41분 43초</a:t>
            </a:r>
            <a:endParaRPr lang="en-US" sz="1280" dirty="0"/>
          </a:p>
        </p:txBody>
      </p:sp>
      <p:sp>
        <p:nvSpPr>
          <p:cNvPr id="20" name="Shape 15"/>
          <p:cNvSpPr/>
          <p:nvPr/>
        </p:nvSpPr>
        <p:spPr>
          <a:xfrm>
            <a:off x="6429375" y="5114925"/>
            <a:ext cx="85725" cy="85725"/>
          </a:xfrm>
          <a:prstGeom prst="roundRect">
            <a:avLst>
              <a:gd name="adj" fmla="val 33333"/>
            </a:avLst>
          </a:prstGeom>
          <a:solidFill>
            <a:srgbClr val="2C24CE"/>
          </a:solidFill>
          <a:ln/>
        </p:spPr>
      </p:sp>
      <p:sp>
        <p:nvSpPr>
          <p:cNvPr id="21" name="Text 16"/>
          <p:cNvSpPr/>
          <p:nvPr/>
        </p:nvSpPr>
        <p:spPr>
          <a:xfrm>
            <a:off x="6562725" y="5048250"/>
            <a:ext cx="471487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8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다만 급등 국면(2026.04~08)만 보면 도달도 +17.0% 동반 상승 — 최근에는 복합 성장임</a:t>
            </a:r>
            <a:endParaRPr lang="en-US" sz="12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cripts/_ppt/assets/olife-logo-l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6228" y="419100"/>
            <a:ext cx="852372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087100" y="6324600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06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914400" y="1019175"/>
            <a:ext cx="2857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5" name="Text 2"/>
          <p:cNvSpPr/>
          <p:nvPr/>
        </p:nvSpPr>
        <p:spPr>
          <a:xfrm>
            <a:off x="1314450" y="895350"/>
            <a:ext cx="6667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spc="100" kern="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02 원인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914400" y="1333500"/>
            <a:ext cx="10668000" cy="551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330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가장 많이 보던 시청층이, 가장 크게 늘었음</a:t>
            </a:r>
            <a:endParaRPr lang="en-US" sz="3300" dirty="0"/>
          </a:p>
        </p:txBody>
      </p:sp>
      <p:sp>
        <p:nvSpPr>
          <p:cNvPr id="7" name="Text 4"/>
          <p:cNvSpPr/>
          <p:nvPr/>
        </p:nvSpPr>
        <p:spPr>
          <a:xfrm>
            <a:off x="914400" y="2152650"/>
            <a:ext cx="8191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80" dirty="0">
                <a:solidFill>
                  <a:srgbClr val="14141A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남 60대+</a:t>
            </a:r>
            <a:endParaRPr lang="en-US" sz="1280" dirty="0"/>
          </a:p>
        </p:txBody>
      </p:sp>
      <p:sp>
        <p:nvSpPr>
          <p:cNvPr id="8" name="Shape 5"/>
          <p:cNvSpPr/>
          <p:nvPr/>
        </p:nvSpPr>
        <p:spPr>
          <a:xfrm>
            <a:off x="1885950" y="2143125"/>
            <a:ext cx="2876550" cy="209550"/>
          </a:xfrm>
          <a:prstGeom prst="roundRect">
            <a:avLst>
              <a:gd name="adj" fmla="val 50000"/>
            </a:avLst>
          </a:prstGeom>
          <a:solidFill>
            <a:srgbClr val="EEEEF3"/>
          </a:solidFill>
          <a:ln/>
        </p:spPr>
      </p:sp>
      <p:sp>
        <p:nvSpPr>
          <p:cNvPr id="9" name="Shape 6"/>
          <p:cNvSpPr/>
          <p:nvPr/>
        </p:nvSpPr>
        <p:spPr>
          <a:xfrm>
            <a:off x="1885950" y="2143125"/>
            <a:ext cx="2099882" cy="20955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10" name="Text 7"/>
          <p:cNvSpPr/>
          <p:nvPr/>
        </p:nvSpPr>
        <p:spPr>
          <a:xfrm>
            <a:off x="4876800" y="2133600"/>
            <a:ext cx="1009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58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+77.5%</a:t>
            </a:r>
            <a:endParaRPr lang="en-US" sz="1580" dirty="0"/>
          </a:p>
        </p:txBody>
      </p:sp>
      <p:sp>
        <p:nvSpPr>
          <p:cNvPr id="11" name="Text 8"/>
          <p:cNvSpPr/>
          <p:nvPr/>
        </p:nvSpPr>
        <p:spPr>
          <a:xfrm>
            <a:off x="1885950" y="2400300"/>
            <a:ext cx="4000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10" dirty="0">
                <a:solidFill>
                  <a:srgbClr val="7C7C8C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0.092 → 0.162 · 시청시간 32분 46초 → 47분 43초</a:t>
            </a:r>
            <a:endParaRPr lang="en-US" sz="1010" dirty="0"/>
          </a:p>
        </p:txBody>
      </p:sp>
      <p:sp>
        <p:nvSpPr>
          <p:cNvPr id="12" name="Text 9"/>
          <p:cNvSpPr/>
          <p:nvPr/>
        </p:nvSpPr>
        <p:spPr>
          <a:xfrm>
            <a:off x="914400" y="2733675"/>
            <a:ext cx="8191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80" dirty="0">
                <a:solidFill>
                  <a:srgbClr val="14141A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여 60대+</a:t>
            </a:r>
            <a:endParaRPr lang="en-US" sz="1280" dirty="0"/>
          </a:p>
        </p:txBody>
      </p:sp>
      <p:sp>
        <p:nvSpPr>
          <p:cNvPr id="13" name="Shape 10"/>
          <p:cNvSpPr/>
          <p:nvPr/>
        </p:nvSpPr>
        <p:spPr>
          <a:xfrm>
            <a:off x="1885950" y="2724150"/>
            <a:ext cx="2876550" cy="209550"/>
          </a:xfrm>
          <a:prstGeom prst="roundRect">
            <a:avLst>
              <a:gd name="adj" fmla="val 50000"/>
            </a:avLst>
          </a:prstGeom>
          <a:solidFill>
            <a:srgbClr val="EEEEF3"/>
          </a:solidFill>
          <a:ln/>
        </p:spPr>
      </p:sp>
      <p:sp>
        <p:nvSpPr>
          <p:cNvPr id="14" name="Shape 11"/>
          <p:cNvSpPr/>
          <p:nvPr/>
        </p:nvSpPr>
        <p:spPr>
          <a:xfrm>
            <a:off x="1885950" y="2724150"/>
            <a:ext cx="2876550" cy="20955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15" name="Text 12"/>
          <p:cNvSpPr/>
          <p:nvPr/>
        </p:nvSpPr>
        <p:spPr>
          <a:xfrm>
            <a:off x="4876800" y="2714625"/>
            <a:ext cx="1009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58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+107.2%</a:t>
            </a:r>
            <a:endParaRPr lang="en-US" sz="1580" dirty="0"/>
          </a:p>
        </p:txBody>
      </p:sp>
      <p:sp>
        <p:nvSpPr>
          <p:cNvPr id="16" name="Text 13"/>
          <p:cNvSpPr/>
          <p:nvPr/>
        </p:nvSpPr>
        <p:spPr>
          <a:xfrm>
            <a:off x="1885950" y="2981325"/>
            <a:ext cx="4000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10" dirty="0">
                <a:solidFill>
                  <a:srgbClr val="7C7C8C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0.053 → 0.111 · 시청시간 29분 19초 → 45분 30초</a:t>
            </a:r>
            <a:endParaRPr lang="en-US" sz="1010" dirty="0"/>
          </a:p>
        </p:txBody>
      </p:sp>
      <p:sp>
        <p:nvSpPr>
          <p:cNvPr id="17" name="Text 14"/>
          <p:cNvSpPr/>
          <p:nvPr/>
        </p:nvSpPr>
        <p:spPr>
          <a:xfrm>
            <a:off x="914400" y="3314700"/>
            <a:ext cx="8191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80" dirty="0">
                <a:solidFill>
                  <a:srgbClr val="585866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남 50대</a:t>
            </a:r>
            <a:endParaRPr lang="en-US" sz="1280" dirty="0"/>
          </a:p>
        </p:txBody>
      </p:sp>
      <p:sp>
        <p:nvSpPr>
          <p:cNvPr id="18" name="Shape 15"/>
          <p:cNvSpPr/>
          <p:nvPr/>
        </p:nvSpPr>
        <p:spPr>
          <a:xfrm>
            <a:off x="1885950" y="3305175"/>
            <a:ext cx="2876550" cy="209550"/>
          </a:xfrm>
          <a:prstGeom prst="roundRect">
            <a:avLst>
              <a:gd name="adj" fmla="val 50000"/>
            </a:avLst>
          </a:prstGeom>
          <a:solidFill>
            <a:srgbClr val="EEEEF3"/>
          </a:solidFill>
          <a:ln/>
        </p:spPr>
      </p:sp>
      <p:sp>
        <p:nvSpPr>
          <p:cNvPr id="19" name="Shape 16"/>
          <p:cNvSpPr/>
          <p:nvPr/>
        </p:nvSpPr>
        <p:spPr>
          <a:xfrm>
            <a:off x="1885950" y="3305175"/>
            <a:ext cx="719138" cy="209550"/>
          </a:xfrm>
          <a:prstGeom prst="roundRect">
            <a:avLst>
              <a:gd name="adj" fmla="val 50000"/>
            </a:avLst>
          </a:prstGeom>
          <a:solidFill>
            <a:srgbClr val="6F69E2"/>
          </a:solidFill>
          <a:ln/>
        </p:spPr>
      </p:sp>
      <p:sp>
        <p:nvSpPr>
          <p:cNvPr id="20" name="Text 17"/>
          <p:cNvSpPr/>
          <p:nvPr/>
        </p:nvSpPr>
        <p:spPr>
          <a:xfrm>
            <a:off x="4876800" y="3295650"/>
            <a:ext cx="1009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580" dirty="0">
                <a:solidFill>
                  <a:srgbClr val="585866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+26.9%</a:t>
            </a:r>
            <a:endParaRPr lang="en-US" sz="1580" dirty="0"/>
          </a:p>
        </p:txBody>
      </p:sp>
      <p:sp>
        <p:nvSpPr>
          <p:cNvPr id="21" name="Text 18"/>
          <p:cNvSpPr/>
          <p:nvPr/>
        </p:nvSpPr>
        <p:spPr>
          <a:xfrm>
            <a:off x="914400" y="3810000"/>
            <a:ext cx="49720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20대는 증가율이 크지만 절대 시청 수준이 낮음. OLIFE 성장의 실체는 </a:t>
            </a:r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기존 핵심 시청층의 강화</a:t>
            </a:r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임.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305550" y="1990725"/>
            <a:ext cx="4972050" cy="3143250"/>
          </a:xfrm>
          <a:prstGeom prst="roundRect">
            <a:avLst>
              <a:gd name="adj" fmla="val 4848"/>
            </a:avLst>
          </a:prstGeom>
          <a:solidFill>
            <a:srgbClr val="F3F3FD"/>
          </a:solidFill>
          <a:ln w="12700">
            <a:solidFill>
              <a:srgbClr val="CDCBF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610350" y="2257425"/>
            <a:ext cx="4381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4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시간대별 성장 기여</a:t>
            </a:r>
            <a:endParaRPr lang="en-US" sz="1240" dirty="0"/>
          </a:p>
        </p:txBody>
      </p:sp>
      <p:sp>
        <p:nvSpPr>
          <p:cNvPr id="24" name="Text 21"/>
          <p:cNvSpPr/>
          <p:nvPr/>
        </p:nvSpPr>
        <p:spPr>
          <a:xfrm>
            <a:off x="6610350" y="2676525"/>
            <a:ext cx="2857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40" dirty="0">
                <a:solidFill>
                  <a:srgbClr val="26262F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오전 09-13</a:t>
            </a:r>
            <a:endParaRPr lang="en-US" sz="1240" dirty="0"/>
          </a:p>
        </p:txBody>
      </p:sp>
      <p:sp>
        <p:nvSpPr>
          <p:cNvPr id="25" name="Shape 22"/>
          <p:cNvSpPr/>
          <p:nvPr/>
        </p:nvSpPr>
        <p:spPr>
          <a:xfrm>
            <a:off x="10172700" y="2638425"/>
            <a:ext cx="800100" cy="2667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26" name="Text 23"/>
          <p:cNvSpPr/>
          <p:nvPr/>
        </p:nvSpPr>
        <p:spPr>
          <a:xfrm>
            <a:off x="10172700" y="2695575"/>
            <a:ext cx="8001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40" dirty="0">
                <a:solidFill>
                  <a:srgbClr val="FFFFFF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성장 주도</a:t>
            </a:r>
            <a:endParaRPr lang="en-US" sz="940" dirty="0"/>
          </a:p>
        </p:txBody>
      </p:sp>
      <p:sp>
        <p:nvSpPr>
          <p:cNvPr id="27" name="Shape 24"/>
          <p:cNvSpPr/>
          <p:nvPr/>
        </p:nvSpPr>
        <p:spPr>
          <a:xfrm>
            <a:off x="6610350" y="3038475"/>
            <a:ext cx="4362450" cy="13335"/>
          </a:xfrm>
          <a:prstGeom prst="rect">
            <a:avLst/>
          </a:prstGeom>
          <a:solidFill>
            <a:srgbClr val="CDCBF6"/>
          </a:solidFill>
          <a:ln/>
        </p:spPr>
      </p:sp>
      <p:sp>
        <p:nvSpPr>
          <p:cNvPr id="28" name="Text 25"/>
          <p:cNvSpPr/>
          <p:nvPr/>
        </p:nvSpPr>
        <p:spPr>
          <a:xfrm>
            <a:off x="6610350" y="3114675"/>
            <a:ext cx="2857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40" dirty="0">
                <a:solidFill>
                  <a:srgbClr val="26262F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오후 14-18</a:t>
            </a:r>
            <a:endParaRPr lang="en-US" sz="1240" dirty="0"/>
          </a:p>
        </p:txBody>
      </p:sp>
      <p:sp>
        <p:nvSpPr>
          <p:cNvPr id="29" name="Shape 26"/>
          <p:cNvSpPr/>
          <p:nvPr/>
        </p:nvSpPr>
        <p:spPr>
          <a:xfrm>
            <a:off x="10172700" y="3076575"/>
            <a:ext cx="800100" cy="2667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30" name="Text 27"/>
          <p:cNvSpPr/>
          <p:nvPr/>
        </p:nvSpPr>
        <p:spPr>
          <a:xfrm>
            <a:off x="10172700" y="3133725"/>
            <a:ext cx="8001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40" dirty="0">
                <a:solidFill>
                  <a:srgbClr val="FFFFFF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성장 주도</a:t>
            </a:r>
            <a:endParaRPr lang="en-US" sz="940" dirty="0"/>
          </a:p>
        </p:txBody>
      </p:sp>
      <p:sp>
        <p:nvSpPr>
          <p:cNvPr id="31" name="Shape 28"/>
          <p:cNvSpPr/>
          <p:nvPr/>
        </p:nvSpPr>
        <p:spPr>
          <a:xfrm>
            <a:off x="6610350" y="3476625"/>
            <a:ext cx="4362450" cy="13335"/>
          </a:xfrm>
          <a:prstGeom prst="rect">
            <a:avLst/>
          </a:prstGeom>
          <a:solidFill>
            <a:srgbClr val="CDCBF6"/>
          </a:solidFill>
          <a:ln/>
        </p:spPr>
      </p:sp>
      <p:sp>
        <p:nvSpPr>
          <p:cNvPr id="32" name="Text 29"/>
          <p:cNvSpPr/>
          <p:nvPr/>
        </p:nvSpPr>
        <p:spPr>
          <a:xfrm>
            <a:off x="6610350" y="3552825"/>
            <a:ext cx="2857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40" dirty="0">
                <a:solidFill>
                  <a:srgbClr val="26262F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저녁·심야 19-25</a:t>
            </a:r>
            <a:endParaRPr lang="en-US" sz="1240" dirty="0"/>
          </a:p>
        </p:txBody>
      </p:sp>
      <p:sp>
        <p:nvSpPr>
          <p:cNvPr id="33" name="Shape 30"/>
          <p:cNvSpPr/>
          <p:nvPr/>
        </p:nvSpPr>
        <p:spPr>
          <a:xfrm>
            <a:off x="10172700" y="3514725"/>
            <a:ext cx="800100" cy="2667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34" name="Text 31"/>
          <p:cNvSpPr/>
          <p:nvPr/>
        </p:nvSpPr>
        <p:spPr>
          <a:xfrm>
            <a:off x="10172700" y="3571875"/>
            <a:ext cx="8001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40" dirty="0">
                <a:solidFill>
                  <a:srgbClr val="FFFFFF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성장 주도</a:t>
            </a:r>
            <a:endParaRPr lang="en-US" sz="940" dirty="0"/>
          </a:p>
        </p:txBody>
      </p:sp>
      <p:sp>
        <p:nvSpPr>
          <p:cNvPr id="35" name="Shape 32"/>
          <p:cNvSpPr/>
          <p:nvPr/>
        </p:nvSpPr>
        <p:spPr>
          <a:xfrm>
            <a:off x="6610350" y="3914775"/>
            <a:ext cx="4362450" cy="13335"/>
          </a:xfrm>
          <a:prstGeom prst="rect">
            <a:avLst/>
          </a:prstGeom>
          <a:solidFill>
            <a:srgbClr val="CDCBF6"/>
          </a:solidFill>
          <a:ln/>
        </p:spPr>
      </p:sp>
      <p:sp>
        <p:nvSpPr>
          <p:cNvPr id="36" name="Text 33"/>
          <p:cNvSpPr/>
          <p:nvPr/>
        </p:nvSpPr>
        <p:spPr>
          <a:xfrm>
            <a:off x="6610350" y="3990975"/>
            <a:ext cx="2857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40" dirty="0">
                <a:solidFill>
                  <a:srgbClr val="26262F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새벽 02-08</a:t>
            </a:r>
            <a:endParaRPr lang="en-US" sz="1240" dirty="0"/>
          </a:p>
        </p:txBody>
      </p:sp>
      <p:sp>
        <p:nvSpPr>
          <p:cNvPr id="37" name="Shape 34"/>
          <p:cNvSpPr/>
          <p:nvPr/>
        </p:nvSpPr>
        <p:spPr>
          <a:xfrm>
            <a:off x="10382250" y="3952875"/>
            <a:ext cx="590550" cy="266700"/>
          </a:xfrm>
          <a:prstGeom prst="roundRect">
            <a:avLst>
              <a:gd name="adj" fmla="val 50000"/>
            </a:avLst>
          </a:prstGeom>
          <a:solidFill>
            <a:srgbClr val="CFCFDA"/>
          </a:solidFill>
          <a:ln/>
        </p:spPr>
      </p:sp>
      <p:sp>
        <p:nvSpPr>
          <p:cNvPr id="38" name="Text 35"/>
          <p:cNvSpPr/>
          <p:nvPr/>
        </p:nvSpPr>
        <p:spPr>
          <a:xfrm>
            <a:off x="10382250" y="4010025"/>
            <a:ext cx="5905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40" dirty="0">
                <a:solidFill>
                  <a:srgbClr val="585866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정체</a:t>
            </a:r>
            <a:endParaRPr lang="en-US" sz="940" dirty="0"/>
          </a:p>
        </p:txBody>
      </p:sp>
      <p:sp>
        <p:nvSpPr>
          <p:cNvPr id="39" name="Text 36"/>
          <p:cNvSpPr/>
          <p:nvPr/>
        </p:nvSpPr>
        <p:spPr>
          <a:xfrm>
            <a:off x="6610350" y="4448175"/>
            <a:ext cx="43624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01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주말은 4개 시간대 모두 평일보다 높음. </a:t>
            </a:r>
            <a:pPr indent="0" marL="0">
              <a:lnSpc>
                <a:spcPct val="145000"/>
              </a:lnSpc>
              <a:buNone/>
            </a:pPr>
            <a:r>
              <a:rPr lang="en-US" sz="101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오전·오후·저녁 세 구간이 고르게</a:t>
            </a:r>
            <a:pPr indent="0" marL="0">
              <a:lnSpc>
                <a:spcPct val="145000"/>
              </a:lnSpc>
              <a:buNone/>
            </a:pPr>
            <a:r>
              <a:rPr lang="en-US" sz="101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 성장을 이끌었음.</a:t>
            </a:r>
            <a:endParaRPr lang="en-US" sz="101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cripts/_ppt/assets/olife-logo-l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6228" y="419100"/>
            <a:ext cx="852372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087100" y="6324600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07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7048500" y="4800600"/>
            <a:ext cx="43815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80000"/>
              </a:lnSpc>
              <a:buNone/>
            </a:pPr>
            <a:r>
              <a:rPr lang="en-US" sz="18000" dirty="0">
                <a:solidFill>
                  <a:srgbClr val="F3F3FD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03</a:t>
            </a:r>
            <a:endParaRPr lang="en-US" sz="18000" dirty="0"/>
          </a:p>
        </p:txBody>
      </p:sp>
      <p:sp>
        <p:nvSpPr>
          <p:cNvPr id="5" name="Shape 2"/>
          <p:cNvSpPr/>
          <p:nvPr/>
        </p:nvSpPr>
        <p:spPr>
          <a:xfrm>
            <a:off x="914400" y="1657350"/>
            <a:ext cx="2857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6" name="Text 3"/>
          <p:cNvSpPr/>
          <p:nvPr/>
        </p:nvSpPr>
        <p:spPr>
          <a:xfrm>
            <a:off x="1314450" y="1533525"/>
            <a:ext cx="6667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spc="100" kern="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3장 · 실행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914400" y="1971675"/>
            <a:ext cx="10668000" cy="1405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450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OLIFE는</a:t>
            </a:r>
            <a:endParaRPr lang="en-US" sz="45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450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무엇을 바꿨는가</a:t>
            </a:r>
            <a:endParaRPr lang="en-US" sz="4500" dirty="0"/>
          </a:p>
        </p:txBody>
      </p:sp>
      <p:sp>
        <p:nvSpPr>
          <p:cNvPr id="8" name="Shape 5"/>
          <p:cNvSpPr/>
          <p:nvPr/>
        </p:nvSpPr>
        <p:spPr>
          <a:xfrm>
            <a:off x="914400" y="3590925"/>
            <a:ext cx="3352800" cy="125730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E2E2E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43000" y="3810000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①</a:t>
            </a:r>
            <a:endParaRPr lang="en-US" sz="1130" dirty="0"/>
          </a:p>
        </p:txBody>
      </p:sp>
      <p:sp>
        <p:nvSpPr>
          <p:cNvPr id="10" name="Text 7"/>
          <p:cNvSpPr/>
          <p:nvPr/>
        </p:nvSpPr>
        <p:spPr>
          <a:xfrm>
            <a:off x="1143000" y="4057650"/>
            <a:ext cx="29337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30" dirty="0">
                <a:solidFill>
                  <a:srgbClr val="14141A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편성 효율</a:t>
            </a:r>
            <a:endParaRPr lang="en-US" sz="1430" dirty="0"/>
          </a:p>
        </p:txBody>
      </p:sp>
      <p:sp>
        <p:nvSpPr>
          <p:cNvPr id="11" name="Text 8"/>
          <p:cNvSpPr/>
          <p:nvPr/>
        </p:nvSpPr>
        <p:spPr>
          <a:xfrm>
            <a:off x="1143000" y="4362450"/>
            <a:ext cx="29337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9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저효율을 덜어내고 고효율에 집중</a:t>
            </a:r>
            <a:endParaRPr lang="en-US" sz="1090" dirty="0"/>
          </a:p>
        </p:txBody>
      </p:sp>
      <p:sp>
        <p:nvSpPr>
          <p:cNvPr id="12" name="Shape 9"/>
          <p:cNvSpPr/>
          <p:nvPr/>
        </p:nvSpPr>
        <p:spPr>
          <a:xfrm>
            <a:off x="4419600" y="3590925"/>
            <a:ext cx="3352800" cy="125730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E2E2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648200" y="3810000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②</a:t>
            </a:r>
            <a:endParaRPr lang="en-US" sz="1130" dirty="0"/>
          </a:p>
        </p:txBody>
      </p:sp>
      <p:sp>
        <p:nvSpPr>
          <p:cNvPr id="14" name="Text 11"/>
          <p:cNvSpPr/>
          <p:nvPr/>
        </p:nvSpPr>
        <p:spPr>
          <a:xfrm>
            <a:off x="4648200" y="4057650"/>
            <a:ext cx="29337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30" dirty="0">
                <a:solidFill>
                  <a:srgbClr val="14141A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반복 관리</a:t>
            </a:r>
            <a:endParaRPr lang="en-US" sz="1430" dirty="0"/>
          </a:p>
        </p:txBody>
      </p:sp>
      <p:sp>
        <p:nvSpPr>
          <p:cNvPr id="15" name="Text 12"/>
          <p:cNvSpPr/>
          <p:nvPr/>
        </p:nvSpPr>
        <p:spPr>
          <a:xfrm>
            <a:off x="4648200" y="4362450"/>
            <a:ext cx="29337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9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반복 횟수가 아니라 반복 효율을 관리</a:t>
            </a:r>
            <a:endParaRPr lang="en-US" sz="1090" dirty="0"/>
          </a:p>
        </p:txBody>
      </p:sp>
      <p:sp>
        <p:nvSpPr>
          <p:cNvPr id="16" name="Shape 13"/>
          <p:cNvSpPr/>
          <p:nvPr/>
        </p:nvSpPr>
        <p:spPr>
          <a:xfrm>
            <a:off x="7924800" y="3590925"/>
            <a:ext cx="3352800" cy="125730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E2E2E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153400" y="3810000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③</a:t>
            </a:r>
            <a:endParaRPr lang="en-US" sz="1130" dirty="0"/>
          </a:p>
        </p:txBody>
      </p:sp>
      <p:sp>
        <p:nvSpPr>
          <p:cNvPr id="18" name="Text 15"/>
          <p:cNvSpPr/>
          <p:nvPr/>
        </p:nvSpPr>
        <p:spPr>
          <a:xfrm>
            <a:off x="8153400" y="4057650"/>
            <a:ext cx="29337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30" dirty="0">
                <a:solidFill>
                  <a:srgbClr val="14141A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흐름 설계</a:t>
            </a:r>
            <a:endParaRPr lang="en-US" sz="1430" dirty="0"/>
          </a:p>
        </p:txBody>
      </p:sp>
      <p:sp>
        <p:nvSpPr>
          <p:cNvPr id="19" name="Text 16"/>
          <p:cNvSpPr/>
          <p:nvPr/>
        </p:nvSpPr>
        <p:spPr>
          <a:xfrm>
            <a:off x="8153400" y="4362450"/>
            <a:ext cx="29337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9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시간대·흐름·회차를 함께 편성</a:t>
            </a:r>
            <a:endParaRPr lang="en-US" sz="1090" dirty="0"/>
          </a:p>
        </p:txBody>
      </p:sp>
      <p:sp>
        <p:nvSpPr>
          <p:cNvPr id="20" name="Shape 17"/>
          <p:cNvSpPr/>
          <p:nvPr/>
        </p:nvSpPr>
        <p:spPr>
          <a:xfrm>
            <a:off x="914400" y="5000625"/>
            <a:ext cx="4267200" cy="457200"/>
          </a:xfrm>
          <a:prstGeom prst="roundRect">
            <a:avLst>
              <a:gd name="adj" fmla="val 50000"/>
            </a:avLst>
          </a:prstGeom>
          <a:solidFill>
            <a:srgbClr val="F3F3FD"/>
          </a:solidFill>
          <a:ln w="12700">
            <a:solidFill>
              <a:srgbClr val="CDCBF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104900" y="5133975"/>
            <a:ext cx="4000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6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기반 — 콘텐츠 확보 폭 확대 + 편성 자율권 확보</a:t>
            </a:r>
            <a:endParaRPr lang="en-US" sz="11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cripts/_ppt/assets/olife-logo-l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6228" y="419100"/>
            <a:ext cx="852372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087100" y="6324600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08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914400" y="1019175"/>
            <a:ext cx="2857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5" name="Text 2"/>
          <p:cNvSpPr/>
          <p:nvPr/>
        </p:nvSpPr>
        <p:spPr>
          <a:xfrm>
            <a:off x="1314450" y="895350"/>
            <a:ext cx="6667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spc="100" kern="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03 실행 · 편성 효율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914400" y="1333500"/>
            <a:ext cx="10668000" cy="1046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330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안 나오는 콘텐츠는 줄이고,</a:t>
            </a:r>
            <a:endParaRPr lang="en-US" sz="3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330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검증된 콘텐츠에 집중했음</a:t>
            </a:r>
            <a:endParaRPr lang="en-US" sz="3300" dirty="0"/>
          </a:p>
        </p:txBody>
      </p:sp>
      <p:sp>
        <p:nvSpPr>
          <p:cNvPr id="7" name="Shape 4"/>
          <p:cNvSpPr/>
          <p:nvPr/>
        </p:nvSpPr>
        <p:spPr>
          <a:xfrm>
            <a:off x="914400" y="2438400"/>
            <a:ext cx="4724400" cy="2667000"/>
          </a:xfrm>
          <a:prstGeom prst="roundRect">
            <a:avLst>
              <a:gd name="adj" fmla="val 5714"/>
            </a:avLst>
          </a:prstGeom>
          <a:solidFill>
            <a:srgbClr val="F3F3FD"/>
          </a:solidFill>
          <a:ln w="12700">
            <a:solidFill>
              <a:srgbClr val="CDCBF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81100" y="2667000"/>
            <a:ext cx="419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4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&lt;극한직업&gt; + &lt;한국기행&gt; 편성 비중</a:t>
            </a:r>
            <a:endParaRPr lang="en-US" sz="1240" dirty="0"/>
          </a:p>
        </p:txBody>
      </p:sp>
      <p:sp>
        <p:nvSpPr>
          <p:cNvPr id="9" name="Shape 6"/>
          <p:cNvSpPr/>
          <p:nvPr/>
        </p:nvSpPr>
        <p:spPr>
          <a:xfrm>
            <a:off x="1743075" y="3781425"/>
            <a:ext cx="962025" cy="771525"/>
          </a:xfrm>
          <a:prstGeom prst="roundRect">
            <a:avLst>
              <a:gd name="adj" fmla="val 7407"/>
            </a:avLst>
          </a:prstGeom>
          <a:solidFill>
            <a:srgbClr val="CDCBF6"/>
          </a:solidFill>
          <a:ln/>
        </p:spPr>
      </p:sp>
      <p:sp>
        <p:nvSpPr>
          <p:cNvPr id="10" name="Text 7"/>
          <p:cNvSpPr/>
          <p:nvPr/>
        </p:nvSpPr>
        <p:spPr>
          <a:xfrm>
            <a:off x="1504950" y="3438525"/>
            <a:ext cx="14382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50" dirty="0">
                <a:solidFill>
                  <a:srgbClr val="585866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25.3%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1504950" y="4629150"/>
            <a:ext cx="1438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2025년 평균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838575" y="3219450"/>
            <a:ext cx="962025" cy="1333500"/>
          </a:xfrm>
          <a:prstGeom prst="roundRect">
            <a:avLst>
              <a:gd name="adj" fmla="val 5941"/>
            </a:avLst>
          </a:prstGeom>
          <a:solidFill>
            <a:srgbClr val="2C24CE"/>
          </a:solidFill>
          <a:ln/>
        </p:spPr>
      </p:sp>
      <p:sp>
        <p:nvSpPr>
          <p:cNvPr id="13" name="Text 10"/>
          <p:cNvSpPr/>
          <p:nvPr/>
        </p:nvSpPr>
        <p:spPr>
          <a:xfrm>
            <a:off x="3600450" y="2876550"/>
            <a:ext cx="14382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50" dirty="0">
                <a:solidFill>
                  <a:srgbClr val="2C24CE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43.7%</a:t>
            </a:r>
            <a:endParaRPr lang="en-US" sz="1950" dirty="0"/>
          </a:p>
        </p:txBody>
      </p:sp>
      <p:sp>
        <p:nvSpPr>
          <p:cNvPr id="14" name="Text 11"/>
          <p:cNvSpPr/>
          <p:nvPr/>
        </p:nvSpPr>
        <p:spPr>
          <a:xfrm>
            <a:off x="3600450" y="4629150"/>
            <a:ext cx="1438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2026.07~08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2943225" y="3638550"/>
            <a:ext cx="8953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50" dirty="0">
                <a:solidFill>
                  <a:srgbClr val="2C24CE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→</a:t>
            </a:r>
            <a:endParaRPr lang="en-US" sz="1950" dirty="0"/>
          </a:p>
        </p:txBody>
      </p:sp>
      <p:sp>
        <p:nvSpPr>
          <p:cNvPr id="16" name="Text 13"/>
          <p:cNvSpPr/>
          <p:nvPr/>
        </p:nvSpPr>
        <p:spPr>
          <a:xfrm>
            <a:off x="1181100" y="4819650"/>
            <a:ext cx="419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01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비중 확대 시기가 </a:t>
            </a:r>
            <a:pPr indent="0" marL="0">
              <a:lnSpc>
                <a:spcPct val="145000"/>
              </a:lnSpc>
              <a:buNone/>
            </a:pPr>
            <a:r>
              <a:rPr lang="en-US" sz="101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2026년 4~8월 성장 가속 구간</a:t>
            </a:r>
            <a:pPr indent="0" marL="0">
              <a:lnSpc>
                <a:spcPct val="145000"/>
              </a:lnSpc>
              <a:buNone/>
            </a:pPr>
            <a:r>
              <a:rPr lang="en-US" sz="101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과 겹침.</a:t>
            </a:r>
            <a:endParaRPr lang="en-US" sz="1010" dirty="0"/>
          </a:p>
        </p:txBody>
      </p:sp>
      <p:sp>
        <p:nvSpPr>
          <p:cNvPr id="17" name="Text 14"/>
          <p:cNvSpPr/>
          <p:nvPr/>
        </p:nvSpPr>
        <p:spPr>
          <a:xfrm>
            <a:off x="6057900" y="2438400"/>
            <a:ext cx="52197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8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핵심 프로그램 자체도 상승</a:t>
            </a:r>
            <a:endParaRPr lang="en-US" sz="1280" dirty="0"/>
          </a:p>
        </p:txBody>
      </p:sp>
      <p:sp>
        <p:nvSpPr>
          <p:cNvPr id="18" name="Text 15"/>
          <p:cNvSpPr/>
          <p:nvPr/>
        </p:nvSpPr>
        <p:spPr>
          <a:xfrm>
            <a:off x="6057900" y="2781300"/>
            <a:ext cx="1524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프로그램</a:t>
            </a:r>
            <a:endParaRPr lang="en-US" sz="980" dirty="0"/>
          </a:p>
        </p:txBody>
      </p:sp>
      <p:sp>
        <p:nvSpPr>
          <p:cNvPr id="19" name="Text 16"/>
          <p:cNvSpPr/>
          <p:nvPr/>
        </p:nvSpPr>
        <p:spPr>
          <a:xfrm>
            <a:off x="7581900" y="2781300"/>
            <a:ext cx="7239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편성 횟수</a:t>
            </a:r>
            <a:endParaRPr lang="en-US" sz="980" dirty="0"/>
          </a:p>
        </p:txBody>
      </p:sp>
      <p:sp>
        <p:nvSpPr>
          <p:cNvPr id="20" name="Text 17"/>
          <p:cNvSpPr/>
          <p:nvPr/>
        </p:nvSpPr>
        <p:spPr>
          <a:xfrm>
            <a:off x="8305800" y="2781300"/>
            <a:ext cx="16573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이른 시기 → 최근</a:t>
            </a:r>
            <a:endParaRPr lang="en-US" sz="980" dirty="0"/>
          </a:p>
        </p:txBody>
      </p:sp>
      <p:sp>
        <p:nvSpPr>
          <p:cNvPr id="21" name="Text 18"/>
          <p:cNvSpPr/>
          <p:nvPr/>
        </p:nvSpPr>
        <p:spPr>
          <a:xfrm>
            <a:off x="9963150" y="2781300"/>
            <a:ext cx="1314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변화</a:t>
            </a:r>
            <a:endParaRPr lang="en-US" sz="980" dirty="0"/>
          </a:p>
        </p:txBody>
      </p:sp>
      <p:sp>
        <p:nvSpPr>
          <p:cNvPr id="22" name="Shape 19"/>
          <p:cNvSpPr/>
          <p:nvPr/>
        </p:nvSpPr>
        <p:spPr>
          <a:xfrm>
            <a:off x="6057900" y="2990850"/>
            <a:ext cx="5219700" cy="13335"/>
          </a:xfrm>
          <a:prstGeom prst="rect">
            <a:avLst/>
          </a:prstGeom>
          <a:solidFill>
            <a:srgbClr val="CFCFDA"/>
          </a:solidFill>
          <a:ln/>
        </p:spPr>
      </p:sp>
      <p:sp>
        <p:nvSpPr>
          <p:cNvPr id="23" name="Text 20"/>
          <p:cNvSpPr/>
          <p:nvPr/>
        </p:nvSpPr>
        <p:spPr>
          <a:xfrm>
            <a:off x="6057900" y="3067050"/>
            <a:ext cx="1524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26262F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한국기행</a:t>
            </a:r>
            <a:endParaRPr lang="en-US" sz="1130" dirty="0"/>
          </a:p>
        </p:txBody>
      </p:sp>
      <p:sp>
        <p:nvSpPr>
          <p:cNvPr id="24" name="Text 21"/>
          <p:cNvSpPr/>
          <p:nvPr/>
        </p:nvSpPr>
        <p:spPr>
          <a:xfrm>
            <a:off x="7581900" y="3067050"/>
            <a:ext cx="7239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26262F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1,252</a:t>
            </a:r>
            <a:endParaRPr lang="en-US" sz="1130" dirty="0"/>
          </a:p>
        </p:txBody>
      </p:sp>
      <p:sp>
        <p:nvSpPr>
          <p:cNvPr id="25" name="Text 22"/>
          <p:cNvSpPr/>
          <p:nvPr/>
        </p:nvSpPr>
        <p:spPr>
          <a:xfrm>
            <a:off x="8305800" y="3067050"/>
            <a:ext cx="16573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26262F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0.058 → 0.071</a:t>
            </a:r>
            <a:endParaRPr lang="en-US" sz="1130" dirty="0"/>
          </a:p>
        </p:txBody>
      </p:sp>
      <p:sp>
        <p:nvSpPr>
          <p:cNvPr id="26" name="Text 23"/>
          <p:cNvSpPr/>
          <p:nvPr/>
        </p:nvSpPr>
        <p:spPr>
          <a:xfrm>
            <a:off x="9963150" y="3067050"/>
            <a:ext cx="13144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+21.9%</a:t>
            </a:r>
            <a:endParaRPr lang="en-US" sz="1130" dirty="0"/>
          </a:p>
        </p:txBody>
      </p:sp>
      <p:sp>
        <p:nvSpPr>
          <p:cNvPr id="27" name="Shape 24"/>
          <p:cNvSpPr/>
          <p:nvPr/>
        </p:nvSpPr>
        <p:spPr>
          <a:xfrm>
            <a:off x="6057900" y="3390900"/>
            <a:ext cx="5219700" cy="13335"/>
          </a:xfrm>
          <a:prstGeom prst="rect">
            <a:avLst/>
          </a:prstGeom>
          <a:solidFill>
            <a:srgbClr val="E2E2EA"/>
          </a:solidFill>
          <a:ln/>
        </p:spPr>
      </p:sp>
      <p:sp>
        <p:nvSpPr>
          <p:cNvPr id="28" name="Text 25"/>
          <p:cNvSpPr/>
          <p:nvPr/>
        </p:nvSpPr>
        <p:spPr>
          <a:xfrm>
            <a:off x="6057900" y="3467100"/>
            <a:ext cx="1524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26262F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걸어서 세계속으로</a:t>
            </a:r>
            <a:endParaRPr lang="en-US" sz="1130" dirty="0"/>
          </a:p>
        </p:txBody>
      </p:sp>
      <p:sp>
        <p:nvSpPr>
          <p:cNvPr id="29" name="Text 26"/>
          <p:cNvSpPr/>
          <p:nvPr/>
        </p:nvSpPr>
        <p:spPr>
          <a:xfrm>
            <a:off x="7581900" y="3467100"/>
            <a:ext cx="7239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26262F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1,317</a:t>
            </a:r>
            <a:endParaRPr lang="en-US" sz="1130" dirty="0"/>
          </a:p>
        </p:txBody>
      </p:sp>
      <p:sp>
        <p:nvSpPr>
          <p:cNvPr id="30" name="Text 27"/>
          <p:cNvSpPr/>
          <p:nvPr/>
        </p:nvSpPr>
        <p:spPr>
          <a:xfrm>
            <a:off x="8305800" y="3467100"/>
            <a:ext cx="16573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26262F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0.108 → 0.130</a:t>
            </a:r>
            <a:endParaRPr lang="en-US" sz="1130" dirty="0"/>
          </a:p>
        </p:txBody>
      </p:sp>
      <p:sp>
        <p:nvSpPr>
          <p:cNvPr id="31" name="Text 28"/>
          <p:cNvSpPr/>
          <p:nvPr/>
        </p:nvSpPr>
        <p:spPr>
          <a:xfrm>
            <a:off x="9963150" y="3467100"/>
            <a:ext cx="13144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+20.7%</a:t>
            </a:r>
            <a:endParaRPr lang="en-US" sz="1130" dirty="0"/>
          </a:p>
        </p:txBody>
      </p:sp>
      <p:sp>
        <p:nvSpPr>
          <p:cNvPr id="32" name="Shape 29"/>
          <p:cNvSpPr/>
          <p:nvPr/>
        </p:nvSpPr>
        <p:spPr>
          <a:xfrm>
            <a:off x="6057900" y="3790950"/>
            <a:ext cx="5219700" cy="13335"/>
          </a:xfrm>
          <a:prstGeom prst="rect">
            <a:avLst/>
          </a:prstGeom>
          <a:solidFill>
            <a:srgbClr val="E2E2EA"/>
          </a:solidFill>
          <a:ln/>
        </p:spPr>
      </p:sp>
      <p:sp>
        <p:nvSpPr>
          <p:cNvPr id="33" name="Text 30"/>
          <p:cNvSpPr/>
          <p:nvPr/>
        </p:nvSpPr>
        <p:spPr>
          <a:xfrm>
            <a:off x="6057900" y="3867150"/>
            <a:ext cx="1524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26262F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극한직업</a:t>
            </a:r>
            <a:endParaRPr lang="en-US" sz="1130" dirty="0"/>
          </a:p>
        </p:txBody>
      </p:sp>
      <p:sp>
        <p:nvSpPr>
          <p:cNvPr id="34" name="Text 31"/>
          <p:cNvSpPr/>
          <p:nvPr/>
        </p:nvSpPr>
        <p:spPr>
          <a:xfrm>
            <a:off x="7581900" y="3867150"/>
            <a:ext cx="7239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26262F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2,325</a:t>
            </a:r>
            <a:endParaRPr lang="en-US" sz="1130" dirty="0"/>
          </a:p>
        </p:txBody>
      </p:sp>
      <p:sp>
        <p:nvSpPr>
          <p:cNvPr id="35" name="Text 32"/>
          <p:cNvSpPr/>
          <p:nvPr/>
        </p:nvSpPr>
        <p:spPr>
          <a:xfrm>
            <a:off x="8305800" y="3867150"/>
            <a:ext cx="16573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26262F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0.103 → 0.121</a:t>
            </a:r>
            <a:endParaRPr lang="en-US" sz="1130" dirty="0"/>
          </a:p>
        </p:txBody>
      </p:sp>
      <p:sp>
        <p:nvSpPr>
          <p:cNvPr id="36" name="Text 33"/>
          <p:cNvSpPr/>
          <p:nvPr/>
        </p:nvSpPr>
        <p:spPr>
          <a:xfrm>
            <a:off x="9963150" y="3867150"/>
            <a:ext cx="13144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+17.7%</a:t>
            </a:r>
            <a:endParaRPr lang="en-US" sz="1130" dirty="0"/>
          </a:p>
        </p:txBody>
      </p:sp>
      <p:sp>
        <p:nvSpPr>
          <p:cNvPr id="37" name="Shape 34"/>
          <p:cNvSpPr/>
          <p:nvPr/>
        </p:nvSpPr>
        <p:spPr>
          <a:xfrm>
            <a:off x="6057900" y="4191000"/>
            <a:ext cx="5219700" cy="13335"/>
          </a:xfrm>
          <a:prstGeom prst="rect">
            <a:avLst/>
          </a:prstGeom>
          <a:solidFill>
            <a:srgbClr val="E2E2EA"/>
          </a:solidFill>
          <a:ln/>
        </p:spPr>
      </p:sp>
      <p:sp>
        <p:nvSpPr>
          <p:cNvPr id="38" name="Text 35"/>
          <p:cNvSpPr/>
          <p:nvPr/>
        </p:nvSpPr>
        <p:spPr>
          <a:xfrm>
            <a:off x="6057900" y="4267200"/>
            <a:ext cx="1524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26262F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세계테마기행</a:t>
            </a:r>
            <a:endParaRPr lang="en-US" sz="1130" dirty="0"/>
          </a:p>
        </p:txBody>
      </p:sp>
      <p:sp>
        <p:nvSpPr>
          <p:cNvPr id="39" name="Text 36"/>
          <p:cNvSpPr/>
          <p:nvPr/>
        </p:nvSpPr>
        <p:spPr>
          <a:xfrm>
            <a:off x="7581900" y="4267200"/>
            <a:ext cx="7239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26262F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4,278</a:t>
            </a:r>
            <a:endParaRPr lang="en-US" sz="1130" dirty="0"/>
          </a:p>
        </p:txBody>
      </p:sp>
      <p:sp>
        <p:nvSpPr>
          <p:cNvPr id="40" name="Text 37"/>
          <p:cNvSpPr/>
          <p:nvPr/>
        </p:nvSpPr>
        <p:spPr>
          <a:xfrm>
            <a:off x="8305800" y="4267200"/>
            <a:ext cx="16573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26262F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0.110 → 0.128</a:t>
            </a:r>
            <a:endParaRPr lang="en-US" sz="1130" dirty="0"/>
          </a:p>
        </p:txBody>
      </p:sp>
      <p:sp>
        <p:nvSpPr>
          <p:cNvPr id="41" name="Text 38"/>
          <p:cNvSpPr/>
          <p:nvPr/>
        </p:nvSpPr>
        <p:spPr>
          <a:xfrm>
            <a:off x="9963150" y="4267200"/>
            <a:ext cx="13144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+16.2%</a:t>
            </a:r>
            <a:endParaRPr lang="en-US" sz="1130" dirty="0"/>
          </a:p>
        </p:txBody>
      </p:sp>
      <p:sp>
        <p:nvSpPr>
          <p:cNvPr id="42" name="Shape 39"/>
          <p:cNvSpPr/>
          <p:nvPr/>
        </p:nvSpPr>
        <p:spPr>
          <a:xfrm>
            <a:off x="6057900" y="4591050"/>
            <a:ext cx="5219700" cy="13335"/>
          </a:xfrm>
          <a:prstGeom prst="rect">
            <a:avLst/>
          </a:prstGeom>
          <a:solidFill>
            <a:srgbClr val="E2E2EA"/>
          </a:solidFill>
          <a:ln/>
        </p:spPr>
      </p:sp>
      <p:sp>
        <p:nvSpPr>
          <p:cNvPr id="43" name="Text 40"/>
          <p:cNvSpPr/>
          <p:nvPr/>
        </p:nvSpPr>
        <p:spPr>
          <a:xfrm>
            <a:off x="6057900" y="4781550"/>
            <a:ext cx="52197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"좋은 콘텐츠를 가져왔다"보다 </a:t>
            </a:r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"검증된 콘텐츠의 편성 비중을 전략적으로 높였다"</a:t>
            </a:r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가 정확함.  </a:t>
            </a:r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A6A6B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· 프로그램 단위 데이터는 2025.01.01부터 존재함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cripts/_ppt/assets/olife-logo-l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6228" y="419100"/>
            <a:ext cx="852372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087100" y="6324600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09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914400" y="1019175"/>
            <a:ext cx="2857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5" name="Text 2"/>
          <p:cNvSpPr/>
          <p:nvPr/>
        </p:nvSpPr>
        <p:spPr>
          <a:xfrm>
            <a:off x="1314450" y="895350"/>
            <a:ext cx="6667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spc="100" kern="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03 실행 · 반복 관리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914400" y="1333500"/>
            <a:ext cx="10668000" cy="1046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330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모든 반복을 줄인 것이 아니라,</a:t>
            </a:r>
            <a:endParaRPr lang="en-US" sz="3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330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반복의 효율을 관리했음</a:t>
            </a:r>
            <a:endParaRPr lang="en-US" sz="3300" dirty="0"/>
          </a:p>
        </p:txBody>
      </p:sp>
      <p:sp>
        <p:nvSpPr>
          <p:cNvPr id="7" name="Shape 4"/>
          <p:cNvSpPr/>
          <p:nvPr/>
        </p:nvSpPr>
        <p:spPr>
          <a:xfrm>
            <a:off x="914400" y="2457450"/>
            <a:ext cx="4972050" cy="2781300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12700">
            <a:solidFill>
              <a:srgbClr val="E2E2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00150" y="2705100"/>
            <a:ext cx="914400" cy="247650"/>
          </a:xfrm>
          <a:prstGeom prst="roundRect">
            <a:avLst>
              <a:gd name="adj" fmla="val 50000"/>
            </a:avLst>
          </a:prstGeom>
          <a:solidFill>
            <a:srgbClr val="E7E6FB"/>
          </a:solidFill>
          <a:ln/>
        </p:spPr>
      </p:sp>
      <p:sp>
        <p:nvSpPr>
          <p:cNvPr id="9" name="Text 6"/>
          <p:cNvSpPr/>
          <p:nvPr/>
        </p:nvSpPr>
        <p:spPr>
          <a:xfrm>
            <a:off x="1200150" y="2771775"/>
            <a:ext cx="914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4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확인된 실행</a:t>
            </a:r>
            <a:endParaRPr lang="en-US" sz="940" dirty="0"/>
          </a:p>
        </p:txBody>
      </p:sp>
      <p:sp>
        <p:nvSpPr>
          <p:cNvPr id="10" name="Text 7"/>
          <p:cNvSpPr/>
          <p:nvPr/>
        </p:nvSpPr>
        <p:spPr>
          <a:xfrm>
            <a:off x="1200150" y="3067050"/>
            <a:ext cx="44005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5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&lt;인간극장&gt; 편성 종료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1200150" y="3448050"/>
            <a:ext cx="44005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300" dirty="0">
                <a:solidFill>
                  <a:srgbClr val="2C24CE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2026.03.10</a:t>
            </a:r>
            <a:endParaRPr lang="en-US" sz="3300" dirty="0"/>
          </a:p>
        </p:txBody>
      </p:sp>
      <p:sp>
        <p:nvSpPr>
          <p:cNvPr id="12" name="Text 9"/>
          <p:cNvSpPr/>
          <p:nvPr/>
        </p:nvSpPr>
        <p:spPr>
          <a:xfrm>
            <a:off x="1200150" y="4057650"/>
            <a:ext cx="44005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6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24시간 내 반복이 OLIFE 시청행태와 맞지 않는다고 판단해 구매를 중단함. 종료 직전 2개월 시청률은 0.052~0.053으로 낮아진 상태였음.</a:t>
            </a:r>
            <a:endParaRPr lang="en-US" sz="1160" dirty="0"/>
          </a:p>
        </p:txBody>
      </p:sp>
      <p:sp>
        <p:nvSpPr>
          <p:cNvPr id="13" name="Text 10"/>
          <p:cNvSpPr/>
          <p:nvPr/>
        </p:nvSpPr>
        <p:spPr>
          <a:xfrm>
            <a:off x="6305550" y="2457450"/>
            <a:ext cx="49720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8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다만, 채널 전체의 반복은 여전히 강함</a:t>
            </a:r>
            <a:endParaRPr lang="en-US" sz="1280" dirty="0"/>
          </a:p>
        </p:txBody>
      </p:sp>
      <p:sp>
        <p:nvSpPr>
          <p:cNvPr id="14" name="Text 11"/>
          <p:cNvSpPr/>
          <p:nvPr/>
        </p:nvSpPr>
        <p:spPr>
          <a:xfrm>
            <a:off x="6305550" y="2819400"/>
            <a:ext cx="1619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550" dirty="0">
                <a:solidFill>
                  <a:srgbClr val="2C24CE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90~100%</a:t>
            </a:r>
            <a:endParaRPr lang="en-US" sz="2550" dirty="0"/>
          </a:p>
        </p:txBody>
      </p:sp>
      <p:sp>
        <p:nvSpPr>
          <p:cNvPr id="15" name="Text 12"/>
          <p:cNvSpPr/>
          <p:nvPr/>
        </p:nvSpPr>
        <p:spPr>
          <a:xfrm>
            <a:off x="7981950" y="2933700"/>
            <a:ext cx="32956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6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핵심 5개 프로그램의 24시간 내 재등장 비율</a:t>
            </a:r>
            <a:endParaRPr lang="en-US" sz="1160" dirty="0"/>
          </a:p>
        </p:txBody>
      </p:sp>
      <p:sp>
        <p:nvSpPr>
          <p:cNvPr id="16" name="Shape 13"/>
          <p:cNvSpPr/>
          <p:nvPr/>
        </p:nvSpPr>
        <p:spPr>
          <a:xfrm>
            <a:off x="6305550" y="3390900"/>
            <a:ext cx="4972050" cy="13335"/>
          </a:xfrm>
          <a:prstGeom prst="rect">
            <a:avLst/>
          </a:prstGeom>
          <a:solidFill>
            <a:srgbClr val="E2E2EA"/>
          </a:solidFill>
          <a:ln/>
        </p:spPr>
      </p:sp>
      <p:sp>
        <p:nvSpPr>
          <p:cNvPr id="17" name="Text 14"/>
          <p:cNvSpPr/>
          <p:nvPr/>
        </p:nvSpPr>
        <p:spPr>
          <a:xfrm>
            <a:off x="6305550" y="3505200"/>
            <a:ext cx="1619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550" dirty="0">
                <a:solidFill>
                  <a:srgbClr val="2C24CE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88.8%</a:t>
            </a:r>
            <a:endParaRPr lang="en-US" sz="2550" dirty="0"/>
          </a:p>
        </p:txBody>
      </p:sp>
      <p:sp>
        <p:nvSpPr>
          <p:cNvPr id="18" name="Text 15"/>
          <p:cNvSpPr/>
          <p:nvPr/>
        </p:nvSpPr>
        <p:spPr>
          <a:xfrm>
            <a:off x="7981950" y="3619500"/>
            <a:ext cx="32956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6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편성표 표본(12일, 304건) 중 재방 270건</a:t>
            </a:r>
            <a:endParaRPr lang="en-US" sz="1160" dirty="0"/>
          </a:p>
        </p:txBody>
      </p:sp>
      <p:sp>
        <p:nvSpPr>
          <p:cNvPr id="19" name="Shape 16"/>
          <p:cNvSpPr/>
          <p:nvPr/>
        </p:nvSpPr>
        <p:spPr>
          <a:xfrm>
            <a:off x="6305550" y="4076700"/>
            <a:ext cx="4972050" cy="13335"/>
          </a:xfrm>
          <a:prstGeom prst="rect">
            <a:avLst/>
          </a:prstGeom>
          <a:solidFill>
            <a:srgbClr val="E2E2EA"/>
          </a:solidFill>
          <a:ln/>
        </p:spPr>
      </p:sp>
      <p:sp>
        <p:nvSpPr>
          <p:cNvPr id="20" name="Text 17"/>
          <p:cNvSpPr/>
          <p:nvPr/>
        </p:nvSpPr>
        <p:spPr>
          <a:xfrm>
            <a:off x="6305550" y="4381500"/>
            <a:ext cx="49720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따라서 "재방송을 없앴다"가 아니라 </a:t>
            </a:r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저효율 반복은 걷어내고, 무엇을 얼마나 자주 내보낼지 관리했다</a:t>
            </a:r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는 것이 데이터에 부합함.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cripts/_ppt/assets/olife-logo-l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6228" y="419100"/>
            <a:ext cx="852372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087100" y="6324600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10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914400" y="1019175"/>
            <a:ext cx="2857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5" name="Text 2"/>
          <p:cNvSpPr/>
          <p:nvPr/>
        </p:nvSpPr>
        <p:spPr>
          <a:xfrm>
            <a:off x="1314450" y="895350"/>
            <a:ext cx="6667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spc="100" kern="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03 실행 · 흐름 설계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914400" y="1333500"/>
            <a:ext cx="10668000" cy="1046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330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프로그램을 편성한 것이 아니라,</a:t>
            </a:r>
            <a:endParaRPr lang="en-US" sz="3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330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하루의 흐름을 편성했음</a:t>
            </a:r>
            <a:endParaRPr lang="en-US" sz="3300" dirty="0"/>
          </a:p>
        </p:txBody>
      </p:sp>
      <p:sp>
        <p:nvSpPr>
          <p:cNvPr id="7" name="Shape 4"/>
          <p:cNvSpPr/>
          <p:nvPr/>
        </p:nvSpPr>
        <p:spPr>
          <a:xfrm>
            <a:off x="914400" y="2324100"/>
            <a:ext cx="1428750" cy="876300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2700">
            <a:solidFill>
              <a:srgbClr val="E2E2E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2419350"/>
            <a:ext cx="1428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300" dirty="0">
                <a:solidFill>
                  <a:srgbClr val="2C24CE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19</a:t>
            </a:r>
            <a:endParaRPr lang="en-US" sz="3300" dirty="0"/>
          </a:p>
        </p:txBody>
      </p:sp>
      <p:sp>
        <p:nvSpPr>
          <p:cNvPr id="9" name="Text 6"/>
          <p:cNvSpPr/>
          <p:nvPr/>
        </p:nvSpPr>
        <p:spPr>
          <a:xfrm>
            <a:off x="914400" y="2914650"/>
            <a:ext cx="1428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4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하루 편성 횟수</a:t>
            </a:r>
            <a:endParaRPr lang="en-US" sz="940" dirty="0"/>
          </a:p>
        </p:txBody>
      </p:sp>
      <p:sp>
        <p:nvSpPr>
          <p:cNvPr id="10" name="Shape 7"/>
          <p:cNvSpPr/>
          <p:nvPr/>
        </p:nvSpPr>
        <p:spPr>
          <a:xfrm>
            <a:off x="2495550" y="2324100"/>
            <a:ext cx="1619250" cy="876300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2700">
            <a:solidFill>
              <a:srgbClr val="E2E2E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495550" y="2419350"/>
            <a:ext cx="1619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300" dirty="0">
                <a:solidFill>
                  <a:srgbClr val="2C24CE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5.1</a:t>
            </a:r>
            <a:endParaRPr lang="en-US" sz="3300" dirty="0"/>
          </a:p>
        </p:txBody>
      </p:sp>
      <p:sp>
        <p:nvSpPr>
          <p:cNvPr id="12" name="Text 9"/>
          <p:cNvSpPr/>
          <p:nvPr/>
        </p:nvSpPr>
        <p:spPr>
          <a:xfrm>
            <a:off x="2495550" y="2914650"/>
            <a:ext cx="1619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4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하루 여행 지역 수</a:t>
            </a:r>
            <a:endParaRPr lang="en-US" sz="940" dirty="0"/>
          </a:p>
        </p:txBody>
      </p:sp>
      <p:sp>
        <p:nvSpPr>
          <p:cNvPr id="13" name="Shape 10"/>
          <p:cNvSpPr/>
          <p:nvPr/>
        </p:nvSpPr>
        <p:spPr>
          <a:xfrm>
            <a:off x="4267200" y="2324100"/>
            <a:ext cx="1809750" cy="876300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2700">
            <a:solidFill>
              <a:srgbClr val="E2E2E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267200" y="2419350"/>
            <a:ext cx="1809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300" dirty="0">
                <a:solidFill>
                  <a:srgbClr val="2C24CE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89.3%</a:t>
            </a:r>
            <a:endParaRPr lang="en-US" sz="3300" dirty="0"/>
          </a:p>
        </p:txBody>
      </p:sp>
      <p:sp>
        <p:nvSpPr>
          <p:cNvPr id="15" name="Text 12"/>
          <p:cNvSpPr/>
          <p:nvPr/>
        </p:nvSpPr>
        <p:spPr>
          <a:xfrm>
            <a:off x="4267200" y="2914650"/>
            <a:ext cx="1809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4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연속 편성 지역 전환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6305550" y="2362200"/>
            <a:ext cx="466725" cy="285750"/>
          </a:xfrm>
          <a:prstGeom prst="roundRect">
            <a:avLst>
              <a:gd name="adj" fmla="val 50000"/>
            </a:avLst>
          </a:prstGeom>
          <a:solidFill>
            <a:srgbClr val="F3F3FD"/>
          </a:solidFill>
          <a:ln w="12700">
            <a:solidFill>
              <a:srgbClr val="CDCBF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05550" y="2428875"/>
            <a:ext cx="4667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4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지역</a:t>
            </a:r>
            <a:endParaRPr lang="en-US" sz="940" dirty="0"/>
          </a:p>
        </p:txBody>
      </p:sp>
      <p:sp>
        <p:nvSpPr>
          <p:cNvPr id="18" name="Shape 15"/>
          <p:cNvSpPr/>
          <p:nvPr/>
        </p:nvSpPr>
        <p:spPr>
          <a:xfrm>
            <a:off x="6886575" y="2362200"/>
            <a:ext cx="723900" cy="285750"/>
          </a:xfrm>
          <a:prstGeom prst="roundRect">
            <a:avLst>
              <a:gd name="adj" fmla="val 50000"/>
            </a:avLst>
          </a:prstGeom>
          <a:solidFill>
            <a:srgbClr val="F3F3FD"/>
          </a:solidFill>
          <a:ln w="12700">
            <a:solidFill>
              <a:srgbClr val="CDCBF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886575" y="2428875"/>
            <a:ext cx="7239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4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카테고리</a:t>
            </a:r>
            <a:endParaRPr lang="en-US" sz="940" dirty="0"/>
          </a:p>
        </p:txBody>
      </p:sp>
      <p:sp>
        <p:nvSpPr>
          <p:cNvPr id="20" name="Shape 17"/>
          <p:cNvSpPr/>
          <p:nvPr/>
        </p:nvSpPr>
        <p:spPr>
          <a:xfrm>
            <a:off x="7724775" y="2362200"/>
            <a:ext cx="595313" cy="285750"/>
          </a:xfrm>
          <a:prstGeom prst="roundRect">
            <a:avLst>
              <a:gd name="adj" fmla="val 50000"/>
            </a:avLst>
          </a:prstGeom>
          <a:solidFill>
            <a:srgbClr val="F3F3FD"/>
          </a:solidFill>
          <a:ln w="12700">
            <a:solidFill>
              <a:srgbClr val="CDCBF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724775" y="2428875"/>
            <a:ext cx="59531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4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분위기</a:t>
            </a:r>
            <a:endParaRPr lang="en-US" sz="940" dirty="0"/>
          </a:p>
        </p:txBody>
      </p:sp>
      <p:sp>
        <p:nvSpPr>
          <p:cNvPr id="22" name="Shape 19"/>
          <p:cNvSpPr/>
          <p:nvPr/>
        </p:nvSpPr>
        <p:spPr>
          <a:xfrm>
            <a:off x="8434388" y="2362200"/>
            <a:ext cx="981075" cy="285750"/>
          </a:xfrm>
          <a:prstGeom prst="roundRect">
            <a:avLst>
              <a:gd name="adj" fmla="val 50000"/>
            </a:avLst>
          </a:prstGeom>
          <a:solidFill>
            <a:srgbClr val="F3F3FD"/>
          </a:solidFill>
          <a:ln w="12700">
            <a:solidFill>
              <a:srgbClr val="CDCBF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434388" y="2428875"/>
            <a:ext cx="9810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4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회차 신선도</a:t>
            </a:r>
            <a:endParaRPr lang="en-US" sz="940" dirty="0"/>
          </a:p>
        </p:txBody>
      </p:sp>
      <p:sp>
        <p:nvSpPr>
          <p:cNvPr id="24" name="Shape 21"/>
          <p:cNvSpPr/>
          <p:nvPr/>
        </p:nvSpPr>
        <p:spPr>
          <a:xfrm>
            <a:off x="9529763" y="2362200"/>
            <a:ext cx="852488" cy="285750"/>
          </a:xfrm>
          <a:prstGeom prst="roundRect">
            <a:avLst>
              <a:gd name="adj" fmla="val 50000"/>
            </a:avLst>
          </a:prstGeom>
          <a:solidFill>
            <a:srgbClr val="F3F3FD"/>
          </a:solidFill>
          <a:ln w="12700">
            <a:solidFill>
              <a:srgbClr val="CDCBF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529763" y="2428875"/>
            <a:ext cx="85248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4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앞뒤 흐름</a:t>
            </a:r>
            <a:endParaRPr lang="en-US" sz="940" dirty="0"/>
          </a:p>
        </p:txBody>
      </p:sp>
      <p:sp>
        <p:nvSpPr>
          <p:cNvPr id="26" name="Shape 23"/>
          <p:cNvSpPr/>
          <p:nvPr/>
        </p:nvSpPr>
        <p:spPr>
          <a:xfrm>
            <a:off x="6305550" y="2743200"/>
            <a:ext cx="852488" cy="285750"/>
          </a:xfrm>
          <a:prstGeom prst="roundRect">
            <a:avLst>
              <a:gd name="adj" fmla="val 50000"/>
            </a:avLst>
          </a:prstGeom>
          <a:solidFill>
            <a:srgbClr val="F3F3FD"/>
          </a:solidFill>
          <a:ln w="12700">
            <a:solidFill>
              <a:srgbClr val="CDCBF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305550" y="2809875"/>
            <a:ext cx="85248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4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경쟁 편성</a:t>
            </a:r>
            <a:endParaRPr lang="en-US" sz="940" dirty="0"/>
          </a:p>
        </p:txBody>
      </p:sp>
      <p:sp>
        <p:nvSpPr>
          <p:cNvPr id="28" name="Shape 25"/>
          <p:cNvSpPr/>
          <p:nvPr/>
        </p:nvSpPr>
        <p:spPr>
          <a:xfrm>
            <a:off x="914400" y="3486150"/>
            <a:ext cx="4972050" cy="1619250"/>
          </a:xfrm>
          <a:prstGeom prst="roundRect">
            <a:avLst>
              <a:gd name="adj" fmla="val 9412"/>
            </a:avLst>
          </a:prstGeom>
          <a:solidFill>
            <a:srgbClr val="F3F3FD"/>
          </a:solidFill>
          <a:ln w="12700">
            <a:solidFill>
              <a:srgbClr val="CDCBF6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219200" y="3733800"/>
            <a:ext cx="4381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6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이어보기 대리지표 — 바로 다음 방송 ÷ 현재 방송 시청률</a:t>
            </a:r>
            <a:endParaRPr lang="en-US" sz="1160" dirty="0"/>
          </a:p>
        </p:txBody>
      </p:sp>
      <p:sp>
        <p:nvSpPr>
          <p:cNvPr id="30" name="Text 27"/>
          <p:cNvSpPr/>
          <p:nvPr/>
        </p:nvSpPr>
        <p:spPr>
          <a:xfrm>
            <a:off x="1219200" y="4105275"/>
            <a:ext cx="1447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26262F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같은 프로그램 연속</a:t>
            </a:r>
            <a:endParaRPr lang="en-US" sz="980" dirty="0"/>
          </a:p>
        </p:txBody>
      </p:sp>
      <p:sp>
        <p:nvSpPr>
          <p:cNvPr id="31" name="Shape 28"/>
          <p:cNvSpPr/>
          <p:nvPr/>
        </p:nvSpPr>
        <p:spPr>
          <a:xfrm>
            <a:off x="2743200" y="4114800"/>
            <a:ext cx="2038350" cy="152400"/>
          </a:xfrm>
          <a:prstGeom prst="roundRect">
            <a:avLst>
              <a:gd name="adj" fmla="val 50000"/>
            </a:avLst>
          </a:prstGeom>
          <a:solidFill>
            <a:srgbClr val="E7E6FB"/>
          </a:solidFill>
          <a:ln/>
        </p:spPr>
      </p:sp>
      <p:sp>
        <p:nvSpPr>
          <p:cNvPr id="32" name="Shape 29"/>
          <p:cNvSpPr/>
          <p:nvPr/>
        </p:nvSpPr>
        <p:spPr>
          <a:xfrm>
            <a:off x="2743200" y="4114800"/>
            <a:ext cx="2038350" cy="1524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33" name="Text 30"/>
          <p:cNvSpPr/>
          <p:nvPr/>
        </p:nvSpPr>
        <p:spPr>
          <a:xfrm>
            <a:off x="4838700" y="4095750"/>
            <a:ext cx="742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09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1.077</a:t>
            </a:r>
            <a:endParaRPr lang="en-US" sz="1090" dirty="0"/>
          </a:p>
        </p:txBody>
      </p:sp>
      <p:sp>
        <p:nvSpPr>
          <p:cNvPr id="34" name="Text 31"/>
          <p:cNvSpPr/>
          <p:nvPr/>
        </p:nvSpPr>
        <p:spPr>
          <a:xfrm>
            <a:off x="1219200" y="4429125"/>
            <a:ext cx="1447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26262F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다른 프로그램 전환</a:t>
            </a:r>
            <a:endParaRPr lang="en-US" sz="980" dirty="0"/>
          </a:p>
        </p:txBody>
      </p:sp>
      <p:sp>
        <p:nvSpPr>
          <p:cNvPr id="35" name="Shape 32"/>
          <p:cNvSpPr/>
          <p:nvPr/>
        </p:nvSpPr>
        <p:spPr>
          <a:xfrm>
            <a:off x="2743200" y="4438650"/>
            <a:ext cx="2038350" cy="152400"/>
          </a:xfrm>
          <a:prstGeom prst="roundRect">
            <a:avLst>
              <a:gd name="adj" fmla="val 50000"/>
            </a:avLst>
          </a:prstGeom>
          <a:solidFill>
            <a:srgbClr val="E7E6FB"/>
          </a:solidFill>
          <a:ln/>
        </p:spPr>
      </p:sp>
      <p:sp>
        <p:nvSpPr>
          <p:cNvPr id="36" name="Shape 33"/>
          <p:cNvSpPr/>
          <p:nvPr/>
        </p:nvSpPr>
        <p:spPr>
          <a:xfrm>
            <a:off x="2743200" y="4438650"/>
            <a:ext cx="1793748" cy="152400"/>
          </a:xfrm>
          <a:prstGeom prst="roundRect">
            <a:avLst>
              <a:gd name="adj" fmla="val 50000"/>
            </a:avLst>
          </a:prstGeom>
          <a:solidFill>
            <a:srgbClr val="CFCFDA"/>
          </a:solidFill>
          <a:ln/>
        </p:spPr>
      </p:sp>
      <p:sp>
        <p:nvSpPr>
          <p:cNvPr id="37" name="Text 34"/>
          <p:cNvSpPr/>
          <p:nvPr/>
        </p:nvSpPr>
        <p:spPr>
          <a:xfrm>
            <a:off x="4838700" y="4419600"/>
            <a:ext cx="742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090" dirty="0">
                <a:solidFill>
                  <a:srgbClr val="585866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0.951</a:t>
            </a:r>
            <a:endParaRPr lang="en-US" sz="1090" dirty="0"/>
          </a:p>
        </p:txBody>
      </p:sp>
      <p:sp>
        <p:nvSpPr>
          <p:cNvPr id="38" name="Text 35"/>
          <p:cNvSpPr/>
          <p:nvPr/>
        </p:nvSpPr>
        <p:spPr>
          <a:xfrm>
            <a:off x="1219200" y="4781550"/>
            <a:ext cx="4381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표본 3,610쌍 대 7,984쌍 · 중위값 기준(새벽 극단값이 평균을 왜곡)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6305550" y="3390900"/>
            <a:ext cx="49720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하루를 </a:t>
            </a:r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세계여행처럼</a:t>
            </a:r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 설계했음 — 같은 지역이 이어지지 않게 배치함.</a:t>
            </a:r>
            <a:endParaRPr lang="en-US" sz="1500" dirty="0"/>
          </a:p>
        </p:txBody>
      </p:sp>
      <p:sp>
        <p:nvSpPr>
          <p:cNvPr id="40" name="Shape 37"/>
          <p:cNvSpPr/>
          <p:nvPr/>
        </p:nvSpPr>
        <p:spPr>
          <a:xfrm>
            <a:off x="6305550" y="4143375"/>
            <a:ext cx="85725" cy="85725"/>
          </a:xfrm>
          <a:prstGeom prst="roundRect">
            <a:avLst>
              <a:gd name="adj" fmla="val 33333"/>
            </a:avLst>
          </a:prstGeom>
          <a:solidFill>
            <a:srgbClr val="2C24CE"/>
          </a:solidFill>
          <a:ln/>
        </p:spPr>
      </p:sp>
      <p:sp>
        <p:nvSpPr>
          <p:cNvPr id="41" name="Text 38"/>
          <p:cNvSpPr/>
          <p:nvPr/>
        </p:nvSpPr>
        <p:spPr>
          <a:xfrm>
            <a:off x="6438900" y="4076700"/>
            <a:ext cx="48387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하루 평균 </a:t>
            </a:r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5.1개 지역</a:t>
            </a:r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이 등장하고, 1개 지역만 나온 날은 없음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6305550" y="4581525"/>
            <a:ext cx="85725" cy="85725"/>
          </a:xfrm>
          <a:prstGeom prst="roundRect">
            <a:avLst>
              <a:gd name="adj" fmla="val 33333"/>
            </a:avLst>
          </a:prstGeom>
          <a:solidFill>
            <a:srgbClr val="2C24CE"/>
          </a:solidFill>
          <a:ln/>
        </p:spPr>
      </p:sp>
      <p:sp>
        <p:nvSpPr>
          <p:cNvPr id="43" name="Text 40"/>
          <p:cNvSpPr/>
          <p:nvPr/>
        </p:nvSpPr>
        <p:spPr>
          <a:xfrm>
            <a:off x="6438900" y="4514850"/>
            <a:ext cx="48387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&lt;극한직업&gt;은 다음 회차를 이어 트는 비율이 </a:t>
            </a:r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1.6%</a:t>
            </a:r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뿐 — 회차가 아니라 소재로 배치함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6305550" y="5143500"/>
            <a:ext cx="49720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이는 개인 시청자의 재시청이 아니라 </a:t>
            </a:r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편성 흐름의 대리지표</a:t>
            </a:r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임. 흐름 관리가 다음 방송의 시청 유지와 연결된다는 해석까지 가능함.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cripts/_ppt/assets/olife-logo-l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6228" y="419100"/>
            <a:ext cx="852372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087100" y="6324600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11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914400" y="1019175"/>
            <a:ext cx="2857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5" name="Text 2"/>
          <p:cNvSpPr/>
          <p:nvPr/>
        </p:nvSpPr>
        <p:spPr>
          <a:xfrm>
            <a:off x="1314450" y="895350"/>
            <a:ext cx="6667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spc="100" kern="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03 실행 · 기반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914400" y="1333500"/>
            <a:ext cx="10668000" cy="1046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330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돈을 더 쓴 것이 아니라,</a:t>
            </a:r>
            <a:endParaRPr lang="en-US" sz="3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330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편성의 선택권을 넓혔음</a:t>
            </a:r>
            <a:endParaRPr lang="en-US" sz="3300" dirty="0"/>
          </a:p>
        </p:txBody>
      </p:sp>
      <p:sp>
        <p:nvSpPr>
          <p:cNvPr id="7" name="Shape 4"/>
          <p:cNvSpPr/>
          <p:nvPr/>
        </p:nvSpPr>
        <p:spPr>
          <a:xfrm>
            <a:off x="914400" y="2533650"/>
            <a:ext cx="1905000" cy="142875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2E2E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2743200"/>
            <a:ext cx="190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2024년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914400" y="2933700"/>
            <a:ext cx="19050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>
                <a:solidFill>
                  <a:srgbClr val="2C24CE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529</a:t>
            </a:r>
            <a:pPr algn="ctr" indent="0" marL="0">
              <a:buNone/>
            </a:pPr>
            <a:r>
              <a:rPr lang="en-US" sz="1650" dirty="0">
                <a:solidFill>
                  <a:srgbClr val="2C24CE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편</a:t>
            </a:r>
            <a:endParaRPr lang="en-US" sz="3900" dirty="0"/>
          </a:p>
        </p:txBody>
      </p:sp>
      <p:sp>
        <p:nvSpPr>
          <p:cNvPr id="10" name="Text 7"/>
          <p:cNvSpPr/>
          <p:nvPr/>
        </p:nvSpPr>
        <p:spPr>
          <a:xfrm>
            <a:off x="914400" y="3543300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85866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8억원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429000" y="2533650"/>
            <a:ext cx="1905000" cy="1428750"/>
          </a:xfrm>
          <a:prstGeom prst="roundRect">
            <a:avLst>
              <a:gd name="adj" fmla="val 10667"/>
            </a:avLst>
          </a:prstGeom>
          <a:solidFill>
            <a:srgbClr val="2C24CE"/>
          </a:solidFill>
          <a:ln w="12700">
            <a:solidFill>
              <a:srgbClr val="2C24C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429000" y="2743200"/>
            <a:ext cx="190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2025년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3429000" y="2933700"/>
            <a:ext cx="19050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>
                <a:solidFill>
                  <a:srgbClr val="241DA6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999</a:t>
            </a:r>
            <a:pPr algn="ctr" indent="0" marL="0">
              <a:buNone/>
            </a:pPr>
            <a:r>
              <a:rPr lang="en-US" sz="1650" dirty="0">
                <a:solidFill>
                  <a:srgbClr val="241DA6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편</a:t>
            </a:r>
            <a:endParaRPr lang="en-US" sz="3900" dirty="0"/>
          </a:p>
        </p:txBody>
      </p:sp>
      <p:sp>
        <p:nvSpPr>
          <p:cNvPr id="14" name="Text 11"/>
          <p:cNvSpPr/>
          <p:nvPr/>
        </p:nvSpPr>
        <p:spPr>
          <a:xfrm>
            <a:off x="3429000" y="3543300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10.4억원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2819400" y="3067050"/>
            <a:ext cx="609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50" dirty="0">
                <a:solidFill>
                  <a:srgbClr val="CFCFD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→</a:t>
            </a:r>
            <a:endParaRPr lang="en-US" sz="2250" dirty="0"/>
          </a:p>
        </p:txBody>
      </p:sp>
      <p:sp>
        <p:nvSpPr>
          <p:cNvPr id="16" name="Text 13"/>
          <p:cNvSpPr/>
          <p:nvPr/>
        </p:nvSpPr>
        <p:spPr>
          <a:xfrm>
            <a:off x="5715000" y="2628900"/>
            <a:ext cx="3810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80" dirty="0">
                <a:solidFill>
                  <a:srgbClr val="26262F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콘텐츠 확보 폭 확대</a:t>
            </a:r>
            <a:endParaRPr lang="en-US" sz="1280" dirty="0"/>
          </a:p>
        </p:txBody>
      </p:sp>
      <p:sp>
        <p:nvSpPr>
          <p:cNvPr id="17" name="Text 14"/>
          <p:cNvSpPr/>
          <p:nvPr/>
        </p:nvSpPr>
        <p:spPr>
          <a:xfrm>
            <a:off x="5715000" y="2914650"/>
            <a:ext cx="3810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↓</a:t>
            </a:r>
            <a:endParaRPr lang="en-US" sz="1130" dirty="0"/>
          </a:p>
        </p:txBody>
      </p:sp>
      <p:sp>
        <p:nvSpPr>
          <p:cNvPr id="18" name="Text 15"/>
          <p:cNvSpPr/>
          <p:nvPr/>
        </p:nvSpPr>
        <p:spPr>
          <a:xfrm>
            <a:off x="5715000" y="3200400"/>
            <a:ext cx="3810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80" dirty="0">
                <a:solidFill>
                  <a:srgbClr val="26262F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편성 선택권 확대</a:t>
            </a:r>
            <a:endParaRPr lang="en-US" sz="1280" dirty="0"/>
          </a:p>
        </p:txBody>
      </p:sp>
      <p:sp>
        <p:nvSpPr>
          <p:cNvPr id="19" name="Text 16"/>
          <p:cNvSpPr/>
          <p:nvPr/>
        </p:nvSpPr>
        <p:spPr>
          <a:xfrm>
            <a:off x="5715000" y="3486150"/>
            <a:ext cx="3810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↓</a:t>
            </a:r>
            <a:endParaRPr lang="en-US" sz="1130" dirty="0"/>
          </a:p>
        </p:txBody>
      </p:sp>
      <p:sp>
        <p:nvSpPr>
          <p:cNvPr id="20" name="Text 17"/>
          <p:cNvSpPr/>
          <p:nvPr/>
        </p:nvSpPr>
        <p:spPr>
          <a:xfrm>
            <a:off x="5715000" y="3771900"/>
            <a:ext cx="3810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8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회차 · 시간대 최적화</a:t>
            </a:r>
            <a:endParaRPr lang="en-US" sz="1280" dirty="0"/>
          </a:p>
        </p:txBody>
      </p:sp>
      <p:sp>
        <p:nvSpPr>
          <p:cNvPr id="21" name="Text 18"/>
          <p:cNvSpPr/>
          <p:nvPr/>
        </p:nvSpPr>
        <p:spPr>
          <a:xfrm>
            <a:off x="914400" y="4400550"/>
            <a:ext cx="10363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&lt;걸어서세계속으로&gt; 패키지 협상에서 편성 횟수 카운트 조건을 완화해 "필요한 곳에 필요한 회차"를 넣을 수 있는 자율권을 확보함.  </a:t>
            </a:r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A6A6B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· 구매비·계약 조건은 PD 메모 기준이며 DB로 직접 검증되지 않음 — 투자 대비 효과로 해석하지 않음.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cripts/_ppt/assets/olife-logo-l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6228" y="419100"/>
            <a:ext cx="852372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087100" y="6324600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12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914400" y="1019175"/>
            <a:ext cx="2857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5" name="Text 2"/>
          <p:cNvSpPr/>
          <p:nvPr/>
        </p:nvSpPr>
        <p:spPr>
          <a:xfrm>
            <a:off x="1314450" y="895350"/>
            <a:ext cx="6667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spc="100" kern="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04 검증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914400" y="1333500"/>
            <a:ext cx="10668000" cy="1046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330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잘된 사례와 실패한 실험,</a:t>
            </a:r>
            <a:endParaRPr lang="en-US" sz="3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330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둘 다 데이터로 남겼음</a:t>
            </a:r>
            <a:endParaRPr lang="en-US" sz="3300" dirty="0"/>
          </a:p>
        </p:txBody>
      </p:sp>
      <p:sp>
        <p:nvSpPr>
          <p:cNvPr id="7" name="Shape 4"/>
          <p:cNvSpPr/>
          <p:nvPr/>
        </p:nvSpPr>
        <p:spPr>
          <a:xfrm>
            <a:off x="914400" y="2457450"/>
            <a:ext cx="4972050" cy="2857500"/>
          </a:xfrm>
          <a:prstGeom prst="roundRect">
            <a:avLst>
              <a:gd name="adj" fmla="val 5333"/>
            </a:avLst>
          </a:prstGeom>
          <a:solidFill>
            <a:srgbClr val="F3F3FD"/>
          </a:solidFill>
          <a:ln w="12700">
            <a:solidFill>
              <a:srgbClr val="CDCBF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00150" y="2705100"/>
            <a:ext cx="1257300" cy="247650"/>
          </a:xfrm>
          <a:prstGeom prst="roundRect">
            <a:avLst>
              <a:gd name="adj" fmla="val 50000"/>
            </a:avLst>
          </a:prstGeom>
          <a:solidFill>
            <a:srgbClr val="E7E6FB"/>
          </a:solidFill>
          <a:ln/>
        </p:spPr>
      </p:sp>
      <p:sp>
        <p:nvSpPr>
          <p:cNvPr id="9" name="Text 6"/>
          <p:cNvSpPr/>
          <p:nvPr/>
        </p:nvSpPr>
        <p:spPr>
          <a:xfrm>
            <a:off x="1200150" y="2771775"/>
            <a:ext cx="1257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4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사례 1 · 데이터 일치</a:t>
            </a:r>
            <a:endParaRPr lang="en-US" sz="940" dirty="0"/>
          </a:p>
        </p:txBody>
      </p:sp>
      <p:sp>
        <p:nvSpPr>
          <p:cNvPr id="10" name="Text 7"/>
          <p:cNvSpPr/>
          <p:nvPr/>
        </p:nvSpPr>
        <p:spPr>
          <a:xfrm>
            <a:off x="1200150" y="3067050"/>
            <a:ext cx="44005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5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&lt;걸어서세계속으로&gt;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1200150" y="3467100"/>
            <a:ext cx="44005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6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2026년 3월 이후 &lt;세계테마기행&gt; 대비 역전이 잦아지고 6~8월에는 격차가 뚜렷해짐.</a:t>
            </a:r>
            <a:endParaRPr lang="en-US" sz="1160" dirty="0"/>
          </a:p>
        </p:txBody>
      </p:sp>
      <p:sp>
        <p:nvSpPr>
          <p:cNvPr id="12" name="Text 9"/>
          <p:cNvSpPr/>
          <p:nvPr/>
        </p:nvSpPr>
        <p:spPr>
          <a:xfrm>
            <a:off x="1200150" y="4038600"/>
            <a:ext cx="1238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550" dirty="0">
                <a:solidFill>
                  <a:srgbClr val="2C24CE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0.198</a:t>
            </a:r>
            <a:endParaRPr lang="en-US" sz="2550" dirty="0"/>
          </a:p>
        </p:txBody>
      </p:sp>
      <p:sp>
        <p:nvSpPr>
          <p:cNvPr id="13" name="Text 10"/>
          <p:cNvSpPr/>
          <p:nvPr/>
        </p:nvSpPr>
        <p:spPr>
          <a:xfrm>
            <a:off x="1200150" y="4438650"/>
            <a:ext cx="1524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4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걸어서세계속으로</a:t>
            </a:r>
            <a:endParaRPr lang="en-US" sz="940" dirty="0"/>
          </a:p>
        </p:txBody>
      </p:sp>
      <p:sp>
        <p:nvSpPr>
          <p:cNvPr id="14" name="Text 11"/>
          <p:cNvSpPr/>
          <p:nvPr/>
        </p:nvSpPr>
        <p:spPr>
          <a:xfrm>
            <a:off x="2495550" y="4133850"/>
            <a:ext cx="38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6A6B6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대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2914650" y="4038600"/>
            <a:ext cx="1238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550" dirty="0">
                <a:solidFill>
                  <a:srgbClr val="2C24CE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0.180</a:t>
            </a:r>
            <a:endParaRPr lang="en-US" sz="2550" dirty="0"/>
          </a:p>
        </p:txBody>
      </p:sp>
      <p:sp>
        <p:nvSpPr>
          <p:cNvPr id="16" name="Text 13"/>
          <p:cNvSpPr/>
          <p:nvPr/>
        </p:nvSpPr>
        <p:spPr>
          <a:xfrm>
            <a:off x="2914650" y="4438650"/>
            <a:ext cx="1524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4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세계테마기행</a:t>
            </a:r>
            <a:endParaRPr lang="en-US" sz="940" dirty="0"/>
          </a:p>
        </p:txBody>
      </p:sp>
      <p:sp>
        <p:nvSpPr>
          <p:cNvPr id="17" name="Text 14"/>
          <p:cNvSpPr/>
          <p:nvPr/>
        </p:nvSpPr>
        <p:spPr>
          <a:xfrm>
            <a:off x="1200150" y="4762500"/>
            <a:ext cx="4400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2026년 7월 · 약 10% 우위</a:t>
            </a:r>
            <a:endParaRPr lang="en-US" sz="980" dirty="0"/>
          </a:p>
        </p:txBody>
      </p:sp>
      <p:sp>
        <p:nvSpPr>
          <p:cNvPr id="18" name="Shape 15"/>
          <p:cNvSpPr/>
          <p:nvPr/>
        </p:nvSpPr>
        <p:spPr>
          <a:xfrm>
            <a:off x="6305550" y="2457450"/>
            <a:ext cx="4972050" cy="2857500"/>
          </a:xfrm>
          <a:prstGeom prst="roundRect">
            <a:avLst>
              <a:gd name="adj" fmla="val 5333"/>
            </a:avLst>
          </a:prstGeom>
          <a:solidFill>
            <a:srgbClr val="FDF3F3"/>
          </a:solidFill>
          <a:ln w="12700">
            <a:solidFill>
              <a:srgbClr val="F0D5D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591300" y="2705100"/>
            <a:ext cx="1200150" cy="247650"/>
          </a:xfrm>
          <a:prstGeom prst="roundRect">
            <a:avLst>
              <a:gd name="adj" fmla="val 50000"/>
            </a:avLst>
          </a:prstGeom>
          <a:solidFill>
            <a:srgbClr val="F5DEDE"/>
          </a:solidFill>
          <a:ln/>
        </p:spPr>
      </p:sp>
      <p:sp>
        <p:nvSpPr>
          <p:cNvPr id="20" name="Text 17"/>
          <p:cNvSpPr/>
          <p:nvPr/>
        </p:nvSpPr>
        <p:spPr>
          <a:xfrm>
            <a:off x="6591300" y="2771775"/>
            <a:ext cx="1200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40" dirty="0">
                <a:solidFill>
                  <a:srgbClr val="D63B3B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사례 2 · 확인 안 됨</a:t>
            </a:r>
            <a:endParaRPr lang="en-US" sz="940" dirty="0"/>
          </a:p>
        </p:txBody>
      </p:sp>
      <p:sp>
        <p:nvSpPr>
          <p:cNvPr id="21" name="Text 18"/>
          <p:cNvSpPr/>
          <p:nvPr/>
        </p:nvSpPr>
        <p:spPr>
          <a:xfrm>
            <a:off x="6591300" y="3067050"/>
            <a:ext cx="44005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5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&lt;코리아헌터&gt; 아침 시간대 재해석</a:t>
            </a:r>
            <a:endParaRPr lang="en-US" sz="1950" dirty="0"/>
          </a:p>
        </p:txBody>
      </p:sp>
      <p:sp>
        <p:nvSpPr>
          <p:cNvPr id="22" name="Text 19"/>
          <p:cNvSpPr/>
          <p:nvPr/>
        </p:nvSpPr>
        <p:spPr>
          <a:xfrm>
            <a:off x="6591300" y="3467100"/>
            <a:ext cx="44005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6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아침 시간대 분위기와 연결하는 실험을 진행했으나, 4가지 비교 모두 개선이 확인되지 않았음.</a:t>
            </a:r>
            <a:endParaRPr lang="en-US" sz="1160" dirty="0"/>
          </a:p>
        </p:txBody>
      </p:sp>
      <p:sp>
        <p:nvSpPr>
          <p:cNvPr id="23" name="Text 20"/>
          <p:cNvSpPr/>
          <p:nvPr/>
        </p:nvSpPr>
        <p:spPr>
          <a:xfrm>
            <a:off x="6591300" y="4038600"/>
            <a:ext cx="1428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50" dirty="0">
                <a:solidFill>
                  <a:srgbClr val="D63B3B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-22.0%</a:t>
            </a:r>
            <a:endParaRPr lang="en-US" sz="1950" dirty="0"/>
          </a:p>
        </p:txBody>
      </p:sp>
      <p:sp>
        <p:nvSpPr>
          <p:cNvPr id="24" name="Text 21"/>
          <p:cNvSpPr/>
          <p:nvPr/>
        </p:nvSpPr>
        <p:spPr>
          <a:xfrm>
            <a:off x="6591300" y="4400550"/>
            <a:ext cx="1428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프로그램 자체 전후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8077200" y="4038600"/>
            <a:ext cx="1428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50" dirty="0">
                <a:solidFill>
                  <a:srgbClr val="D63B3B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-19.8%</a:t>
            </a:r>
            <a:endParaRPr lang="en-US" sz="1950" dirty="0"/>
          </a:p>
        </p:txBody>
      </p:sp>
      <p:sp>
        <p:nvSpPr>
          <p:cNvPr id="26" name="Text 23"/>
          <p:cNvSpPr/>
          <p:nvPr/>
        </p:nvSpPr>
        <p:spPr>
          <a:xfrm>
            <a:off x="8077200" y="4400550"/>
            <a:ext cx="1428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최근 3개월 추세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9563100" y="4038600"/>
            <a:ext cx="1428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50" dirty="0">
                <a:solidFill>
                  <a:srgbClr val="D63B3B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-17.7%</a:t>
            </a:r>
            <a:endParaRPr lang="en-US" sz="1950" dirty="0"/>
          </a:p>
        </p:txBody>
      </p:sp>
      <p:sp>
        <p:nvSpPr>
          <p:cNvPr id="28" name="Text 25"/>
          <p:cNvSpPr/>
          <p:nvPr/>
        </p:nvSpPr>
        <p:spPr>
          <a:xfrm>
            <a:off x="9563100" y="4400550"/>
            <a:ext cx="1428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동시기 타 프로그램 대비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914400" y="5524500"/>
            <a:ext cx="103632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잘된 편성만 기억하는 것이 아니라, </a:t>
            </a:r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안 된 실험까지 데이터로 학습했음.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cripts/_ppt/assets/olife-logo-l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6228" y="419100"/>
            <a:ext cx="852372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087100" y="6324600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13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914400" y="1019175"/>
            <a:ext cx="2857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5" name="Text 2"/>
          <p:cNvSpPr/>
          <p:nvPr/>
        </p:nvSpPr>
        <p:spPr>
          <a:xfrm>
            <a:off x="1314450" y="895350"/>
            <a:ext cx="6667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spc="100" kern="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05 발견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914400" y="1333500"/>
            <a:ext cx="10668000" cy="551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330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Pool은 넓게, On-Air는 좁게</a:t>
            </a:r>
            <a:endParaRPr lang="en-US" sz="3300" dirty="0"/>
          </a:p>
        </p:txBody>
      </p:sp>
      <p:sp>
        <p:nvSpPr>
          <p:cNvPr id="7" name="Text 4"/>
          <p:cNvSpPr/>
          <p:nvPr/>
        </p:nvSpPr>
        <p:spPr>
          <a:xfrm>
            <a:off x="914400" y="1962150"/>
            <a:ext cx="9525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콘텐츠는 넓게 확보했지만, 실제 방송은 검증된 콘텐츠에 </a:t>
            </a:r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더 좁게 집중</a:t>
            </a:r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했음. PD 메모의 "풍성하고 다채롭게"와 표면적으로 달라 보이는 이 결과가, 오히려 OLIFE 편성 구조를 가장 잘 설명함.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914400" y="2724150"/>
            <a:ext cx="10363200" cy="2038350"/>
          </a:xfrm>
          <a:prstGeom prst="roundRect">
            <a:avLst>
              <a:gd name="adj" fmla="val 7477"/>
            </a:avLst>
          </a:prstGeom>
          <a:solidFill>
            <a:srgbClr val="F3F3FD"/>
          </a:solidFill>
          <a:ln w="12700">
            <a:solidFill>
              <a:srgbClr val="CDCBF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810000" y="29527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A6A6B6"/>
          </a:solidFill>
          <a:ln/>
        </p:spPr>
      </p:sp>
      <p:sp>
        <p:nvSpPr>
          <p:cNvPr id="10" name="Text 7"/>
          <p:cNvSpPr/>
          <p:nvPr/>
        </p:nvSpPr>
        <p:spPr>
          <a:xfrm>
            <a:off x="4000500" y="2933700"/>
            <a:ext cx="1333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4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2025년 (12개월)</a:t>
            </a:r>
            <a:endParaRPr lang="en-US" sz="940" dirty="0"/>
          </a:p>
        </p:txBody>
      </p:sp>
      <p:sp>
        <p:nvSpPr>
          <p:cNvPr id="11" name="Shape 8"/>
          <p:cNvSpPr/>
          <p:nvPr/>
        </p:nvSpPr>
        <p:spPr>
          <a:xfrm>
            <a:off x="5391150" y="29527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12" name="Text 9"/>
          <p:cNvSpPr/>
          <p:nvPr/>
        </p:nvSpPr>
        <p:spPr>
          <a:xfrm>
            <a:off x="5581650" y="2933700"/>
            <a:ext cx="1333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4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2026년 1~8월</a:t>
            </a:r>
            <a:endParaRPr lang="en-US" sz="940" dirty="0"/>
          </a:p>
        </p:txBody>
      </p:sp>
      <p:sp>
        <p:nvSpPr>
          <p:cNvPr id="13" name="Text 10"/>
          <p:cNvSpPr/>
          <p:nvPr/>
        </p:nvSpPr>
        <p:spPr>
          <a:xfrm>
            <a:off x="1143000" y="3552825"/>
            <a:ext cx="20193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09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월평균 온에어 프로그램 종수</a:t>
            </a:r>
            <a:endParaRPr lang="en-US" sz="1090" dirty="0"/>
          </a:p>
        </p:txBody>
      </p:sp>
      <p:sp>
        <p:nvSpPr>
          <p:cNvPr id="14" name="Shape 11"/>
          <p:cNvSpPr/>
          <p:nvPr/>
        </p:nvSpPr>
        <p:spPr>
          <a:xfrm>
            <a:off x="4107656" y="3448050"/>
            <a:ext cx="4256484" cy="114300"/>
          </a:xfrm>
          <a:prstGeom prst="roundRect">
            <a:avLst>
              <a:gd name="adj" fmla="val 50000"/>
            </a:avLst>
          </a:prstGeom>
          <a:solidFill>
            <a:srgbClr val="EEEEF3"/>
          </a:solidFill>
          <a:ln/>
        </p:spPr>
      </p:sp>
      <p:sp>
        <p:nvSpPr>
          <p:cNvPr id="15" name="Shape 12"/>
          <p:cNvSpPr/>
          <p:nvPr/>
        </p:nvSpPr>
        <p:spPr>
          <a:xfrm>
            <a:off x="6087070" y="3433763"/>
            <a:ext cx="142875" cy="142875"/>
          </a:xfrm>
          <a:prstGeom prst="ellipse">
            <a:avLst/>
          </a:prstGeom>
          <a:solidFill>
            <a:srgbClr val="A6A6B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478441" y="3409950"/>
            <a:ext cx="857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19.3종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720703" y="3733800"/>
            <a:ext cx="3482578" cy="114300"/>
          </a:xfrm>
          <a:prstGeom prst="roundRect">
            <a:avLst>
              <a:gd name="adj" fmla="val 50000"/>
            </a:avLst>
          </a:prstGeom>
          <a:solidFill>
            <a:srgbClr val="CDCBF6"/>
          </a:solidFill>
          <a:ln/>
        </p:spPr>
      </p:sp>
      <p:sp>
        <p:nvSpPr>
          <p:cNvPr id="18" name="Shape 15"/>
          <p:cNvSpPr/>
          <p:nvPr/>
        </p:nvSpPr>
        <p:spPr>
          <a:xfrm>
            <a:off x="4964906" y="3719512"/>
            <a:ext cx="142875" cy="142875"/>
          </a:xfrm>
          <a:prstGeom prst="ellipse">
            <a:avLst/>
          </a:prstGeom>
          <a:solidFill>
            <a:srgbClr val="2C24C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317581" y="3695700"/>
            <a:ext cx="857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16.4종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1143000" y="4352925"/>
            <a:ext cx="20193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09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상위 5개 프로그램 편성 집중도</a:t>
            </a:r>
            <a:endParaRPr lang="en-US" sz="1090" dirty="0"/>
          </a:p>
        </p:txBody>
      </p:sp>
      <p:sp>
        <p:nvSpPr>
          <p:cNvPr id="21" name="Shape 18"/>
          <p:cNvSpPr/>
          <p:nvPr/>
        </p:nvSpPr>
        <p:spPr>
          <a:xfrm>
            <a:off x="3994150" y="4248150"/>
            <a:ext cx="4622800" cy="114300"/>
          </a:xfrm>
          <a:prstGeom prst="roundRect">
            <a:avLst>
              <a:gd name="adj" fmla="val 50000"/>
            </a:avLst>
          </a:prstGeom>
          <a:solidFill>
            <a:srgbClr val="EEEEF3"/>
          </a:solidFill>
          <a:ln/>
        </p:spPr>
      </p:sp>
      <p:sp>
        <p:nvSpPr>
          <p:cNvPr id="22" name="Shape 19"/>
          <p:cNvSpPr/>
          <p:nvPr/>
        </p:nvSpPr>
        <p:spPr>
          <a:xfrm>
            <a:off x="6254750" y="4233863"/>
            <a:ext cx="142875" cy="142875"/>
          </a:xfrm>
          <a:prstGeom prst="ellipse">
            <a:avLst/>
          </a:prstGeom>
          <a:solidFill>
            <a:srgbClr val="A6A6B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731250" y="4210050"/>
            <a:ext cx="857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80.5%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5521325" y="4533900"/>
            <a:ext cx="2992438" cy="114300"/>
          </a:xfrm>
          <a:prstGeom prst="roundRect">
            <a:avLst>
              <a:gd name="adj" fmla="val 50000"/>
            </a:avLst>
          </a:prstGeom>
          <a:solidFill>
            <a:srgbClr val="CDCBF6"/>
          </a:solidFill>
          <a:ln/>
        </p:spPr>
      </p:sp>
      <p:sp>
        <p:nvSpPr>
          <p:cNvPr id="25" name="Shape 22"/>
          <p:cNvSpPr/>
          <p:nvPr/>
        </p:nvSpPr>
        <p:spPr>
          <a:xfrm>
            <a:off x="7451725" y="4519613"/>
            <a:ext cx="142875" cy="142875"/>
          </a:xfrm>
          <a:prstGeom prst="ellipse">
            <a:avLst/>
          </a:prstGeom>
          <a:solidFill>
            <a:srgbClr val="2C24C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628062" y="4495800"/>
            <a:ext cx="857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86.3%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914400" y="4953000"/>
            <a:ext cx="3352800" cy="781050"/>
          </a:xfrm>
          <a:prstGeom prst="roundRect">
            <a:avLst>
              <a:gd name="adj" fmla="val 19512"/>
            </a:avLst>
          </a:prstGeom>
          <a:solidFill>
            <a:srgbClr val="FFFFFF"/>
          </a:solidFill>
          <a:ln w="12700">
            <a:solidFill>
              <a:srgbClr val="E2E2E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104900" y="5124450"/>
            <a:ext cx="29718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30" dirty="0">
                <a:solidFill>
                  <a:srgbClr val="2C24CE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19.3종 → 16.4종</a:t>
            </a:r>
            <a:endParaRPr lang="en-US" sz="1730" dirty="0"/>
          </a:p>
        </p:txBody>
      </p:sp>
      <p:sp>
        <p:nvSpPr>
          <p:cNvPr id="29" name="Text 26"/>
          <p:cNvSpPr/>
          <p:nvPr/>
        </p:nvSpPr>
        <p:spPr>
          <a:xfrm>
            <a:off x="1104900" y="5429250"/>
            <a:ext cx="2971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585866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월평균 온에어 프로그램 종수 (-15.0%)</a:t>
            </a:r>
            <a:endParaRPr lang="en-US" sz="980" dirty="0"/>
          </a:p>
        </p:txBody>
      </p:sp>
      <p:sp>
        <p:nvSpPr>
          <p:cNvPr id="30" name="Shape 27"/>
          <p:cNvSpPr/>
          <p:nvPr/>
        </p:nvSpPr>
        <p:spPr>
          <a:xfrm>
            <a:off x="4419600" y="4953000"/>
            <a:ext cx="3352800" cy="781050"/>
          </a:xfrm>
          <a:prstGeom prst="roundRect">
            <a:avLst>
              <a:gd name="adj" fmla="val 19512"/>
            </a:avLst>
          </a:prstGeom>
          <a:solidFill>
            <a:srgbClr val="F3F3FD"/>
          </a:solidFill>
          <a:ln w="12700">
            <a:solidFill>
              <a:srgbClr val="2C24CE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610100" y="5124450"/>
            <a:ext cx="29718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30" dirty="0">
                <a:solidFill>
                  <a:srgbClr val="2C24CE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80.5% → 86.3%</a:t>
            </a:r>
            <a:endParaRPr lang="en-US" sz="1730" dirty="0"/>
          </a:p>
        </p:txBody>
      </p:sp>
      <p:sp>
        <p:nvSpPr>
          <p:cNvPr id="32" name="Text 29"/>
          <p:cNvSpPr/>
          <p:nvPr/>
        </p:nvSpPr>
        <p:spPr>
          <a:xfrm>
            <a:off x="4610100" y="5429250"/>
            <a:ext cx="2971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585866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상위 5개 프로그램 편성 집중도 (+5.8%p)</a:t>
            </a:r>
            <a:endParaRPr lang="en-US" sz="980" dirty="0"/>
          </a:p>
        </p:txBody>
      </p:sp>
      <p:sp>
        <p:nvSpPr>
          <p:cNvPr id="33" name="Shape 30"/>
          <p:cNvSpPr/>
          <p:nvPr/>
        </p:nvSpPr>
        <p:spPr>
          <a:xfrm>
            <a:off x="7924800" y="4953000"/>
            <a:ext cx="3352800" cy="781050"/>
          </a:xfrm>
          <a:prstGeom prst="roundRect">
            <a:avLst>
              <a:gd name="adj" fmla="val 19512"/>
            </a:avLst>
          </a:prstGeom>
          <a:solidFill>
            <a:srgbClr val="FFFFFF"/>
          </a:solidFill>
          <a:ln w="12700">
            <a:solidFill>
              <a:srgbClr val="E2E2EA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115300" y="5124450"/>
            <a:ext cx="29718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30" dirty="0">
                <a:solidFill>
                  <a:srgbClr val="2C24CE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89.5%</a:t>
            </a:r>
            <a:endParaRPr lang="en-US" sz="1730" dirty="0"/>
          </a:p>
        </p:txBody>
      </p:sp>
      <p:sp>
        <p:nvSpPr>
          <p:cNvPr id="35" name="Text 32"/>
          <p:cNvSpPr/>
          <p:nvPr/>
        </p:nvSpPr>
        <p:spPr>
          <a:xfrm>
            <a:off x="8115300" y="5429250"/>
            <a:ext cx="2971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585866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성장 가속 구간(2026.04~08) 평균 집중도</a:t>
            </a:r>
            <a:endParaRPr lang="en-US" sz="980" dirty="0"/>
          </a:p>
        </p:txBody>
      </p:sp>
      <p:sp>
        <p:nvSpPr>
          <p:cNvPr id="36" name="Text 33"/>
          <p:cNvSpPr/>
          <p:nvPr/>
        </p:nvSpPr>
        <p:spPr>
          <a:xfrm>
            <a:off x="914400" y="5867400"/>
            <a:ext cx="10363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프로그램 단위 데이터가 2025.01.01부터 존재해 </a:t>
            </a:r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2025년(12개월) 대비 2026년(1~8월)</a:t>
            </a:r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 비교임. 콘텐츠 확보 폭(529편→999편)은 PD 메모 기준으로 DB 검증 대상이 아님.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cripts/_ppt/assets/olife-logo-l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6228" y="419100"/>
            <a:ext cx="852372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087100" y="6324600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14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914400" y="1019175"/>
            <a:ext cx="2857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5" name="Text 2"/>
          <p:cNvSpPr/>
          <p:nvPr/>
        </p:nvSpPr>
        <p:spPr>
          <a:xfrm>
            <a:off x="1314450" y="895350"/>
            <a:ext cx="6667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spc="100" kern="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04 검증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914400" y="1333500"/>
            <a:ext cx="10668000" cy="551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330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PD 전략은 어디까지 데이터로 확인되는가</a:t>
            </a:r>
            <a:endParaRPr lang="en-US" sz="3300" dirty="0"/>
          </a:p>
        </p:txBody>
      </p:sp>
      <p:sp>
        <p:nvSpPr>
          <p:cNvPr id="7" name="Text 4"/>
          <p:cNvSpPr/>
          <p:nvPr/>
        </p:nvSpPr>
        <p:spPr>
          <a:xfrm>
            <a:off x="914400" y="2038350"/>
            <a:ext cx="3429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전략</a:t>
            </a:r>
            <a:endParaRPr lang="en-US" sz="980" dirty="0"/>
          </a:p>
        </p:txBody>
      </p:sp>
      <p:sp>
        <p:nvSpPr>
          <p:cNvPr id="8" name="Text 5"/>
          <p:cNvSpPr/>
          <p:nvPr/>
        </p:nvSpPr>
        <p:spPr>
          <a:xfrm>
            <a:off x="4343400" y="2038350"/>
            <a:ext cx="5334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핵심 근거</a:t>
            </a:r>
            <a:endParaRPr lang="en-US" sz="980" dirty="0"/>
          </a:p>
        </p:txBody>
      </p:sp>
      <p:sp>
        <p:nvSpPr>
          <p:cNvPr id="9" name="Text 6"/>
          <p:cNvSpPr/>
          <p:nvPr/>
        </p:nvSpPr>
        <p:spPr>
          <a:xfrm>
            <a:off x="9677400" y="2038350"/>
            <a:ext cx="1600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판정</a:t>
            </a:r>
            <a:endParaRPr lang="en-US" sz="980" dirty="0"/>
          </a:p>
        </p:txBody>
      </p:sp>
      <p:sp>
        <p:nvSpPr>
          <p:cNvPr id="10" name="Shape 7"/>
          <p:cNvSpPr/>
          <p:nvPr/>
        </p:nvSpPr>
        <p:spPr>
          <a:xfrm>
            <a:off x="914400" y="2228850"/>
            <a:ext cx="10363200" cy="13335"/>
          </a:xfrm>
          <a:prstGeom prst="rect">
            <a:avLst/>
          </a:prstGeom>
          <a:solidFill>
            <a:srgbClr val="CFCFDA"/>
          </a:solidFill>
          <a:ln/>
        </p:spPr>
      </p:sp>
      <p:sp>
        <p:nvSpPr>
          <p:cNvPr id="11" name="Text 8"/>
          <p:cNvSpPr/>
          <p:nvPr/>
        </p:nvSpPr>
        <p:spPr>
          <a:xfrm>
            <a:off x="914400" y="245745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60" dirty="0">
                <a:solidFill>
                  <a:srgbClr val="14141A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1. 도달보다 시청 깊이</a:t>
            </a:r>
            <a:endParaRPr lang="en-US" sz="1160" dirty="0"/>
          </a:p>
        </p:txBody>
      </p:sp>
      <p:sp>
        <p:nvSpPr>
          <p:cNvPr id="12" name="Text 9"/>
          <p:cNvSpPr/>
          <p:nvPr/>
        </p:nvSpPr>
        <p:spPr>
          <a:xfrm>
            <a:off x="4343400" y="2457450"/>
            <a:ext cx="533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6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시청률 +39.1% · 시청시간 +34.5% · 도달 +2.9%</a:t>
            </a:r>
            <a:endParaRPr lang="en-US" sz="1160" dirty="0"/>
          </a:p>
        </p:txBody>
      </p:sp>
      <p:sp>
        <p:nvSpPr>
          <p:cNvPr id="13" name="Shape 10"/>
          <p:cNvSpPr/>
          <p:nvPr/>
        </p:nvSpPr>
        <p:spPr>
          <a:xfrm>
            <a:off x="10129838" y="2419350"/>
            <a:ext cx="695325" cy="266700"/>
          </a:xfrm>
          <a:prstGeom prst="roundRect">
            <a:avLst>
              <a:gd name="adj" fmla="val 50000"/>
            </a:avLst>
          </a:prstGeom>
          <a:solidFill>
            <a:srgbClr val="E4F5F1"/>
          </a:solidFill>
          <a:ln/>
        </p:spPr>
      </p:sp>
      <p:sp>
        <p:nvSpPr>
          <p:cNvPr id="14" name="Text 11"/>
          <p:cNvSpPr/>
          <p:nvPr/>
        </p:nvSpPr>
        <p:spPr>
          <a:xfrm>
            <a:off x="9677400" y="2486025"/>
            <a:ext cx="1600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40" dirty="0">
                <a:solidFill>
                  <a:srgbClr val="1F9D6B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확인됨</a:t>
            </a:r>
            <a:endParaRPr lang="en-US" sz="940" dirty="0"/>
          </a:p>
        </p:txBody>
      </p:sp>
      <p:sp>
        <p:nvSpPr>
          <p:cNvPr id="15" name="Shape 12"/>
          <p:cNvSpPr/>
          <p:nvPr/>
        </p:nvSpPr>
        <p:spPr>
          <a:xfrm>
            <a:off x="914400" y="2781300"/>
            <a:ext cx="10363200" cy="13335"/>
          </a:xfrm>
          <a:prstGeom prst="rect">
            <a:avLst/>
          </a:prstGeom>
          <a:solidFill>
            <a:srgbClr val="E2E2EA"/>
          </a:solidFill>
          <a:ln/>
        </p:spPr>
      </p:sp>
      <p:sp>
        <p:nvSpPr>
          <p:cNvPr id="16" name="Text 13"/>
          <p:cNvSpPr/>
          <p:nvPr/>
        </p:nvSpPr>
        <p:spPr>
          <a:xfrm>
            <a:off x="914400" y="293370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60" dirty="0">
                <a:solidFill>
                  <a:srgbClr val="14141A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2. 저효율↓ 고효율↑</a:t>
            </a:r>
            <a:endParaRPr lang="en-US" sz="1160" dirty="0"/>
          </a:p>
        </p:txBody>
      </p:sp>
      <p:sp>
        <p:nvSpPr>
          <p:cNvPr id="17" name="Text 14"/>
          <p:cNvSpPr/>
          <p:nvPr/>
        </p:nvSpPr>
        <p:spPr>
          <a:xfrm>
            <a:off x="4343400" y="2933700"/>
            <a:ext cx="533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6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핵심 2개 비중 25%→44%, 성장 가속과 시점 중첩</a:t>
            </a:r>
            <a:endParaRPr lang="en-US" sz="1160" dirty="0"/>
          </a:p>
        </p:txBody>
      </p:sp>
      <p:sp>
        <p:nvSpPr>
          <p:cNvPr id="18" name="Shape 15"/>
          <p:cNvSpPr/>
          <p:nvPr/>
        </p:nvSpPr>
        <p:spPr>
          <a:xfrm>
            <a:off x="9986963" y="2895600"/>
            <a:ext cx="981075" cy="266700"/>
          </a:xfrm>
          <a:prstGeom prst="roundRect">
            <a:avLst>
              <a:gd name="adj" fmla="val 50000"/>
            </a:avLst>
          </a:prstGeom>
          <a:solidFill>
            <a:srgbClr val="FDF1DF"/>
          </a:solidFill>
          <a:ln/>
        </p:spPr>
      </p:sp>
      <p:sp>
        <p:nvSpPr>
          <p:cNvPr id="19" name="Text 16"/>
          <p:cNvSpPr/>
          <p:nvPr/>
        </p:nvSpPr>
        <p:spPr>
          <a:xfrm>
            <a:off x="9677400" y="2962275"/>
            <a:ext cx="1600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40" dirty="0">
                <a:solidFill>
                  <a:srgbClr val="D98A1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부분 확인</a:t>
            </a:r>
            <a:endParaRPr lang="en-US" sz="940" dirty="0"/>
          </a:p>
        </p:txBody>
      </p:sp>
      <p:sp>
        <p:nvSpPr>
          <p:cNvPr id="20" name="Shape 17"/>
          <p:cNvSpPr/>
          <p:nvPr/>
        </p:nvSpPr>
        <p:spPr>
          <a:xfrm>
            <a:off x="914400" y="3257550"/>
            <a:ext cx="10363200" cy="13335"/>
          </a:xfrm>
          <a:prstGeom prst="rect">
            <a:avLst/>
          </a:prstGeom>
          <a:solidFill>
            <a:srgbClr val="E2E2EA"/>
          </a:solidFill>
          <a:ln/>
        </p:spPr>
      </p:sp>
      <p:sp>
        <p:nvSpPr>
          <p:cNvPr id="21" name="Text 18"/>
          <p:cNvSpPr/>
          <p:nvPr/>
        </p:nvSpPr>
        <p:spPr>
          <a:xfrm>
            <a:off x="914400" y="340995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60" dirty="0">
                <a:solidFill>
                  <a:srgbClr val="14141A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3. 24시간 반복 최소화</a:t>
            </a:r>
            <a:endParaRPr lang="en-US" sz="1160" dirty="0"/>
          </a:p>
        </p:txBody>
      </p:sp>
      <p:sp>
        <p:nvSpPr>
          <p:cNvPr id="22" name="Text 19"/>
          <p:cNvSpPr/>
          <p:nvPr/>
        </p:nvSpPr>
        <p:spPr>
          <a:xfrm>
            <a:off x="4343400" y="3409950"/>
            <a:ext cx="533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6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&lt;인간극장&gt; 2026-03-10 이후 편성 종료</a:t>
            </a:r>
            <a:endParaRPr lang="en-US" sz="1160" dirty="0"/>
          </a:p>
        </p:txBody>
      </p:sp>
      <p:sp>
        <p:nvSpPr>
          <p:cNvPr id="23" name="Shape 20"/>
          <p:cNvSpPr/>
          <p:nvPr/>
        </p:nvSpPr>
        <p:spPr>
          <a:xfrm>
            <a:off x="10129838" y="3371850"/>
            <a:ext cx="695325" cy="266700"/>
          </a:xfrm>
          <a:prstGeom prst="roundRect">
            <a:avLst>
              <a:gd name="adj" fmla="val 50000"/>
            </a:avLst>
          </a:prstGeom>
          <a:solidFill>
            <a:srgbClr val="E4F5F1"/>
          </a:solidFill>
          <a:ln/>
        </p:spPr>
      </p:sp>
      <p:sp>
        <p:nvSpPr>
          <p:cNvPr id="24" name="Text 21"/>
          <p:cNvSpPr/>
          <p:nvPr/>
        </p:nvSpPr>
        <p:spPr>
          <a:xfrm>
            <a:off x="9677400" y="3438525"/>
            <a:ext cx="1600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40" dirty="0">
                <a:solidFill>
                  <a:srgbClr val="1F9D6B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확인됨</a:t>
            </a:r>
            <a:endParaRPr lang="en-US" sz="940" dirty="0"/>
          </a:p>
        </p:txBody>
      </p:sp>
      <p:sp>
        <p:nvSpPr>
          <p:cNvPr id="25" name="Shape 22"/>
          <p:cNvSpPr/>
          <p:nvPr/>
        </p:nvSpPr>
        <p:spPr>
          <a:xfrm>
            <a:off x="914400" y="3733800"/>
            <a:ext cx="10363200" cy="13335"/>
          </a:xfrm>
          <a:prstGeom prst="rect">
            <a:avLst/>
          </a:prstGeom>
          <a:solidFill>
            <a:srgbClr val="E2E2EA"/>
          </a:solidFill>
          <a:ln/>
        </p:spPr>
      </p:sp>
      <p:sp>
        <p:nvSpPr>
          <p:cNvPr id="26" name="Text 23"/>
          <p:cNvSpPr/>
          <p:nvPr/>
        </p:nvSpPr>
        <p:spPr>
          <a:xfrm>
            <a:off x="914400" y="388620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60" dirty="0">
                <a:solidFill>
                  <a:srgbClr val="14141A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4. 콘텐츠 흐름 설계</a:t>
            </a:r>
            <a:endParaRPr lang="en-US" sz="1160" dirty="0"/>
          </a:p>
        </p:txBody>
      </p:sp>
      <p:sp>
        <p:nvSpPr>
          <p:cNvPr id="27" name="Text 24"/>
          <p:cNvSpPr/>
          <p:nvPr/>
        </p:nvSpPr>
        <p:spPr>
          <a:xfrm>
            <a:off x="4343400" y="3886200"/>
            <a:ext cx="533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6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같은 프로그램 연속 시 다음 방송 유지 1.077 대 0.951</a:t>
            </a:r>
            <a:endParaRPr lang="en-US" sz="1160" dirty="0"/>
          </a:p>
        </p:txBody>
      </p:sp>
      <p:sp>
        <p:nvSpPr>
          <p:cNvPr id="28" name="Shape 25"/>
          <p:cNvSpPr/>
          <p:nvPr/>
        </p:nvSpPr>
        <p:spPr>
          <a:xfrm>
            <a:off x="10129838" y="3848100"/>
            <a:ext cx="695325" cy="266700"/>
          </a:xfrm>
          <a:prstGeom prst="roundRect">
            <a:avLst>
              <a:gd name="adj" fmla="val 50000"/>
            </a:avLst>
          </a:prstGeom>
          <a:solidFill>
            <a:srgbClr val="E4F5F1"/>
          </a:solidFill>
          <a:ln/>
        </p:spPr>
      </p:sp>
      <p:sp>
        <p:nvSpPr>
          <p:cNvPr id="29" name="Text 26"/>
          <p:cNvSpPr/>
          <p:nvPr/>
        </p:nvSpPr>
        <p:spPr>
          <a:xfrm>
            <a:off x="9677400" y="3914775"/>
            <a:ext cx="1600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40" dirty="0">
                <a:solidFill>
                  <a:srgbClr val="1F9D6B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확인됨</a:t>
            </a:r>
            <a:endParaRPr lang="en-US" sz="940" dirty="0"/>
          </a:p>
        </p:txBody>
      </p:sp>
      <p:sp>
        <p:nvSpPr>
          <p:cNvPr id="30" name="Shape 27"/>
          <p:cNvSpPr/>
          <p:nvPr/>
        </p:nvSpPr>
        <p:spPr>
          <a:xfrm>
            <a:off x="914400" y="4210050"/>
            <a:ext cx="10363200" cy="13335"/>
          </a:xfrm>
          <a:prstGeom prst="rect">
            <a:avLst/>
          </a:prstGeom>
          <a:solidFill>
            <a:srgbClr val="E2E2EA"/>
          </a:solidFill>
          <a:ln/>
        </p:spPr>
      </p:sp>
      <p:sp>
        <p:nvSpPr>
          <p:cNvPr id="31" name="Text 28"/>
          <p:cNvSpPr/>
          <p:nvPr/>
        </p:nvSpPr>
        <p:spPr>
          <a:xfrm>
            <a:off x="914400" y="436245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60" dirty="0">
                <a:solidFill>
                  <a:srgbClr val="14141A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5. 편성 자유도 확대</a:t>
            </a:r>
            <a:endParaRPr lang="en-US" sz="1160" dirty="0"/>
          </a:p>
        </p:txBody>
      </p:sp>
      <p:sp>
        <p:nvSpPr>
          <p:cNvPr id="32" name="Text 29"/>
          <p:cNvSpPr/>
          <p:nvPr/>
        </p:nvSpPr>
        <p:spPr>
          <a:xfrm>
            <a:off x="4343400" y="4362450"/>
            <a:ext cx="533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6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&lt;걸어서세계속으로&gt; 최근 상승 및 역전</a:t>
            </a:r>
            <a:endParaRPr lang="en-US" sz="1160" dirty="0"/>
          </a:p>
        </p:txBody>
      </p:sp>
      <p:sp>
        <p:nvSpPr>
          <p:cNvPr id="33" name="Shape 30"/>
          <p:cNvSpPr/>
          <p:nvPr/>
        </p:nvSpPr>
        <p:spPr>
          <a:xfrm>
            <a:off x="10129838" y="4324350"/>
            <a:ext cx="695325" cy="266700"/>
          </a:xfrm>
          <a:prstGeom prst="roundRect">
            <a:avLst>
              <a:gd name="adj" fmla="val 50000"/>
            </a:avLst>
          </a:prstGeom>
          <a:solidFill>
            <a:srgbClr val="E4F5F1"/>
          </a:solidFill>
          <a:ln/>
        </p:spPr>
      </p:sp>
      <p:sp>
        <p:nvSpPr>
          <p:cNvPr id="34" name="Text 31"/>
          <p:cNvSpPr/>
          <p:nvPr/>
        </p:nvSpPr>
        <p:spPr>
          <a:xfrm>
            <a:off x="9677400" y="4391025"/>
            <a:ext cx="1600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40" dirty="0">
                <a:solidFill>
                  <a:srgbClr val="1F9D6B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확인됨</a:t>
            </a:r>
            <a:endParaRPr lang="en-US" sz="940" dirty="0"/>
          </a:p>
        </p:txBody>
      </p:sp>
      <p:sp>
        <p:nvSpPr>
          <p:cNvPr id="35" name="Shape 32"/>
          <p:cNvSpPr/>
          <p:nvPr/>
        </p:nvSpPr>
        <p:spPr>
          <a:xfrm>
            <a:off x="914400" y="4686300"/>
            <a:ext cx="10363200" cy="13335"/>
          </a:xfrm>
          <a:prstGeom prst="rect">
            <a:avLst/>
          </a:prstGeom>
          <a:solidFill>
            <a:srgbClr val="E2E2EA"/>
          </a:solidFill>
          <a:ln/>
        </p:spPr>
      </p:sp>
      <p:sp>
        <p:nvSpPr>
          <p:cNvPr id="36" name="Text 33"/>
          <p:cNvSpPr/>
          <p:nvPr/>
        </p:nvSpPr>
        <p:spPr>
          <a:xfrm>
            <a:off x="914400" y="483870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60" dirty="0">
                <a:solidFill>
                  <a:srgbClr val="14141A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6. 콘텐츠 재해석(코리아헌터)</a:t>
            </a:r>
            <a:endParaRPr lang="en-US" sz="1160" dirty="0"/>
          </a:p>
        </p:txBody>
      </p:sp>
      <p:sp>
        <p:nvSpPr>
          <p:cNvPr id="37" name="Text 34"/>
          <p:cNvSpPr/>
          <p:nvPr/>
        </p:nvSpPr>
        <p:spPr>
          <a:xfrm>
            <a:off x="4343400" y="4838700"/>
            <a:ext cx="533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6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편성 전후·동시기 비교 모두 개선 없음</a:t>
            </a:r>
            <a:endParaRPr lang="en-US" sz="1160" dirty="0"/>
          </a:p>
        </p:txBody>
      </p:sp>
      <p:sp>
        <p:nvSpPr>
          <p:cNvPr id="38" name="Shape 35"/>
          <p:cNvSpPr/>
          <p:nvPr/>
        </p:nvSpPr>
        <p:spPr>
          <a:xfrm>
            <a:off x="9915525" y="4800600"/>
            <a:ext cx="1123950" cy="266700"/>
          </a:xfrm>
          <a:prstGeom prst="roundRect">
            <a:avLst>
              <a:gd name="adj" fmla="val 50000"/>
            </a:avLst>
          </a:prstGeom>
          <a:solidFill>
            <a:srgbClr val="F5DEDE"/>
          </a:solidFill>
          <a:ln/>
        </p:spPr>
      </p:sp>
      <p:sp>
        <p:nvSpPr>
          <p:cNvPr id="39" name="Text 36"/>
          <p:cNvSpPr/>
          <p:nvPr/>
        </p:nvSpPr>
        <p:spPr>
          <a:xfrm>
            <a:off x="9677400" y="4867275"/>
            <a:ext cx="1600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40" dirty="0">
                <a:solidFill>
                  <a:srgbClr val="D63B3B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확인 안 됨</a:t>
            </a:r>
            <a:endParaRPr lang="en-US" sz="940" dirty="0"/>
          </a:p>
        </p:txBody>
      </p:sp>
      <p:sp>
        <p:nvSpPr>
          <p:cNvPr id="40" name="Shape 37"/>
          <p:cNvSpPr/>
          <p:nvPr/>
        </p:nvSpPr>
        <p:spPr>
          <a:xfrm>
            <a:off x="914400" y="5162550"/>
            <a:ext cx="10363200" cy="13335"/>
          </a:xfrm>
          <a:prstGeom prst="rect">
            <a:avLst/>
          </a:prstGeom>
          <a:solidFill>
            <a:srgbClr val="E2E2EA"/>
          </a:solidFill>
          <a:ln/>
        </p:spPr>
      </p:sp>
      <p:sp>
        <p:nvSpPr>
          <p:cNvPr id="41" name="Text 38"/>
          <p:cNvSpPr/>
          <p:nvPr/>
        </p:nvSpPr>
        <p:spPr>
          <a:xfrm>
            <a:off x="914400" y="5391150"/>
            <a:ext cx="103632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회차별 큐레이션(4번)과 패키지 협상(5번)은 </a:t>
            </a:r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대체지표·PD 서술 기반</a:t>
            </a:r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이며, 실행 자체가 DB로 직접 검증되지는 않음.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cripts/_ppt/assets/olife-logo-l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6228" y="419100"/>
            <a:ext cx="852372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087100" y="6324600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15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914400" y="1019175"/>
            <a:ext cx="2857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5" name="Text 2"/>
          <p:cNvSpPr/>
          <p:nvPr/>
        </p:nvSpPr>
        <p:spPr>
          <a:xfrm>
            <a:off x="1314450" y="895350"/>
            <a:ext cx="6667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spc="100" kern="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06 실행 원칙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914400" y="1333500"/>
            <a:ext cx="10668000" cy="1001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315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OLIFE가 잘한 것은 '콘텐츠 선택'이 아니라</a:t>
            </a:r>
            <a:endParaRPr lang="en-US" sz="3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315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'편성 운영 방식'이었음</a:t>
            </a:r>
            <a:endParaRPr lang="en-US" sz="3150" dirty="0"/>
          </a:p>
        </p:txBody>
      </p:sp>
      <p:sp>
        <p:nvSpPr>
          <p:cNvPr id="7" name="Shape 4"/>
          <p:cNvSpPr/>
          <p:nvPr/>
        </p:nvSpPr>
        <p:spPr>
          <a:xfrm>
            <a:off x="914400" y="2400300"/>
            <a:ext cx="5057775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E2E2E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85850" y="2609850"/>
            <a:ext cx="419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50" dirty="0">
                <a:solidFill>
                  <a:srgbClr val="A6A2EE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01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1581150" y="2571750"/>
            <a:ext cx="419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40" dirty="0">
                <a:solidFill>
                  <a:srgbClr val="14141A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편성 효율</a:t>
            </a:r>
            <a:endParaRPr lang="en-US" sz="1240" dirty="0"/>
          </a:p>
        </p:txBody>
      </p:sp>
      <p:sp>
        <p:nvSpPr>
          <p:cNvPr id="10" name="Text 7"/>
          <p:cNvSpPr/>
          <p:nvPr/>
        </p:nvSpPr>
        <p:spPr>
          <a:xfrm>
            <a:off x="1581150" y="2819400"/>
            <a:ext cx="419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안 나오는 콘텐츠는 과감히 줄임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19825" y="2400300"/>
            <a:ext cx="5057775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E2E2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91275" y="2609850"/>
            <a:ext cx="419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50" dirty="0">
                <a:solidFill>
                  <a:srgbClr val="A6A2EE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02</a:t>
            </a:r>
            <a:endParaRPr lang="en-US" sz="1950" dirty="0"/>
          </a:p>
        </p:txBody>
      </p:sp>
      <p:sp>
        <p:nvSpPr>
          <p:cNvPr id="13" name="Text 10"/>
          <p:cNvSpPr/>
          <p:nvPr/>
        </p:nvSpPr>
        <p:spPr>
          <a:xfrm>
            <a:off x="6886575" y="2571750"/>
            <a:ext cx="419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40" dirty="0">
                <a:solidFill>
                  <a:srgbClr val="14141A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시청 깊이</a:t>
            </a:r>
            <a:endParaRPr lang="en-US" sz="1240" dirty="0"/>
          </a:p>
        </p:txBody>
      </p:sp>
      <p:sp>
        <p:nvSpPr>
          <p:cNvPr id="14" name="Text 11"/>
          <p:cNvSpPr/>
          <p:nvPr/>
        </p:nvSpPr>
        <p:spPr>
          <a:xfrm>
            <a:off x="6886575" y="2819400"/>
            <a:ext cx="419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도달보다 들어온 시청자의 체류를 봄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914400" y="3352800"/>
            <a:ext cx="5057775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E2E2E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85850" y="3562350"/>
            <a:ext cx="419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50" dirty="0">
                <a:solidFill>
                  <a:srgbClr val="A6A2EE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03</a:t>
            </a:r>
            <a:endParaRPr lang="en-US" sz="1950" dirty="0"/>
          </a:p>
        </p:txBody>
      </p:sp>
      <p:sp>
        <p:nvSpPr>
          <p:cNvPr id="17" name="Text 14"/>
          <p:cNvSpPr/>
          <p:nvPr/>
        </p:nvSpPr>
        <p:spPr>
          <a:xfrm>
            <a:off x="1581150" y="3524250"/>
            <a:ext cx="419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40" dirty="0">
                <a:solidFill>
                  <a:srgbClr val="14141A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반복 관리</a:t>
            </a:r>
            <a:endParaRPr lang="en-US" sz="1240" dirty="0"/>
          </a:p>
        </p:txBody>
      </p:sp>
      <p:sp>
        <p:nvSpPr>
          <p:cNvPr id="18" name="Text 15"/>
          <p:cNvSpPr/>
          <p:nvPr/>
        </p:nvSpPr>
        <p:spPr>
          <a:xfrm>
            <a:off x="1581150" y="3771900"/>
            <a:ext cx="419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반복 횟수가 아니라 반복 효율을 관리함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219825" y="3352800"/>
            <a:ext cx="5057775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E2E2E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91275" y="3562350"/>
            <a:ext cx="419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50" dirty="0">
                <a:solidFill>
                  <a:srgbClr val="A6A2EE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04</a:t>
            </a:r>
            <a:endParaRPr lang="en-US" sz="1950" dirty="0"/>
          </a:p>
        </p:txBody>
      </p:sp>
      <p:sp>
        <p:nvSpPr>
          <p:cNvPr id="21" name="Text 18"/>
          <p:cNvSpPr/>
          <p:nvPr/>
        </p:nvSpPr>
        <p:spPr>
          <a:xfrm>
            <a:off x="6886575" y="3524250"/>
            <a:ext cx="419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40" dirty="0">
                <a:solidFill>
                  <a:srgbClr val="14141A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흐름 설계</a:t>
            </a:r>
            <a:endParaRPr lang="en-US" sz="1240" dirty="0"/>
          </a:p>
        </p:txBody>
      </p:sp>
      <p:sp>
        <p:nvSpPr>
          <p:cNvPr id="22" name="Text 19"/>
          <p:cNvSpPr/>
          <p:nvPr/>
        </p:nvSpPr>
        <p:spPr>
          <a:xfrm>
            <a:off x="6886575" y="3771900"/>
            <a:ext cx="419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프로그램이 아니라 하루의 흐름을 편성함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914400" y="4305300"/>
            <a:ext cx="5057775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E2E2E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85850" y="4514850"/>
            <a:ext cx="419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50" dirty="0">
                <a:solidFill>
                  <a:srgbClr val="A6A2EE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05</a:t>
            </a:r>
            <a:endParaRPr lang="en-US" sz="1950" dirty="0"/>
          </a:p>
        </p:txBody>
      </p:sp>
      <p:sp>
        <p:nvSpPr>
          <p:cNvPr id="25" name="Text 22"/>
          <p:cNvSpPr/>
          <p:nvPr/>
        </p:nvSpPr>
        <p:spPr>
          <a:xfrm>
            <a:off x="1581150" y="4476750"/>
            <a:ext cx="419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40" dirty="0">
                <a:solidFill>
                  <a:srgbClr val="14141A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집중</a:t>
            </a:r>
            <a:endParaRPr lang="en-US" sz="1240" dirty="0"/>
          </a:p>
        </p:txBody>
      </p:sp>
      <p:sp>
        <p:nvSpPr>
          <p:cNvPr id="26" name="Text 23"/>
          <p:cNvSpPr/>
          <p:nvPr/>
        </p:nvSpPr>
        <p:spPr>
          <a:xfrm>
            <a:off x="1581150" y="4724400"/>
            <a:ext cx="419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확보는 넓게, 방송은 검증된 콘텐츠에 집중함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914400" y="5295900"/>
            <a:ext cx="38100" cy="952500"/>
          </a:xfrm>
          <a:prstGeom prst="roundRect">
            <a:avLst/>
          </a:prstGeom>
          <a:solidFill>
            <a:srgbClr val="2C24CE"/>
          </a:solidFill>
          <a:ln/>
        </p:spPr>
      </p:sp>
      <p:sp>
        <p:nvSpPr>
          <p:cNvPr id="28" name="Shape 25"/>
          <p:cNvSpPr/>
          <p:nvPr/>
        </p:nvSpPr>
        <p:spPr>
          <a:xfrm>
            <a:off x="952500" y="5295900"/>
            <a:ext cx="10325100" cy="952500"/>
          </a:xfrm>
          <a:prstGeom prst="roundRect">
            <a:avLst/>
          </a:prstGeom>
          <a:solidFill>
            <a:srgbClr val="F3F3FD"/>
          </a:solidFill>
          <a:ln/>
        </p:spPr>
      </p:sp>
      <p:sp>
        <p:nvSpPr>
          <p:cNvPr id="29" name="Text 26"/>
          <p:cNvSpPr/>
          <p:nvPr/>
        </p:nvSpPr>
        <p:spPr>
          <a:xfrm>
            <a:off x="1200150" y="5486400"/>
            <a:ext cx="98107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430" dirty="0">
                <a:solidFill>
                  <a:srgbClr val="14141A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"OLIFE의 경쟁력은 무엇을 틀었느냐보다,</a:t>
            </a:r>
            <a:endParaRPr lang="en-US" sz="143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30" dirty="0">
                <a:solidFill>
                  <a:srgbClr val="14141A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그 콘텐츠를 </a:t>
            </a:r>
            <a:pPr indent="0" marL="0">
              <a:lnSpc>
                <a:spcPct val="150000"/>
              </a:lnSpc>
              <a:buNone/>
            </a:pPr>
            <a:r>
              <a:rPr lang="en-US" sz="143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언제 · 어떤 회차로 · 무엇과 연결해</a:t>
            </a:r>
            <a:pPr indent="0" marL="0">
              <a:lnSpc>
                <a:spcPct val="150000"/>
              </a:lnSpc>
              <a:buNone/>
            </a:pPr>
            <a:r>
              <a:rPr lang="en-US" sz="1430" dirty="0">
                <a:solidFill>
                  <a:srgbClr val="14141A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 틀었느냐에 있었음."</a:t>
            </a:r>
            <a:endParaRPr lang="en-US" sz="143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cripts/_ppt/_gr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scripts/_ppt/assets/olife-bang-was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81000"/>
            <a:ext cx="1135673" cy="5905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0" y="2381250"/>
            <a:ext cx="12192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E4E1FA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삶의 여유,</a:t>
            </a:r>
            <a:endParaRPr lang="en-US" sz="1800" dirty="0"/>
          </a:p>
        </p:txBody>
      </p:sp>
      <p:pic>
        <p:nvPicPr>
          <p:cNvPr id="5" name="Image 2" descr="scripts/_ppt/assets/olife-logo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8391" y="2895600"/>
            <a:ext cx="1875218" cy="83820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0" y="5734050"/>
            <a:ext cx="12192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000" spc="800" kern="0" dirty="0">
                <a:solidFill>
                  <a:srgbClr val="FFFFFF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E.O.D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KT ENA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OLIFE 성장 원인 리포트</dc:title>
  <dc:subject>PptxGenJS Presentation</dc:subject>
  <dc:creator>KT ENA</dc:creator>
  <cp:lastModifiedBy>KT ENA</cp:lastModifiedBy>
  <cp:revision>1</cp:revision>
  <dcterms:created xsi:type="dcterms:W3CDTF">2026-09-08T22:25:47Z</dcterms:created>
  <dcterms:modified xsi:type="dcterms:W3CDTF">2026-09-08T22:25:47Z</dcterms:modified>
</cp:coreProperties>
</file>