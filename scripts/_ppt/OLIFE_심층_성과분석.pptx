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9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0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15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1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17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1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21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23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24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charts/chart25.xml" ContentType="application/vnd.openxmlformats-officedocument.drawingml.chart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26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charts/chart27.xml" ContentType="application/vnd.openxmlformats-officedocument.drawingml.chart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28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29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월간 순위</c:v>
                </c:pt>
              </c:strCache>
            </c:strRef>
          </c:tx>
          <c:spPr>
            <a:solidFill>
              <a:srgbClr val="2C24CE"/>
            </a:solidFill>
            <a:ln w="381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;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26-01</c:v>
                  </c:pt>
                  <c:pt idx="1">
                    <c:v>26-02</c:v>
                  </c:pt>
                  <c:pt idx="2">
                    <c:v>26-03</c:v>
                  </c:pt>
                  <c:pt idx="3">
                    <c:v>26-04</c:v>
                  </c:pt>
                  <c:pt idx="4">
                    <c:v>26-05</c:v>
                  </c:pt>
                  <c:pt idx="5">
                    <c:v>26-06</c:v>
                  </c:pt>
                  <c:pt idx="6">
                    <c:v>26-07</c:v>
                  </c:pt>
                  <c:pt idx="7">
                    <c:v>26-08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-42</c:v>
                </c:pt>
                <c:pt idx="1">
                  <c:v>-46</c:v>
                </c:pt>
                <c:pt idx="2">
                  <c:v>-43</c:v>
                </c:pt>
                <c:pt idx="3">
                  <c:v>-43</c:v>
                </c:pt>
                <c:pt idx="4">
                  <c:v>-36</c:v>
                </c:pt>
                <c:pt idx="5">
                  <c:v>-32</c:v>
                </c:pt>
                <c:pt idx="6">
                  <c:v>-28</c:v>
                </c:pt>
                <c:pt idx="7">
                  <c:v>-28</c:v>
                </c:pt>
              </c:numCache>
            </c:numRef>
          </c:val>
          <c:smooth val="0"/>
        </c:ser>
        <c:dLbls>
          <c:numFmt formatCode="0;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-25"/>
          <c:min val="-5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;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월평균 시청률</c:v>
                </c:pt>
              </c:strCache>
            </c:strRef>
          </c:tx>
          <c:spPr>
            <a:solidFill>
              <a:srgbClr val="2C24CE"/>
            </a:solidFill>
            <a:ln w="381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0.07179</c:v>
                </c:pt>
                <c:pt idx="1">
                  <c:v>0.07861</c:v>
                </c:pt>
                <c:pt idx="2">
                  <c:v>0.0815</c:v>
                </c:pt>
                <c:pt idx="3">
                  <c:v>0.07667</c:v>
                </c:pt>
                <c:pt idx="4">
                  <c:v>0.08263</c:v>
                </c:pt>
                <c:pt idx="5">
                  <c:v>0.08355</c:v>
                </c:pt>
                <c:pt idx="6">
                  <c:v>0.07971</c:v>
                </c:pt>
                <c:pt idx="7">
                  <c:v>0.07788</c:v>
                </c:pt>
                <c:pt idx="8">
                  <c:v>0.0735</c:v>
                </c:pt>
                <c:pt idx="9">
                  <c:v>0.06817</c:v>
                </c:pt>
                <c:pt idx="10">
                  <c:v>0.07473</c:v>
                </c:pt>
                <c:pt idx="11">
                  <c:v>0.08478</c:v>
                </c:pt>
                <c:pt idx="12">
                  <c:v>0.09987</c:v>
                </c:pt>
                <c:pt idx="13">
                  <c:v>0.09042</c:v>
                </c:pt>
                <c:pt idx="14">
                  <c:v>0.08986</c:v>
                </c:pt>
                <c:pt idx="15">
                  <c:v>0.07634</c:v>
                </c:pt>
                <c:pt idx="16">
                  <c:v>0.08454</c:v>
                </c:pt>
                <c:pt idx="17">
                  <c:v>0.09184</c:v>
                </c:pt>
                <c:pt idx="18">
                  <c:v>0.09064</c:v>
                </c:pt>
                <c:pt idx="19">
                  <c:v>0.10016</c:v>
                </c:pt>
                <c:pt idx="20">
                  <c:v>0.0892</c:v>
                </c:pt>
                <c:pt idx="21">
                  <c:v>0.09038</c:v>
                </c:pt>
                <c:pt idx="22">
                  <c:v>0.09887</c:v>
                </c:pt>
                <c:pt idx="23">
                  <c:v>0.10282</c:v>
                </c:pt>
                <c:pt idx="24">
                  <c:v>0.09782</c:v>
                </c:pt>
                <c:pt idx="25">
                  <c:v>0.09787</c:v>
                </c:pt>
                <c:pt idx="26">
                  <c:v>0.09117</c:v>
                </c:pt>
                <c:pt idx="27">
                  <c:v>0.09132</c:v>
                </c:pt>
                <c:pt idx="28">
                  <c:v>0.10559</c:v>
                </c:pt>
                <c:pt idx="29">
                  <c:v>0.11984</c:v>
                </c:pt>
                <c:pt idx="30">
                  <c:v>0.13336</c:v>
                </c:pt>
                <c:pt idx="31">
                  <c:v>0.12501</c:v>
                </c:pt>
                <c:pt idx="32">
                  <c:v>0.12202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14"/>
          <c:min val="0.06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시청률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118.4</c:v>
                </c:pt>
                <c:pt idx="2">
                  <c:v>139.1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1인당 시청시간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120.4</c:v>
                </c:pt>
                <c:pt idx="2">
                  <c:v>134.5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도달률</c:v>
                </c:pt>
              </c:strCache>
            </c:strRef>
          </c:tx>
          <c:spPr>
            <a:solidFill>
              <a:srgbClr val="A6A2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98.3</c:v>
                </c:pt>
                <c:pt idx="2">
                  <c:v>102.9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시청률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100</c:v>
                </c:pt>
                <c:pt idx="1">
                  <c:v>109.5</c:v>
                </c:pt>
                <c:pt idx="2">
                  <c:v>113.5</c:v>
                </c:pt>
                <c:pt idx="3">
                  <c:v>106.8</c:v>
                </c:pt>
                <c:pt idx="4">
                  <c:v>115.1</c:v>
                </c:pt>
                <c:pt idx="5">
                  <c:v>116.4</c:v>
                </c:pt>
                <c:pt idx="6">
                  <c:v>111</c:v>
                </c:pt>
                <c:pt idx="7">
                  <c:v>108.5</c:v>
                </c:pt>
                <c:pt idx="8">
                  <c:v>102.4</c:v>
                </c:pt>
                <c:pt idx="9">
                  <c:v>95</c:v>
                </c:pt>
                <c:pt idx="10">
                  <c:v>104.1</c:v>
                </c:pt>
                <c:pt idx="11">
                  <c:v>118.1</c:v>
                </c:pt>
                <c:pt idx="12">
                  <c:v>139.1</c:v>
                </c:pt>
                <c:pt idx="13">
                  <c:v>126</c:v>
                </c:pt>
                <c:pt idx="14">
                  <c:v>125.2</c:v>
                </c:pt>
                <c:pt idx="15">
                  <c:v>106.3</c:v>
                </c:pt>
                <c:pt idx="16">
                  <c:v>117.8</c:v>
                </c:pt>
                <c:pt idx="17">
                  <c:v>127.9</c:v>
                </c:pt>
                <c:pt idx="18">
                  <c:v>126.3</c:v>
                </c:pt>
                <c:pt idx="19">
                  <c:v>139.5</c:v>
                </c:pt>
                <c:pt idx="20">
                  <c:v>124.3</c:v>
                </c:pt>
                <c:pt idx="21">
                  <c:v>125.9</c:v>
                </c:pt>
                <c:pt idx="22">
                  <c:v>137.7</c:v>
                </c:pt>
                <c:pt idx="23">
                  <c:v>143.2</c:v>
                </c:pt>
                <c:pt idx="24">
                  <c:v>136.3</c:v>
                </c:pt>
                <c:pt idx="25">
                  <c:v>136.3</c:v>
                </c:pt>
                <c:pt idx="26">
                  <c:v>127</c:v>
                </c:pt>
                <c:pt idx="27">
                  <c:v>127.2</c:v>
                </c:pt>
                <c:pt idx="28">
                  <c:v>147.1</c:v>
                </c:pt>
                <c:pt idx="29">
                  <c:v>166.9</c:v>
                </c:pt>
                <c:pt idx="30">
                  <c:v>185.8</c:v>
                </c:pt>
                <c:pt idx="31">
                  <c:v>174.1</c:v>
                </c:pt>
                <c:pt idx="32">
                  <c:v>170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1인당 시청시간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100</c:v>
                </c:pt>
                <c:pt idx="1">
                  <c:v>105.6</c:v>
                </c:pt>
                <c:pt idx="2">
                  <c:v>111.2</c:v>
                </c:pt>
                <c:pt idx="3">
                  <c:v>112</c:v>
                </c:pt>
                <c:pt idx="4">
                  <c:v>117.7</c:v>
                </c:pt>
                <c:pt idx="5">
                  <c:v>120.7</c:v>
                </c:pt>
                <c:pt idx="6">
                  <c:v>113.9</c:v>
                </c:pt>
                <c:pt idx="7">
                  <c:v>117.1</c:v>
                </c:pt>
                <c:pt idx="8">
                  <c:v>111.2</c:v>
                </c:pt>
                <c:pt idx="9">
                  <c:v>113</c:v>
                </c:pt>
                <c:pt idx="10">
                  <c:v>125.2</c:v>
                </c:pt>
                <c:pt idx="11">
                  <c:v>124.1</c:v>
                </c:pt>
                <c:pt idx="12">
                  <c:v>128.1</c:v>
                </c:pt>
                <c:pt idx="13">
                  <c:v>121.2</c:v>
                </c:pt>
                <c:pt idx="14">
                  <c:v>127.8</c:v>
                </c:pt>
                <c:pt idx="15">
                  <c:v>124.9</c:v>
                </c:pt>
                <c:pt idx="16">
                  <c:v>137.8</c:v>
                </c:pt>
                <c:pt idx="17">
                  <c:v>147.4</c:v>
                </c:pt>
                <c:pt idx="18">
                  <c:v>138.9</c:v>
                </c:pt>
                <c:pt idx="19">
                  <c:v>148.1</c:v>
                </c:pt>
                <c:pt idx="20">
                  <c:v>135.2</c:v>
                </c:pt>
                <c:pt idx="21">
                  <c:v>136.3</c:v>
                </c:pt>
                <c:pt idx="22">
                  <c:v>153.6</c:v>
                </c:pt>
                <c:pt idx="23">
                  <c:v>151.4</c:v>
                </c:pt>
                <c:pt idx="24">
                  <c:v>134.7</c:v>
                </c:pt>
                <c:pt idx="25">
                  <c:v>134</c:v>
                </c:pt>
                <c:pt idx="26">
                  <c:v>137.4</c:v>
                </c:pt>
                <c:pt idx="27">
                  <c:v>148.8</c:v>
                </c:pt>
                <c:pt idx="28">
                  <c:v>154.1</c:v>
                </c:pt>
                <c:pt idx="29">
                  <c:v>169.3</c:v>
                </c:pt>
                <c:pt idx="30">
                  <c:v>176.1</c:v>
                </c:pt>
                <c:pt idx="31">
                  <c:v>170.5</c:v>
                </c:pt>
                <c:pt idx="32">
                  <c:v>173.1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도달률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100</c:v>
                </c:pt>
                <c:pt idx="1">
                  <c:v>104.4</c:v>
                </c:pt>
                <c:pt idx="2">
                  <c:v>103</c:v>
                </c:pt>
                <c:pt idx="3">
                  <c:v>95.9</c:v>
                </c:pt>
                <c:pt idx="4">
                  <c:v>98.7</c:v>
                </c:pt>
                <c:pt idx="5">
                  <c:v>96.9</c:v>
                </c:pt>
                <c:pt idx="6">
                  <c:v>97.5</c:v>
                </c:pt>
                <c:pt idx="7">
                  <c:v>93.9</c:v>
                </c:pt>
                <c:pt idx="8">
                  <c:v>92.5</c:v>
                </c:pt>
                <c:pt idx="9">
                  <c:v>84.5</c:v>
                </c:pt>
                <c:pt idx="10">
                  <c:v>83.9</c:v>
                </c:pt>
                <c:pt idx="11">
                  <c:v>95.5</c:v>
                </c:pt>
                <c:pt idx="12">
                  <c:v>109.1</c:v>
                </c:pt>
                <c:pt idx="13">
                  <c:v>104</c:v>
                </c:pt>
                <c:pt idx="14">
                  <c:v>98</c:v>
                </c:pt>
                <c:pt idx="15">
                  <c:v>85.5</c:v>
                </c:pt>
                <c:pt idx="16">
                  <c:v>86</c:v>
                </c:pt>
                <c:pt idx="17">
                  <c:v>86.8</c:v>
                </c:pt>
                <c:pt idx="18">
                  <c:v>91.1</c:v>
                </c:pt>
                <c:pt idx="19">
                  <c:v>95.2</c:v>
                </c:pt>
                <c:pt idx="20">
                  <c:v>92.8</c:v>
                </c:pt>
                <c:pt idx="21">
                  <c:v>92.9</c:v>
                </c:pt>
                <c:pt idx="22">
                  <c:v>90.5</c:v>
                </c:pt>
                <c:pt idx="23">
                  <c:v>95.2</c:v>
                </c:pt>
                <c:pt idx="24">
                  <c:v>101.7</c:v>
                </c:pt>
                <c:pt idx="25">
                  <c:v>102.3</c:v>
                </c:pt>
                <c:pt idx="26">
                  <c:v>92.5</c:v>
                </c:pt>
                <c:pt idx="27">
                  <c:v>86.1</c:v>
                </c:pt>
                <c:pt idx="28">
                  <c:v>95.9</c:v>
                </c:pt>
                <c:pt idx="29">
                  <c:v>98.9</c:v>
                </c:pt>
                <c:pt idx="30">
                  <c:v>106.1</c:v>
                </c:pt>
                <c:pt idx="31">
                  <c:v>103</c:v>
                </c:pt>
                <c:pt idx="32">
                  <c:v>99.1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200"/>
          <c:min val="8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24C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F69E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6A2E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6A2E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남 60대+</c:v>
                </c:pt>
                <c:pt idx="1">
                  <c:v>여 60대+</c:v>
                </c:pt>
                <c:pt idx="2">
                  <c:v>50대</c:v>
                </c:pt>
                <c:pt idx="3">
                  <c:v>40대 이하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40.4</c:v>
                </c:pt>
                <c:pt idx="1">
                  <c:v>23.6</c:v>
                </c:pt>
                <c:pt idx="2">
                  <c:v>24.1</c:v>
                </c:pt>
                <c:pt idx="3">
                  <c:v>11.9</c:v>
                </c:pt>
              </c:numCache>
            </c:numRef>
          </c:val>
        </c:ser>
        <c:firstSliceAng val="0"/>
        <c:holeSize val="66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24C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6F69E2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6A2E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A6A2EE"/>
              </a:solidFill>
              <a:ln w="190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남 60대+</c:v>
                </c:pt>
                <c:pt idx="1">
                  <c:v>여 60대+</c:v>
                </c:pt>
                <c:pt idx="2">
                  <c:v>50대</c:v>
                </c:pt>
                <c:pt idx="3">
                  <c:v>40대 이하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44.2</c:v>
                </c:pt>
                <c:pt idx="1">
                  <c:v>30.1</c:v>
                </c:pt>
                <c:pt idx="2">
                  <c:v>15.6</c:v>
                </c:pt>
                <c:pt idx="3">
                  <c:v>10</c:v>
                </c:pt>
              </c:numCache>
            </c:numRef>
          </c:val>
        </c:ser>
        <c:firstSliceAng val="0"/>
        <c:holeSize val="66"/>
      </c:doughnutChart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 60대+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0.09385</c:v>
                </c:pt>
                <c:pt idx="1">
                  <c:v>0.09554</c:v>
                </c:pt>
                <c:pt idx="2">
                  <c:v>0.09655</c:v>
                </c:pt>
                <c:pt idx="3">
                  <c:v>0.09182</c:v>
                </c:pt>
                <c:pt idx="4">
                  <c:v>0.09535</c:v>
                </c:pt>
                <c:pt idx="5">
                  <c:v>0.10016</c:v>
                </c:pt>
                <c:pt idx="6">
                  <c:v>0.08987</c:v>
                </c:pt>
                <c:pt idx="7">
                  <c:v>0.08791</c:v>
                </c:pt>
                <c:pt idx="8">
                  <c:v>0.08599</c:v>
                </c:pt>
                <c:pt idx="9">
                  <c:v>0.07796</c:v>
                </c:pt>
                <c:pt idx="10">
                  <c:v>0.0824</c:v>
                </c:pt>
                <c:pt idx="11">
                  <c:v>0.10062</c:v>
                </c:pt>
                <c:pt idx="12">
                  <c:v>0.12809</c:v>
                </c:pt>
                <c:pt idx="13">
                  <c:v>0.1152</c:v>
                </c:pt>
                <c:pt idx="14">
                  <c:v>0.11795</c:v>
                </c:pt>
                <c:pt idx="15">
                  <c:v>0.09365</c:v>
                </c:pt>
                <c:pt idx="16">
                  <c:v>0.1018</c:v>
                </c:pt>
                <c:pt idx="17">
                  <c:v>0.11518</c:v>
                </c:pt>
                <c:pt idx="18">
                  <c:v>0.11165</c:v>
                </c:pt>
                <c:pt idx="19">
                  <c:v>0.13331</c:v>
                </c:pt>
                <c:pt idx="20">
                  <c:v>0.12732</c:v>
                </c:pt>
                <c:pt idx="21">
                  <c:v>0.12462</c:v>
                </c:pt>
                <c:pt idx="22">
                  <c:v>0.13698</c:v>
                </c:pt>
                <c:pt idx="23">
                  <c:v>0.14615</c:v>
                </c:pt>
                <c:pt idx="24">
                  <c:v>0.14236</c:v>
                </c:pt>
                <c:pt idx="25">
                  <c:v>0.14425</c:v>
                </c:pt>
                <c:pt idx="26">
                  <c:v>0.13229</c:v>
                </c:pt>
                <c:pt idx="27">
                  <c:v>0.13962</c:v>
                </c:pt>
                <c:pt idx="28">
                  <c:v>0.15177</c:v>
                </c:pt>
                <c:pt idx="29">
                  <c:v>0.18063</c:v>
                </c:pt>
                <c:pt idx="30">
                  <c:v>0.20154</c:v>
                </c:pt>
                <c:pt idx="31">
                  <c:v>0.18658</c:v>
                </c:pt>
                <c:pt idx="32">
                  <c:v>0.18261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 60대+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0.05207</c:v>
                </c:pt>
                <c:pt idx="1">
                  <c:v>0.0577</c:v>
                </c:pt>
                <c:pt idx="2">
                  <c:v>0.05606</c:v>
                </c:pt>
                <c:pt idx="3">
                  <c:v>0.04966</c:v>
                </c:pt>
                <c:pt idx="4">
                  <c:v>0.04998</c:v>
                </c:pt>
                <c:pt idx="5">
                  <c:v>0.05475</c:v>
                </c:pt>
                <c:pt idx="6">
                  <c:v>0.04938</c:v>
                </c:pt>
                <c:pt idx="7">
                  <c:v>0.04926</c:v>
                </c:pt>
                <c:pt idx="8">
                  <c:v>0.05279</c:v>
                </c:pt>
                <c:pt idx="9">
                  <c:v>0.04918</c:v>
                </c:pt>
                <c:pt idx="10">
                  <c:v>0.0562</c:v>
                </c:pt>
                <c:pt idx="11">
                  <c:v>0.06392</c:v>
                </c:pt>
                <c:pt idx="12">
                  <c:v>0.08107</c:v>
                </c:pt>
                <c:pt idx="13">
                  <c:v>0.07337</c:v>
                </c:pt>
                <c:pt idx="14">
                  <c:v>0.06547</c:v>
                </c:pt>
                <c:pt idx="15">
                  <c:v>0.06647</c:v>
                </c:pt>
                <c:pt idx="16">
                  <c:v>0.07345</c:v>
                </c:pt>
                <c:pt idx="17">
                  <c:v>0.07338</c:v>
                </c:pt>
                <c:pt idx="18">
                  <c:v>0.07429</c:v>
                </c:pt>
                <c:pt idx="19">
                  <c:v>0.08847</c:v>
                </c:pt>
                <c:pt idx="20">
                  <c:v>0.07688</c:v>
                </c:pt>
                <c:pt idx="21">
                  <c:v>0.08642</c:v>
                </c:pt>
                <c:pt idx="22">
                  <c:v>0.09629</c:v>
                </c:pt>
                <c:pt idx="23">
                  <c:v>0.09906</c:v>
                </c:pt>
                <c:pt idx="24">
                  <c:v>0.09352</c:v>
                </c:pt>
                <c:pt idx="25">
                  <c:v>0.08908</c:v>
                </c:pt>
                <c:pt idx="26">
                  <c:v>0.08056</c:v>
                </c:pt>
                <c:pt idx="27">
                  <c:v>0.08227</c:v>
                </c:pt>
                <c:pt idx="28">
                  <c:v>0.11035</c:v>
                </c:pt>
                <c:pt idx="29">
                  <c:v>0.11668</c:v>
                </c:pt>
                <c:pt idx="30">
                  <c:v>0.1331</c:v>
                </c:pt>
                <c:pt idx="31">
                  <c:v>0.14238</c:v>
                </c:pt>
                <c:pt idx="32">
                  <c:v>0.14797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남 50대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0.02854</c:v>
                </c:pt>
                <c:pt idx="1">
                  <c:v>0.02537</c:v>
                </c:pt>
                <c:pt idx="2">
                  <c:v>0.0294</c:v>
                </c:pt>
                <c:pt idx="3">
                  <c:v>0.02605</c:v>
                </c:pt>
                <c:pt idx="4">
                  <c:v>0.02753</c:v>
                </c:pt>
                <c:pt idx="5">
                  <c:v>0.02857</c:v>
                </c:pt>
                <c:pt idx="6">
                  <c:v>0.02546</c:v>
                </c:pt>
                <c:pt idx="7">
                  <c:v>0.02273</c:v>
                </c:pt>
                <c:pt idx="8">
                  <c:v>0.02302</c:v>
                </c:pt>
                <c:pt idx="9">
                  <c:v>0.02092</c:v>
                </c:pt>
                <c:pt idx="10">
                  <c:v>0.02781</c:v>
                </c:pt>
                <c:pt idx="11">
                  <c:v>0.03151</c:v>
                </c:pt>
                <c:pt idx="12">
                  <c:v>0.0519</c:v>
                </c:pt>
                <c:pt idx="13">
                  <c:v>0.04518</c:v>
                </c:pt>
                <c:pt idx="14">
                  <c:v>0.05192</c:v>
                </c:pt>
                <c:pt idx="15">
                  <c:v>0.03042</c:v>
                </c:pt>
                <c:pt idx="16">
                  <c:v>0.03578</c:v>
                </c:pt>
                <c:pt idx="17">
                  <c:v>0.03755</c:v>
                </c:pt>
                <c:pt idx="18">
                  <c:v>0.04254</c:v>
                </c:pt>
                <c:pt idx="19">
                  <c:v>0.03697</c:v>
                </c:pt>
                <c:pt idx="20">
                  <c:v>0.02905</c:v>
                </c:pt>
                <c:pt idx="21">
                  <c:v>0.03181</c:v>
                </c:pt>
                <c:pt idx="22">
                  <c:v>0.02363</c:v>
                </c:pt>
                <c:pt idx="23">
                  <c:v>0.02757</c:v>
                </c:pt>
                <c:pt idx="24">
                  <c:v>0.03214</c:v>
                </c:pt>
                <c:pt idx="25">
                  <c:v>0.0333</c:v>
                </c:pt>
                <c:pt idx="26">
                  <c:v>0.03101</c:v>
                </c:pt>
                <c:pt idx="27">
                  <c:v>0.02883</c:v>
                </c:pt>
                <c:pt idx="28">
                  <c:v>0.04018</c:v>
                </c:pt>
                <c:pt idx="29">
                  <c:v>0.04083</c:v>
                </c:pt>
                <c:pt idx="30">
                  <c:v>0.03455</c:v>
                </c:pt>
                <c:pt idx="31">
                  <c:v>0.03884</c:v>
                </c:pt>
                <c:pt idx="32">
                  <c:v>0.022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여 50대</c:v>
                </c:pt>
              </c:strCache>
            </c:strRef>
          </c:tx>
          <c:spPr>
            <a:solidFill>
              <a:srgbClr val="4A43D8"/>
            </a:solidFill>
            <a:ln w="25400" cap="flat">
              <a:solidFill>
                <a:srgbClr val="4A43D8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4A43D8"/>
              </a:solidFill>
              <a:ln w="9525" cap="flat">
                <a:solidFill>
                  <a:srgbClr val="4A43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Sheet1!$E$2:$E$34</c:f>
              <c:numCache>
                <c:formatCode>General</c:formatCode>
                <c:ptCount val="33"/>
                <c:pt idx="0">
                  <c:v>0.02749</c:v>
                </c:pt>
                <c:pt idx="1">
                  <c:v>0.02921</c:v>
                </c:pt>
                <c:pt idx="2">
                  <c:v>0.02742</c:v>
                </c:pt>
                <c:pt idx="3">
                  <c:v>0.02861</c:v>
                </c:pt>
                <c:pt idx="4">
                  <c:v>0.03053</c:v>
                </c:pt>
                <c:pt idx="5">
                  <c:v>0.02778</c:v>
                </c:pt>
                <c:pt idx="6">
                  <c:v>0.02996</c:v>
                </c:pt>
                <c:pt idx="7">
                  <c:v>0.02846</c:v>
                </c:pt>
                <c:pt idx="8">
                  <c:v>0.02971</c:v>
                </c:pt>
                <c:pt idx="9">
                  <c:v>0.01936</c:v>
                </c:pt>
                <c:pt idx="10">
                  <c:v>0.02357</c:v>
                </c:pt>
                <c:pt idx="11">
                  <c:v>0.03453</c:v>
                </c:pt>
                <c:pt idx="12">
                  <c:v>0.04005</c:v>
                </c:pt>
                <c:pt idx="13">
                  <c:v>0.0323</c:v>
                </c:pt>
                <c:pt idx="14">
                  <c:v>0.03872</c:v>
                </c:pt>
                <c:pt idx="15">
                  <c:v>0.01814</c:v>
                </c:pt>
                <c:pt idx="16">
                  <c:v>0.02343</c:v>
                </c:pt>
                <c:pt idx="17">
                  <c:v>0.03883</c:v>
                </c:pt>
                <c:pt idx="18">
                  <c:v>0.03496</c:v>
                </c:pt>
                <c:pt idx="19">
                  <c:v>0.03225</c:v>
                </c:pt>
                <c:pt idx="20">
                  <c:v>0.0315</c:v>
                </c:pt>
                <c:pt idx="21">
                  <c:v>0.01967</c:v>
                </c:pt>
                <c:pt idx="22">
                  <c:v>0.02031</c:v>
                </c:pt>
                <c:pt idx="23">
                  <c:v>0.02542</c:v>
                </c:pt>
                <c:pt idx="24">
                  <c:v>0.02169</c:v>
                </c:pt>
                <c:pt idx="25">
                  <c:v>0.01965</c:v>
                </c:pt>
                <c:pt idx="26">
                  <c:v>0.01881</c:v>
                </c:pt>
                <c:pt idx="27">
                  <c:v>0.02359</c:v>
                </c:pt>
                <c:pt idx="28">
                  <c:v>0.0302</c:v>
                </c:pt>
                <c:pt idx="29">
                  <c:v>0.02268</c:v>
                </c:pt>
                <c:pt idx="30">
                  <c:v>0.02624</c:v>
                </c:pt>
                <c:pt idx="31">
                  <c:v>0.02584</c:v>
                </c:pt>
                <c:pt idx="32">
                  <c:v>0.02789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25"/>
          <c:min val="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2024→2026 증가율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IPTV</c:v>
                  </c:pt>
                  <c:pt idx="1">
                    <c:v>위성</c:v>
                  </c:pt>
                  <c:pt idx="2">
                    <c:v>케이블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69.2</c:v>
                </c:pt>
                <c:pt idx="2">
                  <c:v>123.1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IPTV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0.0745</c:v>
                </c:pt>
                <c:pt idx="1">
                  <c:v>0.08566</c:v>
                </c:pt>
                <c:pt idx="2">
                  <c:v>0.0902</c:v>
                </c:pt>
                <c:pt idx="3">
                  <c:v>0.08812</c:v>
                </c:pt>
                <c:pt idx="4">
                  <c:v>0.09251</c:v>
                </c:pt>
                <c:pt idx="5">
                  <c:v>0.09401</c:v>
                </c:pt>
                <c:pt idx="6">
                  <c:v>0.09031</c:v>
                </c:pt>
                <c:pt idx="7">
                  <c:v>0.08659</c:v>
                </c:pt>
                <c:pt idx="8">
                  <c:v>0.08112</c:v>
                </c:pt>
                <c:pt idx="9">
                  <c:v>0.07438</c:v>
                </c:pt>
                <c:pt idx="10">
                  <c:v>0.08433</c:v>
                </c:pt>
                <c:pt idx="11">
                  <c:v>0.09759</c:v>
                </c:pt>
                <c:pt idx="12">
                  <c:v>0.10211</c:v>
                </c:pt>
                <c:pt idx="13">
                  <c:v>0.089</c:v>
                </c:pt>
                <c:pt idx="14">
                  <c:v>0.08592</c:v>
                </c:pt>
                <c:pt idx="15">
                  <c:v>0.07209</c:v>
                </c:pt>
                <c:pt idx="16">
                  <c:v>0.08072</c:v>
                </c:pt>
                <c:pt idx="17">
                  <c:v>0.08987</c:v>
                </c:pt>
                <c:pt idx="18">
                  <c:v>0.08182</c:v>
                </c:pt>
                <c:pt idx="19">
                  <c:v>0.09167</c:v>
                </c:pt>
                <c:pt idx="20">
                  <c:v>0.08377</c:v>
                </c:pt>
                <c:pt idx="21">
                  <c:v>0.08534</c:v>
                </c:pt>
                <c:pt idx="22">
                  <c:v>0.09345</c:v>
                </c:pt>
                <c:pt idx="23">
                  <c:v>0.09736</c:v>
                </c:pt>
                <c:pt idx="24">
                  <c:v>0.09079</c:v>
                </c:pt>
                <c:pt idx="25">
                  <c:v>0.09078</c:v>
                </c:pt>
                <c:pt idx="26">
                  <c:v>0.08334</c:v>
                </c:pt>
                <c:pt idx="27">
                  <c:v>0.08118</c:v>
                </c:pt>
                <c:pt idx="28">
                  <c:v>0.09607</c:v>
                </c:pt>
                <c:pt idx="29">
                  <c:v>0.10941</c:v>
                </c:pt>
                <c:pt idx="30">
                  <c:v>0.12029</c:v>
                </c:pt>
                <c:pt idx="31">
                  <c:v>0.12065</c:v>
                </c:pt>
                <c:pt idx="32">
                  <c:v>0.11096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케이블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0.04622</c:v>
                </c:pt>
                <c:pt idx="1">
                  <c:v>0.04809</c:v>
                </c:pt>
                <c:pt idx="2">
                  <c:v>0.04949</c:v>
                </c:pt>
                <c:pt idx="3">
                  <c:v>0.0395</c:v>
                </c:pt>
                <c:pt idx="4">
                  <c:v>0.05093</c:v>
                </c:pt>
                <c:pt idx="5">
                  <c:v>0.04538</c:v>
                </c:pt>
                <c:pt idx="6">
                  <c:v>0.0483</c:v>
                </c:pt>
                <c:pt idx="7">
                  <c:v>0.05306</c:v>
                </c:pt>
                <c:pt idx="8">
                  <c:v>0.04632</c:v>
                </c:pt>
                <c:pt idx="9">
                  <c:v>0.04422</c:v>
                </c:pt>
                <c:pt idx="10">
                  <c:v>0.04115</c:v>
                </c:pt>
                <c:pt idx="11">
                  <c:v>0.04459</c:v>
                </c:pt>
                <c:pt idx="12">
                  <c:v>0.07092</c:v>
                </c:pt>
                <c:pt idx="13">
                  <c:v>0.06421</c:v>
                </c:pt>
                <c:pt idx="14">
                  <c:v>0.06968</c:v>
                </c:pt>
                <c:pt idx="15">
                  <c:v>0.05902</c:v>
                </c:pt>
                <c:pt idx="16">
                  <c:v>0.06799</c:v>
                </c:pt>
                <c:pt idx="17">
                  <c:v>0.0705</c:v>
                </c:pt>
                <c:pt idx="18">
                  <c:v>0.07653</c:v>
                </c:pt>
                <c:pt idx="19">
                  <c:v>0.08754</c:v>
                </c:pt>
                <c:pt idx="20">
                  <c:v>0.07627</c:v>
                </c:pt>
                <c:pt idx="21">
                  <c:v>0.07369</c:v>
                </c:pt>
                <c:pt idx="22">
                  <c:v>0.07335</c:v>
                </c:pt>
                <c:pt idx="23">
                  <c:v>0.08659</c:v>
                </c:pt>
                <c:pt idx="24">
                  <c:v>0.09331</c:v>
                </c:pt>
                <c:pt idx="25">
                  <c:v>0.09122</c:v>
                </c:pt>
                <c:pt idx="26">
                  <c:v>0.07852</c:v>
                </c:pt>
                <c:pt idx="27">
                  <c:v>0.08249</c:v>
                </c:pt>
                <c:pt idx="28">
                  <c:v>0.095</c:v>
                </c:pt>
                <c:pt idx="29">
                  <c:v>0.11743</c:v>
                </c:pt>
                <c:pt idx="30">
                  <c:v>0.13514</c:v>
                </c:pt>
                <c:pt idx="31">
                  <c:v>0.11101</c:v>
                </c:pt>
                <c:pt idx="32">
                  <c:v>0.12842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위성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24-01</c:v>
                  </c:pt>
                  <c:pt idx="1">
                    <c:v>24-02</c:v>
                  </c:pt>
                  <c:pt idx="2">
                    <c:v>24-03</c:v>
                  </c:pt>
                  <c:pt idx="3">
                    <c:v>24-04</c:v>
                  </c:pt>
                  <c:pt idx="4">
                    <c:v>24-05</c:v>
                  </c:pt>
                  <c:pt idx="5">
                    <c:v>24-06</c:v>
                  </c:pt>
                  <c:pt idx="6">
                    <c:v>24-07</c:v>
                  </c:pt>
                  <c:pt idx="7">
                    <c:v>24-08</c:v>
                  </c:pt>
                  <c:pt idx="8">
                    <c:v>24-09</c:v>
                  </c:pt>
                  <c:pt idx="9">
                    <c:v>24-10</c:v>
                  </c:pt>
                  <c:pt idx="10">
                    <c:v>24-11</c:v>
                  </c:pt>
                  <c:pt idx="11">
                    <c:v>24-12</c:v>
                  </c:pt>
                  <c:pt idx="12">
                    <c:v>25-01</c:v>
                  </c:pt>
                  <c:pt idx="13">
                    <c:v>25-02</c:v>
                  </c:pt>
                  <c:pt idx="14">
                    <c:v>25-03</c:v>
                  </c:pt>
                  <c:pt idx="15">
                    <c:v>25-04</c:v>
                  </c:pt>
                  <c:pt idx="16">
                    <c:v>25-05</c:v>
                  </c:pt>
                  <c:pt idx="17">
                    <c:v>25-06</c:v>
                  </c:pt>
                  <c:pt idx="18">
                    <c:v>25-07</c:v>
                  </c:pt>
                  <c:pt idx="19">
                    <c:v>25-08</c:v>
                  </c:pt>
                  <c:pt idx="20">
                    <c:v>25-09</c:v>
                  </c:pt>
                  <c:pt idx="21">
                    <c:v>25-10</c:v>
                  </c:pt>
                  <c:pt idx="22">
                    <c:v>25-11</c:v>
                  </c:pt>
                  <c:pt idx="23">
                    <c:v>25-12</c:v>
                  </c:pt>
                  <c:pt idx="24">
                    <c:v>26-01</c:v>
                  </c:pt>
                  <c:pt idx="25">
                    <c:v>26-02</c:v>
                  </c:pt>
                  <c:pt idx="26">
                    <c:v>26-03</c:v>
                  </c:pt>
                  <c:pt idx="27">
                    <c:v>26-04</c:v>
                  </c:pt>
                  <c:pt idx="28">
                    <c:v>26-05</c:v>
                  </c:pt>
                  <c:pt idx="29">
                    <c:v>26-06</c:v>
                  </c:pt>
                  <c:pt idx="30">
                    <c:v>26-07</c:v>
                  </c:pt>
                  <c:pt idx="31">
                    <c:v>26-08</c:v>
                  </c:pt>
                  <c:pt idx="32">
                    <c:v>26-09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0.37808</c:v>
                </c:pt>
                <c:pt idx="1">
                  <c:v>0.44395</c:v>
                </c:pt>
                <c:pt idx="2">
                  <c:v>0.41059</c:v>
                </c:pt>
                <c:pt idx="3">
                  <c:v>0.3729</c:v>
                </c:pt>
                <c:pt idx="4">
                  <c:v>0.32091</c:v>
                </c:pt>
                <c:pt idx="5">
                  <c:v>0.37643</c:v>
                </c:pt>
                <c:pt idx="6">
                  <c:v>0.25617</c:v>
                </c:pt>
                <c:pt idx="7">
                  <c:v>0.23923</c:v>
                </c:pt>
                <c:pt idx="8">
                  <c:v>0.21199</c:v>
                </c:pt>
                <c:pt idx="9">
                  <c:v>0.1824</c:v>
                </c:pt>
                <c:pt idx="10">
                  <c:v>0.26222</c:v>
                </c:pt>
                <c:pt idx="11">
                  <c:v>0.23317</c:v>
                </c:pt>
                <c:pt idx="12">
                  <c:v>0.32428</c:v>
                </c:pt>
                <c:pt idx="13">
                  <c:v>0.33176</c:v>
                </c:pt>
                <c:pt idx="14">
                  <c:v>0.34483</c:v>
                </c:pt>
                <c:pt idx="15">
                  <c:v>0.2708</c:v>
                </c:pt>
                <c:pt idx="16">
                  <c:v>0.28563</c:v>
                </c:pt>
                <c:pt idx="17">
                  <c:v>0.31504</c:v>
                </c:pt>
                <c:pt idx="18">
                  <c:v>0.3547</c:v>
                </c:pt>
                <c:pt idx="19">
                  <c:v>0.40009</c:v>
                </c:pt>
                <c:pt idx="20">
                  <c:v>0.38369</c:v>
                </c:pt>
                <c:pt idx="21">
                  <c:v>0.38133</c:v>
                </c:pt>
                <c:pt idx="22">
                  <c:v>0.48353</c:v>
                </c:pt>
                <c:pt idx="23">
                  <c:v>0.49998</c:v>
                </c:pt>
                <c:pt idx="24">
                  <c:v>0.44445</c:v>
                </c:pt>
                <c:pt idx="25">
                  <c:v>0.50407</c:v>
                </c:pt>
                <c:pt idx="26">
                  <c:v>0.50787</c:v>
                </c:pt>
                <c:pt idx="27">
                  <c:v>0.50221</c:v>
                </c:pt>
                <c:pt idx="28">
                  <c:v>0.57744</c:v>
                </c:pt>
                <c:pt idx="29">
                  <c:v>0.5564</c:v>
                </c:pt>
                <c:pt idx="30">
                  <c:v>0.56</c:v>
                </c:pt>
                <c:pt idx="31">
                  <c:v>0.51429</c:v>
                </c:pt>
                <c:pt idx="32">
                  <c:v>0.51267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근무주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0.07468</c:v>
                </c:pt>
                <c:pt idx="1">
                  <c:v>0.08826</c:v>
                </c:pt>
                <c:pt idx="2">
                  <c:v>0.10384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0.08574</c:v>
                </c:pt>
                <c:pt idx="1">
                  <c:v>0.10201</c:v>
                </c:pt>
                <c:pt idx="2">
                  <c:v>0.12278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월요일</c:v>
                  </c:pt>
                  <c:pt idx="1">
                    <c:v>화요일</c:v>
                  </c:pt>
                  <c:pt idx="2">
                    <c:v>수요일</c:v>
                  </c:pt>
                  <c:pt idx="3">
                    <c:v>목요일</c:v>
                  </c:pt>
                  <c:pt idx="4">
                    <c:v>금요일</c:v>
                  </c:pt>
                  <c:pt idx="5">
                    <c:v>토요일</c:v>
                  </c:pt>
                  <c:pt idx="6">
                    <c:v>일요일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0.09393</c:v>
                </c:pt>
                <c:pt idx="1">
                  <c:v>0.09234</c:v>
                </c:pt>
                <c:pt idx="2">
                  <c:v>0.09201</c:v>
                </c:pt>
                <c:pt idx="3">
                  <c:v>0.08868</c:v>
                </c:pt>
                <c:pt idx="4">
                  <c:v>0.08972</c:v>
                </c:pt>
                <c:pt idx="5">
                  <c:v>0.10371</c:v>
                </c:pt>
                <c:pt idx="6">
                  <c:v>0.10312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월요일</c:v>
                  </c:pt>
                  <c:pt idx="1">
                    <c:v>화요일</c:v>
                  </c:pt>
                  <c:pt idx="2">
                    <c:v>수요일</c:v>
                  </c:pt>
                  <c:pt idx="3">
                    <c:v>목요일</c:v>
                  </c:pt>
                  <c:pt idx="4">
                    <c:v>금요일</c:v>
                  </c:pt>
                  <c:pt idx="5">
                    <c:v>토요일</c:v>
                  </c:pt>
                  <c:pt idx="6">
                    <c:v>일요일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0.11361</c:v>
                </c:pt>
                <c:pt idx="1">
                  <c:v>0.10494</c:v>
                </c:pt>
                <c:pt idx="2">
                  <c:v>0.10344</c:v>
                </c:pt>
                <c:pt idx="3">
                  <c:v>0.09963</c:v>
                </c:pt>
                <c:pt idx="4">
                  <c:v>0.10497</c:v>
                </c:pt>
                <c:pt idx="5">
                  <c:v>0.12047</c:v>
                </c:pt>
                <c:pt idx="6">
                  <c:v>0.12554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새벽 02-08</c:v>
                  </c:pt>
                  <c:pt idx="1">
                    <c:v>오전 09-13</c:v>
                  </c:pt>
                  <c:pt idx="2">
                    <c:v>오후 14-18</c:v>
                  </c:pt>
                  <c:pt idx="3">
                    <c:v>저녁심야 19-25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0.0582</c:v>
                </c:pt>
                <c:pt idx="1">
                  <c:v>0.1193</c:v>
                </c:pt>
                <c:pt idx="2">
                  <c:v>0.1167</c:v>
                </c:pt>
                <c:pt idx="3">
                  <c:v>0.10833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새벽 02-08</c:v>
                  </c:pt>
                  <c:pt idx="1">
                    <c:v>오전 09-13</c:v>
                  </c:pt>
                  <c:pt idx="2">
                    <c:v>오후 14-18</c:v>
                  </c:pt>
                  <c:pt idx="3">
                    <c:v>저녁심야 19-25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0.05975</c:v>
                </c:pt>
                <c:pt idx="1">
                  <c:v>0.14015</c:v>
                </c:pt>
                <c:pt idx="2">
                  <c:v>0.1445</c:v>
                </c:pt>
                <c:pt idx="3">
                  <c:v>0.13071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0.04355</c:v>
                </c:pt>
                <c:pt idx="1">
                  <c:v>0.03718</c:v>
                </c:pt>
                <c:pt idx="2">
                  <c:v>0.03524</c:v>
                </c:pt>
                <c:pt idx="3">
                  <c:v>0.05152</c:v>
                </c:pt>
                <c:pt idx="4">
                  <c:v>0.07008</c:v>
                </c:pt>
                <c:pt idx="5">
                  <c:v>0.08386</c:v>
                </c:pt>
                <c:pt idx="6">
                  <c:v>0.09412</c:v>
                </c:pt>
                <c:pt idx="7">
                  <c:v>0.10861</c:v>
                </c:pt>
                <c:pt idx="8">
                  <c:v>0.11508</c:v>
                </c:pt>
                <c:pt idx="9">
                  <c:v>0.12349</c:v>
                </c:pt>
                <c:pt idx="10">
                  <c:v>0.12816</c:v>
                </c:pt>
                <c:pt idx="11">
                  <c:v>0.12481</c:v>
                </c:pt>
                <c:pt idx="12">
                  <c:v>0.10605</c:v>
                </c:pt>
                <c:pt idx="13">
                  <c:v>0.10179</c:v>
                </c:pt>
                <c:pt idx="14">
                  <c:v>0.11636</c:v>
                </c:pt>
                <c:pt idx="15">
                  <c:v>0.12162</c:v>
                </c:pt>
                <c:pt idx="16">
                  <c:v>0.14294</c:v>
                </c:pt>
                <c:pt idx="17">
                  <c:v>0.15263</c:v>
                </c:pt>
                <c:pt idx="18">
                  <c:v>0.14712</c:v>
                </c:pt>
                <c:pt idx="19">
                  <c:v>0.14342</c:v>
                </c:pt>
                <c:pt idx="20">
                  <c:v>0.13596</c:v>
                </c:pt>
                <c:pt idx="21">
                  <c:v>0.09276</c:v>
                </c:pt>
                <c:pt idx="22">
                  <c:v>0.067</c:v>
                </c:pt>
                <c:pt idx="23">
                  <c:v>0.04839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2026년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0.04953</c:v>
                </c:pt>
                <c:pt idx="1">
                  <c:v>0.04845</c:v>
                </c:pt>
                <c:pt idx="2">
                  <c:v>0.04027</c:v>
                </c:pt>
                <c:pt idx="3">
                  <c:v>0.05007</c:v>
                </c:pt>
                <c:pt idx="4">
                  <c:v>0.0605</c:v>
                </c:pt>
                <c:pt idx="5">
                  <c:v>0.08081</c:v>
                </c:pt>
                <c:pt idx="6">
                  <c:v>0.09721</c:v>
                </c:pt>
                <c:pt idx="7">
                  <c:v>0.13166</c:v>
                </c:pt>
                <c:pt idx="8">
                  <c:v>0.13673</c:v>
                </c:pt>
                <c:pt idx="9">
                  <c:v>0.13586</c:v>
                </c:pt>
                <c:pt idx="10">
                  <c:v>0.16192</c:v>
                </c:pt>
                <c:pt idx="11">
                  <c:v>0.13531</c:v>
                </c:pt>
                <c:pt idx="12">
                  <c:v>0.12449</c:v>
                </c:pt>
                <c:pt idx="13">
                  <c:v>0.12659</c:v>
                </c:pt>
                <c:pt idx="14">
                  <c:v>0.15374</c:v>
                </c:pt>
                <c:pt idx="15">
                  <c:v>0.16178</c:v>
                </c:pt>
                <c:pt idx="16">
                  <c:v>0.17307</c:v>
                </c:pt>
                <c:pt idx="17">
                  <c:v>0.18078</c:v>
                </c:pt>
                <c:pt idx="18">
                  <c:v>0.17825</c:v>
                </c:pt>
                <c:pt idx="19">
                  <c:v>0.15054</c:v>
                </c:pt>
                <c:pt idx="20">
                  <c:v>0.14673</c:v>
                </c:pt>
                <c:pt idx="21">
                  <c:v>0.11689</c:v>
                </c:pt>
                <c:pt idx="22">
                  <c:v>0.0605</c:v>
                </c:pt>
                <c:pt idx="23">
                  <c:v>0.05622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0.2"/>
          <c:min val="0.025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2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시청률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NEW코리아헌터</c:v>
                  </c:pt>
                  <c:pt idx="1">
                    <c:v>한국기행</c:v>
                  </c:pt>
                  <c:pt idx="2">
                    <c:v>다큐영화길위의인생</c:v>
                  </c:pt>
                  <c:pt idx="3">
                    <c:v>인간과바다</c:v>
                  </c:pt>
                  <c:pt idx="4">
                    <c:v>순간포착세상에이런일이</c:v>
                  </c:pt>
                  <c:pt idx="5">
                    <c:v>인간극장</c:v>
                  </c:pt>
                  <c:pt idx="6">
                    <c:v>바닷가사람들</c:v>
                  </c:pt>
                  <c:pt idx="7">
                    <c:v>극한직업</c:v>
                  </c:pt>
                  <c:pt idx="8">
                    <c:v>세계테마기행</c:v>
                  </c:pt>
                  <c:pt idx="9">
                    <c:v>걸어서세계속으로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0.06701</c:v>
                </c:pt>
                <c:pt idx="1">
                  <c:v>0.06727</c:v>
                </c:pt>
                <c:pt idx="2">
                  <c:v>0.0765</c:v>
                </c:pt>
                <c:pt idx="3">
                  <c:v>0.07667</c:v>
                </c:pt>
                <c:pt idx="4">
                  <c:v>0.07923</c:v>
                </c:pt>
                <c:pt idx="5">
                  <c:v>0.08578</c:v>
                </c:pt>
                <c:pt idx="6">
                  <c:v>0.08939</c:v>
                </c:pt>
                <c:pt idx="7">
                  <c:v>0.11638</c:v>
                </c:pt>
                <c:pt idx="8">
                  <c:v>0.1237</c:v>
                </c:pt>
                <c:pt idx="9">
                  <c:v>0.1239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시청 기여량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다큐영화길위의인생</c:v>
                  </c:pt>
                  <c:pt idx="1">
                    <c:v>순간포착세상에이런일이</c:v>
                  </c:pt>
                  <c:pt idx="2">
                    <c:v>인간과바다</c:v>
                  </c:pt>
                  <c:pt idx="3">
                    <c:v>바닷가사람들</c:v>
                  </c:pt>
                  <c:pt idx="4">
                    <c:v>NEW코리아헌터</c:v>
                  </c:pt>
                  <c:pt idx="5">
                    <c:v>인간극장</c:v>
                  </c:pt>
                  <c:pt idx="6">
                    <c:v>한국기행</c:v>
                  </c:pt>
                  <c:pt idx="7">
                    <c:v>걸어서세계속으로</c:v>
                  </c:pt>
                  <c:pt idx="8">
                    <c:v>극한직업</c:v>
                  </c:pt>
                  <c:pt idx="9">
                    <c:v>세계테마기행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10.404</c:v>
                </c:pt>
                <c:pt idx="1">
                  <c:v>14.975</c:v>
                </c:pt>
                <c:pt idx="2">
                  <c:v>19.858</c:v>
                </c:pt>
                <c:pt idx="3">
                  <c:v>30.305</c:v>
                </c:pt>
                <c:pt idx="4">
                  <c:v>35.784</c:v>
                </c:pt>
                <c:pt idx="5">
                  <c:v>46.495</c:v>
                </c:pt>
                <c:pt idx="6">
                  <c:v>84.225</c:v>
                </c:pt>
                <c:pt idx="7">
                  <c:v>163.177</c:v>
                </c:pt>
                <c:pt idx="8">
                  <c:v>270.579</c:v>
                </c:pt>
                <c:pt idx="9">
                  <c:v>529.197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총 기여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인간극장</c:v>
                  </c:pt>
                  <c:pt idx="1">
                    <c:v>순간포착세상에이런일이</c:v>
                  </c:pt>
                  <c:pt idx="2">
                    <c:v>바닷가사람들</c:v>
                  </c:pt>
                  <c:pt idx="3">
                    <c:v>인간과바다</c:v>
                  </c:pt>
                  <c:pt idx="4">
                    <c:v>다문화고부열전</c:v>
                  </c:pt>
                  <c:pt idx="5">
                    <c:v>한국기행</c:v>
                  </c:pt>
                  <c:pt idx="6">
                    <c:v>걸어서세계속으로</c:v>
                  </c:pt>
                  <c:pt idx="7">
                    <c:v>NEW코리아헌터</c:v>
                  </c:pt>
                  <c:pt idx="8">
                    <c:v>세계테마기행</c:v>
                  </c:pt>
                  <c:pt idx="9">
                    <c:v>극한직업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-3.2</c:v>
                </c:pt>
                <c:pt idx="1">
                  <c:v>-2</c:v>
                </c:pt>
                <c:pt idx="2">
                  <c:v>-1.7</c:v>
                </c:pt>
                <c:pt idx="3">
                  <c:v>-0.4</c:v>
                </c:pt>
                <c:pt idx="4">
                  <c:v>0.5</c:v>
                </c:pt>
                <c:pt idx="5">
                  <c:v>2.1</c:v>
                </c:pt>
                <c:pt idx="6">
                  <c:v>3.2</c:v>
                </c:pt>
                <c:pt idx="7">
                  <c:v>3.4</c:v>
                </c:pt>
                <c:pt idx="8">
                  <c:v>4.9</c:v>
                </c:pt>
                <c:pt idx="9">
                  <c:v>10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상위 5개 집중도(%)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70</c:v>
                </c:pt>
                <c:pt idx="1">
                  <c:v>69.2</c:v>
                </c:pt>
                <c:pt idx="2">
                  <c:v>77.7</c:v>
                </c:pt>
                <c:pt idx="3">
                  <c:v>79.9</c:v>
                </c:pt>
                <c:pt idx="4">
                  <c:v>80</c:v>
                </c:pt>
                <c:pt idx="5">
                  <c:v>86.6</c:v>
                </c:pt>
                <c:pt idx="6">
                  <c:v>85.1</c:v>
                </c:pt>
                <c:pt idx="7">
                  <c:v>84.4</c:v>
                </c:pt>
                <c:pt idx="8">
                  <c:v>80.4</c:v>
                </c:pt>
                <c:pt idx="9">
                  <c:v>84.3</c:v>
                </c:pt>
                <c:pt idx="10">
                  <c:v>91.6</c:v>
                </c:pt>
                <c:pt idx="11">
                  <c:v>76.2</c:v>
                </c:pt>
                <c:pt idx="12">
                  <c:v>76.6</c:v>
                </c:pt>
                <c:pt idx="13">
                  <c:v>80.8</c:v>
                </c:pt>
                <c:pt idx="14">
                  <c:v>85.6</c:v>
                </c:pt>
                <c:pt idx="15">
                  <c:v>90.1</c:v>
                </c:pt>
                <c:pt idx="16">
                  <c:v>87.5</c:v>
                </c:pt>
                <c:pt idx="17">
                  <c:v>90.8</c:v>
                </c:pt>
                <c:pt idx="18">
                  <c:v>91.1</c:v>
                </c:pt>
                <c:pt idx="19">
                  <c:v>87.9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상위 3개 집중도(%)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51.3</c:v>
                </c:pt>
                <c:pt idx="1">
                  <c:v>52.1</c:v>
                </c:pt>
                <c:pt idx="2">
                  <c:v>61.1</c:v>
                </c:pt>
                <c:pt idx="3">
                  <c:v>62</c:v>
                </c:pt>
                <c:pt idx="4">
                  <c:v>63.9</c:v>
                </c:pt>
                <c:pt idx="5">
                  <c:v>67.1</c:v>
                </c:pt>
                <c:pt idx="6">
                  <c:v>70</c:v>
                </c:pt>
                <c:pt idx="7">
                  <c:v>69.8</c:v>
                </c:pt>
                <c:pt idx="8">
                  <c:v>68.5</c:v>
                </c:pt>
                <c:pt idx="9">
                  <c:v>70</c:v>
                </c:pt>
                <c:pt idx="10">
                  <c:v>70.7</c:v>
                </c:pt>
                <c:pt idx="11">
                  <c:v>61.8</c:v>
                </c:pt>
                <c:pt idx="12">
                  <c:v>60.7</c:v>
                </c:pt>
                <c:pt idx="13">
                  <c:v>61.6</c:v>
                </c:pt>
                <c:pt idx="14">
                  <c:v>67.5</c:v>
                </c:pt>
                <c:pt idx="15">
                  <c:v>68.8</c:v>
                </c:pt>
                <c:pt idx="16">
                  <c:v>68.1</c:v>
                </c:pt>
                <c:pt idx="17">
                  <c:v>75.6</c:v>
                </c:pt>
                <c:pt idx="18">
                  <c:v>76.6</c:v>
                </c:pt>
                <c:pt idx="19">
                  <c:v>72.2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온에어 종수(개)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21</c:v>
                </c:pt>
                <c:pt idx="1">
                  <c:v>24</c:v>
                </c:pt>
                <c:pt idx="2">
                  <c:v>20</c:v>
                </c:pt>
                <c:pt idx="3">
                  <c:v>20</c:v>
                </c:pt>
                <c:pt idx="4">
                  <c:v>17</c:v>
                </c:pt>
                <c:pt idx="5">
                  <c:v>16</c:v>
                </c:pt>
                <c:pt idx="6">
                  <c:v>17</c:v>
                </c:pt>
                <c:pt idx="7">
                  <c:v>20</c:v>
                </c:pt>
                <c:pt idx="8">
                  <c:v>19</c:v>
                </c:pt>
                <c:pt idx="9">
                  <c:v>19</c:v>
                </c:pt>
                <c:pt idx="10">
                  <c:v>14</c:v>
                </c:pt>
                <c:pt idx="11">
                  <c:v>25</c:v>
                </c:pt>
                <c:pt idx="12">
                  <c:v>22</c:v>
                </c:pt>
                <c:pt idx="13">
                  <c:v>19</c:v>
                </c:pt>
                <c:pt idx="14">
                  <c:v>16</c:v>
                </c:pt>
                <c:pt idx="15">
                  <c:v>14</c:v>
                </c:pt>
                <c:pt idx="16">
                  <c:v>13</c:v>
                </c:pt>
                <c:pt idx="17">
                  <c:v>17</c:v>
                </c:pt>
                <c:pt idx="18">
                  <c:v>15</c:v>
                </c:pt>
                <c:pt idx="19">
                  <c:v>15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1위 프로그램의 방영 비중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22.2</c:v>
                </c:pt>
                <c:pt idx="1">
                  <c:v>26.5</c:v>
                </c:pt>
                <c:pt idx="2">
                  <c:v>29.7</c:v>
                </c:pt>
                <c:pt idx="3">
                  <c:v>34.8</c:v>
                </c:pt>
                <c:pt idx="4">
                  <c:v>36.3</c:v>
                </c:pt>
                <c:pt idx="5">
                  <c:v>37.9</c:v>
                </c:pt>
                <c:pt idx="6">
                  <c:v>41.7</c:v>
                </c:pt>
                <c:pt idx="7">
                  <c:v>43</c:v>
                </c:pt>
                <c:pt idx="8">
                  <c:v>42.1</c:v>
                </c:pt>
                <c:pt idx="9">
                  <c:v>41.4</c:v>
                </c:pt>
                <c:pt idx="10">
                  <c:v>43.2</c:v>
                </c:pt>
                <c:pt idx="11">
                  <c:v>40</c:v>
                </c:pt>
                <c:pt idx="12">
                  <c:v>38.1</c:v>
                </c:pt>
                <c:pt idx="13">
                  <c:v>34.1</c:v>
                </c:pt>
                <c:pt idx="14">
                  <c:v>31.7</c:v>
                </c:pt>
                <c:pt idx="15">
                  <c:v>28.3</c:v>
                </c:pt>
                <c:pt idx="16">
                  <c:v>30.6</c:v>
                </c:pt>
                <c:pt idx="17">
                  <c:v>33.3</c:v>
                </c:pt>
                <c:pt idx="18">
                  <c:v>32.7</c:v>
                </c:pt>
                <c:pt idx="19">
                  <c:v>29.9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월 1위 프로그램의 시청 기여 비중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25-01</c:v>
                  </c:pt>
                  <c:pt idx="1">
                    <c:v>25-02</c:v>
                  </c:pt>
                  <c:pt idx="2">
                    <c:v>25-03</c:v>
                  </c:pt>
                  <c:pt idx="3">
                    <c:v>25-04</c:v>
                  </c:pt>
                  <c:pt idx="4">
                    <c:v>25-05</c:v>
                  </c:pt>
                  <c:pt idx="5">
                    <c:v>25-06</c:v>
                  </c:pt>
                  <c:pt idx="6">
                    <c:v>25-07</c:v>
                  </c:pt>
                  <c:pt idx="7">
                    <c:v>25-08</c:v>
                  </c:pt>
                  <c:pt idx="8">
                    <c:v>25-09</c:v>
                  </c:pt>
                  <c:pt idx="9">
                    <c:v>25-10</c:v>
                  </c:pt>
                  <c:pt idx="10">
                    <c:v>25-11</c:v>
                  </c:pt>
                  <c:pt idx="11">
                    <c:v>25-12</c:v>
                  </c:pt>
                  <c:pt idx="12">
                    <c:v>26-01</c:v>
                  </c:pt>
                  <c:pt idx="13">
                    <c:v>26-02</c:v>
                  </c:pt>
                  <c:pt idx="14">
                    <c:v>26-03</c:v>
                  </c:pt>
                  <c:pt idx="15">
                    <c:v>26-04</c:v>
                  </c:pt>
                  <c:pt idx="16">
                    <c:v>26-05</c:v>
                  </c:pt>
                  <c:pt idx="17">
                    <c:v>26-06</c:v>
                  </c:pt>
                  <c:pt idx="18">
                    <c:v>26-07</c:v>
                  </c:pt>
                  <c:pt idx="19">
                    <c:v>26-08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29.6</c:v>
                </c:pt>
                <c:pt idx="1">
                  <c:v>32.2</c:v>
                </c:pt>
                <c:pt idx="2">
                  <c:v>37</c:v>
                </c:pt>
                <c:pt idx="3">
                  <c:v>37.8</c:v>
                </c:pt>
                <c:pt idx="4">
                  <c:v>44.2</c:v>
                </c:pt>
                <c:pt idx="5">
                  <c:v>45.4</c:v>
                </c:pt>
                <c:pt idx="6">
                  <c:v>50.4</c:v>
                </c:pt>
                <c:pt idx="7">
                  <c:v>50.3</c:v>
                </c:pt>
                <c:pt idx="8">
                  <c:v>47.2</c:v>
                </c:pt>
                <c:pt idx="9">
                  <c:v>46.7</c:v>
                </c:pt>
                <c:pt idx="10">
                  <c:v>47.7</c:v>
                </c:pt>
                <c:pt idx="11">
                  <c:v>48.6</c:v>
                </c:pt>
                <c:pt idx="12">
                  <c:v>49.2</c:v>
                </c:pt>
                <c:pt idx="13">
                  <c:v>44.7</c:v>
                </c:pt>
                <c:pt idx="14">
                  <c:v>39.1</c:v>
                </c:pt>
                <c:pt idx="15">
                  <c:v>35.2</c:v>
                </c:pt>
                <c:pt idx="16">
                  <c:v>39.1</c:v>
                </c:pt>
                <c:pt idx="17">
                  <c:v>41</c:v>
                </c:pt>
                <c:pt idx="18">
                  <c:v>43.4</c:v>
                </c:pt>
                <c:pt idx="19">
                  <c:v>27.9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55"/>
          <c:min val="2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2025년 방영 횟수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너참말많다살롱드돌</c:v>
                  </c:pt>
                  <c:pt idx="1">
                    <c:v>신계숙의맛터사이클다이어리</c:v>
                  </c:pt>
                  <c:pt idx="2">
                    <c:v>지지고볶는여행</c:v>
                  </c:pt>
                  <c:pt idx="3">
                    <c:v>호사성쌍참좋은시절</c:v>
                  </c:pt>
                  <c:pt idx="4">
                    <c:v>후랑도전명랑의사</c:v>
                  </c:pt>
                  <c:pt idx="5">
                    <c:v>아맥종군진격의여전사아맥</c:v>
                  </c:pt>
                  <c:pt idx="6">
                    <c:v>순간포착세상에이런일이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</c:v>
                </c:pt>
                <c:pt idx="1">
                  <c:v>26</c:v>
                </c:pt>
                <c:pt idx="2">
                  <c:v>30</c:v>
                </c:pt>
                <c:pt idx="3">
                  <c:v>31</c:v>
                </c:pt>
                <c:pt idx="4">
                  <c:v>34</c:v>
                </c:pt>
                <c:pt idx="5">
                  <c:v>36</c:v>
                </c:pt>
                <c:pt idx="6">
                  <c:v>189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2026년 방영 횟수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풍미로그FISHSAUCE</c:v>
                  </c:pt>
                  <c:pt idx="1">
                    <c:v>생고생먹바라지투어쯔양몇끼</c:v>
                  </c:pt>
                  <c:pt idx="2">
                    <c:v>벌거벗은세계사</c:v>
                  </c:pt>
                  <c:pt idx="3">
                    <c:v>설록네가지시선</c:v>
                  </c:pt>
                  <c:pt idx="4">
                    <c:v>그대에게드림</c:v>
                  </c:pt>
                  <c:pt idx="5">
                    <c:v>허수아비</c:v>
                  </c:pt>
                  <c:pt idx="6">
                    <c:v>아너그녀들의법정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9</c:v>
                </c:pt>
                <c:pt idx="2">
                  <c:v>9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  <c:pt idx="6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24시간 내 재등장률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순간포착세상에이런일이</c:v>
                  </c:pt>
                  <c:pt idx="1">
                    <c:v>다문화고부열전</c:v>
                  </c:pt>
                  <c:pt idx="2">
                    <c:v>바닷가사람들</c:v>
                  </c:pt>
                  <c:pt idx="3">
                    <c:v>인간극장</c:v>
                  </c:pt>
                  <c:pt idx="4">
                    <c:v>NEW코리아헌터</c:v>
                  </c:pt>
                  <c:pt idx="5">
                    <c:v>걸어서세계속으로</c:v>
                  </c:pt>
                  <c:pt idx="6">
                    <c:v>한국기행</c:v>
                  </c:pt>
                  <c:pt idx="7">
                    <c:v>극한직업</c:v>
                  </c:pt>
                  <c:pt idx="8">
                    <c:v>세계테마기행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68.8</c:v>
                </c:pt>
                <c:pt idx="1">
                  <c:v>69.2</c:v>
                </c:pt>
                <c:pt idx="2">
                  <c:v>72</c:v>
                </c:pt>
                <c:pt idx="3">
                  <c:v>78</c:v>
                </c:pt>
                <c:pt idx="4">
                  <c:v>89</c:v>
                </c:pt>
                <c:pt idx="5">
                  <c:v>95.4</c:v>
                </c:pt>
                <c:pt idx="6">
                  <c:v>96.6</c:v>
                </c:pt>
                <c:pt idx="7">
                  <c:v>97.5</c:v>
                </c:pt>
                <c:pt idx="8">
                  <c:v>97.8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회차 재사용 배수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걸어서세계속으로</c:v>
                  </c:pt>
                  <c:pt idx="1">
                    <c:v>한국기행</c:v>
                  </c:pt>
                  <c:pt idx="2">
                    <c:v>세계테마기행</c:v>
                  </c:pt>
                  <c:pt idx="3">
                    <c:v>극한직업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1.04</c:v>
                </c:pt>
                <c:pt idx="1">
                  <c:v>1.19</c:v>
                </c:pt>
                <c:pt idx="2">
                  <c:v>1.25</c:v>
                </c:pt>
                <c:pt idx="3">
                  <c:v>1.77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편성 횟수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오세아니아</c:v>
                  </c:pt>
                  <c:pt idx="1">
                    <c:v>북미</c:v>
                  </c:pt>
                  <c:pt idx="2">
                    <c:v>중앙아시아</c:v>
                  </c:pt>
                  <c:pt idx="3">
                    <c:v>남아시아</c:v>
                  </c:pt>
                  <c:pt idx="4">
                    <c:v>아프리카</c:v>
                  </c:pt>
                  <c:pt idx="5">
                    <c:v>중동</c:v>
                  </c:pt>
                  <c:pt idx="6">
                    <c:v>중남미</c:v>
                  </c:pt>
                  <c:pt idx="7">
                    <c:v>유럽</c:v>
                  </c:pt>
                  <c:pt idx="8">
                    <c:v>동남아시아</c:v>
                  </c:pt>
                  <c:pt idx="9">
                    <c:v>동아시아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</c:v>
                </c:pt>
                <c:pt idx="1">
                  <c:v>17</c:v>
                </c:pt>
                <c:pt idx="2">
                  <c:v>30</c:v>
                </c:pt>
                <c:pt idx="3">
                  <c:v>31</c:v>
                </c:pt>
                <c:pt idx="4">
                  <c:v>36</c:v>
                </c:pt>
                <c:pt idx="5">
                  <c:v>43</c:v>
                </c:pt>
                <c:pt idx="6">
                  <c:v>43</c:v>
                </c:pt>
                <c:pt idx="7">
                  <c:v>76</c:v>
                </c:pt>
                <c:pt idx="8">
                  <c:v>79</c:v>
                </c:pt>
                <c:pt idx="9">
                  <c:v>122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편성 횟수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전통·공예</c:v>
                  </c:pt>
                  <c:pt idx="1">
                    <c:v>물류·운송</c:v>
                  </c:pt>
                  <c:pt idx="2">
                    <c:v>음식·식품</c:v>
                  </c:pt>
                  <c:pt idx="3">
                    <c:v>농축산</c:v>
                  </c:pt>
                  <c:pt idx="4">
                    <c:v>공장·제조</c:v>
                  </c:pt>
                  <c:pt idx="5">
                    <c:v>바다·어업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8</c:v>
                </c:pt>
                <c:pt idx="3">
                  <c:v>37</c:v>
                </c:pt>
                <c:pt idx="4">
                  <c:v>37</c:v>
                </c:pt>
                <c:pt idx="5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본방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3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  <c:pt idx="12">
                  <c:v>2</c:v>
                </c:pt>
                <c:pt idx="13">
                  <c:v>3</c:v>
                </c:pt>
                <c:pt idx="14">
                  <c:v>6</c:v>
                </c:pt>
                <c:pt idx="15">
                  <c:v>0</c:v>
                </c:pt>
                <c:pt idx="16">
                  <c:v>0</c:v>
                </c:pt>
                <c:pt idx="17">
                  <c:v>1</c:v>
                </c:pt>
                <c:pt idx="18">
                  <c:v>0</c:v>
                </c:pt>
                <c:pt idx="19">
                  <c:v>2</c:v>
                </c:pt>
                <c:pt idx="20">
                  <c:v>0</c:v>
                </c:pt>
                <c:pt idx="21">
                  <c:v>1</c:v>
                </c:pt>
                <c:pt idx="22">
                  <c:v>0</c:v>
                </c:pt>
                <c:pt idx="2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재방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14</c:v>
                </c:pt>
                <c:pt idx="1">
                  <c:v>6</c:v>
                </c:pt>
                <c:pt idx="2">
                  <c:v>5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16</c:v>
                </c:pt>
                <c:pt idx="8">
                  <c:v>8</c:v>
                </c:pt>
                <c:pt idx="9">
                  <c:v>9</c:v>
                </c:pt>
                <c:pt idx="10">
                  <c:v>12</c:v>
                </c:pt>
                <c:pt idx="11">
                  <c:v>2</c:v>
                </c:pt>
                <c:pt idx="12">
                  <c:v>15</c:v>
                </c:pt>
                <c:pt idx="13">
                  <c:v>13</c:v>
                </c:pt>
                <c:pt idx="14">
                  <c:v>7</c:v>
                </c:pt>
                <c:pt idx="15">
                  <c:v>13</c:v>
                </c:pt>
                <c:pt idx="16">
                  <c:v>5</c:v>
                </c:pt>
                <c:pt idx="17">
                  <c:v>15</c:v>
                </c:pt>
                <c:pt idx="18">
                  <c:v>16</c:v>
                </c:pt>
                <c:pt idx="19">
                  <c:v>14</c:v>
                </c:pt>
                <c:pt idx="20">
                  <c:v>16</c:v>
                </c:pt>
                <c:pt idx="21">
                  <c:v>13</c:v>
                </c:pt>
                <c:pt idx="22">
                  <c:v>4</c:v>
                </c:pt>
                <c:pt idx="23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OLIFE</c:v>
                </c:pt>
              </c:strCache>
            </c:strRef>
          </c:tx>
          <c:spPr>
            <a:solidFill>
              <a:srgbClr val="2C24C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극한직업</c:v>
                  </c:pt>
                  <c:pt idx="1">
                    <c:v>세계테마기행</c:v>
                  </c:pt>
                  <c:pt idx="2">
                    <c:v>한국기행</c:v>
                  </c:pt>
                  <c:pt idx="3">
                    <c:v>다문화고부열전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0.12147</c:v>
                </c:pt>
                <c:pt idx="1">
                  <c:v>0.12799</c:v>
                </c:pt>
                <c:pt idx="2">
                  <c:v>0.05664</c:v>
                </c:pt>
                <c:pt idx="3">
                  <c:v>0.03826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ONT</c:v>
                </c:pt>
              </c:strCache>
            </c:strRef>
          </c:tx>
          <c:spPr>
            <a:solidFill>
              <a:srgbClr val="6F69E2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극한직업</c:v>
                  </c:pt>
                  <c:pt idx="1">
                    <c:v>세계테마기행</c:v>
                  </c:pt>
                  <c:pt idx="2">
                    <c:v>한국기행</c:v>
                  </c:pt>
                  <c:pt idx="3">
                    <c:v>다문화고부열전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0.02231</c:v>
                </c:pt>
                <c:pt idx="1">
                  <c:v>0.04675</c:v>
                </c:pt>
                <c:pt idx="2">
                  <c:v>0.05282</c:v>
                </c:pt>
                <c:pt idx="3">
                  <c:v>0.04304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OLIFE</c:v>
                </c:pt>
              </c:strCache>
            </c:strRef>
          </c:tx>
          <c:spPr>
            <a:solidFill>
              <a:srgbClr val="2C24CE"/>
            </a:solidFill>
            <a:ln w="254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0.03637</c:v>
                </c:pt>
                <c:pt idx="1">
                  <c:v>0.03628</c:v>
                </c:pt>
                <c:pt idx="2">
                  <c:v>0.03517</c:v>
                </c:pt>
                <c:pt idx="3">
                  <c:v>0.0463</c:v>
                </c:pt>
                <c:pt idx="4">
                  <c:v>0.05015</c:v>
                </c:pt>
                <c:pt idx="5">
                  <c:v>0.06234</c:v>
                </c:pt>
                <c:pt idx="6">
                  <c:v>0.08063</c:v>
                </c:pt>
                <c:pt idx="7">
                  <c:v>0.11416</c:v>
                </c:pt>
                <c:pt idx="8">
                  <c:v>0.12184</c:v>
                </c:pt>
                <c:pt idx="9">
                  <c:v>0.12755</c:v>
                </c:pt>
                <c:pt idx="10">
                  <c:v>0.12236</c:v>
                </c:pt>
                <c:pt idx="11">
                  <c:v>0.1362</c:v>
                </c:pt>
                <c:pt idx="12">
                  <c:v>0.10063</c:v>
                </c:pt>
                <c:pt idx="13">
                  <c:v>0.11085</c:v>
                </c:pt>
                <c:pt idx="14">
                  <c:v>0.1501</c:v>
                </c:pt>
                <c:pt idx="15">
                  <c:v>0.16901</c:v>
                </c:pt>
                <c:pt idx="16">
                  <c:v>0.18053</c:v>
                </c:pt>
                <c:pt idx="17">
                  <c:v>0.1988</c:v>
                </c:pt>
                <c:pt idx="18">
                  <c:v>0.16053</c:v>
                </c:pt>
                <c:pt idx="19">
                  <c:v>0.13681</c:v>
                </c:pt>
                <c:pt idx="20">
                  <c:v>0.1247</c:v>
                </c:pt>
                <c:pt idx="21">
                  <c:v>0.1105</c:v>
                </c:pt>
                <c:pt idx="22">
                  <c:v>0.05574</c:v>
                </c:pt>
                <c:pt idx="23">
                  <c:v>0.04677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ONT</c:v>
                </c:pt>
              </c:strCache>
            </c:strRef>
          </c:tx>
          <c:spPr>
            <a:solidFill>
              <a:srgbClr val="6F69E2"/>
            </a:solidFill>
            <a:ln w="25400" cap="flat">
              <a:solidFill>
                <a:srgbClr val="6F69E2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6F69E2"/>
              </a:solidFill>
              <a:ln w="9525" cap="flat">
                <a:solidFill>
                  <a:srgbClr val="6F6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2시</c:v>
                  </c:pt>
                  <c:pt idx="1">
                    <c:v>3시</c:v>
                  </c:pt>
                  <c:pt idx="2">
                    <c:v>4시</c:v>
                  </c:pt>
                  <c:pt idx="3">
                    <c:v>5시</c:v>
                  </c:pt>
                  <c:pt idx="4">
                    <c:v>6시</c:v>
                  </c:pt>
                  <c:pt idx="5">
                    <c:v>7시</c:v>
                  </c:pt>
                  <c:pt idx="6">
                    <c:v>8시</c:v>
                  </c:pt>
                  <c:pt idx="7">
                    <c:v>9시</c:v>
                  </c:pt>
                  <c:pt idx="8">
                    <c:v>10시</c:v>
                  </c:pt>
                  <c:pt idx="9">
                    <c:v>11시</c:v>
                  </c:pt>
                  <c:pt idx="10">
                    <c:v>12시</c:v>
                  </c:pt>
                  <c:pt idx="11">
                    <c:v>13시</c:v>
                  </c:pt>
                  <c:pt idx="12">
                    <c:v>14시</c:v>
                  </c:pt>
                  <c:pt idx="13">
                    <c:v>15시</c:v>
                  </c:pt>
                  <c:pt idx="14">
                    <c:v>16시</c:v>
                  </c:pt>
                  <c:pt idx="15">
                    <c:v>17시</c:v>
                  </c:pt>
                  <c:pt idx="16">
                    <c:v>18시</c:v>
                  </c:pt>
                  <c:pt idx="17">
                    <c:v>19시</c:v>
                  </c:pt>
                  <c:pt idx="18">
                    <c:v>20시</c:v>
                  </c:pt>
                  <c:pt idx="19">
                    <c:v>21시</c:v>
                  </c:pt>
                  <c:pt idx="20">
                    <c:v>22시</c:v>
                  </c:pt>
                  <c:pt idx="21">
                    <c:v>23시</c:v>
                  </c:pt>
                  <c:pt idx="22">
                    <c:v>0시</c:v>
                  </c:pt>
                  <c:pt idx="23">
                    <c:v>1시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0.01491</c:v>
                </c:pt>
                <c:pt idx="1">
                  <c:v>0.01366</c:v>
                </c:pt>
                <c:pt idx="2">
                  <c:v>0.02119</c:v>
                </c:pt>
                <c:pt idx="3">
                  <c:v>0.00978</c:v>
                </c:pt>
                <c:pt idx="4">
                  <c:v>0.00136</c:v>
                </c:pt>
                <c:pt idx="5">
                  <c:v>0.015</c:v>
                </c:pt>
                <c:pt idx="6">
                  <c:v>0.0178</c:v>
                </c:pt>
                <c:pt idx="7">
                  <c:v>0.03977</c:v>
                </c:pt>
                <c:pt idx="8">
                  <c:v>0.04922</c:v>
                </c:pt>
                <c:pt idx="9">
                  <c:v>0.05484</c:v>
                </c:pt>
                <c:pt idx="10">
                  <c:v>0.05991</c:v>
                </c:pt>
                <c:pt idx="11">
                  <c:v>0.07483</c:v>
                </c:pt>
                <c:pt idx="12">
                  <c:v>0.06914</c:v>
                </c:pt>
                <c:pt idx="13">
                  <c:v>0.04225</c:v>
                </c:pt>
                <c:pt idx="14">
                  <c:v>0.04564</c:v>
                </c:pt>
                <c:pt idx="15">
                  <c:v>0.04741</c:v>
                </c:pt>
                <c:pt idx="16">
                  <c:v>0.04918</c:v>
                </c:pt>
                <c:pt idx="17">
                  <c:v>0.04542</c:v>
                </c:pt>
                <c:pt idx="18">
                  <c:v>0.04876</c:v>
                </c:pt>
                <c:pt idx="19">
                  <c:v>0.04075</c:v>
                </c:pt>
                <c:pt idx="20">
                  <c:v>0.0402</c:v>
                </c:pt>
                <c:pt idx="21">
                  <c:v>0.02991</c:v>
                </c:pt>
                <c:pt idx="22">
                  <c:v>0.02072</c:v>
                </c:pt>
                <c:pt idx="23">
                  <c:v>0.01131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26262F"/>
              </a:solidFill>
              <a:latin typeface="KT Flow Medium"/>
              <a:cs typeface="KT Flow Medium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1인당 시청시간(분)</c:v>
                </c:pt>
              </c:strCache>
            </c:strRef>
          </c:tx>
          <c:spPr>
            <a:solidFill>
              <a:srgbClr val="A6A2E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24C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A6A2EE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채널A</c:v>
                  </c:pt>
                  <c:pt idx="1">
                    <c:v>ENA</c:v>
                  </c:pt>
                  <c:pt idx="2">
                    <c:v>tvN</c:v>
                  </c:pt>
                  <c:pt idx="3">
                    <c:v>OLIFE</c:v>
                  </c:pt>
                  <c:pt idx="4">
                    <c:v>MBN</c:v>
                  </c:pt>
                  <c:pt idx="5">
                    <c:v>SBS</c:v>
                  </c:pt>
                  <c:pt idx="6">
                    <c:v>JTBC</c:v>
                  </c:pt>
                  <c:pt idx="7">
                    <c:v>TV CHOSUN</c:v>
                  </c:pt>
                  <c:pt idx="8">
                    <c:v>MBC</c:v>
                  </c:pt>
                  <c:pt idx="9">
                    <c:v>YTN</c:v>
                  </c:pt>
                  <c:pt idx="10">
                    <c:v>KBS2</c:v>
                  </c:pt>
                  <c:pt idx="11">
                    <c:v>KBS1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35.1</c:v>
                </c:pt>
                <c:pt idx="1">
                  <c:v>37.8</c:v>
                </c:pt>
                <c:pt idx="2">
                  <c:v>41.5</c:v>
                </c:pt>
                <c:pt idx="3">
                  <c:v>41.7</c:v>
                </c:pt>
                <c:pt idx="4">
                  <c:v>42.5</c:v>
                </c:pt>
                <c:pt idx="5">
                  <c:v>43.5</c:v>
                </c:pt>
                <c:pt idx="6">
                  <c:v>44.3</c:v>
                </c:pt>
                <c:pt idx="7">
                  <c:v>47.8</c:v>
                </c:pt>
                <c:pt idx="8">
                  <c:v>48.7</c:v>
                </c:pt>
                <c:pt idx="9">
                  <c:v>50.1</c:v>
                </c:pt>
                <c:pt idx="10">
                  <c:v>55.3</c:v>
                </c:pt>
                <c:pt idx="11">
                  <c:v>77.2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주별 평균 시청률</c:v>
                </c:pt>
              </c:strCache>
            </c:strRef>
          </c:tx>
          <c:spPr>
            <a:solidFill>
              <a:srgbClr val="2C24CE"/>
            </a:solidFill>
            <a:ln w="38100" cap="flat">
              <a:solidFill>
                <a:srgbClr val="2C24CE"/>
              </a:solidFill>
              <a:prstDash val="solid"/>
              <a:round/>
            </a:ln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4141A"/>
                    </a:solidFill>
                    <a:latin typeface="KT Flow Bold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5"/>
            <c:spPr>
              <a:solidFill>
                <a:srgbClr val="2C24CE"/>
              </a:solidFill>
              <a:ln w="9525" cap="flat">
                <a:solidFill>
                  <a:srgbClr val="2C24C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Sheet1!$A$2:$A$37</c:f>
              <c:multiLvlStrCache>
                <c:ptCount val="36"/>
                <c:lvl>
                  <c:pt idx="0">
                    <c:v>12-29</c:v>
                  </c:pt>
                  <c:pt idx="1">
                    <c:v>01-05</c:v>
                  </c:pt>
                  <c:pt idx="2">
                    <c:v>01-12</c:v>
                  </c:pt>
                  <c:pt idx="3">
                    <c:v>01-19</c:v>
                  </c:pt>
                  <c:pt idx="4">
                    <c:v>01-26</c:v>
                  </c:pt>
                  <c:pt idx="5">
                    <c:v>02-02</c:v>
                  </c:pt>
                  <c:pt idx="6">
                    <c:v>02-09</c:v>
                  </c:pt>
                  <c:pt idx="7">
                    <c:v>02-16</c:v>
                  </c:pt>
                  <c:pt idx="8">
                    <c:v>02-23</c:v>
                  </c:pt>
                  <c:pt idx="9">
                    <c:v>03-02</c:v>
                  </c:pt>
                  <c:pt idx="10">
                    <c:v>03-09</c:v>
                  </c:pt>
                  <c:pt idx="11">
                    <c:v>03-16</c:v>
                  </c:pt>
                  <c:pt idx="12">
                    <c:v>03-23</c:v>
                  </c:pt>
                  <c:pt idx="13">
                    <c:v>03-30</c:v>
                  </c:pt>
                  <c:pt idx="14">
                    <c:v>04-06</c:v>
                  </c:pt>
                  <c:pt idx="15">
                    <c:v>04-13</c:v>
                  </c:pt>
                  <c:pt idx="16">
                    <c:v>04-20</c:v>
                  </c:pt>
                  <c:pt idx="17">
                    <c:v>04-27</c:v>
                  </c:pt>
                  <c:pt idx="18">
                    <c:v>05-04</c:v>
                  </c:pt>
                  <c:pt idx="19">
                    <c:v>05-11</c:v>
                  </c:pt>
                  <c:pt idx="20">
                    <c:v>05-18</c:v>
                  </c:pt>
                  <c:pt idx="21">
                    <c:v>05-25</c:v>
                  </c:pt>
                  <c:pt idx="22">
                    <c:v>06-01</c:v>
                  </c:pt>
                  <c:pt idx="23">
                    <c:v>06-08</c:v>
                  </c:pt>
                  <c:pt idx="24">
                    <c:v>06-15</c:v>
                  </c:pt>
                  <c:pt idx="25">
                    <c:v>06-22</c:v>
                  </c:pt>
                  <c:pt idx="26">
                    <c:v>06-29</c:v>
                  </c:pt>
                  <c:pt idx="27">
                    <c:v>07-06</c:v>
                  </c:pt>
                  <c:pt idx="28">
                    <c:v>07-13</c:v>
                  </c:pt>
                  <c:pt idx="29">
                    <c:v>07-20</c:v>
                  </c:pt>
                  <c:pt idx="30">
                    <c:v>07-27</c:v>
                  </c:pt>
                  <c:pt idx="31">
                    <c:v>08-03</c:v>
                  </c:pt>
                  <c:pt idx="32">
                    <c:v>08-10</c:v>
                  </c:pt>
                  <c:pt idx="33">
                    <c:v>08-17</c:v>
                  </c:pt>
                  <c:pt idx="34">
                    <c:v>08-24</c:v>
                  </c:pt>
                  <c:pt idx="35">
                    <c:v>08-31</c:v>
                  </c:pt>
                </c:lvl>
              </c:multiLvlStrCache>
            </c:multiLvlStrRef>
          </c:cat>
          <c:val>
            <c:numRef>
              <c:f>Sheet1!$B$2:$B$37</c:f>
              <c:numCache>
                <c:formatCode>General</c:formatCode>
                <c:ptCount val="36"/>
                <c:pt idx="0">
                  <c:v>0.1031</c:v>
                </c:pt>
                <c:pt idx="1">
                  <c:v>0.08574</c:v>
                </c:pt>
                <c:pt idx="2">
                  <c:v>0.08602</c:v>
                </c:pt>
                <c:pt idx="3">
                  <c:v>0.10191</c:v>
                </c:pt>
                <c:pt idx="4">
                  <c:v>0.11755</c:v>
                </c:pt>
                <c:pt idx="5">
                  <c:v>0.10392</c:v>
                </c:pt>
                <c:pt idx="6">
                  <c:v>0.09253</c:v>
                </c:pt>
                <c:pt idx="7">
                  <c:v>0.10452</c:v>
                </c:pt>
                <c:pt idx="8">
                  <c:v>0.09669</c:v>
                </c:pt>
                <c:pt idx="9">
                  <c:v>0.08346</c:v>
                </c:pt>
                <c:pt idx="10">
                  <c:v>0.09639</c:v>
                </c:pt>
                <c:pt idx="11">
                  <c:v>0.09044</c:v>
                </c:pt>
                <c:pt idx="12">
                  <c:v>0.09601</c:v>
                </c:pt>
                <c:pt idx="13">
                  <c:v>0.09537</c:v>
                </c:pt>
                <c:pt idx="14">
                  <c:v>0.10344</c:v>
                </c:pt>
                <c:pt idx="15">
                  <c:v>0.08224</c:v>
                </c:pt>
                <c:pt idx="16">
                  <c:v>0.09572</c:v>
                </c:pt>
                <c:pt idx="17">
                  <c:v>0.1052</c:v>
                </c:pt>
                <c:pt idx="18">
                  <c:v>0.10121</c:v>
                </c:pt>
                <c:pt idx="19">
                  <c:v>0.12134</c:v>
                </c:pt>
                <c:pt idx="20">
                  <c:v>0.09802</c:v>
                </c:pt>
                <c:pt idx="21">
                  <c:v>0.11346</c:v>
                </c:pt>
                <c:pt idx="22">
                  <c:v>0.1182</c:v>
                </c:pt>
                <c:pt idx="23">
                  <c:v>0.11603</c:v>
                </c:pt>
                <c:pt idx="24">
                  <c:v>0.12253</c:v>
                </c:pt>
                <c:pt idx="25">
                  <c:v>0.12831</c:v>
                </c:pt>
                <c:pt idx="26">
                  <c:v>0.14074</c:v>
                </c:pt>
                <c:pt idx="27">
                  <c:v>0.14623</c:v>
                </c:pt>
                <c:pt idx="28">
                  <c:v>0.12315</c:v>
                </c:pt>
                <c:pt idx="29">
                  <c:v>0.14143</c:v>
                </c:pt>
                <c:pt idx="30">
                  <c:v>0.13513</c:v>
                </c:pt>
                <c:pt idx="31">
                  <c:v>0.13408</c:v>
                </c:pt>
                <c:pt idx="32">
                  <c:v>0.11464</c:v>
                </c:pt>
                <c:pt idx="33">
                  <c:v>0.12169</c:v>
                </c:pt>
                <c:pt idx="34">
                  <c:v>0.13383</c:v>
                </c:pt>
                <c:pt idx="35">
                  <c:v>0.12399</c:v>
                </c:pt>
              </c:numCache>
            </c:numRef>
          </c:val>
          <c:smooth val="0"/>
        </c:ser>
        <c:dLbls>
          <c:numFmt formatCode="0.000" sourceLinked="0"/>
          <c:txPr>
            <a:bodyPr/>
            <a:lstStyle/>
            <a:p>
              <a:pPr>
                <a:defRPr b="0" i="0" strike="noStrike" sz="850" u="none">
                  <a:solidFill>
                    <a:srgbClr val="14141A"/>
                  </a:solidFill>
                  <a:latin typeface="KT Flow Bold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FCFDA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ax val="0.16"/>
          <c:min val="0.08"/>
        </c:scaling>
        <c:delete val="0"/>
        <c:axPos val="l"/>
        <c:majorGridlines>
          <c:spPr>
            <a:ln w="12700" cap="flat">
              <a:solidFill>
                <a:srgbClr val="E2E2EA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7C7C8C"/>
                </a:solidFill>
                <a:latin typeface="KT Flow Medium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1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6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3" Type="http://schemas.openxmlformats.org/officeDocument/2006/relationships/chart" Target="/ppt/charts/chart20.xml"/><Relationship Id="rId1" Type="http://schemas.openxmlformats.org/officeDocument/2006/relationships/image" Target="../media/image-3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1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2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3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4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5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6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7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8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9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_gra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cripts/_ppt/assets/olife-bang-w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927" y="381000"/>
            <a:ext cx="1135673" cy="5905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95325" y="9525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삶의 여유,</a:t>
            </a:r>
            <a:endParaRPr lang="en-US" sz="1800" dirty="0"/>
          </a:p>
        </p:txBody>
      </p:sp>
      <p:pic>
        <p:nvPicPr>
          <p:cNvPr id="5" name="Image 2" descr="scripts/_ppt/assets/olife-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990600"/>
            <a:ext cx="639279" cy="285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95325" y="1447800"/>
            <a:ext cx="914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OLIFE 채널</a:t>
            </a:r>
            <a:endParaRPr lang="en-US" sz="45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5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심층 성과 분석</a:t>
            </a:r>
            <a:endParaRPr lang="en-US" sz="4500" dirty="0"/>
          </a:p>
        </p:txBody>
      </p:sp>
      <p:sp>
        <p:nvSpPr>
          <p:cNvPr id="7" name="Text 2"/>
          <p:cNvSpPr/>
          <p:nvPr/>
        </p:nvSpPr>
        <p:spPr>
          <a:xfrm>
            <a:off x="695325" y="2933700"/>
            <a:ext cx="857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F0EEF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성과 · 원인 · 방향성 — 데이터로 본 2년 8개월</a:t>
            </a:r>
            <a:endParaRPr lang="en-US" sz="1430" dirty="0"/>
          </a:p>
        </p:txBody>
      </p:sp>
      <p:sp>
        <p:nvSpPr>
          <p:cNvPr id="8" name="Text 3"/>
          <p:cNvSpPr/>
          <p:nvPr/>
        </p:nvSpPr>
        <p:spPr>
          <a:xfrm>
            <a:off x="695325" y="3552825"/>
            <a:ext cx="266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35위</a:t>
            </a:r>
            <a:endParaRPr lang="en-US" sz="3450" dirty="0"/>
          </a:p>
        </p:txBody>
      </p:sp>
      <p:sp>
        <p:nvSpPr>
          <p:cNvPr id="9" name="Text 4"/>
          <p:cNvSpPr/>
          <p:nvPr/>
        </p:nvSpPr>
        <p:spPr>
          <a:xfrm>
            <a:off x="695325" y="412432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 누적 채널 순위 (전체 216개)</a:t>
            </a:r>
            <a:endParaRPr lang="en-US" sz="980" dirty="0"/>
          </a:p>
        </p:txBody>
      </p:sp>
      <p:sp>
        <p:nvSpPr>
          <p:cNvPr id="10" name="Text 5"/>
          <p:cNvSpPr/>
          <p:nvPr/>
        </p:nvSpPr>
        <p:spPr>
          <a:xfrm>
            <a:off x="3552825" y="3552825"/>
            <a:ext cx="266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+39.1%</a:t>
            </a:r>
            <a:endParaRPr lang="en-US" sz="3450" dirty="0"/>
          </a:p>
        </p:txBody>
      </p:sp>
      <p:sp>
        <p:nvSpPr>
          <p:cNvPr id="11" name="Text 6"/>
          <p:cNvSpPr/>
          <p:nvPr/>
        </p:nvSpPr>
        <p:spPr>
          <a:xfrm>
            <a:off x="3552825" y="412432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 · 2024년 대비</a:t>
            </a:r>
            <a:endParaRPr lang="en-US" sz="980" dirty="0"/>
          </a:p>
        </p:txBody>
      </p:sp>
      <p:sp>
        <p:nvSpPr>
          <p:cNvPr id="12" name="Text 7"/>
          <p:cNvSpPr/>
          <p:nvPr/>
        </p:nvSpPr>
        <p:spPr>
          <a:xfrm>
            <a:off x="6410325" y="3552825"/>
            <a:ext cx="2667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41분 43초</a:t>
            </a:r>
            <a:endParaRPr lang="en-US" sz="3450" dirty="0"/>
          </a:p>
        </p:txBody>
      </p:sp>
      <p:sp>
        <p:nvSpPr>
          <p:cNvPr id="13" name="Text 8"/>
          <p:cNvSpPr/>
          <p:nvPr/>
        </p:nvSpPr>
        <p:spPr>
          <a:xfrm>
            <a:off x="6410325" y="4124325"/>
            <a:ext cx="2667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80" dirty="0">
                <a:solidFill>
                  <a:srgbClr val="CFCBF0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 +34.5%</a:t>
            </a:r>
            <a:endParaRPr lang="en-US" sz="980" dirty="0"/>
          </a:p>
        </p:txBody>
      </p:sp>
      <p:sp>
        <p:nvSpPr>
          <p:cNvPr id="14" name="Shape 9"/>
          <p:cNvSpPr/>
          <p:nvPr/>
        </p:nvSpPr>
        <p:spPr>
          <a:xfrm>
            <a:off x="695325" y="4695825"/>
            <a:ext cx="7239000" cy="13335"/>
          </a:xfrm>
          <a:prstGeom prst="rect">
            <a:avLst/>
          </a:prstGeom>
          <a:solidFill>
            <a:srgbClr val="6E68D6"/>
          </a:solidFill>
          <a:ln/>
        </p:spPr>
      </p:sp>
      <p:sp>
        <p:nvSpPr>
          <p:cNvPr id="15" name="Text 10"/>
          <p:cNvSpPr/>
          <p:nvPr/>
        </p:nvSpPr>
        <p:spPr>
          <a:xfrm>
            <a:off x="695325" y="4829175"/>
            <a:ext cx="857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D9D6F5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분석기간 2024-01-01 – 2026-09-06 · 전국 유료방송가구 기준 · 출처 닐슨 코리아</a:t>
            </a:r>
            <a:endParaRPr lang="en-US" sz="9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목차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보고 순서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914400" y="21336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2030" dirty="0"/>
          </a:p>
        </p:txBody>
      </p:sp>
      <p:sp>
        <p:nvSpPr>
          <p:cNvPr id="8" name="Text 5"/>
          <p:cNvSpPr/>
          <p:nvPr/>
        </p:nvSpPr>
        <p:spPr>
          <a:xfrm>
            <a:off x="1543050" y="20955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성과 하이라이트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43050" y="23622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숫자로 보는 결과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914400" y="27813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1" name="Text 8"/>
          <p:cNvSpPr/>
          <p:nvPr/>
        </p:nvSpPr>
        <p:spPr>
          <a:xfrm>
            <a:off x="6362700" y="21336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05</a:t>
            </a:r>
            <a:endParaRPr lang="en-US" sz="2030" dirty="0"/>
          </a:p>
        </p:txBody>
      </p:sp>
      <p:sp>
        <p:nvSpPr>
          <p:cNvPr id="12" name="Text 9"/>
          <p:cNvSpPr/>
          <p:nvPr/>
        </p:nvSpPr>
        <p:spPr>
          <a:xfrm>
            <a:off x="6991350" y="20955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콘텐츠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991350" y="23622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무엇이 성장을 만들었는가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6362700" y="27813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0480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2030" dirty="0"/>
          </a:p>
        </p:txBody>
      </p:sp>
      <p:sp>
        <p:nvSpPr>
          <p:cNvPr id="16" name="Text 13"/>
          <p:cNvSpPr/>
          <p:nvPr/>
        </p:nvSpPr>
        <p:spPr>
          <a:xfrm>
            <a:off x="1543050" y="30099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성장의 해부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543050" y="32766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무엇이 실제로 늘었는가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914400" y="36957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9" name="Text 16"/>
          <p:cNvSpPr/>
          <p:nvPr/>
        </p:nvSpPr>
        <p:spPr>
          <a:xfrm>
            <a:off x="6362700" y="30480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06</a:t>
            </a:r>
            <a:endParaRPr lang="en-US" sz="2030" dirty="0"/>
          </a:p>
        </p:txBody>
      </p:sp>
      <p:sp>
        <p:nvSpPr>
          <p:cNvPr id="20" name="Text 17"/>
          <p:cNvSpPr/>
          <p:nvPr/>
        </p:nvSpPr>
        <p:spPr>
          <a:xfrm>
            <a:off x="6991350" y="30099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운영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991350" y="32766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어떻게 운영했는가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6362700" y="36957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39624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2030" dirty="0"/>
          </a:p>
        </p:txBody>
      </p:sp>
      <p:sp>
        <p:nvSpPr>
          <p:cNvPr id="24" name="Text 21"/>
          <p:cNvSpPr/>
          <p:nvPr/>
        </p:nvSpPr>
        <p:spPr>
          <a:xfrm>
            <a:off x="1543050" y="39243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시청자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543050" y="41910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누가 늘었는가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914400" y="46101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7" name="Text 24"/>
          <p:cNvSpPr/>
          <p:nvPr/>
        </p:nvSpPr>
        <p:spPr>
          <a:xfrm>
            <a:off x="6362700" y="39624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07</a:t>
            </a:r>
            <a:endParaRPr lang="en-US" sz="2030" dirty="0"/>
          </a:p>
        </p:txBody>
      </p:sp>
      <p:sp>
        <p:nvSpPr>
          <p:cNvPr id="28" name="Text 25"/>
          <p:cNvSpPr/>
          <p:nvPr/>
        </p:nvSpPr>
        <p:spPr>
          <a:xfrm>
            <a:off x="6991350" y="39243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결정적 증거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991350" y="41910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콘텐츠, 다른 결과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6362700" y="46101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1" name="Text 28"/>
          <p:cNvSpPr/>
          <p:nvPr/>
        </p:nvSpPr>
        <p:spPr>
          <a:xfrm>
            <a:off x="914400" y="48768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04</a:t>
            </a:r>
            <a:endParaRPr lang="en-US" sz="2030" dirty="0"/>
          </a:p>
        </p:txBody>
      </p:sp>
      <p:sp>
        <p:nvSpPr>
          <p:cNvPr id="32" name="Text 29"/>
          <p:cNvSpPr/>
          <p:nvPr/>
        </p:nvSpPr>
        <p:spPr>
          <a:xfrm>
            <a:off x="1543050" y="48387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시간과 채널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1543050" y="51054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언제·어디서 늘었는가</a:t>
            </a:r>
            <a:endParaRPr lang="en-US" sz="1010" dirty="0"/>
          </a:p>
        </p:txBody>
      </p:sp>
      <p:sp>
        <p:nvSpPr>
          <p:cNvPr id="34" name="Shape 31"/>
          <p:cNvSpPr/>
          <p:nvPr/>
        </p:nvSpPr>
        <p:spPr>
          <a:xfrm>
            <a:off x="914400" y="55245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6362700" y="4876800"/>
            <a:ext cx="4381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08</a:t>
            </a:r>
            <a:endParaRPr lang="en-US" sz="2030" dirty="0"/>
          </a:p>
        </p:txBody>
      </p:sp>
      <p:sp>
        <p:nvSpPr>
          <p:cNvPr id="36" name="Text 33"/>
          <p:cNvSpPr/>
          <p:nvPr/>
        </p:nvSpPr>
        <p:spPr>
          <a:xfrm>
            <a:off x="6991350" y="4838700"/>
            <a:ext cx="419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리스크와 방향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6991350" y="51054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다음에 무엇을 할 것인가</a:t>
            </a:r>
            <a:endParaRPr lang="en-US" sz="1010" dirty="0"/>
          </a:p>
        </p:txBody>
      </p:sp>
      <p:sp>
        <p:nvSpPr>
          <p:cNvPr id="38" name="Shape 35"/>
          <p:cNvSpPr/>
          <p:nvPr/>
        </p:nvSpPr>
        <p:spPr>
          <a:xfrm>
            <a:off x="6362700" y="5524500"/>
            <a:ext cx="4876800" cy="13335"/>
          </a:xfrm>
          <a:prstGeom prst="rect">
            <a:avLst/>
          </a:prstGeom>
          <a:solidFill>
            <a:srgbClr val="E2E2E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 하이라이트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숫자로 보는 OLIFE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2038350"/>
            <a:ext cx="3257550" cy="2381250"/>
          </a:xfrm>
          <a:prstGeom prst="roundRect">
            <a:avLst>
              <a:gd name="adj" fmla="val 8000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19200" y="23622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누적 채널 순위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219200" y="2705100"/>
            <a:ext cx="26479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35</a:t>
            </a:r>
            <a:pPr indent="0" marL="0">
              <a:buNone/>
            </a:pPr>
            <a:r>
              <a:rPr lang="en-US" sz="225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위</a:t>
            </a:r>
            <a:endParaRPr lang="en-US" sz="5700" dirty="0"/>
          </a:p>
        </p:txBody>
      </p:sp>
      <p:sp>
        <p:nvSpPr>
          <p:cNvPr id="10" name="Text 7"/>
          <p:cNvSpPr/>
          <p:nvPr/>
        </p:nvSpPr>
        <p:spPr>
          <a:xfrm>
            <a:off x="1219200" y="3810000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전체 216개 채널 중 · 상위 16.2%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81500" y="2038350"/>
            <a:ext cx="32575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86300" y="23622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686300" y="2705100"/>
            <a:ext cx="26479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0.108</a:t>
            </a:r>
            <a:pPr indent="0" marL="0">
              <a:buNone/>
            </a:pPr>
            <a:endParaRPr lang="en-US" sz="4500" dirty="0"/>
          </a:p>
        </p:txBody>
      </p:sp>
      <p:sp>
        <p:nvSpPr>
          <p:cNvPr id="14" name="Text 11"/>
          <p:cNvSpPr/>
          <p:nvPr/>
        </p:nvSpPr>
        <p:spPr>
          <a:xfrm>
            <a:off x="4686300" y="3810000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 0.078 대비 +39.1%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48600" y="2038350"/>
            <a:ext cx="3257550" cy="2381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53400" y="2362200"/>
            <a:ext cx="2647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8153400" y="2705100"/>
            <a:ext cx="26479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41분43초</a:t>
            </a:r>
            <a:pPr indent="0" marL="0">
              <a:buNone/>
            </a:pPr>
            <a:endParaRPr lang="en-US" sz="3450" dirty="0"/>
          </a:p>
        </p:txBody>
      </p:sp>
      <p:sp>
        <p:nvSpPr>
          <p:cNvPr id="18" name="Text 15"/>
          <p:cNvSpPr/>
          <p:nvPr/>
        </p:nvSpPr>
        <p:spPr>
          <a:xfrm>
            <a:off x="8153400" y="3810000"/>
            <a:ext cx="2647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 31분 01초 대비 +34.5%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14400" y="48768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세 지표 모두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분석기간(2024.01~2026.09) 내 최고 수준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순위는 2026-01-01~2026-09-06 누적 기준임.</a:t>
            </a:r>
            <a:endParaRPr lang="en-US" sz="1130" dirty="0"/>
          </a:p>
        </p:txBody>
      </p:sp>
      <p:sp>
        <p:nvSpPr>
          <p:cNvPr id="20" name="Text 17"/>
          <p:cNvSpPr/>
          <p:nvPr/>
        </p:nvSpPr>
        <p:spPr>
          <a:xfrm>
            <a:off x="914400" y="529590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2026년 누적 채널 순위(전국 유료방송가구)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 하이라이트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기록으로 남은 숫자들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20574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2479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월간 최고 시청률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1104900" y="24955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0.13336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04900" y="30099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3524250" y="20574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750" y="22479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일간 최고 시청률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3714750" y="24955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0.188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714750" y="30099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2026-06-29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6134100" y="20574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4600" y="22479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주간 최고 시청률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6324600" y="24955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0.146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324600" y="30099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 첫째 주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8743950" y="20574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34450" y="22479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56일 이동평균 고점</a:t>
            </a:r>
            <a:endParaRPr lang="en-US" sz="940" dirty="0"/>
          </a:p>
        </p:txBody>
      </p:sp>
      <p:sp>
        <p:nvSpPr>
          <p:cNvPr id="21" name="Text 18"/>
          <p:cNvSpPr/>
          <p:nvPr/>
        </p:nvSpPr>
        <p:spPr>
          <a:xfrm>
            <a:off x="8934450" y="24955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0.132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934450" y="30099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2026-08-13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914400" y="35433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04900" y="37338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월간 최고 순위</a:t>
            </a:r>
            <a:endParaRPr lang="en-US" sz="940" dirty="0"/>
          </a:p>
        </p:txBody>
      </p:sp>
      <p:sp>
        <p:nvSpPr>
          <p:cNvPr id="25" name="Text 22"/>
          <p:cNvSpPr/>
          <p:nvPr/>
        </p:nvSpPr>
        <p:spPr>
          <a:xfrm>
            <a:off x="1104900" y="39814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28위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104900" y="44958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7·8월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3524250" y="35433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714750" y="37338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주간 최고 순위</a:t>
            </a:r>
            <a:endParaRPr lang="en-US" sz="940" dirty="0"/>
          </a:p>
        </p:txBody>
      </p:sp>
      <p:sp>
        <p:nvSpPr>
          <p:cNvPr id="29" name="Text 26"/>
          <p:cNvSpPr/>
          <p:nvPr/>
        </p:nvSpPr>
        <p:spPr>
          <a:xfrm>
            <a:off x="3714750" y="39814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27위</a:t>
            </a:r>
            <a:endParaRPr lang="en-US" sz="2400" dirty="0"/>
          </a:p>
        </p:txBody>
      </p:sp>
      <p:sp>
        <p:nvSpPr>
          <p:cNvPr id="30" name="Text 27"/>
          <p:cNvSpPr/>
          <p:nvPr/>
        </p:nvSpPr>
        <p:spPr>
          <a:xfrm>
            <a:off x="3714750" y="44958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 첫째 주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6134100" y="35433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24600" y="37338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체류시간 시장 순위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6324600" y="39814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26위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6324600" y="44958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시청률 순위보다 9계단 높음</a:t>
            </a:r>
            <a:endParaRPr lang="en-US" sz="940" dirty="0"/>
          </a:p>
        </p:txBody>
      </p:sp>
      <p:sp>
        <p:nvSpPr>
          <p:cNvPr id="35" name="Shape 32"/>
          <p:cNvSpPr/>
          <p:nvPr/>
        </p:nvSpPr>
        <p:spPr>
          <a:xfrm>
            <a:off x="8743950" y="3543300"/>
            <a:ext cx="2457450" cy="1333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34450" y="3733800"/>
            <a:ext cx="2076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최고 성과 시간대</a:t>
            </a:r>
            <a:endParaRPr lang="en-US" sz="940" dirty="0"/>
          </a:p>
        </p:txBody>
      </p:sp>
      <p:sp>
        <p:nvSpPr>
          <p:cNvPr id="37" name="Text 34"/>
          <p:cNvSpPr/>
          <p:nvPr/>
        </p:nvSpPr>
        <p:spPr>
          <a:xfrm>
            <a:off x="8934450" y="3981450"/>
            <a:ext cx="2076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일 18시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8934450" y="44958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시청률 0.217</a:t>
            </a:r>
            <a:endParaRPr lang="en-US" sz="940" dirty="0"/>
          </a:p>
        </p:txBody>
      </p:sp>
      <p:sp>
        <p:nvSpPr>
          <p:cNvPr id="39" name="Text 36"/>
          <p:cNvSpPr/>
          <p:nvPr/>
        </p:nvSpPr>
        <p:spPr>
          <a:xfrm>
            <a:off x="914400" y="52578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모든 기록이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2026년에 집중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돼 있음. 56일 이동평균은 일별 시청률의 56일 이동평균으로, 단일 이벤트가 아닌 지속 수준을 나타냄.</a:t>
            </a:r>
            <a:endParaRPr lang="en-US" sz="11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 하이라이트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시장 순위가 8개월 만에 14계단 올랐음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905500" cy="2800350"/>
          </a:xfrm>
          <a:prstGeom prst="roundRect">
            <a:avLst>
              <a:gd name="adj" fmla="val 476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638800" cy="2362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400550"/>
            <a:ext cx="5905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월간 채널 순위 (위로 갈수록 상위 · 숫자가 작을수록 좋음)</a:t>
            </a:r>
            <a:endParaRPr lang="en-US" sz="860" dirty="0"/>
          </a:p>
        </p:txBody>
      </p:sp>
      <p:sp>
        <p:nvSpPr>
          <p:cNvPr id="10" name="Shape 6"/>
          <p:cNvSpPr/>
          <p:nvPr/>
        </p:nvSpPr>
        <p:spPr>
          <a:xfrm>
            <a:off x="7200900" y="1924050"/>
            <a:ext cx="1714500" cy="1028700"/>
          </a:xfrm>
          <a:prstGeom prst="roundRect">
            <a:avLst>
              <a:gd name="adj" fmla="val 14815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00900" y="2133600"/>
            <a:ext cx="171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58586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42위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7200900" y="26098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1월</a:t>
            </a:r>
            <a:endParaRPr lang="en-US" sz="980" dirty="0"/>
          </a:p>
        </p:txBody>
      </p:sp>
      <p:sp>
        <p:nvSpPr>
          <p:cNvPr id="13" name="Text 9"/>
          <p:cNvSpPr/>
          <p:nvPr/>
        </p:nvSpPr>
        <p:spPr>
          <a:xfrm>
            <a:off x="8972550" y="2286000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CFCFD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0"/>
          <p:cNvSpPr/>
          <p:nvPr/>
        </p:nvSpPr>
        <p:spPr>
          <a:xfrm>
            <a:off x="9448800" y="1924050"/>
            <a:ext cx="1714500" cy="1028700"/>
          </a:xfrm>
          <a:prstGeom prst="roundRect">
            <a:avLst>
              <a:gd name="adj" fmla="val 14815"/>
            </a:avLst>
          </a:prstGeom>
          <a:solidFill>
            <a:srgbClr val="2C24CE"/>
          </a:solidFill>
          <a:ln/>
        </p:spPr>
      </p:sp>
      <p:sp>
        <p:nvSpPr>
          <p:cNvPr id="15" name="Text 11"/>
          <p:cNvSpPr/>
          <p:nvPr/>
        </p:nvSpPr>
        <p:spPr>
          <a:xfrm>
            <a:off x="9448800" y="2133600"/>
            <a:ext cx="1714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28위</a:t>
            </a:r>
            <a:endParaRPr lang="en-US" sz="3000" dirty="0"/>
          </a:p>
        </p:txBody>
      </p:sp>
      <p:sp>
        <p:nvSpPr>
          <p:cNvPr id="16" name="Text 12"/>
          <p:cNvSpPr/>
          <p:nvPr/>
        </p:nvSpPr>
        <p:spPr>
          <a:xfrm>
            <a:off x="9448800" y="260985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7·8월</a:t>
            </a:r>
            <a:endParaRPr lang="en-US" sz="980" dirty="0"/>
          </a:p>
        </p:txBody>
      </p:sp>
      <p:sp>
        <p:nvSpPr>
          <p:cNvPr id="17" name="Shape 13"/>
          <p:cNvSpPr/>
          <p:nvPr/>
        </p:nvSpPr>
        <p:spPr>
          <a:xfrm>
            <a:off x="7200900" y="32670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8" name="Text 14"/>
          <p:cNvSpPr/>
          <p:nvPr/>
        </p:nvSpPr>
        <p:spPr>
          <a:xfrm>
            <a:off x="7334250" y="320040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월간 순위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42위 → 28위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, 8개월간 14계단 상승함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7200900" y="35909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0" name="Text 16"/>
          <p:cNvSpPr/>
          <p:nvPr/>
        </p:nvSpPr>
        <p:spPr>
          <a:xfrm>
            <a:off x="7334250" y="35242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주간 기준 최고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27위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(7월 첫째 주)까지 올라감</a:t>
            </a:r>
            <a:endParaRPr lang="en-US" sz="1160" dirty="0"/>
          </a:p>
        </p:txBody>
      </p:sp>
      <p:sp>
        <p:nvSpPr>
          <p:cNvPr id="21" name="Shape 17"/>
          <p:cNvSpPr/>
          <p:nvPr/>
        </p:nvSpPr>
        <p:spPr>
          <a:xfrm>
            <a:off x="7200900" y="39147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2" name="Text 18"/>
          <p:cNvSpPr/>
          <p:nvPr/>
        </p:nvSpPr>
        <p:spPr>
          <a:xfrm>
            <a:off x="7334250" y="3848100"/>
            <a:ext cx="39433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수도권 유료방송가구 기준으로는 51위 → 41위(7월)로 개선됐다가 8월 51위로 되돌아옴</a:t>
            </a:r>
            <a:endParaRPr lang="en-US" sz="1160" dirty="0"/>
          </a:p>
        </p:txBody>
      </p:sp>
      <p:sp>
        <p:nvSpPr>
          <p:cNvPr id="23" name="Text 19"/>
          <p:cNvSpPr/>
          <p:nvPr/>
        </p:nvSpPr>
        <p:spPr>
          <a:xfrm>
            <a:off x="914400" y="575310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월간/주간 채널 순위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 성과 하이라이트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3년 궤적 — 매년 한 단계씩 올라섰음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2019300"/>
            <a:ext cx="2457450" cy="2381250"/>
          </a:xfrm>
          <a:prstGeom prst="roundRect">
            <a:avLst>
              <a:gd name="adj" fmla="val 5600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3950" y="22098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평균 시청률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123950" y="2438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+39.1%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123950" y="2971800"/>
            <a:ext cx="2038350" cy="13335"/>
          </a:xfrm>
          <a:prstGeom prst="rect">
            <a:avLst/>
          </a:prstGeom>
          <a:solidFill>
            <a:srgbClr val="6F69E2"/>
          </a:solidFill>
          <a:ln/>
        </p:spPr>
      </p:sp>
      <p:sp>
        <p:nvSpPr>
          <p:cNvPr id="11" name="Text 8"/>
          <p:cNvSpPr/>
          <p:nvPr/>
        </p:nvSpPr>
        <p:spPr>
          <a:xfrm>
            <a:off x="1123950" y="30861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</a:t>
            </a:r>
            <a:endParaRPr lang="en-US" sz="980" dirty="0"/>
          </a:p>
        </p:txBody>
      </p:sp>
      <p:sp>
        <p:nvSpPr>
          <p:cNvPr id="12" name="Text 9"/>
          <p:cNvSpPr/>
          <p:nvPr/>
        </p:nvSpPr>
        <p:spPr>
          <a:xfrm>
            <a:off x="1123950" y="30861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0.078</a:t>
            </a:r>
            <a:endParaRPr lang="en-US" sz="1010" dirty="0"/>
          </a:p>
        </p:txBody>
      </p:sp>
      <p:sp>
        <p:nvSpPr>
          <p:cNvPr id="13" name="Shape 10"/>
          <p:cNvSpPr/>
          <p:nvPr/>
        </p:nvSpPr>
        <p:spPr>
          <a:xfrm>
            <a:off x="1123950" y="3409950"/>
            <a:ext cx="2038350" cy="13335"/>
          </a:xfrm>
          <a:prstGeom prst="rect">
            <a:avLst/>
          </a:prstGeom>
          <a:solidFill>
            <a:srgbClr val="6F69E2"/>
          </a:solidFill>
          <a:ln/>
        </p:spPr>
      </p:sp>
      <p:sp>
        <p:nvSpPr>
          <p:cNvPr id="14" name="Text 11"/>
          <p:cNvSpPr/>
          <p:nvPr/>
        </p:nvSpPr>
        <p:spPr>
          <a:xfrm>
            <a:off x="1123950" y="35242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1123950" y="352425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0.092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1123950" y="3848100"/>
            <a:ext cx="2038350" cy="13335"/>
          </a:xfrm>
          <a:prstGeom prst="rect">
            <a:avLst/>
          </a:prstGeom>
          <a:solidFill>
            <a:srgbClr val="6F69E2"/>
          </a:solidFill>
          <a:ln/>
        </p:spPr>
      </p:sp>
      <p:sp>
        <p:nvSpPr>
          <p:cNvPr id="17" name="Text 14"/>
          <p:cNvSpPr/>
          <p:nvPr/>
        </p:nvSpPr>
        <p:spPr>
          <a:xfrm>
            <a:off x="1123950" y="39624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</a:t>
            </a:r>
            <a:endParaRPr lang="en-US" sz="980" dirty="0"/>
          </a:p>
        </p:txBody>
      </p:sp>
      <p:sp>
        <p:nvSpPr>
          <p:cNvPr id="18" name="Text 15"/>
          <p:cNvSpPr/>
          <p:nvPr/>
        </p:nvSpPr>
        <p:spPr>
          <a:xfrm>
            <a:off x="1123950" y="39624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0.108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3524250" y="2019300"/>
            <a:ext cx="245745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33800" y="22098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점유율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3733800" y="2438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+37.3%</a:t>
            </a:r>
            <a:endParaRPr lang="en-US" sz="2400" dirty="0"/>
          </a:p>
        </p:txBody>
      </p:sp>
      <p:sp>
        <p:nvSpPr>
          <p:cNvPr id="22" name="Shape 19"/>
          <p:cNvSpPr/>
          <p:nvPr/>
        </p:nvSpPr>
        <p:spPr>
          <a:xfrm>
            <a:off x="3733800" y="297180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3733800" y="30861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3733800" y="30861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0.00284</a:t>
            </a:r>
            <a:endParaRPr lang="en-US" sz="1010" dirty="0"/>
          </a:p>
        </p:txBody>
      </p:sp>
      <p:sp>
        <p:nvSpPr>
          <p:cNvPr id="25" name="Shape 22"/>
          <p:cNvSpPr/>
          <p:nvPr/>
        </p:nvSpPr>
        <p:spPr>
          <a:xfrm>
            <a:off x="3733800" y="340995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6" name="Text 23"/>
          <p:cNvSpPr/>
          <p:nvPr/>
        </p:nvSpPr>
        <p:spPr>
          <a:xfrm>
            <a:off x="3733800" y="35242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3733800" y="352425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0.00353</a:t>
            </a:r>
            <a:endParaRPr lang="en-US" sz="1010" dirty="0"/>
          </a:p>
        </p:txBody>
      </p:sp>
      <p:sp>
        <p:nvSpPr>
          <p:cNvPr id="28" name="Shape 25"/>
          <p:cNvSpPr/>
          <p:nvPr/>
        </p:nvSpPr>
        <p:spPr>
          <a:xfrm>
            <a:off x="3733800" y="384810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9" name="Text 26"/>
          <p:cNvSpPr/>
          <p:nvPr/>
        </p:nvSpPr>
        <p:spPr>
          <a:xfrm>
            <a:off x="3733800" y="39624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3733800" y="39624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0.00390</a:t>
            </a:r>
            <a:endParaRPr lang="en-US" sz="1010" dirty="0"/>
          </a:p>
        </p:txBody>
      </p:sp>
      <p:sp>
        <p:nvSpPr>
          <p:cNvPr id="31" name="Shape 28"/>
          <p:cNvSpPr/>
          <p:nvPr/>
        </p:nvSpPr>
        <p:spPr>
          <a:xfrm>
            <a:off x="6134100" y="2019300"/>
            <a:ext cx="2457450" cy="238125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43650" y="22098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</a:t>
            </a:r>
            <a:endParaRPr lang="en-US" sz="1090" dirty="0"/>
          </a:p>
        </p:txBody>
      </p:sp>
      <p:sp>
        <p:nvSpPr>
          <p:cNvPr id="33" name="Text 30"/>
          <p:cNvSpPr/>
          <p:nvPr/>
        </p:nvSpPr>
        <p:spPr>
          <a:xfrm>
            <a:off x="6343650" y="2438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+34.5%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6343650" y="297180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6343650" y="30861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</a:t>
            </a:r>
            <a:endParaRPr lang="en-US" sz="980" dirty="0"/>
          </a:p>
        </p:txBody>
      </p:sp>
      <p:sp>
        <p:nvSpPr>
          <p:cNvPr id="36" name="Text 33"/>
          <p:cNvSpPr/>
          <p:nvPr/>
        </p:nvSpPr>
        <p:spPr>
          <a:xfrm>
            <a:off x="6343650" y="30861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31분 01초</a:t>
            </a:r>
            <a:endParaRPr lang="en-US" sz="1010" dirty="0"/>
          </a:p>
        </p:txBody>
      </p:sp>
      <p:sp>
        <p:nvSpPr>
          <p:cNvPr id="37" name="Shape 34"/>
          <p:cNvSpPr/>
          <p:nvPr/>
        </p:nvSpPr>
        <p:spPr>
          <a:xfrm>
            <a:off x="6343650" y="340995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8" name="Text 35"/>
          <p:cNvSpPr/>
          <p:nvPr/>
        </p:nvSpPr>
        <p:spPr>
          <a:xfrm>
            <a:off x="6343650" y="35242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</a:t>
            </a:r>
            <a:endParaRPr lang="en-US" sz="980" dirty="0"/>
          </a:p>
        </p:txBody>
      </p:sp>
      <p:sp>
        <p:nvSpPr>
          <p:cNvPr id="39" name="Text 36"/>
          <p:cNvSpPr/>
          <p:nvPr/>
        </p:nvSpPr>
        <p:spPr>
          <a:xfrm>
            <a:off x="6343650" y="352425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37분 21초</a:t>
            </a:r>
            <a:endParaRPr lang="en-US" sz="1010" dirty="0"/>
          </a:p>
        </p:txBody>
      </p:sp>
      <p:sp>
        <p:nvSpPr>
          <p:cNvPr id="40" name="Shape 37"/>
          <p:cNvSpPr/>
          <p:nvPr/>
        </p:nvSpPr>
        <p:spPr>
          <a:xfrm>
            <a:off x="6343650" y="3848100"/>
            <a:ext cx="203835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1" name="Text 38"/>
          <p:cNvSpPr/>
          <p:nvPr/>
        </p:nvSpPr>
        <p:spPr>
          <a:xfrm>
            <a:off x="6343650" y="39624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</a:t>
            </a:r>
            <a:endParaRPr lang="en-US" sz="980" dirty="0"/>
          </a:p>
        </p:txBody>
      </p:sp>
      <p:sp>
        <p:nvSpPr>
          <p:cNvPr id="42" name="Text 39"/>
          <p:cNvSpPr/>
          <p:nvPr/>
        </p:nvSpPr>
        <p:spPr>
          <a:xfrm>
            <a:off x="6343650" y="39624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41분 43초</a:t>
            </a:r>
            <a:endParaRPr lang="en-US" sz="1010" dirty="0"/>
          </a:p>
        </p:txBody>
      </p:sp>
      <p:sp>
        <p:nvSpPr>
          <p:cNvPr id="43" name="Shape 40"/>
          <p:cNvSpPr/>
          <p:nvPr/>
        </p:nvSpPr>
        <p:spPr>
          <a:xfrm>
            <a:off x="8743950" y="2019300"/>
            <a:ext cx="2457450" cy="2381250"/>
          </a:xfrm>
          <a:prstGeom prst="roundRect">
            <a:avLst>
              <a:gd name="adj" fmla="val 56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953500" y="22098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도달률</a:t>
            </a:r>
            <a:endParaRPr lang="en-US" sz="1090" dirty="0"/>
          </a:p>
        </p:txBody>
      </p:sp>
      <p:sp>
        <p:nvSpPr>
          <p:cNvPr id="45" name="Text 42"/>
          <p:cNvSpPr/>
          <p:nvPr/>
        </p:nvSpPr>
        <p:spPr>
          <a:xfrm>
            <a:off x="8953500" y="2438400"/>
            <a:ext cx="2038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241DA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+2.9%</a:t>
            </a:r>
            <a:endParaRPr lang="en-US" sz="2400" dirty="0"/>
          </a:p>
        </p:txBody>
      </p:sp>
      <p:sp>
        <p:nvSpPr>
          <p:cNvPr id="46" name="Shape 43"/>
          <p:cNvSpPr/>
          <p:nvPr/>
        </p:nvSpPr>
        <p:spPr>
          <a:xfrm>
            <a:off x="8953500" y="2971800"/>
            <a:ext cx="20383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47" name="Text 44"/>
          <p:cNvSpPr/>
          <p:nvPr/>
        </p:nvSpPr>
        <p:spPr>
          <a:xfrm>
            <a:off x="8953500" y="30861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</a:t>
            </a:r>
            <a:endParaRPr lang="en-US" sz="980" dirty="0"/>
          </a:p>
        </p:txBody>
      </p:sp>
      <p:sp>
        <p:nvSpPr>
          <p:cNvPr id="48" name="Text 45"/>
          <p:cNvSpPr/>
          <p:nvPr/>
        </p:nvSpPr>
        <p:spPr>
          <a:xfrm>
            <a:off x="8953500" y="30861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0.03621</a:t>
            </a:r>
            <a:endParaRPr lang="en-US" sz="1010" dirty="0"/>
          </a:p>
        </p:txBody>
      </p:sp>
      <p:sp>
        <p:nvSpPr>
          <p:cNvPr id="49" name="Shape 46"/>
          <p:cNvSpPr/>
          <p:nvPr/>
        </p:nvSpPr>
        <p:spPr>
          <a:xfrm>
            <a:off x="8953500" y="3409950"/>
            <a:ext cx="20383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50" name="Text 47"/>
          <p:cNvSpPr/>
          <p:nvPr/>
        </p:nvSpPr>
        <p:spPr>
          <a:xfrm>
            <a:off x="8953500" y="352425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</a:t>
            </a:r>
            <a:endParaRPr lang="en-US" sz="980" dirty="0"/>
          </a:p>
        </p:txBody>
      </p:sp>
      <p:sp>
        <p:nvSpPr>
          <p:cNvPr id="51" name="Text 48"/>
          <p:cNvSpPr/>
          <p:nvPr/>
        </p:nvSpPr>
        <p:spPr>
          <a:xfrm>
            <a:off x="8953500" y="352425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0.03559</a:t>
            </a:r>
            <a:endParaRPr lang="en-US" sz="1010" dirty="0"/>
          </a:p>
        </p:txBody>
      </p:sp>
      <p:sp>
        <p:nvSpPr>
          <p:cNvPr id="52" name="Shape 49"/>
          <p:cNvSpPr/>
          <p:nvPr/>
        </p:nvSpPr>
        <p:spPr>
          <a:xfrm>
            <a:off x="8953500" y="3848100"/>
            <a:ext cx="2038350" cy="13335"/>
          </a:xfrm>
          <a:prstGeom prst="rect">
            <a:avLst/>
          </a:prstGeom>
          <a:solidFill>
            <a:srgbClr val="CDCBF6"/>
          </a:solidFill>
          <a:ln/>
        </p:spPr>
      </p:sp>
      <p:sp>
        <p:nvSpPr>
          <p:cNvPr id="53" name="Text 50"/>
          <p:cNvSpPr/>
          <p:nvPr/>
        </p:nvSpPr>
        <p:spPr>
          <a:xfrm>
            <a:off x="8953500" y="39624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</a:t>
            </a:r>
            <a:endParaRPr lang="en-US" sz="980" dirty="0"/>
          </a:p>
        </p:txBody>
      </p:sp>
      <p:sp>
        <p:nvSpPr>
          <p:cNvPr id="54" name="Text 51"/>
          <p:cNvSpPr/>
          <p:nvPr/>
        </p:nvSpPr>
        <p:spPr>
          <a:xfrm>
            <a:off x="8953500" y="3962400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0.03726</a:t>
            </a:r>
            <a:endParaRPr lang="en-US" sz="1010" dirty="0"/>
          </a:p>
        </p:txBody>
      </p:sp>
      <p:sp>
        <p:nvSpPr>
          <p:cNvPr id="55" name="Text 52"/>
          <p:cNvSpPr/>
          <p:nvPr/>
        </p:nvSpPr>
        <p:spPr>
          <a:xfrm>
            <a:off x="914400" y="47625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도달률(+2.9%)만 거의 제자리임. 나머지 세 지표가 크게 오른 것은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같은 규모의 시청자가 더 오래·더 자주 봤다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뜻임.</a:t>
            </a:r>
            <a:endParaRPr lang="en-US" sz="1130" dirty="0"/>
          </a:p>
        </p:txBody>
      </p:sp>
      <p:sp>
        <p:nvSpPr>
          <p:cNvPr id="56" name="Text 53"/>
          <p:cNvSpPr/>
          <p:nvPr/>
        </p:nvSpPr>
        <p:spPr>
          <a:xfrm>
            <a:off x="914400" y="518160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전국 유료방송가구 일별 지표 (2024-01-01~2026-09-06, 980일)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성장의 해부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33개월 궤적 — 2026년 4월부터 기울기가 달라졌음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2819400"/>
          </a:xfrm>
          <a:prstGeom prst="roundRect">
            <a:avLst>
              <a:gd name="adj" fmla="val 473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609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4781550"/>
            <a:ext cx="33528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5850" y="48958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940" dirty="0"/>
          </a:p>
        </p:txBody>
      </p:sp>
      <p:sp>
        <p:nvSpPr>
          <p:cNvPr id="11" name="Text 7"/>
          <p:cNvSpPr/>
          <p:nvPr/>
        </p:nvSpPr>
        <p:spPr>
          <a:xfrm>
            <a:off x="1085850" y="5086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0.078</a:t>
            </a:r>
            <a:endParaRPr lang="en-US" sz="1730" dirty="0"/>
          </a:p>
        </p:txBody>
      </p:sp>
      <p:sp>
        <p:nvSpPr>
          <p:cNvPr id="12" name="Text 8"/>
          <p:cNvSpPr/>
          <p:nvPr/>
        </p:nvSpPr>
        <p:spPr>
          <a:xfrm>
            <a:off x="1085850" y="53911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0.068~0.084 박스권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419600" y="4781550"/>
            <a:ext cx="3352800" cy="87630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1050" y="48958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</a:t>
            </a:r>
            <a:endParaRPr lang="en-US" sz="940" dirty="0"/>
          </a:p>
        </p:txBody>
      </p:sp>
      <p:sp>
        <p:nvSpPr>
          <p:cNvPr id="15" name="Text 11"/>
          <p:cNvSpPr/>
          <p:nvPr/>
        </p:nvSpPr>
        <p:spPr>
          <a:xfrm>
            <a:off x="4591050" y="5086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0.092</a:t>
            </a:r>
            <a:endParaRPr lang="en-US" sz="1730" dirty="0"/>
          </a:p>
        </p:txBody>
      </p:sp>
      <p:sp>
        <p:nvSpPr>
          <p:cNvPr id="16" name="Text 12"/>
          <p:cNvSpPr/>
          <p:nvPr/>
        </p:nvSpPr>
        <p:spPr>
          <a:xfrm>
            <a:off x="4591050" y="53911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0.076~0.103 완만한 상승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7924800" y="4781550"/>
            <a:ext cx="3352800" cy="876300"/>
          </a:xfrm>
          <a:prstGeom prst="roundRect">
            <a:avLst>
              <a:gd name="adj" fmla="val 13043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096250" y="48958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8096250" y="5086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0.108</a:t>
            </a:r>
            <a:endParaRPr lang="en-US" sz="1730" dirty="0"/>
          </a:p>
        </p:txBody>
      </p:sp>
      <p:sp>
        <p:nvSpPr>
          <p:cNvPr id="20" name="Text 16"/>
          <p:cNvSpPr/>
          <p:nvPr/>
        </p:nvSpPr>
        <p:spPr>
          <a:xfrm>
            <a:off x="8096250" y="5391150"/>
            <a:ext cx="2857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4월 이후 0.091 → 0.133 급등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14400" y="58102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2025년 1월 편성 변화 직후가 아니라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4~7월에 상승이 집중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됨. 변화가 누적된 뒤 효과가 나타난 구조임.</a:t>
            </a:r>
            <a:endParaRPr lang="en-US" sz="11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성장의 해부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성장은 '더 오래'에서 나왔음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143500" cy="2990850"/>
          </a:xfrm>
          <a:prstGeom prst="roundRect">
            <a:avLst>
              <a:gd name="adj" fmla="val 4459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4876800" cy="2552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591050"/>
            <a:ext cx="514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2024년을 100으로 놓은 지수</a:t>
            </a:r>
            <a:endParaRPr lang="en-US" sz="860" dirty="0"/>
          </a:p>
        </p:txBody>
      </p:sp>
      <p:sp>
        <p:nvSpPr>
          <p:cNvPr id="10" name="Shape 6"/>
          <p:cNvSpPr/>
          <p:nvPr/>
        </p:nvSpPr>
        <p:spPr>
          <a:xfrm>
            <a:off x="6438900" y="1866900"/>
            <a:ext cx="4838700" cy="914400"/>
          </a:xfrm>
          <a:prstGeom prst="roundRect">
            <a:avLst>
              <a:gd name="adj" fmla="val 14583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38900" y="2114550"/>
            <a:ext cx="483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시청률   =   도달률   ×   시청 깊이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38900" y="2419350"/>
            <a:ext cx="4838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+2.9%  ·  거의 제자리                    +34.5%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6438900" y="30956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4" name="Text 10"/>
          <p:cNvSpPr/>
          <p:nvPr/>
        </p:nvSpPr>
        <p:spPr>
          <a:xfrm>
            <a:off x="6572250" y="3028950"/>
            <a:ext cx="4705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0.03621 → 0.03726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사실상 제자리임</a:t>
            </a:r>
            <a:endParaRPr lang="en-US" sz="1160" dirty="0"/>
          </a:p>
        </p:txBody>
      </p:sp>
      <p:sp>
        <p:nvSpPr>
          <p:cNvPr id="15" name="Shape 11"/>
          <p:cNvSpPr/>
          <p:nvPr/>
        </p:nvSpPr>
        <p:spPr>
          <a:xfrm>
            <a:off x="6438900" y="34766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6" name="Text 12"/>
          <p:cNvSpPr/>
          <p:nvPr/>
        </p:nvSpPr>
        <p:spPr>
          <a:xfrm>
            <a:off x="6572250" y="3409950"/>
            <a:ext cx="4705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1인당 시청시간은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31분 01초 → 41분 43초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늘어남</a:t>
            </a:r>
            <a:endParaRPr lang="en-US" sz="1160" dirty="0"/>
          </a:p>
        </p:txBody>
      </p:sp>
      <p:sp>
        <p:nvSpPr>
          <p:cNvPr id="17" name="Shape 13"/>
          <p:cNvSpPr/>
          <p:nvPr/>
        </p:nvSpPr>
        <p:spPr>
          <a:xfrm>
            <a:off x="6438900" y="38576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8" name="Text 14"/>
          <p:cNvSpPr/>
          <p:nvPr/>
        </p:nvSpPr>
        <p:spPr>
          <a:xfrm>
            <a:off x="6572250" y="3790950"/>
            <a:ext cx="4705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즉 성장의 대부분은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새 시청자 유입이 아니라 기존 시청자의 체류 심화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에서 나옴</a:t>
            </a:r>
            <a:endParaRPr lang="en-US" sz="11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 성장의 해부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시청시간과 도달률이 함께 움직인 구간은 2026년 5월 이후임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10363200" cy="3371850"/>
          </a:xfrm>
          <a:prstGeom prst="roundRect">
            <a:avLst>
              <a:gd name="adj" fmla="val 395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10096500" cy="2933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97205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 1월 = 100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914400" y="53530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2024~2025년에는 시청시간만 올라가고 도달률은 오히려 내려감.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5월 이후 도달률까지 함께 올라가면서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시청률 상승 폭이 커짐.</a:t>
            </a:r>
            <a:endParaRPr lang="en-US" sz="11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39000" y="4800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260032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2495550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3장 · 시청자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57500"/>
            <a:ext cx="1038225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누가 OLIFE를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더 보게 됐는가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2341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성·연령 10개 세그먼트 · 33개월 월별 실측</a:t>
            </a:r>
            <a:endParaRPr lang="en-US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시청자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60대 이상 두 세그먼트가 성장의 대부분을 만들었음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371850"/>
          </a:xfrm>
          <a:prstGeom prst="roundRect">
            <a:avLst>
              <a:gd name="adj" fmla="val 395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57450" y="1962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9" name="Text 6"/>
          <p:cNvSpPr/>
          <p:nvPr/>
        </p:nvSpPr>
        <p:spPr>
          <a:xfrm>
            <a:off x="2609850" y="1905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562350" y="1962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11" name="Text 8"/>
          <p:cNvSpPr/>
          <p:nvPr/>
        </p:nvSpPr>
        <p:spPr>
          <a:xfrm>
            <a:off x="3714750" y="1905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7750" y="218408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60대+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6534393" y="2245995"/>
            <a:ext cx="3209682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77243" y="221265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15" name="Shape 12"/>
          <p:cNvSpPr/>
          <p:nvPr/>
        </p:nvSpPr>
        <p:spPr>
          <a:xfrm>
            <a:off x="9686925" y="221265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16" name="Text 13"/>
          <p:cNvSpPr/>
          <p:nvPr/>
        </p:nvSpPr>
        <p:spPr>
          <a:xfrm>
            <a:off x="9839325" y="218408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0.162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1047750" y="2456497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60대+</a:t>
            </a:r>
            <a:endParaRPr lang="en-US" sz="790" dirty="0"/>
          </a:p>
        </p:txBody>
      </p:sp>
      <p:sp>
        <p:nvSpPr>
          <p:cNvPr id="18" name="Shape 15"/>
          <p:cNvSpPr/>
          <p:nvPr/>
        </p:nvSpPr>
        <p:spPr>
          <a:xfrm>
            <a:off x="4810281" y="2518410"/>
            <a:ext cx="2591373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9" name="Shape 16"/>
          <p:cNvSpPr/>
          <p:nvPr/>
        </p:nvSpPr>
        <p:spPr>
          <a:xfrm>
            <a:off x="4753131" y="2485072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0" name="Shape 17"/>
          <p:cNvSpPr/>
          <p:nvPr/>
        </p:nvSpPr>
        <p:spPr>
          <a:xfrm>
            <a:off x="7344505" y="2485072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1" name="Text 18"/>
          <p:cNvSpPr/>
          <p:nvPr/>
        </p:nvSpPr>
        <p:spPr>
          <a:xfrm>
            <a:off x="7496905" y="2456497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0.111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1047750" y="272891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50대</a:t>
            </a:r>
            <a:endParaRPr lang="en-US" sz="790" dirty="0"/>
          </a:p>
        </p:txBody>
      </p:sp>
      <p:sp>
        <p:nvSpPr>
          <p:cNvPr id="23" name="Shape 20"/>
          <p:cNvSpPr/>
          <p:nvPr/>
        </p:nvSpPr>
        <p:spPr>
          <a:xfrm>
            <a:off x="3588149" y="2790825"/>
            <a:ext cx="321828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4" name="Shape 21"/>
          <p:cNvSpPr/>
          <p:nvPr/>
        </p:nvSpPr>
        <p:spPr>
          <a:xfrm>
            <a:off x="3530999" y="275748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5" name="Shape 22"/>
          <p:cNvSpPr/>
          <p:nvPr/>
        </p:nvSpPr>
        <p:spPr>
          <a:xfrm>
            <a:off x="3852827" y="275748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6" name="Text 23"/>
          <p:cNvSpPr/>
          <p:nvPr/>
        </p:nvSpPr>
        <p:spPr>
          <a:xfrm>
            <a:off x="4005227" y="272891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0.034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1047750" y="300132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20대</a:t>
            </a:r>
            <a:endParaRPr lang="en-US" sz="790" dirty="0"/>
          </a:p>
        </p:txBody>
      </p:sp>
      <p:sp>
        <p:nvSpPr>
          <p:cNvPr id="28" name="Shape 25"/>
          <p:cNvSpPr/>
          <p:nvPr/>
        </p:nvSpPr>
        <p:spPr>
          <a:xfrm>
            <a:off x="2526252" y="3063240"/>
            <a:ext cx="134887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9" name="Shape 26"/>
          <p:cNvSpPr/>
          <p:nvPr/>
        </p:nvSpPr>
        <p:spPr>
          <a:xfrm>
            <a:off x="2469102" y="302990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0" name="Shape 27"/>
          <p:cNvSpPr/>
          <p:nvPr/>
        </p:nvSpPr>
        <p:spPr>
          <a:xfrm>
            <a:off x="2603989" y="302990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1" name="Text 28"/>
          <p:cNvSpPr/>
          <p:nvPr/>
        </p:nvSpPr>
        <p:spPr>
          <a:xfrm>
            <a:off x="2756389" y="300132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0.006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1047750" y="327374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20대</a:t>
            </a:r>
            <a:endParaRPr lang="en-US" sz="790" dirty="0"/>
          </a:p>
        </p:txBody>
      </p:sp>
      <p:sp>
        <p:nvSpPr>
          <p:cNvPr id="33" name="Shape 30"/>
          <p:cNvSpPr/>
          <p:nvPr/>
        </p:nvSpPr>
        <p:spPr>
          <a:xfrm>
            <a:off x="2457450" y="3335655"/>
            <a:ext cx="103202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4" name="Shape 31"/>
          <p:cNvSpPr/>
          <p:nvPr/>
        </p:nvSpPr>
        <p:spPr>
          <a:xfrm>
            <a:off x="2400300" y="330231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5" name="Shape 32"/>
          <p:cNvSpPr/>
          <p:nvPr/>
        </p:nvSpPr>
        <p:spPr>
          <a:xfrm>
            <a:off x="2503502" y="330231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6" name="Text 33"/>
          <p:cNvSpPr/>
          <p:nvPr/>
        </p:nvSpPr>
        <p:spPr>
          <a:xfrm>
            <a:off x="2655902" y="327374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0.004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1047750" y="354615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40대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2649823" y="3608070"/>
            <a:ext cx="91886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9" name="Shape 36"/>
          <p:cNvSpPr/>
          <p:nvPr/>
        </p:nvSpPr>
        <p:spPr>
          <a:xfrm>
            <a:off x="2592673" y="357473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0" name="Shape 37"/>
          <p:cNvSpPr/>
          <p:nvPr/>
        </p:nvSpPr>
        <p:spPr>
          <a:xfrm>
            <a:off x="2684559" y="357473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1" name="Text 38"/>
          <p:cNvSpPr/>
          <p:nvPr/>
        </p:nvSpPr>
        <p:spPr>
          <a:xfrm>
            <a:off x="2836959" y="354615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0.008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1047750" y="381857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40대</a:t>
            </a:r>
            <a:endParaRPr lang="en-US" sz="790" dirty="0"/>
          </a:p>
        </p:txBody>
      </p:sp>
      <p:sp>
        <p:nvSpPr>
          <p:cNvPr id="43" name="Shape 40"/>
          <p:cNvSpPr/>
          <p:nvPr/>
        </p:nvSpPr>
        <p:spPr>
          <a:xfrm>
            <a:off x="2719530" y="3880485"/>
            <a:ext cx="81023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44" name="Shape 41"/>
          <p:cNvSpPr/>
          <p:nvPr/>
        </p:nvSpPr>
        <p:spPr>
          <a:xfrm>
            <a:off x="2662380" y="384714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5" name="Shape 42"/>
          <p:cNvSpPr/>
          <p:nvPr/>
        </p:nvSpPr>
        <p:spPr>
          <a:xfrm>
            <a:off x="2743402" y="384714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6" name="Text 43"/>
          <p:cNvSpPr/>
          <p:nvPr/>
        </p:nvSpPr>
        <p:spPr>
          <a:xfrm>
            <a:off x="2895802" y="381857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0.009</a:t>
            </a:r>
            <a:endParaRPr lang="en-US" sz="790" dirty="0"/>
          </a:p>
        </p:txBody>
      </p:sp>
      <p:sp>
        <p:nvSpPr>
          <p:cNvPr id="47" name="Text 44"/>
          <p:cNvSpPr/>
          <p:nvPr/>
        </p:nvSpPr>
        <p:spPr>
          <a:xfrm>
            <a:off x="1047750" y="409098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30대</a:t>
            </a:r>
            <a:endParaRPr lang="en-US" sz="790" dirty="0"/>
          </a:p>
        </p:txBody>
      </p:sp>
      <p:sp>
        <p:nvSpPr>
          <p:cNvPr id="48" name="Shape 45"/>
          <p:cNvSpPr/>
          <p:nvPr/>
        </p:nvSpPr>
        <p:spPr>
          <a:xfrm>
            <a:off x="2613611" y="4152900"/>
            <a:ext cx="47980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49" name="Shape 46"/>
          <p:cNvSpPr/>
          <p:nvPr/>
        </p:nvSpPr>
        <p:spPr>
          <a:xfrm>
            <a:off x="2556461" y="411956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50" name="Shape 47"/>
          <p:cNvSpPr/>
          <p:nvPr/>
        </p:nvSpPr>
        <p:spPr>
          <a:xfrm>
            <a:off x="2604441" y="411956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51" name="Text 48"/>
          <p:cNvSpPr/>
          <p:nvPr/>
        </p:nvSpPr>
        <p:spPr>
          <a:xfrm>
            <a:off x="2756841" y="409098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0.006</a:t>
            </a:r>
            <a:endParaRPr lang="en-US" sz="790" dirty="0"/>
          </a:p>
        </p:txBody>
      </p:sp>
      <p:sp>
        <p:nvSpPr>
          <p:cNvPr id="52" name="Text 49"/>
          <p:cNvSpPr/>
          <p:nvPr/>
        </p:nvSpPr>
        <p:spPr>
          <a:xfrm>
            <a:off x="1047750" y="436340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30대</a:t>
            </a:r>
            <a:endParaRPr lang="en-US" sz="790" dirty="0"/>
          </a:p>
        </p:txBody>
      </p:sp>
      <p:sp>
        <p:nvSpPr>
          <p:cNvPr id="53" name="Shape 50"/>
          <p:cNvSpPr/>
          <p:nvPr/>
        </p:nvSpPr>
        <p:spPr>
          <a:xfrm>
            <a:off x="2598222" y="4425315"/>
            <a:ext cx="14032" cy="47625"/>
          </a:xfrm>
          <a:prstGeom prst="roundRect">
            <a:avLst>
              <a:gd name="adj" fmla="val 169701"/>
            </a:avLst>
          </a:prstGeom>
          <a:solidFill>
            <a:srgbClr val="CFCFDA"/>
          </a:solidFill>
          <a:ln/>
        </p:spPr>
      </p:sp>
      <p:sp>
        <p:nvSpPr>
          <p:cNvPr id="54" name="Shape 51"/>
          <p:cNvSpPr/>
          <p:nvPr/>
        </p:nvSpPr>
        <p:spPr>
          <a:xfrm>
            <a:off x="2555103" y="439197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55" name="Shape 52"/>
          <p:cNvSpPr/>
          <p:nvPr/>
        </p:nvSpPr>
        <p:spPr>
          <a:xfrm>
            <a:off x="2541072" y="439197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56" name="Text 53"/>
          <p:cNvSpPr/>
          <p:nvPr/>
        </p:nvSpPr>
        <p:spPr>
          <a:xfrm>
            <a:off x="2707503" y="436340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0.005</a:t>
            </a:r>
            <a:endParaRPr lang="en-US" sz="790" dirty="0"/>
          </a:p>
        </p:txBody>
      </p:sp>
      <p:sp>
        <p:nvSpPr>
          <p:cNvPr id="57" name="Text 54"/>
          <p:cNvSpPr/>
          <p:nvPr/>
        </p:nvSpPr>
        <p:spPr>
          <a:xfrm>
            <a:off x="1047750" y="463581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50대</a:t>
            </a:r>
            <a:endParaRPr lang="en-US" sz="790" dirty="0"/>
          </a:p>
        </p:txBody>
      </p:sp>
      <p:sp>
        <p:nvSpPr>
          <p:cNvPr id="58" name="Shape 55"/>
          <p:cNvSpPr/>
          <p:nvPr/>
        </p:nvSpPr>
        <p:spPr>
          <a:xfrm>
            <a:off x="3482231" y="4697730"/>
            <a:ext cx="180151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59" name="Shape 56"/>
          <p:cNvSpPr/>
          <p:nvPr/>
        </p:nvSpPr>
        <p:spPr>
          <a:xfrm>
            <a:off x="3605232" y="466439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60" name="Shape 57"/>
          <p:cNvSpPr/>
          <p:nvPr/>
        </p:nvSpPr>
        <p:spPr>
          <a:xfrm>
            <a:off x="3425081" y="466439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61" name="Text 58"/>
          <p:cNvSpPr/>
          <p:nvPr/>
        </p:nvSpPr>
        <p:spPr>
          <a:xfrm>
            <a:off x="3757632" y="463581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0.024</a:t>
            </a:r>
            <a:endParaRPr lang="en-US" sz="790" dirty="0"/>
          </a:p>
        </p:txBody>
      </p:sp>
      <p:sp>
        <p:nvSpPr>
          <p:cNvPr id="62" name="Text 59"/>
          <p:cNvSpPr/>
          <p:nvPr/>
        </p:nvSpPr>
        <p:spPr>
          <a:xfrm>
            <a:off x="914400" y="491490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세그먼트별 연평균 시청률 · 증가폭이 큰 순서</a:t>
            </a:r>
            <a:endParaRPr lang="en-US" sz="860" dirty="0"/>
          </a:p>
        </p:txBody>
      </p:sp>
      <p:sp>
        <p:nvSpPr>
          <p:cNvPr id="63" name="Text 60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남 60대+ 0.091 → 0.162, 여 60대+ 0.053 → 0.111 두 세그먼트가 전체 증가폭의 절대다수를 차지함.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50대(-14.2%)와 남 30대(-6.2%)는 오히려 감소함.</a:t>
            </a:r>
            <a:endParaRPr lang="en-US" sz="11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시청자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증가율이 아니라 증가폭으로 봐야 함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66900"/>
          <a:ext cx="5334000" cy="914400"/>
        </p:xfrm>
        <a:graphic>
          <a:graphicData uri="http://schemas.openxmlformats.org/drawingml/2006/table">
            <a:tbl>
              <a:tblPr/>
              <a:tblGrid>
                <a:gridCol w="1454727"/>
                <a:gridCol w="969818"/>
                <a:gridCol w="969818"/>
                <a:gridCol w="969818"/>
                <a:gridCol w="969818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세그먼트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2024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증가율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남 60대+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0.091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0.162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+77.5%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여 60대+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+107.2%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남 50대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0.037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0.034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+26.9%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여 20대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+101.1%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남 20대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+160.0%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여 40대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+35.8%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남 40대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+24.8%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여 30대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+21.6%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남 30대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0.005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-6.2%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여 50대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0.030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-14.2%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667500" y="1866900"/>
            <a:ext cx="4610100" cy="1123950"/>
          </a:xfrm>
          <a:prstGeom prst="roundRect">
            <a:avLst>
              <a:gd name="adj" fmla="val 11864"/>
            </a:avLst>
          </a:prstGeom>
          <a:solidFill>
            <a:srgbClr val="FBF3E4"/>
          </a:solidFill>
          <a:ln w="12700">
            <a:solidFill>
              <a:srgbClr val="EFDFC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96100" y="2057400"/>
            <a:ext cx="419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98A1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증가율의 함정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896100" y="23241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9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남 20대는 +160.0%로 증가율이 가장 높지만, 절대 시청률은 0.001 → 0.004 수준임. 같은 기간 남 60대+는 0.092 → 0.162로 올라, 증가폭으로 보면 31배 차이임.</a:t>
            </a:r>
            <a:endParaRPr lang="en-US" sz="1090" dirty="0"/>
          </a:p>
        </p:txBody>
      </p:sp>
      <p:sp>
        <p:nvSpPr>
          <p:cNvPr id="11" name="Shape 7"/>
          <p:cNvSpPr/>
          <p:nvPr/>
        </p:nvSpPr>
        <p:spPr>
          <a:xfrm>
            <a:off x="6667500" y="33051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2" name="Text 8"/>
          <p:cNvSpPr/>
          <p:nvPr/>
        </p:nvSpPr>
        <p:spPr>
          <a:xfrm>
            <a:off x="6800850" y="32385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20~30대는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비율은 크고 규모는 작음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. 성장 서사의 주인공이 아님</a:t>
            </a:r>
            <a:endParaRPr lang="en-US" sz="1160" dirty="0"/>
          </a:p>
        </p:txBody>
      </p:sp>
      <p:sp>
        <p:nvSpPr>
          <p:cNvPr id="13" name="Shape 9"/>
          <p:cNvSpPr/>
          <p:nvPr/>
        </p:nvSpPr>
        <p:spPr>
          <a:xfrm>
            <a:off x="6667500" y="37433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4" name="Text 10"/>
          <p:cNvSpPr/>
          <p:nvPr/>
        </p:nvSpPr>
        <p:spPr>
          <a:xfrm>
            <a:off x="6800850" y="36766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여 50대는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0.028 → 0.024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줄어듦 — 관리가 필요한 신호임</a:t>
            </a:r>
            <a:endParaRPr lang="en-US" sz="11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시청자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시청층 구성이 60대 이상으로 더 기울었음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5334000" cy="304800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181100" y="1962150"/>
          <a:ext cx="1905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1181100" y="2679383"/>
            <a:ext cx="1905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64%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1181100" y="299389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8B949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60대 이상</a:t>
            </a:r>
            <a:endParaRPr lang="en-US" sz="980" dirty="0"/>
          </a:p>
        </p:txBody>
      </p:sp>
      <p:sp>
        <p:nvSpPr>
          <p:cNvPr id="11" name="Text 7"/>
          <p:cNvSpPr/>
          <p:nvPr/>
        </p:nvSpPr>
        <p:spPr>
          <a:xfrm>
            <a:off x="1181100" y="3886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980" dirty="0"/>
          </a:p>
        </p:txBody>
      </p:sp>
      <p:graphicFrame>
        <p:nvGraphicFramePr>
          <p:cNvPr id="12" name="Chart 1" descr=""/>
          <p:cNvGraphicFramePr/>
          <p:nvPr/>
        </p:nvGraphicFramePr>
        <p:xfrm>
          <a:off x="3619500" y="1962150"/>
          <a:ext cx="1905000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3619500" y="2679383"/>
            <a:ext cx="1905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74.3%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3619500" y="2993898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8B949B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60대 이상</a:t>
            </a:r>
            <a:endParaRPr lang="en-US" sz="980" dirty="0"/>
          </a:p>
        </p:txBody>
      </p:sp>
      <p:sp>
        <p:nvSpPr>
          <p:cNvPr id="15" name="Text 10"/>
          <p:cNvSpPr/>
          <p:nvPr/>
        </p:nvSpPr>
        <p:spPr>
          <a:xfrm>
            <a:off x="3619500" y="388620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1181100" y="423862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2C24CE"/>
          </a:solidFill>
          <a:ln/>
        </p:spPr>
      </p:sp>
      <p:sp>
        <p:nvSpPr>
          <p:cNvPr id="17" name="Text 12"/>
          <p:cNvSpPr/>
          <p:nvPr/>
        </p:nvSpPr>
        <p:spPr>
          <a:xfrm>
            <a:off x="1352550" y="4191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60대+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2209800" y="41910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40.4% → 44.2%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733800" y="423862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6F69E2"/>
          </a:solidFill>
          <a:ln/>
        </p:spPr>
      </p:sp>
      <p:sp>
        <p:nvSpPr>
          <p:cNvPr id="20" name="Text 15"/>
          <p:cNvSpPr/>
          <p:nvPr/>
        </p:nvSpPr>
        <p:spPr>
          <a:xfrm>
            <a:off x="3905250" y="4191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60대+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62500" y="41910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23.6% → 30.1%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1181100" y="446722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A6A2EE"/>
          </a:solidFill>
          <a:ln/>
        </p:spPr>
      </p:sp>
      <p:sp>
        <p:nvSpPr>
          <p:cNvPr id="23" name="Text 18"/>
          <p:cNvSpPr/>
          <p:nvPr/>
        </p:nvSpPr>
        <p:spPr>
          <a:xfrm>
            <a:off x="1352550" y="44196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50대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2209800" y="44196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24.1% → 15.6%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3733800" y="4467225"/>
            <a:ext cx="104775" cy="104775"/>
          </a:xfrm>
          <a:prstGeom prst="roundRect">
            <a:avLst>
              <a:gd name="adj" fmla="val 27273"/>
            </a:avLst>
          </a:prstGeom>
          <a:solidFill>
            <a:srgbClr val="A6A2EE"/>
          </a:solidFill>
          <a:ln/>
        </p:spPr>
      </p:sp>
      <p:sp>
        <p:nvSpPr>
          <p:cNvPr id="26" name="Text 21"/>
          <p:cNvSpPr/>
          <p:nvPr/>
        </p:nvSpPr>
        <p:spPr>
          <a:xfrm>
            <a:off x="3905250" y="44196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40대 이하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762500" y="44196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11.9% → 10.0%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914400" y="47053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10개 세그먼트 시청률 합에서 각 그룹이 차지하는 비중</a:t>
            </a:r>
            <a:endParaRPr lang="en-US" sz="860" dirty="0"/>
          </a:p>
        </p:txBody>
      </p:sp>
      <p:sp>
        <p:nvSpPr>
          <p:cNvPr id="29" name="Text 24"/>
          <p:cNvSpPr/>
          <p:nvPr/>
        </p:nvSpPr>
        <p:spPr>
          <a:xfrm>
            <a:off x="6629400" y="1962150"/>
            <a:ext cx="464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A6A6B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64%</a:t>
            </a:r>
            <a:pPr algn="ctr" indent="0" marL="0">
              <a:buNone/>
            </a:pPr>
            <a:r>
              <a:rPr lang="en-US" sz="1950" dirty="0">
                <a:solidFill>
                  <a:srgbClr val="CFCFD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  →  </a:t>
            </a:r>
            <a:pPr algn="ctr" indent="0" marL="0">
              <a:buNone/>
            </a:pPr>
            <a:r>
              <a:rPr lang="en-US" sz="36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74.3%</a:t>
            </a:r>
            <a:endParaRPr lang="en-US" sz="3600" dirty="0"/>
          </a:p>
        </p:txBody>
      </p:sp>
      <p:sp>
        <p:nvSpPr>
          <p:cNvPr id="30" name="Text 25"/>
          <p:cNvSpPr/>
          <p:nvPr/>
        </p:nvSpPr>
        <p:spPr>
          <a:xfrm>
            <a:off x="6629400" y="2647950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60대 이상 시청 비중 (2024 → 2026)</a:t>
            </a:r>
            <a:endParaRPr lang="en-US" sz="1010" dirty="0"/>
          </a:p>
        </p:txBody>
      </p:sp>
      <p:sp>
        <p:nvSpPr>
          <p:cNvPr id="31" name="Shape 26"/>
          <p:cNvSpPr/>
          <p:nvPr/>
        </p:nvSpPr>
        <p:spPr>
          <a:xfrm>
            <a:off x="6629400" y="31337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32" name="Text 27"/>
          <p:cNvSpPr/>
          <p:nvPr/>
        </p:nvSpPr>
        <p:spPr>
          <a:xfrm>
            <a:off x="6762750" y="30670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60대+ 비중이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64% → 74.3%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10.3%p 올라감</a:t>
            </a:r>
            <a:endParaRPr lang="en-US" sz="1160" dirty="0"/>
          </a:p>
        </p:txBody>
      </p:sp>
      <p:sp>
        <p:nvSpPr>
          <p:cNvPr id="33" name="Shape 28"/>
          <p:cNvSpPr/>
          <p:nvPr/>
        </p:nvSpPr>
        <p:spPr>
          <a:xfrm>
            <a:off x="6629400" y="35528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34" name="Text 29"/>
          <p:cNvSpPr/>
          <p:nvPr/>
        </p:nvSpPr>
        <p:spPr>
          <a:xfrm>
            <a:off x="6762750" y="34861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50대 비중은 24.1% → 15.6%로 줄어듦</a:t>
            </a:r>
            <a:endParaRPr lang="en-US" sz="1160" dirty="0"/>
          </a:p>
        </p:txBody>
      </p:sp>
      <p:sp>
        <p:nvSpPr>
          <p:cNvPr id="35" name="Shape 30"/>
          <p:cNvSpPr/>
          <p:nvPr/>
        </p:nvSpPr>
        <p:spPr>
          <a:xfrm>
            <a:off x="6629400" y="39719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36" name="Text 31"/>
          <p:cNvSpPr/>
          <p:nvPr/>
        </p:nvSpPr>
        <p:spPr>
          <a:xfrm>
            <a:off x="6762750" y="39052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OLIFE는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고연령 중심 채널로 더 뚜렷해졌음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— 강점이자 편중 리스크임</a:t>
            </a:r>
            <a:endParaRPr lang="en-US" sz="11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시청자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핵심 시청층은 시청시간이 45~55% 늘었음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371850"/>
          </a:xfrm>
          <a:prstGeom prst="roundRect">
            <a:avLst>
              <a:gd name="adj" fmla="val 395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57450" y="1962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9" name="Text 6"/>
          <p:cNvSpPr/>
          <p:nvPr/>
        </p:nvSpPr>
        <p:spPr>
          <a:xfrm>
            <a:off x="2609850" y="1905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562350" y="19621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11" name="Text 8"/>
          <p:cNvSpPr/>
          <p:nvPr/>
        </p:nvSpPr>
        <p:spPr>
          <a:xfrm>
            <a:off x="3714750" y="1905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7750" y="218408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60대+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6807820" y="2245995"/>
            <a:ext cx="2936255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4" name="Shape 11"/>
          <p:cNvSpPr/>
          <p:nvPr/>
        </p:nvSpPr>
        <p:spPr>
          <a:xfrm>
            <a:off x="6750670" y="221265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15" name="Shape 12"/>
          <p:cNvSpPr/>
          <p:nvPr/>
        </p:nvSpPr>
        <p:spPr>
          <a:xfrm>
            <a:off x="9686925" y="221265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16" name="Text 13"/>
          <p:cNvSpPr/>
          <p:nvPr/>
        </p:nvSpPr>
        <p:spPr>
          <a:xfrm>
            <a:off x="9839325" y="218408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47:43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1047750" y="2456497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60대+</a:t>
            </a:r>
            <a:endParaRPr lang="en-US" sz="790" dirty="0"/>
          </a:p>
        </p:txBody>
      </p:sp>
      <p:sp>
        <p:nvSpPr>
          <p:cNvPr id="18" name="Shape 15"/>
          <p:cNvSpPr/>
          <p:nvPr/>
        </p:nvSpPr>
        <p:spPr>
          <a:xfrm>
            <a:off x="6130223" y="2518410"/>
            <a:ext cx="3178487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9" name="Shape 16"/>
          <p:cNvSpPr/>
          <p:nvPr/>
        </p:nvSpPr>
        <p:spPr>
          <a:xfrm>
            <a:off x="6073073" y="2485072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0" name="Shape 17"/>
          <p:cNvSpPr/>
          <p:nvPr/>
        </p:nvSpPr>
        <p:spPr>
          <a:xfrm>
            <a:off x="9251561" y="2485072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1" name="Text 18"/>
          <p:cNvSpPr/>
          <p:nvPr/>
        </p:nvSpPr>
        <p:spPr>
          <a:xfrm>
            <a:off x="9403961" y="2456497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45:30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1047750" y="272891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30대</a:t>
            </a:r>
            <a:endParaRPr lang="en-US" sz="790" dirty="0"/>
          </a:p>
        </p:txBody>
      </p:sp>
      <p:sp>
        <p:nvSpPr>
          <p:cNvPr id="23" name="Shape 20"/>
          <p:cNvSpPr/>
          <p:nvPr/>
        </p:nvSpPr>
        <p:spPr>
          <a:xfrm>
            <a:off x="3973042" y="2790825"/>
            <a:ext cx="1558146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4" name="Shape 21"/>
          <p:cNvSpPr/>
          <p:nvPr/>
        </p:nvSpPr>
        <p:spPr>
          <a:xfrm>
            <a:off x="3915892" y="275748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5" name="Shape 22"/>
          <p:cNvSpPr/>
          <p:nvPr/>
        </p:nvSpPr>
        <p:spPr>
          <a:xfrm>
            <a:off x="5474038" y="275748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6" name="Text 23"/>
          <p:cNvSpPr/>
          <p:nvPr/>
        </p:nvSpPr>
        <p:spPr>
          <a:xfrm>
            <a:off x="5626438" y="272891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26:16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1047750" y="300132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20대</a:t>
            </a:r>
            <a:endParaRPr lang="en-US" sz="790" dirty="0"/>
          </a:p>
        </p:txBody>
      </p:sp>
      <p:sp>
        <p:nvSpPr>
          <p:cNvPr id="28" name="Shape 25"/>
          <p:cNvSpPr/>
          <p:nvPr/>
        </p:nvSpPr>
        <p:spPr>
          <a:xfrm>
            <a:off x="2882994" y="3063240"/>
            <a:ext cx="2553265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9" name="Shape 26"/>
          <p:cNvSpPr/>
          <p:nvPr/>
        </p:nvSpPr>
        <p:spPr>
          <a:xfrm>
            <a:off x="2825844" y="302990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0" name="Shape 27"/>
          <p:cNvSpPr/>
          <p:nvPr/>
        </p:nvSpPr>
        <p:spPr>
          <a:xfrm>
            <a:off x="5379109" y="302990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1" name="Text 28"/>
          <p:cNvSpPr/>
          <p:nvPr/>
        </p:nvSpPr>
        <p:spPr>
          <a:xfrm>
            <a:off x="5531509" y="300132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25:47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1047750" y="327374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50대</a:t>
            </a:r>
            <a:endParaRPr lang="en-US" sz="790" dirty="0"/>
          </a:p>
        </p:txBody>
      </p:sp>
      <p:sp>
        <p:nvSpPr>
          <p:cNvPr id="33" name="Shape 30"/>
          <p:cNvSpPr/>
          <p:nvPr/>
        </p:nvSpPr>
        <p:spPr>
          <a:xfrm>
            <a:off x="5187479" y="3335655"/>
            <a:ext cx="52375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4" name="Shape 31"/>
          <p:cNvSpPr/>
          <p:nvPr/>
        </p:nvSpPr>
        <p:spPr>
          <a:xfrm>
            <a:off x="5130329" y="330231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5" name="Shape 32"/>
          <p:cNvSpPr/>
          <p:nvPr/>
        </p:nvSpPr>
        <p:spPr>
          <a:xfrm>
            <a:off x="5182704" y="330231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6" name="Text 33"/>
          <p:cNvSpPr/>
          <p:nvPr/>
        </p:nvSpPr>
        <p:spPr>
          <a:xfrm>
            <a:off x="5335104" y="327374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24:47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1047750" y="354615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50대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4316751" y="3608070"/>
            <a:ext cx="808534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9" name="Shape 36"/>
          <p:cNvSpPr/>
          <p:nvPr/>
        </p:nvSpPr>
        <p:spPr>
          <a:xfrm>
            <a:off x="4259601" y="357473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0" name="Shape 37"/>
          <p:cNvSpPr/>
          <p:nvPr/>
        </p:nvSpPr>
        <p:spPr>
          <a:xfrm>
            <a:off x="5068134" y="357473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1" name="Text 38"/>
          <p:cNvSpPr/>
          <p:nvPr/>
        </p:nvSpPr>
        <p:spPr>
          <a:xfrm>
            <a:off x="5220534" y="354615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24:12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1047750" y="381857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40대</a:t>
            </a:r>
            <a:endParaRPr lang="en-US" sz="790" dirty="0"/>
          </a:p>
        </p:txBody>
      </p:sp>
      <p:sp>
        <p:nvSpPr>
          <p:cNvPr id="43" name="Shape 40"/>
          <p:cNvSpPr/>
          <p:nvPr/>
        </p:nvSpPr>
        <p:spPr>
          <a:xfrm>
            <a:off x="3403467" y="3880485"/>
            <a:ext cx="903463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44" name="Shape 41"/>
          <p:cNvSpPr/>
          <p:nvPr/>
        </p:nvSpPr>
        <p:spPr>
          <a:xfrm>
            <a:off x="3346317" y="384714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5" name="Shape 42"/>
          <p:cNvSpPr/>
          <p:nvPr/>
        </p:nvSpPr>
        <p:spPr>
          <a:xfrm>
            <a:off x="4249780" y="384714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6" name="Text 43"/>
          <p:cNvSpPr/>
          <p:nvPr/>
        </p:nvSpPr>
        <p:spPr>
          <a:xfrm>
            <a:off x="4402180" y="381857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20:02</a:t>
            </a:r>
            <a:endParaRPr lang="en-US" sz="790" dirty="0"/>
          </a:p>
        </p:txBody>
      </p:sp>
      <p:sp>
        <p:nvSpPr>
          <p:cNvPr id="47" name="Text 44"/>
          <p:cNvSpPr/>
          <p:nvPr/>
        </p:nvSpPr>
        <p:spPr>
          <a:xfrm>
            <a:off x="1047750" y="409098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40대</a:t>
            </a:r>
            <a:endParaRPr lang="en-US" sz="790" dirty="0"/>
          </a:p>
        </p:txBody>
      </p:sp>
      <p:sp>
        <p:nvSpPr>
          <p:cNvPr id="48" name="Shape 45"/>
          <p:cNvSpPr/>
          <p:nvPr/>
        </p:nvSpPr>
        <p:spPr>
          <a:xfrm>
            <a:off x="3662067" y="4152900"/>
            <a:ext cx="409177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49" name="Shape 46"/>
          <p:cNvSpPr/>
          <p:nvPr/>
        </p:nvSpPr>
        <p:spPr>
          <a:xfrm>
            <a:off x="3604917" y="411956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50" name="Shape 47"/>
          <p:cNvSpPr/>
          <p:nvPr/>
        </p:nvSpPr>
        <p:spPr>
          <a:xfrm>
            <a:off x="4014094" y="411956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51" name="Text 48"/>
          <p:cNvSpPr/>
          <p:nvPr/>
        </p:nvSpPr>
        <p:spPr>
          <a:xfrm>
            <a:off x="4166494" y="409098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18:50</a:t>
            </a:r>
            <a:endParaRPr lang="en-US" sz="790" dirty="0"/>
          </a:p>
        </p:txBody>
      </p:sp>
      <p:sp>
        <p:nvSpPr>
          <p:cNvPr id="52" name="Text 49"/>
          <p:cNvSpPr/>
          <p:nvPr/>
        </p:nvSpPr>
        <p:spPr>
          <a:xfrm>
            <a:off x="1047750" y="4363403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30대</a:t>
            </a:r>
            <a:endParaRPr lang="en-US" sz="790" dirty="0"/>
          </a:p>
        </p:txBody>
      </p:sp>
      <p:sp>
        <p:nvSpPr>
          <p:cNvPr id="53" name="Shape 50"/>
          <p:cNvSpPr/>
          <p:nvPr/>
        </p:nvSpPr>
        <p:spPr>
          <a:xfrm>
            <a:off x="3812644" y="4425315"/>
            <a:ext cx="134210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54" name="Shape 51"/>
          <p:cNvSpPr/>
          <p:nvPr/>
        </p:nvSpPr>
        <p:spPr>
          <a:xfrm>
            <a:off x="3755494" y="4391978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55" name="Shape 52"/>
          <p:cNvSpPr/>
          <p:nvPr/>
        </p:nvSpPr>
        <p:spPr>
          <a:xfrm>
            <a:off x="3889704" y="4391978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56" name="Text 53"/>
          <p:cNvSpPr/>
          <p:nvPr/>
        </p:nvSpPr>
        <p:spPr>
          <a:xfrm>
            <a:off x="4042104" y="4363403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18:12</a:t>
            </a:r>
            <a:endParaRPr lang="en-US" sz="790" dirty="0"/>
          </a:p>
        </p:txBody>
      </p:sp>
      <p:sp>
        <p:nvSpPr>
          <p:cNvPr id="57" name="Text 54"/>
          <p:cNvSpPr/>
          <p:nvPr/>
        </p:nvSpPr>
        <p:spPr>
          <a:xfrm>
            <a:off x="1047750" y="463581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 20대</a:t>
            </a:r>
            <a:endParaRPr lang="en-US" sz="790" dirty="0"/>
          </a:p>
        </p:txBody>
      </p:sp>
      <p:sp>
        <p:nvSpPr>
          <p:cNvPr id="58" name="Shape 55"/>
          <p:cNvSpPr/>
          <p:nvPr/>
        </p:nvSpPr>
        <p:spPr>
          <a:xfrm>
            <a:off x="2457450" y="4697730"/>
            <a:ext cx="1430483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59" name="Shape 56"/>
          <p:cNvSpPr/>
          <p:nvPr/>
        </p:nvSpPr>
        <p:spPr>
          <a:xfrm>
            <a:off x="2400300" y="466439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60" name="Shape 57"/>
          <p:cNvSpPr/>
          <p:nvPr/>
        </p:nvSpPr>
        <p:spPr>
          <a:xfrm>
            <a:off x="3830783" y="466439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61" name="Text 58"/>
          <p:cNvSpPr/>
          <p:nvPr/>
        </p:nvSpPr>
        <p:spPr>
          <a:xfrm>
            <a:off x="3983183" y="463581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17:54</a:t>
            </a:r>
            <a:endParaRPr lang="en-US" sz="790" dirty="0"/>
          </a:p>
        </p:txBody>
      </p:sp>
      <p:sp>
        <p:nvSpPr>
          <p:cNvPr id="62" name="Text 59"/>
          <p:cNvSpPr/>
          <p:nvPr/>
        </p:nvSpPr>
        <p:spPr>
          <a:xfrm>
            <a:off x="914400" y="491490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세그먼트별 1인당 평균 시청시간 (분:초)</a:t>
            </a:r>
            <a:endParaRPr lang="en-US" sz="860" dirty="0"/>
          </a:p>
        </p:txBody>
      </p:sp>
      <p:sp>
        <p:nvSpPr>
          <p:cNvPr id="63" name="Text 60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남 60대+ 32분 46초 → 47분 43초(+45.6%), 여 60대+ 29분 19초 → 45분 30초(+55.2%).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 심화가 핵심층에서 가장 크게 일어남.</a:t>
            </a:r>
            <a:endParaRPr lang="en-US" sz="11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 시청자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60대 이상 두 세그먼트의 33개월 궤적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200400"/>
          </a:xfrm>
          <a:prstGeom prst="roundRect">
            <a:avLst>
              <a:gd name="adj" fmla="val 416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990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3530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여 60대+는 2026년 들어 남 50대·여 50대를 크게 앞질렀음.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50대와 60대+의 격차가 벌어지는 구조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</a:t>
            </a:r>
            <a:endParaRPr lang="en-US" sz="11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39000" y="4800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260032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2495550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4장 · 시간과 채널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57500"/>
            <a:ext cx="1038225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언제, 어디서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더 보게 됐는가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2341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플랫폼 · 평일/주말 · 요일 · 시간대 · 요일×시간</a:t>
            </a:r>
            <a:endParaRPr lang="en-US" sz="12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성장은 케이블에서 가장 크게 일어났음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334000" cy="2609850"/>
          </a:xfrm>
          <a:prstGeom prst="roundRect">
            <a:avLst>
              <a:gd name="adj" fmla="val 5109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067300" cy="2171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2100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플랫폼별 시청률 증가율</a:t>
            </a:r>
            <a:endParaRPr lang="en-US" sz="86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05000"/>
          <a:ext cx="4648200" cy="914400"/>
        </p:xfrm>
        <a:graphic>
          <a:graphicData uri="http://schemas.openxmlformats.org/drawingml/2006/table">
            <a:tbl>
              <a:tblPr/>
              <a:tblGrid>
                <a:gridCol w="1162050"/>
                <a:gridCol w="1162050"/>
                <a:gridCol w="1162050"/>
                <a:gridCol w="1162050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플랫폼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2024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증가율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케이블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0.046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0.104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+123.1%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위성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0.307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0.520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+69.2%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IPTV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0.100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+15.9%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629400" y="36861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2" name="Text 7"/>
          <p:cNvSpPr/>
          <p:nvPr/>
        </p:nvSpPr>
        <p:spPr>
          <a:xfrm>
            <a:off x="6762750" y="361950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케이블 가구가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+123.1%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압도적임</a:t>
            </a:r>
            <a:endParaRPr lang="en-US" sz="1160" dirty="0"/>
          </a:p>
        </p:txBody>
      </p:sp>
      <p:sp>
        <p:nvSpPr>
          <p:cNvPr id="13" name="Shape 8"/>
          <p:cNvSpPr/>
          <p:nvPr/>
        </p:nvSpPr>
        <p:spPr>
          <a:xfrm>
            <a:off x="6629400" y="40100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4" name="Text 9"/>
          <p:cNvSpPr/>
          <p:nvPr/>
        </p:nvSpPr>
        <p:spPr>
          <a:xfrm>
            <a:off x="6762750" y="39433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위성 가구는 절대 수준이 가장 높음</a:t>
            </a:r>
            <a:endParaRPr lang="en-US" sz="1160" dirty="0"/>
          </a:p>
        </p:txBody>
      </p:sp>
      <p:sp>
        <p:nvSpPr>
          <p:cNvPr id="15" name="Shape 10"/>
          <p:cNvSpPr/>
          <p:nvPr/>
        </p:nvSpPr>
        <p:spPr>
          <a:xfrm>
            <a:off x="6629400" y="43338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6" name="Text 11"/>
          <p:cNvSpPr/>
          <p:nvPr/>
        </p:nvSpPr>
        <p:spPr>
          <a:xfrm>
            <a:off x="6762750" y="426720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IPTV는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+15.9%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상대적으로 완만함</a:t>
            </a:r>
            <a:endParaRPr lang="en-US" sz="1160" dirty="0"/>
          </a:p>
        </p:txBody>
      </p:sp>
      <p:sp>
        <p:nvSpPr>
          <p:cNvPr id="17" name="Text 12"/>
          <p:cNvSpPr/>
          <p:nvPr/>
        </p:nvSpPr>
        <p:spPr>
          <a:xfrm>
            <a:off x="914400" y="487680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월별 플랫폼별 지표 · 케이블아날로그는 결측 구간이 있어 제외함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플랫폼별 33개월 추이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200400"/>
          </a:xfrm>
          <a:prstGeom prst="roundRect">
            <a:avLst>
              <a:gd name="adj" fmla="val 416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990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위성 가구는 절대 수준이 다른 플랫폼의 5배 수준이라 같은 축에서 보면 변동이 커 보임.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 플랫폼 모두 2026년 4월 이후 동시에 상승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했다는 점이 중요함 — 특정 플랫폼 이벤트가 아니라 편성 효과로 볼 근거임.</a:t>
            </a:r>
            <a:endParaRPr lang="en-US" sz="11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주말이 더 강해졌고, 격차도 벌어졌음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143500" cy="2667000"/>
          </a:xfrm>
          <a:prstGeom prst="roundRect">
            <a:avLst>
              <a:gd name="adj" fmla="val 5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4876800" cy="2457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667500" y="19050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667500" y="2057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8586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1.148배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67500" y="23812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2024년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229600" y="19050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229600" y="2057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585866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1.156배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229600" y="23812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9791700" y="1905000"/>
            <a:ext cx="1428750" cy="7620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791700" y="2057400"/>
            <a:ext cx="1428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1.182배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791700" y="23812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DCBF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667500" y="2743200"/>
            <a:ext cx="455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주말 프리미엄 (주말 ÷ 근무주 시청률)</a:t>
            </a:r>
            <a:endParaRPr lang="en-US" sz="1010" dirty="0"/>
          </a:p>
        </p:txBody>
      </p:sp>
      <p:sp>
        <p:nvSpPr>
          <p:cNvPr id="19" name="Shape 15"/>
          <p:cNvSpPr/>
          <p:nvPr/>
        </p:nvSpPr>
        <p:spPr>
          <a:xfrm>
            <a:off x="6667500" y="32289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0" name="Text 16"/>
          <p:cNvSpPr/>
          <p:nvPr/>
        </p:nvSpPr>
        <p:spPr>
          <a:xfrm>
            <a:off x="6800850" y="3162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주말 시청률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0.086 → 0.123</a:t>
            </a:r>
            <a:endParaRPr lang="en-US" sz="1160" dirty="0"/>
          </a:p>
        </p:txBody>
      </p:sp>
      <p:sp>
        <p:nvSpPr>
          <p:cNvPr id="21" name="Shape 17"/>
          <p:cNvSpPr/>
          <p:nvPr/>
        </p:nvSpPr>
        <p:spPr>
          <a:xfrm>
            <a:off x="6667500" y="36099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2" name="Text 18"/>
          <p:cNvSpPr/>
          <p:nvPr/>
        </p:nvSpPr>
        <p:spPr>
          <a:xfrm>
            <a:off x="6800850" y="3543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주말 프리미엄이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1.148배 → 1.182배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커짐</a:t>
            </a:r>
            <a:endParaRPr lang="en-US" sz="1160" dirty="0"/>
          </a:p>
        </p:txBody>
      </p:sp>
      <p:sp>
        <p:nvSpPr>
          <p:cNvPr id="23" name="Shape 19"/>
          <p:cNvSpPr/>
          <p:nvPr/>
        </p:nvSpPr>
        <p:spPr>
          <a:xfrm>
            <a:off x="6667500" y="39909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4" name="Text 20"/>
          <p:cNvSpPr/>
          <p:nvPr/>
        </p:nvSpPr>
        <p:spPr>
          <a:xfrm>
            <a:off x="6800850" y="3924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요일별로는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일요일(+21.7%)·월요일(+21.0%)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 가장 크게 올랐음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요일별 성장 — 주말과 월요일이 견인했음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048000"/>
          </a:xfrm>
          <a:prstGeom prst="roundRect">
            <a:avLst>
              <a:gd name="adj" fmla="val 437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838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2006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가장 약한 요일은 목요일(0.100)로, 가장 강한 일요일(0.126)과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26% 차이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남. 목요일 편성은 개선 여지가 남아 있음.</a:t>
            </a:r>
            <a:endParaRPr lang="en-US" sz="11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시간대별 — 오후가 가장 크게 올랐고, 새벽은 멈춰 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715000" cy="2667000"/>
          </a:xfrm>
          <a:prstGeom prst="roundRect">
            <a:avLst>
              <a:gd name="adj" fmla="val 5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448300" cy="2457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500" y="1905000"/>
          <a:ext cx="4229100" cy="914400"/>
        </p:xfrm>
        <a:graphic>
          <a:graphicData uri="http://schemas.openxmlformats.org/drawingml/2006/table">
            <a:tbl>
              <a:tblPr/>
              <a:tblGrid>
                <a:gridCol w="1409700"/>
                <a:gridCol w="1409700"/>
                <a:gridCol w="1409700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시간대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증가율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편성 비중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새벽 02-08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A6A6B6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+2.7%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33.5% → 34.4%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오전 09-13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+17.5%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16% → 15.5%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오후 14-18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+23.8%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18.9% → 18.8%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저녁심야 19-25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+20.7%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31.6% → 31.3%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048500" y="3276600"/>
            <a:ext cx="38100" cy="1028700"/>
          </a:xfrm>
          <a:prstGeom prst="roundRect">
            <a:avLst/>
          </a:prstGeom>
          <a:solidFill>
            <a:srgbClr val="2C24CE"/>
          </a:solidFill>
          <a:ln/>
        </p:spPr>
      </p:sp>
      <p:sp>
        <p:nvSpPr>
          <p:cNvPr id="11" name="Shape 6"/>
          <p:cNvSpPr/>
          <p:nvPr/>
        </p:nvSpPr>
        <p:spPr>
          <a:xfrm>
            <a:off x="7086600" y="3276600"/>
            <a:ext cx="4191000" cy="1028700"/>
          </a:xfrm>
          <a:prstGeom prst="roundRect">
            <a:avLst/>
          </a:prstGeom>
          <a:solidFill>
            <a:srgbClr val="F3F3FD"/>
          </a:solidFill>
          <a:ln/>
        </p:spPr>
      </p:sp>
      <p:sp>
        <p:nvSpPr>
          <p:cNvPr id="12" name="Text 7"/>
          <p:cNvSpPr/>
          <p:nvPr/>
        </p:nvSpPr>
        <p:spPr>
          <a:xfrm>
            <a:off x="7277100" y="3429000"/>
            <a:ext cx="3848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시간 배분은 거의 그대로임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7277100" y="3676650"/>
            <a:ext cx="3848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네 시간대의 방영 비중 변화가 모두 1%p 이내임. 즉 성장은 시간대를 옮겨서가 아니라 같은 시간대에 무엇을 트느냐를 바꿔서 만들어짐.</a:t>
            </a:r>
            <a:endParaRPr lang="en-US" sz="101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24시간 프로파일 — 저녁 19시가 정점임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200400"/>
          </a:xfrm>
          <a:prstGeom prst="roundRect">
            <a:avLst>
              <a:gd name="adj" fmla="val 416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990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3530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2026년 곡선이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09시 이후 전 구간에서 위로 이동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했음. 반면 02~08시 새벽 구간은 두 해가 거의 겹침.</a:t>
            </a:r>
            <a:endParaRPr lang="en-US" sz="11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요일 × 시간 히트맵 (2026년)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2857500"/>
          </a:xfrm>
          <a:prstGeom prst="roundRect">
            <a:avLst>
              <a:gd name="adj" fmla="val 4667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133600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1703070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0D9F0"/>
          </a:solidFill>
          <a:ln/>
        </p:spPr>
      </p:sp>
      <p:sp>
        <p:nvSpPr>
          <p:cNvPr id="10" name="Shape 7"/>
          <p:cNvSpPr/>
          <p:nvPr/>
        </p:nvSpPr>
        <p:spPr>
          <a:xfrm>
            <a:off x="2094389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6E0F1"/>
          </a:solidFill>
          <a:ln/>
        </p:spPr>
      </p:sp>
      <p:sp>
        <p:nvSpPr>
          <p:cNvPr id="11" name="Shape 8"/>
          <p:cNvSpPr/>
          <p:nvPr/>
        </p:nvSpPr>
        <p:spPr>
          <a:xfrm>
            <a:off x="2485708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5DFF1"/>
          </a:solidFill>
          <a:ln/>
        </p:spPr>
      </p:sp>
      <p:sp>
        <p:nvSpPr>
          <p:cNvPr id="12" name="Shape 9"/>
          <p:cNvSpPr/>
          <p:nvPr/>
        </p:nvSpPr>
        <p:spPr>
          <a:xfrm>
            <a:off x="2877026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5DFF1"/>
          </a:solidFill>
          <a:ln/>
        </p:spPr>
      </p:sp>
      <p:sp>
        <p:nvSpPr>
          <p:cNvPr id="13" name="Shape 10"/>
          <p:cNvSpPr/>
          <p:nvPr/>
        </p:nvSpPr>
        <p:spPr>
          <a:xfrm>
            <a:off x="3268345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AE5F2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9664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CD5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050983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9D1EF"/>
          </a:solidFill>
          <a:ln/>
        </p:spPr>
      </p:sp>
      <p:sp>
        <p:nvSpPr>
          <p:cNvPr id="16" name="Shape 13"/>
          <p:cNvSpPr/>
          <p:nvPr/>
        </p:nvSpPr>
        <p:spPr>
          <a:xfrm>
            <a:off x="4442301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5A8EA"/>
          </a:solidFill>
          <a:ln/>
        </p:spPr>
      </p:sp>
      <p:sp>
        <p:nvSpPr>
          <p:cNvPr id="17" name="Shape 14"/>
          <p:cNvSpPr/>
          <p:nvPr/>
        </p:nvSpPr>
        <p:spPr>
          <a:xfrm>
            <a:off x="4833620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0B4EC"/>
          </a:solidFill>
          <a:ln/>
        </p:spPr>
      </p:sp>
      <p:sp>
        <p:nvSpPr>
          <p:cNvPr id="18" name="Shape 15"/>
          <p:cNvSpPr/>
          <p:nvPr/>
        </p:nvSpPr>
        <p:spPr>
          <a:xfrm>
            <a:off x="5224939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2A4E9"/>
          </a:solidFill>
          <a:ln/>
        </p:spPr>
      </p:sp>
      <p:sp>
        <p:nvSpPr>
          <p:cNvPr id="19" name="Shape 16"/>
          <p:cNvSpPr/>
          <p:nvPr/>
        </p:nvSpPr>
        <p:spPr>
          <a:xfrm>
            <a:off x="5616258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A88E6"/>
          </a:solidFill>
          <a:ln/>
        </p:spPr>
      </p:sp>
      <p:sp>
        <p:nvSpPr>
          <p:cNvPr id="20" name="Shape 17"/>
          <p:cNvSpPr/>
          <p:nvPr/>
        </p:nvSpPr>
        <p:spPr>
          <a:xfrm>
            <a:off x="6007576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9ACEB"/>
          </a:solidFill>
          <a:ln/>
        </p:spPr>
      </p:sp>
      <p:sp>
        <p:nvSpPr>
          <p:cNvPr id="21" name="Shape 18"/>
          <p:cNvSpPr/>
          <p:nvPr/>
        </p:nvSpPr>
        <p:spPr>
          <a:xfrm>
            <a:off x="6398895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FB2EB"/>
          </a:solidFill>
          <a:ln/>
        </p:spPr>
      </p:sp>
      <p:sp>
        <p:nvSpPr>
          <p:cNvPr id="22" name="Shape 19"/>
          <p:cNvSpPr/>
          <p:nvPr/>
        </p:nvSpPr>
        <p:spPr>
          <a:xfrm>
            <a:off x="6790214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6A9EA"/>
          </a:solidFill>
          <a:ln/>
        </p:spPr>
      </p:sp>
      <p:sp>
        <p:nvSpPr>
          <p:cNvPr id="23" name="Shape 20"/>
          <p:cNvSpPr/>
          <p:nvPr/>
        </p:nvSpPr>
        <p:spPr>
          <a:xfrm>
            <a:off x="7181533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696E8"/>
          </a:solidFill>
          <a:ln/>
        </p:spPr>
      </p:sp>
      <p:sp>
        <p:nvSpPr>
          <p:cNvPr id="24" name="Shape 21"/>
          <p:cNvSpPr/>
          <p:nvPr/>
        </p:nvSpPr>
        <p:spPr>
          <a:xfrm>
            <a:off x="7572851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E8CE6"/>
          </a:solidFill>
          <a:ln/>
        </p:spPr>
      </p:sp>
      <p:sp>
        <p:nvSpPr>
          <p:cNvPr id="25" name="Shape 22"/>
          <p:cNvSpPr/>
          <p:nvPr/>
        </p:nvSpPr>
        <p:spPr>
          <a:xfrm>
            <a:off x="7964170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07CE4"/>
          </a:solidFill>
          <a:ln/>
        </p:spPr>
      </p:sp>
      <p:sp>
        <p:nvSpPr>
          <p:cNvPr id="26" name="Shape 23"/>
          <p:cNvSpPr/>
          <p:nvPr/>
        </p:nvSpPr>
        <p:spPr>
          <a:xfrm>
            <a:off x="8355489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582E5"/>
          </a:solidFill>
          <a:ln/>
        </p:spPr>
      </p:sp>
      <p:sp>
        <p:nvSpPr>
          <p:cNvPr id="27" name="Shape 24"/>
          <p:cNvSpPr/>
          <p:nvPr/>
        </p:nvSpPr>
        <p:spPr>
          <a:xfrm>
            <a:off x="8746807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7F7BE4"/>
          </a:solidFill>
          <a:ln/>
        </p:spPr>
      </p:sp>
      <p:sp>
        <p:nvSpPr>
          <p:cNvPr id="28" name="Shape 25"/>
          <p:cNvSpPr/>
          <p:nvPr/>
        </p:nvSpPr>
        <p:spPr>
          <a:xfrm>
            <a:off x="9138126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B9CE9"/>
          </a:solidFill>
          <a:ln/>
        </p:spPr>
      </p:sp>
      <p:sp>
        <p:nvSpPr>
          <p:cNvPr id="29" name="Shape 26"/>
          <p:cNvSpPr/>
          <p:nvPr/>
        </p:nvSpPr>
        <p:spPr>
          <a:xfrm>
            <a:off x="9529445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FA1E9"/>
          </a:solidFill>
          <a:ln/>
        </p:spPr>
      </p:sp>
      <p:sp>
        <p:nvSpPr>
          <p:cNvPr id="30" name="Shape 27"/>
          <p:cNvSpPr/>
          <p:nvPr/>
        </p:nvSpPr>
        <p:spPr>
          <a:xfrm>
            <a:off x="9920764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FB3EB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12083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4DEF1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03401" y="2141220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3DCF1"/>
          </a:solidFill>
          <a:ln/>
        </p:spPr>
      </p:sp>
      <p:sp>
        <p:nvSpPr>
          <p:cNvPr id="33" name="Text 30"/>
          <p:cNvSpPr/>
          <p:nvPr/>
        </p:nvSpPr>
        <p:spPr>
          <a:xfrm>
            <a:off x="1104900" y="2452007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화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1703070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DE7F2"/>
          </a:solidFill>
          <a:ln/>
        </p:spPr>
      </p:sp>
      <p:sp>
        <p:nvSpPr>
          <p:cNvPr id="35" name="Shape 32"/>
          <p:cNvSpPr/>
          <p:nvPr/>
        </p:nvSpPr>
        <p:spPr>
          <a:xfrm>
            <a:off x="2094389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DE8F2"/>
          </a:solidFill>
          <a:ln/>
        </p:spPr>
      </p:sp>
      <p:sp>
        <p:nvSpPr>
          <p:cNvPr id="36" name="Shape 33"/>
          <p:cNvSpPr/>
          <p:nvPr/>
        </p:nvSpPr>
        <p:spPr>
          <a:xfrm>
            <a:off x="2485708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0ECF3"/>
          </a:solidFill>
          <a:ln/>
        </p:spPr>
      </p:sp>
      <p:sp>
        <p:nvSpPr>
          <p:cNvPr id="37" name="Shape 34"/>
          <p:cNvSpPr/>
          <p:nvPr/>
        </p:nvSpPr>
        <p:spPr>
          <a:xfrm>
            <a:off x="2877026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CE7F2"/>
          </a:solidFill>
          <a:ln/>
        </p:spPr>
      </p:sp>
      <p:sp>
        <p:nvSpPr>
          <p:cNvPr id="38" name="Shape 35"/>
          <p:cNvSpPr/>
          <p:nvPr/>
        </p:nvSpPr>
        <p:spPr>
          <a:xfrm>
            <a:off x="3268345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7E1F1"/>
          </a:solidFill>
          <a:ln/>
        </p:spPr>
      </p:sp>
      <p:sp>
        <p:nvSpPr>
          <p:cNvPr id="39" name="Shape 36"/>
          <p:cNvSpPr/>
          <p:nvPr/>
        </p:nvSpPr>
        <p:spPr>
          <a:xfrm>
            <a:off x="3659664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BD3EF"/>
          </a:solidFill>
          <a:ln/>
        </p:spPr>
      </p:sp>
      <p:sp>
        <p:nvSpPr>
          <p:cNvPr id="40" name="Shape 37"/>
          <p:cNvSpPr/>
          <p:nvPr/>
        </p:nvSpPr>
        <p:spPr>
          <a:xfrm>
            <a:off x="4050983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8D0EF"/>
          </a:solidFill>
          <a:ln/>
        </p:spPr>
      </p:sp>
      <p:sp>
        <p:nvSpPr>
          <p:cNvPr id="41" name="Shape 38"/>
          <p:cNvSpPr/>
          <p:nvPr/>
        </p:nvSpPr>
        <p:spPr>
          <a:xfrm>
            <a:off x="4442301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AAEEB"/>
          </a:solidFill>
          <a:ln/>
        </p:spPr>
      </p:sp>
      <p:sp>
        <p:nvSpPr>
          <p:cNvPr id="42" name="Shape 39"/>
          <p:cNvSpPr/>
          <p:nvPr/>
        </p:nvSpPr>
        <p:spPr>
          <a:xfrm>
            <a:off x="4833620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EB2EB"/>
          </a:solidFill>
          <a:ln/>
        </p:spPr>
      </p:sp>
      <p:sp>
        <p:nvSpPr>
          <p:cNvPr id="43" name="Shape 40"/>
          <p:cNvSpPr/>
          <p:nvPr/>
        </p:nvSpPr>
        <p:spPr>
          <a:xfrm>
            <a:off x="5224939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FA0E9"/>
          </a:solidFill>
          <a:ln/>
        </p:spPr>
      </p:sp>
      <p:sp>
        <p:nvSpPr>
          <p:cNvPr id="44" name="Shape 41"/>
          <p:cNvSpPr/>
          <p:nvPr/>
        </p:nvSpPr>
        <p:spPr>
          <a:xfrm>
            <a:off x="5616258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D9EE9"/>
          </a:solidFill>
          <a:ln/>
        </p:spPr>
      </p:sp>
      <p:sp>
        <p:nvSpPr>
          <p:cNvPr id="45" name="Shape 42"/>
          <p:cNvSpPr/>
          <p:nvPr/>
        </p:nvSpPr>
        <p:spPr>
          <a:xfrm>
            <a:off x="6007576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0A1E9"/>
          </a:solidFill>
          <a:ln/>
        </p:spPr>
      </p:sp>
      <p:sp>
        <p:nvSpPr>
          <p:cNvPr id="46" name="Shape 43"/>
          <p:cNvSpPr/>
          <p:nvPr/>
        </p:nvSpPr>
        <p:spPr>
          <a:xfrm>
            <a:off x="6398895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DB1EB"/>
          </a:solidFill>
          <a:ln/>
        </p:spPr>
      </p:sp>
      <p:sp>
        <p:nvSpPr>
          <p:cNvPr id="47" name="Shape 44"/>
          <p:cNvSpPr/>
          <p:nvPr/>
        </p:nvSpPr>
        <p:spPr>
          <a:xfrm>
            <a:off x="6790214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8ABEA"/>
          </a:solidFill>
          <a:ln/>
        </p:spPr>
      </p:sp>
      <p:sp>
        <p:nvSpPr>
          <p:cNvPr id="48" name="Shape 45"/>
          <p:cNvSpPr/>
          <p:nvPr/>
        </p:nvSpPr>
        <p:spPr>
          <a:xfrm>
            <a:off x="7181533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0A2E9"/>
          </a:solidFill>
          <a:ln/>
        </p:spPr>
      </p:sp>
      <p:sp>
        <p:nvSpPr>
          <p:cNvPr id="49" name="Shape 46"/>
          <p:cNvSpPr/>
          <p:nvPr/>
        </p:nvSpPr>
        <p:spPr>
          <a:xfrm>
            <a:off x="7572851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292E7"/>
          </a:solidFill>
          <a:ln/>
        </p:spPr>
      </p:sp>
      <p:sp>
        <p:nvSpPr>
          <p:cNvPr id="50" name="Shape 47"/>
          <p:cNvSpPr/>
          <p:nvPr/>
        </p:nvSpPr>
        <p:spPr>
          <a:xfrm>
            <a:off x="7964170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899E8"/>
          </a:solidFill>
          <a:ln/>
        </p:spPr>
      </p:sp>
      <p:sp>
        <p:nvSpPr>
          <p:cNvPr id="51" name="Shape 48"/>
          <p:cNvSpPr/>
          <p:nvPr/>
        </p:nvSpPr>
        <p:spPr>
          <a:xfrm>
            <a:off x="8355489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999E8"/>
          </a:solidFill>
          <a:ln/>
        </p:spPr>
      </p:sp>
      <p:sp>
        <p:nvSpPr>
          <p:cNvPr id="52" name="Shape 49"/>
          <p:cNvSpPr/>
          <p:nvPr/>
        </p:nvSpPr>
        <p:spPr>
          <a:xfrm>
            <a:off x="8746807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27FE5"/>
          </a:solidFill>
          <a:ln/>
        </p:spPr>
      </p:sp>
      <p:sp>
        <p:nvSpPr>
          <p:cNvPr id="53" name="Shape 50"/>
          <p:cNvSpPr/>
          <p:nvPr/>
        </p:nvSpPr>
        <p:spPr>
          <a:xfrm>
            <a:off x="9138126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2A4E9"/>
          </a:solidFill>
          <a:ln/>
        </p:spPr>
      </p:sp>
      <p:sp>
        <p:nvSpPr>
          <p:cNvPr id="54" name="Shape 51"/>
          <p:cNvSpPr/>
          <p:nvPr/>
        </p:nvSpPr>
        <p:spPr>
          <a:xfrm>
            <a:off x="9529445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3A5EA"/>
          </a:solidFill>
          <a:ln/>
        </p:spPr>
      </p:sp>
      <p:sp>
        <p:nvSpPr>
          <p:cNvPr id="55" name="Shape 52"/>
          <p:cNvSpPr/>
          <p:nvPr/>
        </p:nvSpPr>
        <p:spPr>
          <a:xfrm>
            <a:off x="9920764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2B7EC"/>
          </a:solidFill>
          <a:ln/>
        </p:spPr>
      </p:sp>
      <p:sp>
        <p:nvSpPr>
          <p:cNvPr id="56" name="Shape 53"/>
          <p:cNvSpPr/>
          <p:nvPr/>
        </p:nvSpPr>
        <p:spPr>
          <a:xfrm>
            <a:off x="10312083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1DBF0"/>
          </a:solidFill>
          <a:ln/>
        </p:spPr>
      </p:sp>
      <p:sp>
        <p:nvSpPr>
          <p:cNvPr id="57" name="Shape 54"/>
          <p:cNvSpPr/>
          <p:nvPr/>
        </p:nvSpPr>
        <p:spPr>
          <a:xfrm>
            <a:off x="10703401" y="2459627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BE5F2"/>
          </a:solidFill>
          <a:ln/>
        </p:spPr>
      </p:sp>
      <p:sp>
        <p:nvSpPr>
          <p:cNvPr id="58" name="Text 55"/>
          <p:cNvSpPr/>
          <p:nvPr/>
        </p:nvSpPr>
        <p:spPr>
          <a:xfrm>
            <a:off x="1104900" y="2770414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1703070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FEBF2"/>
          </a:solidFill>
          <a:ln/>
        </p:spPr>
      </p:sp>
      <p:sp>
        <p:nvSpPr>
          <p:cNvPr id="60" name="Shape 57"/>
          <p:cNvSpPr/>
          <p:nvPr/>
        </p:nvSpPr>
        <p:spPr>
          <a:xfrm>
            <a:off x="2094389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2EEF3"/>
          </a:solidFill>
          <a:ln/>
        </p:spPr>
      </p:sp>
      <p:sp>
        <p:nvSpPr>
          <p:cNvPr id="61" name="Shape 58"/>
          <p:cNvSpPr/>
          <p:nvPr/>
        </p:nvSpPr>
        <p:spPr>
          <a:xfrm>
            <a:off x="2485708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5F1F3"/>
          </a:solidFill>
          <a:ln/>
        </p:spPr>
      </p:sp>
      <p:sp>
        <p:nvSpPr>
          <p:cNvPr id="62" name="Shape 59"/>
          <p:cNvSpPr/>
          <p:nvPr/>
        </p:nvSpPr>
        <p:spPr>
          <a:xfrm>
            <a:off x="2877026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FEBF2"/>
          </a:solidFill>
          <a:ln/>
        </p:spPr>
      </p:sp>
      <p:sp>
        <p:nvSpPr>
          <p:cNvPr id="63" name="Shape 60"/>
          <p:cNvSpPr/>
          <p:nvPr/>
        </p:nvSpPr>
        <p:spPr>
          <a:xfrm>
            <a:off x="3268345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CE6F2"/>
          </a:solidFill>
          <a:ln/>
        </p:spPr>
      </p:sp>
      <p:sp>
        <p:nvSpPr>
          <p:cNvPr id="64" name="Shape 61"/>
          <p:cNvSpPr/>
          <p:nvPr/>
        </p:nvSpPr>
        <p:spPr>
          <a:xfrm>
            <a:off x="3659664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DD6F0"/>
          </a:solidFill>
          <a:ln/>
        </p:spPr>
      </p:sp>
      <p:sp>
        <p:nvSpPr>
          <p:cNvPr id="65" name="Shape 62"/>
          <p:cNvSpPr/>
          <p:nvPr/>
        </p:nvSpPr>
        <p:spPr>
          <a:xfrm>
            <a:off x="4050983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0D9F0"/>
          </a:solidFill>
          <a:ln/>
        </p:spPr>
      </p:sp>
      <p:sp>
        <p:nvSpPr>
          <p:cNvPr id="66" name="Shape 63"/>
          <p:cNvSpPr/>
          <p:nvPr/>
        </p:nvSpPr>
        <p:spPr>
          <a:xfrm>
            <a:off x="4442301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FB3EB"/>
          </a:solidFill>
          <a:ln/>
        </p:spPr>
      </p:sp>
      <p:sp>
        <p:nvSpPr>
          <p:cNvPr id="67" name="Shape 64"/>
          <p:cNvSpPr/>
          <p:nvPr/>
        </p:nvSpPr>
        <p:spPr>
          <a:xfrm>
            <a:off x="4833620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8AAEA"/>
          </a:solidFill>
          <a:ln/>
        </p:spPr>
      </p:sp>
      <p:sp>
        <p:nvSpPr>
          <p:cNvPr id="68" name="Shape 65"/>
          <p:cNvSpPr/>
          <p:nvPr/>
        </p:nvSpPr>
        <p:spPr>
          <a:xfrm>
            <a:off x="5224939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6A9EA"/>
          </a:solidFill>
          <a:ln/>
        </p:spPr>
      </p:sp>
      <p:sp>
        <p:nvSpPr>
          <p:cNvPr id="69" name="Shape 66"/>
          <p:cNvSpPr/>
          <p:nvPr/>
        </p:nvSpPr>
        <p:spPr>
          <a:xfrm>
            <a:off x="5616258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08FE7"/>
          </a:solidFill>
          <a:ln/>
        </p:spPr>
      </p:sp>
      <p:sp>
        <p:nvSpPr>
          <p:cNvPr id="70" name="Shape 67"/>
          <p:cNvSpPr/>
          <p:nvPr/>
        </p:nvSpPr>
        <p:spPr>
          <a:xfrm>
            <a:off x="6007576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FB3EB"/>
          </a:solidFill>
          <a:ln/>
        </p:spPr>
      </p:sp>
      <p:sp>
        <p:nvSpPr>
          <p:cNvPr id="71" name="Shape 68"/>
          <p:cNvSpPr/>
          <p:nvPr/>
        </p:nvSpPr>
        <p:spPr>
          <a:xfrm>
            <a:off x="6398895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8ABEA"/>
          </a:solidFill>
          <a:ln/>
        </p:spPr>
      </p:sp>
      <p:sp>
        <p:nvSpPr>
          <p:cNvPr id="72" name="Shape 69"/>
          <p:cNvSpPr/>
          <p:nvPr/>
        </p:nvSpPr>
        <p:spPr>
          <a:xfrm>
            <a:off x="6790214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FB3EB"/>
          </a:solidFill>
          <a:ln/>
        </p:spPr>
      </p:sp>
      <p:sp>
        <p:nvSpPr>
          <p:cNvPr id="73" name="Shape 70"/>
          <p:cNvSpPr/>
          <p:nvPr/>
        </p:nvSpPr>
        <p:spPr>
          <a:xfrm>
            <a:off x="7181533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3A5EA"/>
          </a:solidFill>
          <a:ln/>
        </p:spPr>
      </p:sp>
      <p:sp>
        <p:nvSpPr>
          <p:cNvPr id="74" name="Shape 71"/>
          <p:cNvSpPr/>
          <p:nvPr/>
        </p:nvSpPr>
        <p:spPr>
          <a:xfrm>
            <a:off x="7572851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B9BE8"/>
          </a:solidFill>
          <a:ln/>
        </p:spPr>
      </p:sp>
      <p:sp>
        <p:nvSpPr>
          <p:cNvPr id="75" name="Shape 72"/>
          <p:cNvSpPr/>
          <p:nvPr/>
        </p:nvSpPr>
        <p:spPr>
          <a:xfrm>
            <a:off x="7964170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797E8"/>
          </a:solidFill>
          <a:ln/>
        </p:spPr>
      </p:sp>
      <p:sp>
        <p:nvSpPr>
          <p:cNvPr id="76" name="Shape 73"/>
          <p:cNvSpPr/>
          <p:nvPr/>
        </p:nvSpPr>
        <p:spPr>
          <a:xfrm>
            <a:off x="8355489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482E5"/>
          </a:solidFill>
          <a:ln/>
        </p:spPr>
      </p:sp>
      <p:sp>
        <p:nvSpPr>
          <p:cNvPr id="77" name="Shape 74"/>
          <p:cNvSpPr/>
          <p:nvPr/>
        </p:nvSpPr>
        <p:spPr>
          <a:xfrm>
            <a:off x="8746807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481E5"/>
          </a:solidFill>
          <a:ln/>
        </p:spPr>
      </p:sp>
      <p:sp>
        <p:nvSpPr>
          <p:cNvPr id="78" name="Shape 75"/>
          <p:cNvSpPr/>
          <p:nvPr/>
        </p:nvSpPr>
        <p:spPr>
          <a:xfrm>
            <a:off x="9138126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798E8"/>
          </a:solidFill>
          <a:ln/>
        </p:spPr>
      </p:sp>
      <p:sp>
        <p:nvSpPr>
          <p:cNvPr id="79" name="Shape 76"/>
          <p:cNvSpPr/>
          <p:nvPr/>
        </p:nvSpPr>
        <p:spPr>
          <a:xfrm>
            <a:off x="9529445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FA0E9"/>
          </a:solidFill>
          <a:ln/>
        </p:spPr>
      </p:sp>
      <p:sp>
        <p:nvSpPr>
          <p:cNvPr id="80" name="Shape 77"/>
          <p:cNvSpPr/>
          <p:nvPr/>
        </p:nvSpPr>
        <p:spPr>
          <a:xfrm>
            <a:off x="9920764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3B8EC"/>
          </a:solidFill>
          <a:ln/>
        </p:spPr>
      </p:sp>
      <p:sp>
        <p:nvSpPr>
          <p:cNvPr id="81" name="Shape 78"/>
          <p:cNvSpPr/>
          <p:nvPr/>
        </p:nvSpPr>
        <p:spPr>
          <a:xfrm>
            <a:off x="10312083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AD2EF"/>
          </a:solidFill>
          <a:ln/>
        </p:spPr>
      </p:sp>
      <p:sp>
        <p:nvSpPr>
          <p:cNvPr id="82" name="Shape 79"/>
          <p:cNvSpPr/>
          <p:nvPr/>
        </p:nvSpPr>
        <p:spPr>
          <a:xfrm>
            <a:off x="10703401" y="2778034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CE7F2"/>
          </a:solidFill>
          <a:ln/>
        </p:spPr>
      </p:sp>
      <p:sp>
        <p:nvSpPr>
          <p:cNvPr id="83" name="Text 80"/>
          <p:cNvSpPr/>
          <p:nvPr/>
        </p:nvSpPr>
        <p:spPr>
          <a:xfrm>
            <a:off x="1104900" y="3088821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목</a:t>
            </a:r>
            <a:endParaRPr lang="en-US" sz="830" dirty="0"/>
          </a:p>
        </p:txBody>
      </p:sp>
      <p:sp>
        <p:nvSpPr>
          <p:cNvPr id="84" name="Shape 81"/>
          <p:cNvSpPr/>
          <p:nvPr/>
        </p:nvSpPr>
        <p:spPr>
          <a:xfrm>
            <a:off x="1703070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0ECF3"/>
          </a:solidFill>
          <a:ln/>
        </p:spPr>
      </p:sp>
      <p:sp>
        <p:nvSpPr>
          <p:cNvPr id="85" name="Shape 82"/>
          <p:cNvSpPr/>
          <p:nvPr/>
        </p:nvSpPr>
        <p:spPr>
          <a:xfrm>
            <a:off x="2094389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AE5F2"/>
          </a:solidFill>
          <a:ln/>
        </p:spPr>
      </p:sp>
      <p:sp>
        <p:nvSpPr>
          <p:cNvPr id="86" name="Shape 83"/>
          <p:cNvSpPr/>
          <p:nvPr/>
        </p:nvSpPr>
        <p:spPr>
          <a:xfrm>
            <a:off x="2485708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8F5F4"/>
          </a:solidFill>
          <a:ln/>
        </p:spPr>
      </p:sp>
      <p:sp>
        <p:nvSpPr>
          <p:cNvPr id="87" name="Shape 84"/>
          <p:cNvSpPr/>
          <p:nvPr/>
        </p:nvSpPr>
        <p:spPr>
          <a:xfrm>
            <a:off x="2877026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5F1F3"/>
          </a:solidFill>
          <a:ln/>
        </p:spPr>
      </p:sp>
      <p:sp>
        <p:nvSpPr>
          <p:cNvPr id="88" name="Shape 85"/>
          <p:cNvSpPr/>
          <p:nvPr/>
        </p:nvSpPr>
        <p:spPr>
          <a:xfrm>
            <a:off x="3268345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9E4F2"/>
          </a:solidFill>
          <a:ln/>
        </p:spPr>
      </p:sp>
      <p:sp>
        <p:nvSpPr>
          <p:cNvPr id="89" name="Shape 86"/>
          <p:cNvSpPr/>
          <p:nvPr/>
        </p:nvSpPr>
        <p:spPr>
          <a:xfrm>
            <a:off x="3659664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1DAF0"/>
          </a:solidFill>
          <a:ln/>
        </p:spPr>
      </p:sp>
      <p:sp>
        <p:nvSpPr>
          <p:cNvPr id="90" name="Shape 87"/>
          <p:cNvSpPr/>
          <p:nvPr/>
        </p:nvSpPr>
        <p:spPr>
          <a:xfrm>
            <a:off x="4050983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9D1EF"/>
          </a:solidFill>
          <a:ln/>
        </p:spPr>
      </p:sp>
      <p:sp>
        <p:nvSpPr>
          <p:cNvPr id="91" name="Shape 88"/>
          <p:cNvSpPr/>
          <p:nvPr/>
        </p:nvSpPr>
        <p:spPr>
          <a:xfrm>
            <a:off x="4442301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2B6EC"/>
          </a:solidFill>
          <a:ln/>
        </p:spPr>
      </p:sp>
      <p:sp>
        <p:nvSpPr>
          <p:cNvPr id="92" name="Shape 89"/>
          <p:cNvSpPr/>
          <p:nvPr/>
        </p:nvSpPr>
        <p:spPr>
          <a:xfrm>
            <a:off x="4833620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2A4EA"/>
          </a:solidFill>
          <a:ln/>
        </p:spPr>
      </p:sp>
      <p:sp>
        <p:nvSpPr>
          <p:cNvPr id="93" name="Shape 90"/>
          <p:cNvSpPr/>
          <p:nvPr/>
        </p:nvSpPr>
        <p:spPr>
          <a:xfrm>
            <a:off x="5224939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EB2EB"/>
          </a:solidFill>
          <a:ln/>
        </p:spPr>
      </p:sp>
      <p:sp>
        <p:nvSpPr>
          <p:cNvPr id="94" name="Shape 91"/>
          <p:cNvSpPr/>
          <p:nvPr/>
        </p:nvSpPr>
        <p:spPr>
          <a:xfrm>
            <a:off x="5616258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898E8"/>
          </a:solidFill>
          <a:ln/>
        </p:spPr>
      </p:sp>
      <p:sp>
        <p:nvSpPr>
          <p:cNvPr id="95" name="Shape 92"/>
          <p:cNvSpPr/>
          <p:nvPr/>
        </p:nvSpPr>
        <p:spPr>
          <a:xfrm>
            <a:off x="6007576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AADEB"/>
          </a:solidFill>
          <a:ln/>
        </p:spPr>
      </p:sp>
      <p:sp>
        <p:nvSpPr>
          <p:cNvPr id="96" name="Shape 93"/>
          <p:cNvSpPr/>
          <p:nvPr/>
        </p:nvSpPr>
        <p:spPr>
          <a:xfrm>
            <a:off x="6398895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2B7EC"/>
          </a:solidFill>
          <a:ln/>
        </p:spPr>
      </p:sp>
      <p:sp>
        <p:nvSpPr>
          <p:cNvPr id="97" name="Shape 94"/>
          <p:cNvSpPr/>
          <p:nvPr/>
        </p:nvSpPr>
        <p:spPr>
          <a:xfrm>
            <a:off x="6790214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AADEB"/>
          </a:solidFill>
          <a:ln/>
        </p:spPr>
      </p:sp>
      <p:sp>
        <p:nvSpPr>
          <p:cNvPr id="98" name="Shape 95"/>
          <p:cNvSpPr/>
          <p:nvPr/>
        </p:nvSpPr>
        <p:spPr>
          <a:xfrm>
            <a:off x="7181533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898E8"/>
          </a:solidFill>
          <a:ln/>
        </p:spPr>
      </p:sp>
      <p:sp>
        <p:nvSpPr>
          <p:cNvPr id="99" name="Shape 96"/>
          <p:cNvSpPr/>
          <p:nvPr/>
        </p:nvSpPr>
        <p:spPr>
          <a:xfrm>
            <a:off x="7572851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D9EE9"/>
          </a:solidFill>
          <a:ln/>
        </p:spPr>
      </p:sp>
      <p:sp>
        <p:nvSpPr>
          <p:cNvPr id="100" name="Shape 97"/>
          <p:cNvSpPr/>
          <p:nvPr/>
        </p:nvSpPr>
        <p:spPr>
          <a:xfrm>
            <a:off x="7964170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191E7"/>
          </a:solidFill>
          <a:ln/>
        </p:spPr>
      </p:sp>
      <p:sp>
        <p:nvSpPr>
          <p:cNvPr id="101" name="Shape 98"/>
          <p:cNvSpPr/>
          <p:nvPr/>
        </p:nvSpPr>
        <p:spPr>
          <a:xfrm>
            <a:off x="8355489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696E8"/>
          </a:solidFill>
          <a:ln/>
        </p:spPr>
      </p:sp>
      <p:sp>
        <p:nvSpPr>
          <p:cNvPr id="102" name="Shape 99"/>
          <p:cNvSpPr/>
          <p:nvPr/>
        </p:nvSpPr>
        <p:spPr>
          <a:xfrm>
            <a:off x="8746807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494E7"/>
          </a:solidFill>
          <a:ln/>
        </p:spPr>
      </p:sp>
      <p:sp>
        <p:nvSpPr>
          <p:cNvPr id="103" name="Shape 100"/>
          <p:cNvSpPr/>
          <p:nvPr/>
        </p:nvSpPr>
        <p:spPr>
          <a:xfrm>
            <a:off x="9138126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FA0E9"/>
          </a:solidFill>
          <a:ln/>
        </p:spPr>
      </p:sp>
      <p:sp>
        <p:nvSpPr>
          <p:cNvPr id="104" name="Shape 101"/>
          <p:cNvSpPr/>
          <p:nvPr/>
        </p:nvSpPr>
        <p:spPr>
          <a:xfrm>
            <a:off x="9529445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7A9EA"/>
          </a:solidFill>
          <a:ln/>
        </p:spPr>
      </p:sp>
      <p:sp>
        <p:nvSpPr>
          <p:cNvPr id="105" name="Shape 102"/>
          <p:cNvSpPr/>
          <p:nvPr/>
        </p:nvSpPr>
        <p:spPr>
          <a:xfrm>
            <a:off x="9920764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6BBEC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0312083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4F0F3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0703401" y="3096441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EE9F2"/>
          </a:solidFill>
          <a:ln/>
        </p:spPr>
      </p:sp>
      <p:sp>
        <p:nvSpPr>
          <p:cNvPr id="108" name="Text 105"/>
          <p:cNvSpPr/>
          <p:nvPr/>
        </p:nvSpPr>
        <p:spPr>
          <a:xfrm>
            <a:off x="1104900" y="3407229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금</a:t>
            </a:r>
            <a:endParaRPr lang="en-US" sz="830" dirty="0"/>
          </a:p>
        </p:txBody>
      </p:sp>
      <p:sp>
        <p:nvSpPr>
          <p:cNvPr id="109" name="Shape 106"/>
          <p:cNvSpPr/>
          <p:nvPr/>
        </p:nvSpPr>
        <p:spPr>
          <a:xfrm>
            <a:off x="1703070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FEBF2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094389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EEAF2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485708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AF7F4"/>
          </a:solidFill>
          <a:ln/>
        </p:spPr>
      </p:sp>
      <p:sp>
        <p:nvSpPr>
          <p:cNvPr id="112" name="Shape 109"/>
          <p:cNvSpPr/>
          <p:nvPr/>
        </p:nvSpPr>
        <p:spPr>
          <a:xfrm>
            <a:off x="2877026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E0ECF3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268345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EEAF2"/>
          </a:solidFill>
          <a:ln/>
        </p:spPr>
      </p:sp>
      <p:sp>
        <p:nvSpPr>
          <p:cNvPr id="114" name="Shape 111"/>
          <p:cNvSpPr/>
          <p:nvPr/>
        </p:nvSpPr>
        <p:spPr>
          <a:xfrm>
            <a:off x="3659664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2DBF0"/>
          </a:solidFill>
          <a:ln/>
        </p:spPr>
      </p:sp>
      <p:sp>
        <p:nvSpPr>
          <p:cNvPr id="115" name="Shape 112"/>
          <p:cNvSpPr/>
          <p:nvPr/>
        </p:nvSpPr>
        <p:spPr>
          <a:xfrm>
            <a:off x="4050983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1C8EE"/>
          </a:solidFill>
          <a:ln/>
        </p:spPr>
      </p:sp>
      <p:sp>
        <p:nvSpPr>
          <p:cNvPr id="116" name="Shape 113"/>
          <p:cNvSpPr/>
          <p:nvPr/>
        </p:nvSpPr>
        <p:spPr>
          <a:xfrm>
            <a:off x="4442301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7A9EA"/>
          </a:solidFill>
          <a:ln/>
        </p:spPr>
      </p:sp>
      <p:sp>
        <p:nvSpPr>
          <p:cNvPr id="117" name="Shape 114"/>
          <p:cNvSpPr/>
          <p:nvPr/>
        </p:nvSpPr>
        <p:spPr>
          <a:xfrm>
            <a:off x="4833620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6BAEC"/>
          </a:solidFill>
          <a:ln/>
        </p:spPr>
      </p:sp>
      <p:sp>
        <p:nvSpPr>
          <p:cNvPr id="118" name="Shape 115"/>
          <p:cNvSpPr/>
          <p:nvPr/>
        </p:nvSpPr>
        <p:spPr>
          <a:xfrm>
            <a:off x="5224939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DB1EB"/>
          </a:solidFill>
          <a:ln/>
        </p:spPr>
      </p:sp>
      <p:sp>
        <p:nvSpPr>
          <p:cNvPr id="119" name="Shape 116"/>
          <p:cNvSpPr/>
          <p:nvPr/>
        </p:nvSpPr>
        <p:spPr>
          <a:xfrm>
            <a:off x="5616258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B9CE8"/>
          </a:solidFill>
          <a:ln/>
        </p:spPr>
      </p:sp>
      <p:sp>
        <p:nvSpPr>
          <p:cNvPr id="120" name="Shape 117"/>
          <p:cNvSpPr/>
          <p:nvPr/>
        </p:nvSpPr>
        <p:spPr>
          <a:xfrm>
            <a:off x="6007576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2B6EC"/>
          </a:solidFill>
          <a:ln/>
        </p:spPr>
      </p:sp>
      <p:sp>
        <p:nvSpPr>
          <p:cNvPr id="121" name="Shape 118"/>
          <p:cNvSpPr/>
          <p:nvPr/>
        </p:nvSpPr>
        <p:spPr>
          <a:xfrm>
            <a:off x="6398895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2B7EC"/>
          </a:solidFill>
          <a:ln/>
        </p:spPr>
      </p:sp>
      <p:sp>
        <p:nvSpPr>
          <p:cNvPr id="122" name="Shape 119"/>
          <p:cNvSpPr/>
          <p:nvPr/>
        </p:nvSpPr>
        <p:spPr>
          <a:xfrm>
            <a:off x="6790214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0B4EC"/>
          </a:solidFill>
          <a:ln/>
        </p:spPr>
      </p:sp>
      <p:sp>
        <p:nvSpPr>
          <p:cNvPr id="123" name="Shape 120"/>
          <p:cNvSpPr/>
          <p:nvPr/>
        </p:nvSpPr>
        <p:spPr>
          <a:xfrm>
            <a:off x="7181533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494E7"/>
          </a:solidFill>
          <a:ln/>
        </p:spPr>
      </p:sp>
      <p:sp>
        <p:nvSpPr>
          <p:cNvPr id="124" name="Shape 121"/>
          <p:cNvSpPr/>
          <p:nvPr/>
        </p:nvSpPr>
        <p:spPr>
          <a:xfrm>
            <a:off x="7572851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E8DE7"/>
          </a:solidFill>
          <a:ln/>
        </p:spPr>
      </p:sp>
      <p:sp>
        <p:nvSpPr>
          <p:cNvPr id="125" name="Shape 122"/>
          <p:cNvSpPr/>
          <p:nvPr/>
        </p:nvSpPr>
        <p:spPr>
          <a:xfrm>
            <a:off x="7964170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291E7"/>
          </a:solidFill>
          <a:ln/>
        </p:spPr>
      </p:sp>
      <p:sp>
        <p:nvSpPr>
          <p:cNvPr id="126" name="Shape 123"/>
          <p:cNvSpPr/>
          <p:nvPr/>
        </p:nvSpPr>
        <p:spPr>
          <a:xfrm>
            <a:off x="8355489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684E5"/>
          </a:solidFill>
          <a:ln/>
        </p:spPr>
      </p:sp>
      <p:sp>
        <p:nvSpPr>
          <p:cNvPr id="127" name="Shape 124"/>
          <p:cNvSpPr/>
          <p:nvPr/>
        </p:nvSpPr>
        <p:spPr>
          <a:xfrm>
            <a:off x="8746807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A88E6"/>
          </a:solidFill>
          <a:ln/>
        </p:spPr>
      </p:sp>
      <p:sp>
        <p:nvSpPr>
          <p:cNvPr id="128" name="Shape 125"/>
          <p:cNvSpPr/>
          <p:nvPr/>
        </p:nvSpPr>
        <p:spPr>
          <a:xfrm>
            <a:off x="9138126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797E8"/>
          </a:solidFill>
          <a:ln/>
        </p:spPr>
      </p:sp>
      <p:sp>
        <p:nvSpPr>
          <p:cNvPr id="129" name="Shape 126"/>
          <p:cNvSpPr/>
          <p:nvPr/>
        </p:nvSpPr>
        <p:spPr>
          <a:xfrm>
            <a:off x="9529445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C9DE9"/>
          </a:solidFill>
          <a:ln/>
        </p:spPr>
      </p:sp>
      <p:sp>
        <p:nvSpPr>
          <p:cNvPr id="130" name="Shape 127"/>
          <p:cNvSpPr/>
          <p:nvPr/>
        </p:nvSpPr>
        <p:spPr>
          <a:xfrm>
            <a:off x="9920764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9ACEB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0312083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2DCF1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0703401" y="3414849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1DBF0"/>
          </a:solidFill>
          <a:ln/>
        </p:spPr>
      </p:sp>
      <p:sp>
        <p:nvSpPr>
          <p:cNvPr id="133" name="Text 130"/>
          <p:cNvSpPr/>
          <p:nvPr/>
        </p:nvSpPr>
        <p:spPr>
          <a:xfrm>
            <a:off x="1104900" y="3725636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토</a:t>
            </a:r>
            <a:endParaRPr lang="en-US" sz="830" dirty="0"/>
          </a:p>
        </p:txBody>
      </p:sp>
      <p:sp>
        <p:nvSpPr>
          <p:cNvPr id="134" name="Shape 131"/>
          <p:cNvSpPr/>
          <p:nvPr/>
        </p:nvSpPr>
        <p:spPr>
          <a:xfrm>
            <a:off x="1703070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8E2F1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094389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AE5F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2485708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7E1F1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877026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4DEF1"/>
          </a:solidFill>
          <a:ln/>
        </p:spPr>
      </p:sp>
      <p:sp>
        <p:nvSpPr>
          <p:cNvPr id="138" name="Shape 135"/>
          <p:cNvSpPr/>
          <p:nvPr/>
        </p:nvSpPr>
        <p:spPr>
          <a:xfrm>
            <a:off x="3268345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CBD3EF"/>
          </a:solidFill>
          <a:ln/>
        </p:spPr>
      </p:sp>
      <p:sp>
        <p:nvSpPr>
          <p:cNvPr id="139" name="Shape 136"/>
          <p:cNvSpPr/>
          <p:nvPr/>
        </p:nvSpPr>
        <p:spPr>
          <a:xfrm>
            <a:off x="3659664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CC2ED"/>
          </a:solidFill>
          <a:ln/>
        </p:spPr>
      </p:sp>
      <p:sp>
        <p:nvSpPr>
          <p:cNvPr id="140" name="Shape 137"/>
          <p:cNvSpPr/>
          <p:nvPr/>
        </p:nvSpPr>
        <p:spPr>
          <a:xfrm>
            <a:off x="4050983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1A2E9"/>
          </a:solidFill>
          <a:ln/>
        </p:spPr>
      </p:sp>
      <p:sp>
        <p:nvSpPr>
          <p:cNvPr id="141" name="Shape 138"/>
          <p:cNvSpPr/>
          <p:nvPr/>
        </p:nvSpPr>
        <p:spPr>
          <a:xfrm>
            <a:off x="4442301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08FE7"/>
          </a:solidFill>
          <a:ln/>
        </p:spPr>
      </p:sp>
      <p:sp>
        <p:nvSpPr>
          <p:cNvPr id="142" name="Shape 139"/>
          <p:cNvSpPr/>
          <p:nvPr/>
        </p:nvSpPr>
        <p:spPr>
          <a:xfrm>
            <a:off x="4833620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291E7"/>
          </a:solidFill>
          <a:ln/>
        </p:spPr>
      </p:sp>
      <p:sp>
        <p:nvSpPr>
          <p:cNvPr id="143" name="Shape 140"/>
          <p:cNvSpPr/>
          <p:nvPr/>
        </p:nvSpPr>
        <p:spPr>
          <a:xfrm>
            <a:off x="5224939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291E7"/>
          </a:solidFill>
          <a:ln/>
        </p:spPr>
      </p:sp>
      <p:sp>
        <p:nvSpPr>
          <p:cNvPr id="144" name="Shape 141"/>
          <p:cNvSpPr/>
          <p:nvPr/>
        </p:nvSpPr>
        <p:spPr>
          <a:xfrm>
            <a:off x="5616258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683E5"/>
          </a:solidFill>
          <a:ln/>
        </p:spPr>
      </p:sp>
      <p:sp>
        <p:nvSpPr>
          <p:cNvPr id="145" name="Shape 142"/>
          <p:cNvSpPr/>
          <p:nvPr/>
        </p:nvSpPr>
        <p:spPr>
          <a:xfrm>
            <a:off x="6007576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797E8"/>
          </a:solidFill>
          <a:ln/>
        </p:spPr>
      </p:sp>
      <p:sp>
        <p:nvSpPr>
          <p:cNvPr id="146" name="Shape 143"/>
          <p:cNvSpPr/>
          <p:nvPr/>
        </p:nvSpPr>
        <p:spPr>
          <a:xfrm>
            <a:off x="6398895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898E8"/>
          </a:solidFill>
          <a:ln/>
        </p:spPr>
      </p:sp>
      <p:sp>
        <p:nvSpPr>
          <p:cNvPr id="147" name="Shape 144"/>
          <p:cNvSpPr/>
          <p:nvPr/>
        </p:nvSpPr>
        <p:spPr>
          <a:xfrm>
            <a:off x="6790214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5A8EA"/>
          </a:solidFill>
          <a:ln/>
        </p:spPr>
      </p:sp>
      <p:sp>
        <p:nvSpPr>
          <p:cNvPr id="148" name="Shape 145"/>
          <p:cNvSpPr/>
          <p:nvPr/>
        </p:nvSpPr>
        <p:spPr>
          <a:xfrm>
            <a:off x="7181533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D9EE9"/>
          </a:solidFill>
          <a:ln/>
        </p:spPr>
      </p:sp>
      <p:sp>
        <p:nvSpPr>
          <p:cNvPr id="149" name="Shape 146"/>
          <p:cNvSpPr/>
          <p:nvPr/>
        </p:nvSpPr>
        <p:spPr>
          <a:xfrm>
            <a:off x="7572851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FA0E9"/>
          </a:solidFill>
          <a:ln/>
        </p:spPr>
      </p:sp>
      <p:sp>
        <p:nvSpPr>
          <p:cNvPr id="150" name="Shape 147"/>
          <p:cNvSpPr/>
          <p:nvPr/>
        </p:nvSpPr>
        <p:spPr>
          <a:xfrm>
            <a:off x="7964170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190E7"/>
          </a:solidFill>
          <a:ln/>
        </p:spPr>
      </p:sp>
      <p:sp>
        <p:nvSpPr>
          <p:cNvPr id="151" name="Shape 148"/>
          <p:cNvSpPr/>
          <p:nvPr/>
        </p:nvSpPr>
        <p:spPr>
          <a:xfrm>
            <a:off x="8355489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27FE5"/>
          </a:solidFill>
          <a:ln/>
        </p:spPr>
      </p:sp>
      <p:sp>
        <p:nvSpPr>
          <p:cNvPr id="152" name="Shape 149"/>
          <p:cNvSpPr/>
          <p:nvPr/>
        </p:nvSpPr>
        <p:spPr>
          <a:xfrm>
            <a:off x="8746807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C8BE6"/>
          </a:solidFill>
          <a:ln/>
        </p:spPr>
      </p:sp>
      <p:sp>
        <p:nvSpPr>
          <p:cNvPr id="153" name="Shape 150"/>
          <p:cNvSpPr/>
          <p:nvPr/>
        </p:nvSpPr>
        <p:spPr>
          <a:xfrm>
            <a:off x="9138126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696E8"/>
          </a:solidFill>
          <a:ln/>
        </p:spPr>
      </p:sp>
      <p:sp>
        <p:nvSpPr>
          <p:cNvPr id="154" name="Shape 151"/>
          <p:cNvSpPr/>
          <p:nvPr/>
        </p:nvSpPr>
        <p:spPr>
          <a:xfrm>
            <a:off x="9529445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F8EE7"/>
          </a:solidFill>
          <a:ln/>
        </p:spPr>
      </p:sp>
      <p:sp>
        <p:nvSpPr>
          <p:cNvPr id="155" name="Shape 152"/>
          <p:cNvSpPr/>
          <p:nvPr/>
        </p:nvSpPr>
        <p:spPr>
          <a:xfrm>
            <a:off x="9920764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3B8EC"/>
          </a:solidFill>
          <a:ln/>
        </p:spPr>
      </p:sp>
      <p:sp>
        <p:nvSpPr>
          <p:cNvPr id="156" name="Shape 153"/>
          <p:cNvSpPr/>
          <p:nvPr/>
        </p:nvSpPr>
        <p:spPr>
          <a:xfrm>
            <a:off x="10312083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1DBF0"/>
          </a:solidFill>
          <a:ln/>
        </p:spPr>
      </p:sp>
      <p:sp>
        <p:nvSpPr>
          <p:cNvPr id="157" name="Shape 154"/>
          <p:cNvSpPr/>
          <p:nvPr/>
        </p:nvSpPr>
        <p:spPr>
          <a:xfrm>
            <a:off x="10703401" y="3733256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3DCF1"/>
          </a:solidFill>
          <a:ln/>
        </p:spPr>
      </p:sp>
      <p:sp>
        <p:nvSpPr>
          <p:cNvPr id="158" name="Text 155"/>
          <p:cNvSpPr/>
          <p:nvPr/>
        </p:nvSpPr>
        <p:spPr>
          <a:xfrm>
            <a:off x="1104900" y="4044043"/>
            <a:ext cx="495300" cy="318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</a:t>
            </a:r>
            <a:endParaRPr lang="en-US" sz="830" dirty="0"/>
          </a:p>
        </p:txBody>
      </p:sp>
      <p:sp>
        <p:nvSpPr>
          <p:cNvPr id="159" name="Shape 156"/>
          <p:cNvSpPr/>
          <p:nvPr/>
        </p:nvSpPr>
        <p:spPr>
          <a:xfrm>
            <a:off x="1703070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AE4F2"/>
          </a:solidFill>
          <a:ln/>
        </p:spPr>
      </p:sp>
      <p:sp>
        <p:nvSpPr>
          <p:cNvPr id="160" name="Shape 157"/>
          <p:cNvSpPr/>
          <p:nvPr/>
        </p:nvSpPr>
        <p:spPr>
          <a:xfrm>
            <a:off x="2094389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BE6F2"/>
          </a:solidFill>
          <a:ln/>
        </p:spPr>
      </p:sp>
      <p:sp>
        <p:nvSpPr>
          <p:cNvPr id="161" name="Shape 158"/>
          <p:cNvSpPr/>
          <p:nvPr/>
        </p:nvSpPr>
        <p:spPr>
          <a:xfrm>
            <a:off x="2485708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EE9F2"/>
          </a:solidFill>
          <a:ln/>
        </p:spPr>
      </p:sp>
      <p:sp>
        <p:nvSpPr>
          <p:cNvPr id="162" name="Shape 159"/>
          <p:cNvSpPr/>
          <p:nvPr/>
        </p:nvSpPr>
        <p:spPr>
          <a:xfrm>
            <a:off x="2877026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2DCF1"/>
          </a:solidFill>
          <a:ln/>
        </p:spPr>
      </p:sp>
      <p:sp>
        <p:nvSpPr>
          <p:cNvPr id="163" name="Shape 160"/>
          <p:cNvSpPr/>
          <p:nvPr/>
        </p:nvSpPr>
        <p:spPr>
          <a:xfrm>
            <a:off x="3268345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FC6EE"/>
          </a:solidFill>
          <a:ln/>
        </p:spPr>
      </p:sp>
      <p:sp>
        <p:nvSpPr>
          <p:cNvPr id="164" name="Shape 161"/>
          <p:cNvSpPr/>
          <p:nvPr/>
        </p:nvSpPr>
        <p:spPr>
          <a:xfrm>
            <a:off x="3659664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B1B5EC"/>
          </a:solidFill>
          <a:ln/>
        </p:spPr>
      </p:sp>
      <p:sp>
        <p:nvSpPr>
          <p:cNvPr id="165" name="Shape 162"/>
          <p:cNvSpPr/>
          <p:nvPr/>
        </p:nvSpPr>
        <p:spPr>
          <a:xfrm>
            <a:off x="4050983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C9DE9"/>
          </a:solidFill>
          <a:ln/>
        </p:spPr>
      </p:sp>
      <p:sp>
        <p:nvSpPr>
          <p:cNvPr id="166" name="Shape 163"/>
          <p:cNvSpPr/>
          <p:nvPr/>
        </p:nvSpPr>
        <p:spPr>
          <a:xfrm>
            <a:off x="4442301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595E8"/>
          </a:solidFill>
          <a:ln/>
        </p:spPr>
      </p:sp>
      <p:sp>
        <p:nvSpPr>
          <p:cNvPr id="167" name="Shape 164"/>
          <p:cNvSpPr/>
          <p:nvPr/>
        </p:nvSpPr>
        <p:spPr>
          <a:xfrm>
            <a:off x="4833620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2A4EA"/>
          </a:solidFill>
          <a:ln/>
        </p:spPr>
      </p:sp>
      <p:sp>
        <p:nvSpPr>
          <p:cNvPr id="168" name="Shape 165"/>
          <p:cNvSpPr/>
          <p:nvPr/>
        </p:nvSpPr>
        <p:spPr>
          <a:xfrm>
            <a:off x="5224939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C9DE9"/>
          </a:solidFill>
          <a:ln/>
        </p:spPr>
      </p:sp>
      <p:sp>
        <p:nvSpPr>
          <p:cNvPr id="169" name="Shape 166"/>
          <p:cNvSpPr/>
          <p:nvPr/>
        </p:nvSpPr>
        <p:spPr>
          <a:xfrm>
            <a:off x="5616258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797E8"/>
          </a:solidFill>
          <a:ln/>
        </p:spPr>
      </p:sp>
      <p:sp>
        <p:nvSpPr>
          <p:cNvPr id="170" name="Shape 167"/>
          <p:cNvSpPr/>
          <p:nvPr/>
        </p:nvSpPr>
        <p:spPr>
          <a:xfrm>
            <a:off x="6007576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08FE7"/>
          </a:solidFill>
          <a:ln/>
        </p:spPr>
      </p:sp>
      <p:sp>
        <p:nvSpPr>
          <p:cNvPr id="171" name="Shape 168"/>
          <p:cNvSpPr/>
          <p:nvPr/>
        </p:nvSpPr>
        <p:spPr>
          <a:xfrm>
            <a:off x="6398895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2A3E9"/>
          </a:solidFill>
          <a:ln/>
        </p:spPr>
      </p:sp>
      <p:sp>
        <p:nvSpPr>
          <p:cNvPr id="172" name="Shape 169"/>
          <p:cNvSpPr/>
          <p:nvPr/>
        </p:nvSpPr>
        <p:spPr>
          <a:xfrm>
            <a:off x="6790214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5A8EA"/>
          </a:solidFill>
          <a:ln/>
        </p:spPr>
      </p:sp>
      <p:sp>
        <p:nvSpPr>
          <p:cNvPr id="173" name="Shape 170"/>
          <p:cNvSpPr/>
          <p:nvPr/>
        </p:nvSpPr>
        <p:spPr>
          <a:xfrm>
            <a:off x="7181533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987E6"/>
          </a:solidFill>
          <a:ln/>
        </p:spPr>
      </p:sp>
      <p:sp>
        <p:nvSpPr>
          <p:cNvPr id="174" name="Shape 171"/>
          <p:cNvSpPr/>
          <p:nvPr/>
        </p:nvSpPr>
        <p:spPr>
          <a:xfrm>
            <a:off x="7572851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7D7AE4"/>
          </a:solidFill>
          <a:ln/>
        </p:spPr>
      </p:sp>
      <p:sp>
        <p:nvSpPr>
          <p:cNvPr id="175" name="Shape 172"/>
          <p:cNvSpPr/>
          <p:nvPr/>
        </p:nvSpPr>
        <p:spPr>
          <a:xfrm>
            <a:off x="7964170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6F69E2"/>
          </a:solidFill>
          <a:ln/>
        </p:spPr>
      </p:sp>
      <p:sp>
        <p:nvSpPr>
          <p:cNvPr id="176" name="Shape 173"/>
          <p:cNvSpPr/>
          <p:nvPr/>
        </p:nvSpPr>
        <p:spPr>
          <a:xfrm>
            <a:off x="8355489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6F69E2"/>
          </a:solidFill>
          <a:ln/>
        </p:spPr>
      </p:sp>
      <p:sp>
        <p:nvSpPr>
          <p:cNvPr id="177" name="Shape 174"/>
          <p:cNvSpPr/>
          <p:nvPr/>
        </p:nvSpPr>
        <p:spPr>
          <a:xfrm>
            <a:off x="8746807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8B89E6"/>
          </a:solidFill>
          <a:ln/>
        </p:spPr>
      </p:sp>
      <p:sp>
        <p:nvSpPr>
          <p:cNvPr id="178" name="Shape 175"/>
          <p:cNvSpPr/>
          <p:nvPr/>
        </p:nvSpPr>
        <p:spPr>
          <a:xfrm>
            <a:off x="9138126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595E8"/>
          </a:solidFill>
          <a:ln/>
        </p:spPr>
      </p:sp>
      <p:sp>
        <p:nvSpPr>
          <p:cNvPr id="179" name="Shape 176"/>
          <p:cNvSpPr/>
          <p:nvPr/>
        </p:nvSpPr>
        <p:spPr>
          <a:xfrm>
            <a:off x="9529445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9696E8"/>
          </a:solidFill>
          <a:ln/>
        </p:spPr>
      </p:sp>
      <p:sp>
        <p:nvSpPr>
          <p:cNvPr id="180" name="Shape 177"/>
          <p:cNvSpPr/>
          <p:nvPr/>
        </p:nvSpPr>
        <p:spPr>
          <a:xfrm>
            <a:off x="9920764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A7AAEA"/>
          </a:solidFill>
          <a:ln/>
        </p:spPr>
      </p:sp>
      <p:sp>
        <p:nvSpPr>
          <p:cNvPr id="181" name="Shape 178"/>
          <p:cNvSpPr/>
          <p:nvPr/>
        </p:nvSpPr>
        <p:spPr>
          <a:xfrm>
            <a:off x="10312083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5DEF1"/>
          </a:solidFill>
          <a:ln/>
        </p:spPr>
      </p:sp>
      <p:sp>
        <p:nvSpPr>
          <p:cNvPr id="182" name="Shape 179"/>
          <p:cNvSpPr/>
          <p:nvPr/>
        </p:nvSpPr>
        <p:spPr>
          <a:xfrm>
            <a:off x="10703401" y="4051663"/>
            <a:ext cx="376079" cy="303167"/>
          </a:xfrm>
          <a:prstGeom prst="roundRect">
            <a:avLst>
              <a:gd name="adj" fmla="val 6284"/>
            </a:avLst>
          </a:prstGeom>
          <a:solidFill>
            <a:srgbClr val="D3DDF1"/>
          </a:solidFill>
          <a:ln/>
        </p:spPr>
      </p:sp>
      <p:sp>
        <p:nvSpPr>
          <p:cNvPr id="183" name="Text 180"/>
          <p:cNvSpPr/>
          <p:nvPr/>
        </p:nvSpPr>
        <p:spPr>
          <a:xfrm>
            <a:off x="1581150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2시</a:t>
            </a:r>
            <a:endParaRPr lang="en-US" sz="680" dirty="0"/>
          </a:p>
        </p:txBody>
      </p:sp>
      <p:sp>
        <p:nvSpPr>
          <p:cNvPr id="184" name="Text 181"/>
          <p:cNvSpPr/>
          <p:nvPr/>
        </p:nvSpPr>
        <p:spPr>
          <a:xfrm>
            <a:off x="2363788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4시</a:t>
            </a:r>
            <a:endParaRPr lang="en-US" sz="680" dirty="0"/>
          </a:p>
        </p:txBody>
      </p:sp>
      <p:sp>
        <p:nvSpPr>
          <p:cNvPr id="185" name="Text 182"/>
          <p:cNvSpPr/>
          <p:nvPr/>
        </p:nvSpPr>
        <p:spPr>
          <a:xfrm>
            <a:off x="3146425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6시</a:t>
            </a:r>
            <a:endParaRPr lang="en-US" sz="680" dirty="0"/>
          </a:p>
        </p:txBody>
      </p:sp>
      <p:sp>
        <p:nvSpPr>
          <p:cNvPr id="186" name="Text 183"/>
          <p:cNvSpPr/>
          <p:nvPr/>
        </p:nvSpPr>
        <p:spPr>
          <a:xfrm>
            <a:off x="3929063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8시</a:t>
            </a:r>
            <a:endParaRPr lang="en-US" sz="680" dirty="0"/>
          </a:p>
        </p:txBody>
      </p:sp>
      <p:sp>
        <p:nvSpPr>
          <p:cNvPr id="187" name="Text 184"/>
          <p:cNvSpPr/>
          <p:nvPr/>
        </p:nvSpPr>
        <p:spPr>
          <a:xfrm>
            <a:off x="4711700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10시</a:t>
            </a:r>
            <a:endParaRPr lang="en-US" sz="680" dirty="0"/>
          </a:p>
        </p:txBody>
      </p:sp>
      <p:sp>
        <p:nvSpPr>
          <p:cNvPr id="188" name="Text 185"/>
          <p:cNvSpPr/>
          <p:nvPr/>
        </p:nvSpPr>
        <p:spPr>
          <a:xfrm>
            <a:off x="5494338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12시</a:t>
            </a:r>
            <a:endParaRPr lang="en-US" sz="680" dirty="0"/>
          </a:p>
        </p:txBody>
      </p:sp>
      <p:sp>
        <p:nvSpPr>
          <p:cNvPr id="189" name="Text 186"/>
          <p:cNvSpPr/>
          <p:nvPr/>
        </p:nvSpPr>
        <p:spPr>
          <a:xfrm>
            <a:off x="6276975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14시</a:t>
            </a:r>
            <a:endParaRPr lang="en-US" sz="680" dirty="0"/>
          </a:p>
        </p:txBody>
      </p:sp>
      <p:sp>
        <p:nvSpPr>
          <p:cNvPr id="190" name="Text 187"/>
          <p:cNvSpPr/>
          <p:nvPr/>
        </p:nvSpPr>
        <p:spPr>
          <a:xfrm>
            <a:off x="7059613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16시</a:t>
            </a:r>
            <a:endParaRPr lang="en-US" sz="680" dirty="0"/>
          </a:p>
        </p:txBody>
      </p:sp>
      <p:sp>
        <p:nvSpPr>
          <p:cNvPr id="191" name="Text 188"/>
          <p:cNvSpPr/>
          <p:nvPr/>
        </p:nvSpPr>
        <p:spPr>
          <a:xfrm>
            <a:off x="7842250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18시</a:t>
            </a:r>
            <a:endParaRPr lang="en-US" sz="680" dirty="0"/>
          </a:p>
        </p:txBody>
      </p:sp>
      <p:sp>
        <p:nvSpPr>
          <p:cNvPr id="192" name="Text 189"/>
          <p:cNvSpPr/>
          <p:nvPr/>
        </p:nvSpPr>
        <p:spPr>
          <a:xfrm>
            <a:off x="8624888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20시</a:t>
            </a:r>
            <a:endParaRPr lang="en-US" sz="680" dirty="0"/>
          </a:p>
        </p:txBody>
      </p:sp>
      <p:sp>
        <p:nvSpPr>
          <p:cNvPr id="193" name="Text 190"/>
          <p:cNvSpPr/>
          <p:nvPr/>
        </p:nvSpPr>
        <p:spPr>
          <a:xfrm>
            <a:off x="9407525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22시</a:t>
            </a:r>
            <a:endParaRPr lang="en-US" sz="680" dirty="0"/>
          </a:p>
        </p:txBody>
      </p:sp>
      <p:sp>
        <p:nvSpPr>
          <p:cNvPr id="194" name="Text 191"/>
          <p:cNvSpPr/>
          <p:nvPr/>
        </p:nvSpPr>
        <p:spPr>
          <a:xfrm>
            <a:off x="10190163" y="43624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0시</a:t>
            </a:r>
            <a:endParaRPr lang="en-US" sz="680" dirty="0"/>
          </a:p>
        </p:txBody>
      </p:sp>
      <p:sp>
        <p:nvSpPr>
          <p:cNvPr id="195" name="Shape 192"/>
          <p:cNvSpPr/>
          <p:nvPr/>
        </p:nvSpPr>
        <p:spPr>
          <a:xfrm>
            <a:off x="9791700" y="1943100"/>
            <a:ext cx="39529" cy="76200"/>
          </a:xfrm>
          <a:prstGeom prst="roundRect">
            <a:avLst/>
          </a:prstGeom>
          <a:solidFill>
            <a:srgbClr val="EAF7F4"/>
          </a:solidFill>
          <a:ln/>
        </p:spPr>
      </p:sp>
      <p:sp>
        <p:nvSpPr>
          <p:cNvPr id="196" name="Shape 193"/>
          <p:cNvSpPr/>
          <p:nvPr/>
        </p:nvSpPr>
        <p:spPr>
          <a:xfrm>
            <a:off x="9827419" y="1943100"/>
            <a:ext cx="39529" cy="76200"/>
          </a:xfrm>
          <a:prstGeom prst="roundRect">
            <a:avLst/>
          </a:prstGeom>
          <a:solidFill>
            <a:srgbClr val="E5F1F3"/>
          </a:solidFill>
          <a:ln/>
        </p:spPr>
      </p:sp>
      <p:sp>
        <p:nvSpPr>
          <p:cNvPr id="197" name="Shape 194"/>
          <p:cNvSpPr/>
          <p:nvPr/>
        </p:nvSpPr>
        <p:spPr>
          <a:xfrm>
            <a:off x="9863138" y="1943100"/>
            <a:ext cx="39529" cy="76200"/>
          </a:xfrm>
          <a:prstGeom prst="roundRect">
            <a:avLst/>
          </a:prstGeom>
          <a:solidFill>
            <a:srgbClr val="DFEBF2"/>
          </a:solidFill>
          <a:ln/>
        </p:spPr>
      </p:sp>
      <p:sp>
        <p:nvSpPr>
          <p:cNvPr id="198" name="Shape 195"/>
          <p:cNvSpPr/>
          <p:nvPr/>
        </p:nvSpPr>
        <p:spPr>
          <a:xfrm>
            <a:off x="9898856" y="1943100"/>
            <a:ext cx="39529" cy="76200"/>
          </a:xfrm>
          <a:prstGeom prst="roundRect">
            <a:avLst/>
          </a:prstGeom>
          <a:solidFill>
            <a:srgbClr val="DAE4F2"/>
          </a:solidFill>
          <a:ln/>
        </p:spPr>
      </p:sp>
      <p:sp>
        <p:nvSpPr>
          <p:cNvPr id="199" name="Shape 196"/>
          <p:cNvSpPr/>
          <p:nvPr/>
        </p:nvSpPr>
        <p:spPr>
          <a:xfrm>
            <a:off x="9934575" y="1943100"/>
            <a:ext cx="39529" cy="76200"/>
          </a:xfrm>
          <a:prstGeom prst="roundRect">
            <a:avLst/>
          </a:prstGeom>
          <a:solidFill>
            <a:srgbClr val="D5DEF1"/>
          </a:solidFill>
          <a:ln/>
        </p:spPr>
      </p:sp>
      <p:sp>
        <p:nvSpPr>
          <p:cNvPr id="200" name="Shape 197"/>
          <p:cNvSpPr/>
          <p:nvPr/>
        </p:nvSpPr>
        <p:spPr>
          <a:xfrm>
            <a:off x="9970294" y="1943100"/>
            <a:ext cx="39529" cy="76200"/>
          </a:xfrm>
          <a:prstGeom prst="roundRect">
            <a:avLst/>
          </a:prstGeom>
          <a:solidFill>
            <a:srgbClr val="CFD8F0"/>
          </a:solidFill>
          <a:ln/>
        </p:spPr>
      </p:sp>
      <p:sp>
        <p:nvSpPr>
          <p:cNvPr id="201" name="Shape 198"/>
          <p:cNvSpPr/>
          <p:nvPr/>
        </p:nvSpPr>
        <p:spPr>
          <a:xfrm>
            <a:off x="10006013" y="1943100"/>
            <a:ext cx="39529" cy="76200"/>
          </a:xfrm>
          <a:prstGeom prst="roundRect">
            <a:avLst/>
          </a:prstGeom>
          <a:solidFill>
            <a:srgbClr val="CAD2EF"/>
          </a:solidFill>
          <a:ln/>
        </p:spPr>
      </p:sp>
      <p:sp>
        <p:nvSpPr>
          <p:cNvPr id="202" name="Shape 199"/>
          <p:cNvSpPr/>
          <p:nvPr/>
        </p:nvSpPr>
        <p:spPr>
          <a:xfrm>
            <a:off x="10041731" y="1943100"/>
            <a:ext cx="39529" cy="76200"/>
          </a:xfrm>
          <a:prstGeom prst="roundRect">
            <a:avLst/>
          </a:prstGeom>
          <a:solidFill>
            <a:srgbClr val="C5CCEF"/>
          </a:solidFill>
          <a:ln/>
        </p:spPr>
      </p:sp>
      <p:sp>
        <p:nvSpPr>
          <p:cNvPr id="203" name="Shape 200"/>
          <p:cNvSpPr/>
          <p:nvPr/>
        </p:nvSpPr>
        <p:spPr>
          <a:xfrm>
            <a:off x="10077450" y="1943100"/>
            <a:ext cx="39529" cy="76200"/>
          </a:xfrm>
          <a:prstGeom prst="roundRect">
            <a:avLst/>
          </a:prstGeom>
          <a:solidFill>
            <a:srgbClr val="BFC6EE"/>
          </a:solidFill>
          <a:ln/>
        </p:spPr>
      </p:sp>
      <p:sp>
        <p:nvSpPr>
          <p:cNvPr id="204" name="Shape 201"/>
          <p:cNvSpPr/>
          <p:nvPr/>
        </p:nvSpPr>
        <p:spPr>
          <a:xfrm>
            <a:off x="10113169" y="1943100"/>
            <a:ext cx="39529" cy="76200"/>
          </a:xfrm>
          <a:prstGeom prst="roundRect">
            <a:avLst/>
          </a:prstGeom>
          <a:solidFill>
            <a:srgbClr val="BABFED"/>
          </a:solidFill>
          <a:ln/>
        </p:spPr>
      </p:sp>
      <p:sp>
        <p:nvSpPr>
          <p:cNvPr id="205" name="Shape 202"/>
          <p:cNvSpPr/>
          <p:nvPr/>
        </p:nvSpPr>
        <p:spPr>
          <a:xfrm>
            <a:off x="10148888" y="1943100"/>
            <a:ext cx="39529" cy="76200"/>
          </a:xfrm>
          <a:prstGeom prst="roundRect">
            <a:avLst/>
          </a:prstGeom>
          <a:solidFill>
            <a:srgbClr val="B5B9EC"/>
          </a:solidFill>
          <a:ln/>
        </p:spPr>
      </p:sp>
      <p:sp>
        <p:nvSpPr>
          <p:cNvPr id="206" name="Shape 203"/>
          <p:cNvSpPr/>
          <p:nvPr/>
        </p:nvSpPr>
        <p:spPr>
          <a:xfrm>
            <a:off x="10184606" y="1943100"/>
            <a:ext cx="39529" cy="76200"/>
          </a:xfrm>
          <a:prstGeom prst="roundRect">
            <a:avLst/>
          </a:prstGeom>
          <a:solidFill>
            <a:srgbClr val="AFB3EB"/>
          </a:solidFill>
          <a:ln/>
        </p:spPr>
      </p:sp>
      <p:sp>
        <p:nvSpPr>
          <p:cNvPr id="207" name="Shape 204"/>
          <p:cNvSpPr/>
          <p:nvPr/>
        </p:nvSpPr>
        <p:spPr>
          <a:xfrm>
            <a:off x="10220325" y="1943100"/>
            <a:ext cx="39529" cy="76200"/>
          </a:xfrm>
          <a:prstGeom prst="roundRect">
            <a:avLst/>
          </a:prstGeom>
          <a:solidFill>
            <a:srgbClr val="AAADEB"/>
          </a:solidFill>
          <a:ln/>
        </p:spPr>
      </p:sp>
      <p:sp>
        <p:nvSpPr>
          <p:cNvPr id="208" name="Shape 205"/>
          <p:cNvSpPr/>
          <p:nvPr/>
        </p:nvSpPr>
        <p:spPr>
          <a:xfrm>
            <a:off x="10256044" y="1943100"/>
            <a:ext cx="39529" cy="76200"/>
          </a:xfrm>
          <a:prstGeom prst="roundRect">
            <a:avLst/>
          </a:prstGeom>
          <a:solidFill>
            <a:srgbClr val="A4A7EA"/>
          </a:solidFill>
          <a:ln/>
        </p:spPr>
      </p:sp>
      <p:sp>
        <p:nvSpPr>
          <p:cNvPr id="209" name="Shape 206"/>
          <p:cNvSpPr/>
          <p:nvPr/>
        </p:nvSpPr>
        <p:spPr>
          <a:xfrm>
            <a:off x="10291763" y="1943100"/>
            <a:ext cx="39529" cy="76200"/>
          </a:xfrm>
          <a:prstGeom prst="roundRect">
            <a:avLst/>
          </a:prstGeom>
          <a:solidFill>
            <a:srgbClr val="9FA1E9"/>
          </a:solidFill>
          <a:ln/>
        </p:spPr>
      </p:sp>
      <p:sp>
        <p:nvSpPr>
          <p:cNvPr id="210" name="Shape 207"/>
          <p:cNvSpPr/>
          <p:nvPr/>
        </p:nvSpPr>
        <p:spPr>
          <a:xfrm>
            <a:off x="10327481" y="1943100"/>
            <a:ext cx="39529" cy="76200"/>
          </a:xfrm>
          <a:prstGeom prst="roundRect">
            <a:avLst/>
          </a:prstGeom>
          <a:solidFill>
            <a:srgbClr val="9A9AE8"/>
          </a:solidFill>
          <a:ln/>
        </p:spPr>
      </p:sp>
      <p:sp>
        <p:nvSpPr>
          <p:cNvPr id="211" name="Shape 208"/>
          <p:cNvSpPr/>
          <p:nvPr/>
        </p:nvSpPr>
        <p:spPr>
          <a:xfrm>
            <a:off x="10363200" y="1943100"/>
            <a:ext cx="39529" cy="76200"/>
          </a:xfrm>
          <a:prstGeom prst="roundRect">
            <a:avLst/>
          </a:prstGeom>
          <a:solidFill>
            <a:srgbClr val="9494E7"/>
          </a:solidFill>
          <a:ln/>
        </p:spPr>
      </p:sp>
      <p:sp>
        <p:nvSpPr>
          <p:cNvPr id="212" name="Shape 209"/>
          <p:cNvSpPr/>
          <p:nvPr/>
        </p:nvSpPr>
        <p:spPr>
          <a:xfrm>
            <a:off x="10398919" y="1943100"/>
            <a:ext cx="39529" cy="76200"/>
          </a:xfrm>
          <a:prstGeom prst="roundRect">
            <a:avLst/>
          </a:prstGeom>
          <a:solidFill>
            <a:srgbClr val="8F8EE7"/>
          </a:solidFill>
          <a:ln/>
        </p:spPr>
      </p:sp>
      <p:sp>
        <p:nvSpPr>
          <p:cNvPr id="213" name="Shape 210"/>
          <p:cNvSpPr/>
          <p:nvPr/>
        </p:nvSpPr>
        <p:spPr>
          <a:xfrm>
            <a:off x="10434638" y="1943100"/>
            <a:ext cx="39529" cy="76200"/>
          </a:xfrm>
          <a:prstGeom prst="roundRect">
            <a:avLst/>
          </a:prstGeom>
          <a:solidFill>
            <a:srgbClr val="8A88E6"/>
          </a:solidFill>
          <a:ln/>
        </p:spPr>
      </p:sp>
      <p:sp>
        <p:nvSpPr>
          <p:cNvPr id="214" name="Shape 211"/>
          <p:cNvSpPr/>
          <p:nvPr/>
        </p:nvSpPr>
        <p:spPr>
          <a:xfrm>
            <a:off x="10470356" y="1943100"/>
            <a:ext cx="39529" cy="76200"/>
          </a:xfrm>
          <a:prstGeom prst="roundRect">
            <a:avLst/>
          </a:prstGeom>
          <a:solidFill>
            <a:srgbClr val="8482E5"/>
          </a:solidFill>
          <a:ln/>
        </p:spPr>
      </p:sp>
      <p:sp>
        <p:nvSpPr>
          <p:cNvPr id="215" name="Shape 212"/>
          <p:cNvSpPr/>
          <p:nvPr/>
        </p:nvSpPr>
        <p:spPr>
          <a:xfrm>
            <a:off x="10506075" y="1943100"/>
            <a:ext cx="39529" cy="76200"/>
          </a:xfrm>
          <a:prstGeom prst="roundRect">
            <a:avLst/>
          </a:prstGeom>
          <a:solidFill>
            <a:srgbClr val="7F7CE4"/>
          </a:solidFill>
          <a:ln/>
        </p:spPr>
      </p:sp>
      <p:sp>
        <p:nvSpPr>
          <p:cNvPr id="216" name="Shape 213"/>
          <p:cNvSpPr/>
          <p:nvPr/>
        </p:nvSpPr>
        <p:spPr>
          <a:xfrm>
            <a:off x="10541794" y="1943100"/>
            <a:ext cx="39529" cy="76200"/>
          </a:xfrm>
          <a:prstGeom prst="roundRect">
            <a:avLst/>
          </a:prstGeom>
          <a:solidFill>
            <a:srgbClr val="7A75E4"/>
          </a:solidFill>
          <a:ln/>
        </p:spPr>
      </p:sp>
      <p:sp>
        <p:nvSpPr>
          <p:cNvPr id="217" name="Shape 214"/>
          <p:cNvSpPr/>
          <p:nvPr/>
        </p:nvSpPr>
        <p:spPr>
          <a:xfrm>
            <a:off x="10577513" y="1943100"/>
            <a:ext cx="39529" cy="76200"/>
          </a:xfrm>
          <a:prstGeom prst="roundRect">
            <a:avLst/>
          </a:prstGeom>
          <a:solidFill>
            <a:srgbClr val="746FE3"/>
          </a:solidFill>
          <a:ln/>
        </p:spPr>
      </p:sp>
      <p:sp>
        <p:nvSpPr>
          <p:cNvPr id="218" name="Shape 215"/>
          <p:cNvSpPr/>
          <p:nvPr/>
        </p:nvSpPr>
        <p:spPr>
          <a:xfrm>
            <a:off x="10613231" y="1943100"/>
            <a:ext cx="39529" cy="76200"/>
          </a:xfrm>
          <a:prstGeom prst="roundRect">
            <a:avLst/>
          </a:prstGeom>
          <a:solidFill>
            <a:srgbClr val="6F69E2"/>
          </a:solidFill>
          <a:ln/>
        </p:spPr>
      </p:sp>
      <p:sp>
        <p:nvSpPr>
          <p:cNvPr id="219" name="Text 216"/>
          <p:cNvSpPr/>
          <p:nvPr/>
        </p:nvSpPr>
        <p:spPr>
          <a:xfrm>
            <a:off x="9296400" y="1905000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0.026</a:t>
            </a:r>
            <a:endParaRPr lang="en-US" sz="680" dirty="0"/>
          </a:p>
        </p:txBody>
      </p:sp>
      <p:sp>
        <p:nvSpPr>
          <p:cNvPr id="220" name="Text 217"/>
          <p:cNvSpPr/>
          <p:nvPr/>
        </p:nvSpPr>
        <p:spPr>
          <a:xfrm>
            <a:off x="10687050" y="1905000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0.217</a:t>
            </a:r>
            <a:endParaRPr lang="en-US" sz="680" dirty="0"/>
          </a:p>
        </p:txBody>
      </p:sp>
      <p:sp>
        <p:nvSpPr>
          <p:cNvPr id="221" name="Shape 218"/>
          <p:cNvSpPr/>
          <p:nvPr/>
        </p:nvSpPr>
        <p:spPr>
          <a:xfrm>
            <a:off x="91440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222" name="Text 219"/>
          <p:cNvSpPr/>
          <p:nvPr/>
        </p:nvSpPr>
        <p:spPr>
          <a:xfrm>
            <a:off x="91440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 18시 0.217</a:t>
            </a:r>
            <a:endParaRPr lang="en-US" sz="900" dirty="0"/>
          </a:p>
        </p:txBody>
      </p:sp>
      <p:sp>
        <p:nvSpPr>
          <p:cNvPr id="223" name="Shape 220"/>
          <p:cNvSpPr/>
          <p:nvPr/>
        </p:nvSpPr>
        <p:spPr>
          <a:xfrm>
            <a:off x="264795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24" name="Text 221"/>
          <p:cNvSpPr/>
          <p:nvPr/>
        </p:nvSpPr>
        <p:spPr>
          <a:xfrm>
            <a:off x="264795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 19시 0.217</a:t>
            </a:r>
            <a:endParaRPr lang="en-US" sz="900" dirty="0"/>
          </a:p>
        </p:txBody>
      </p:sp>
      <p:sp>
        <p:nvSpPr>
          <p:cNvPr id="225" name="Shape 222"/>
          <p:cNvSpPr/>
          <p:nvPr/>
        </p:nvSpPr>
        <p:spPr>
          <a:xfrm>
            <a:off x="438150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438150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 17시 0.195</a:t>
            </a:r>
            <a:endParaRPr lang="en-US" sz="900" dirty="0"/>
          </a:p>
        </p:txBody>
      </p:sp>
      <p:sp>
        <p:nvSpPr>
          <p:cNvPr id="227" name="Shape 224"/>
          <p:cNvSpPr/>
          <p:nvPr/>
        </p:nvSpPr>
        <p:spPr>
          <a:xfrm>
            <a:off x="611505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28" name="Text 225"/>
          <p:cNvSpPr/>
          <p:nvPr/>
        </p:nvSpPr>
        <p:spPr>
          <a:xfrm>
            <a:off x="611505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 20시 0.193</a:t>
            </a:r>
            <a:endParaRPr lang="en-US" sz="900" dirty="0"/>
          </a:p>
        </p:txBody>
      </p:sp>
      <p:sp>
        <p:nvSpPr>
          <p:cNvPr id="229" name="Shape 226"/>
          <p:cNvSpPr/>
          <p:nvPr/>
        </p:nvSpPr>
        <p:spPr>
          <a:xfrm>
            <a:off x="784860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30" name="Text 227"/>
          <p:cNvSpPr/>
          <p:nvPr/>
        </p:nvSpPr>
        <p:spPr>
          <a:xfrm>
            <a:off x="784860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 18시 0.192</a:t>
            </a:r>
            <a:endParaRPr lang="en-US" sz="900" dirty="0"/>
          </a:p>
        </p:txBody>
      </p:sp>
      <p:sp>
        <p:nvSpPr>
          <p:cNvPr id="231" name="Shape 228"/>
          <p:cNvSpPr/>
          <p:nvPr/>
        </p:nvSpPr>
        <p:spPr>
          <a:xfrm>
            <a:off x="9582150" y="48196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F7F7FA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32" name="Text 229"/>
          <p:cNvSpPr/>
          <p:nvPr/>
        </p:nvSpPr>
        <p:spPr>
          <a:xfrm>
            <a:off x="9582150" y="4905375"/>
            <a:ext cx="1619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화 20시 0.188</a:t>
            </a:r>
            <a:endParaRPr lang="en-US" sz="900" dirty="0"/>
          </a:p>
        </p:txBody>
      </p:sp>
      <p:sp>
        <p:nvSpPr>
          <p:cNvPr id="233" name="Text 230"/>
          <p:cNvSpPr/>
          <p:nvPr/>
        </p:nvSpPr>
        <p:spPr>
          <a:xfrm>
            <a:off x="914400" y="53149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상위 시간대는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일요일 17~19시, 월·화·수 19~20시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 집중돼 있음. 이 구간이 채널의 실질적 프라임타임임.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 시간과 채널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어디가 좋아졌는가 — 2026년 − 2025년 증감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143250"/>
          </a:xfrm>
          <a:prstGeom prst="roundRect">
            <a:avLst>
              <a:gd name="adj" fmla="val 424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152650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</a:t>
            </a:r>
            <a:endParaRPr lang="en-US" sz="830" dirty="0"/>
          </a:p>
        </p:txBody>
      </p:sp>
      <p:sp>
        <p:nvSpPr>
          <p:cNvPr id="9" name="Shape 6"/>
          <p:cNvSpPr/>
          <p:nvPr/>
        </p:nvSpPr>
        <p:spPr>
          <a:xfrm>
            <a:off x="1703070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CD4F0"/>
          </a:solidFill>
          <a:ln/>
        </p:spPr>
      </p:sp>
      <p:sp>
        <p:nvSpPr>
          <p:cNvPr id="10" name="Shape 7"/>
          <p:cNvSpPr/>
          <p:nvPr/>
        </p:nvSpPr>
        <p:spPr>
          <a:xfrm>
            <a:off x="2094389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2DCF1"/>
          </a:solidFill>
          <a:ln/>
        </p:spPr>
      </p:sp>
      <p:sp>
        <p:nvSpPr>
          <p:cNvPr id="11" name="Shape 8"/>
          <p:cNvSpPr/>
          <p:nvPr/>
        </p:nvSpPr>
        <p:spPr>
          <a:xfrm>
            <a:off x="2485708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CD4F0"/>
          </a:solidFill>
          <a:ln/>
        </p:spPr>
      </p:sp>
      <p:sp>
        <p:nvSpPr>
          <p:cNvPr id="12" name="Shape 9"/>
          <p:cNvSpPr/>
          <p:nvPr/>
        </p:nvSpPr>
        <p:spPr>
          <a:xfrm>
            <a:off x="2877026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F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3268345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6C9C9"/>
          </a:solidFill>
          <a:ln/>
        </p:spPr>
      </p:sp>
      <p:sp>
        <p:nvSpPr>
          <p:cNvPr id="14" name="Shape 11"/>
          <p:cNvSpPr/>
          <p:nvPr/>
        </p:nvSpPr>
        <p:spPr>
          <a:xfrm>
            <a:off x="3659664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FF0F0"/>
          </a:solidFill>
          <a:ln/>
        </p:spPr>
      </p:sp>
      <p:sp>
        <p:nvSpPr>
          <p:cNvPr id="15" name="Shape 12"/>
          <p:cNvSpPr/>
          <p:nvPr/>
        </p:nvSpPr>
        <p:spPr>
          <a:xfrm>
            <a:off x="4050983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DE7E7"/>
          </a:solidFill>
          <a:ln/>
        </p:spPr>
      </p:sp>
      <p:sp>
        <p:nvSpPr>
          <p:cNvPr id="16" name="Shape 13"/>
          <p:cNvSpPr/>
          <p:nvPr/>
        </p:nvSpPr>
        <p:spPr>
          <a:xfrm>
            <a:off x="4442301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7CFEF"/>
          </a:solidFill>
          <a:ln/>
        </p:spPr>
      </p:sp>
      <p:sp>
        <p:nvSpPr>
          <p:cNvPr id="17" name="Shape 14"/>
          <p:cNvSpPr/>
          <p:nvPr/>
        </p:nvSpPr>
        <p:spPr>
          <a:xfrm>
            <a:off x="4833620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BDCDC"/>
          </a:solidFill>
          <a:ln/>
        </p:spPr>
      </p:sp>
      <p:sp>
        <p:nvSpPr>
          <p:cNvPr id="18" name="Shape 15"/>
          <p:cNvSpPr/>
          <p:nvPr/>
        </p:nvSpPr>
        <p:spPr>
          <a:xfrm>
            <a:off x="5224939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2DBF0"/>
          </a:solidFill>
          <a:ln/>
        </p:spPr>
      </p:sp>
      <p:sp>
        <p:nvSpPr>
          <p:cNvPr id="19" name="Shape 16"/>
          <p:cNvSpPr/>
          <p:nvPr/>
        </p:nvSpPr>
        <p:spPr>
          <a:xfrm>
            <a:off x="5616258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6F69E2"/>
          </a:solidFill>
          <a:ln/>
        </p:spPr>
      </p:sp>
      <p:sp>
        <p:nvSpPr>
          <p:cNvPr id="20" name="Shape 17"/>
          <p:cNvSpPr/>
          <p:nvPr/>
        </p:nvSpPr>
        <p:spPr>
          <a:xfrm>
            <a:off x="6007576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4DDF1"/>
          </a:solidFill>
          <a:ln/>
        </p:spPr>
      </p:sp>
      <p:sp>
        <p:nvSpPr>
          <p:cNvPr id="21" name="Shape 18"/>
          <p:cNvSpPr/>
          <p:nvPr/>
        </p:nvSpPr>
        <p:spPr>
          <a:xfrm>
            <a:off x="6398895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0C7EE"/>
          </a:solidFill>
          <a:ln/>
        </p:spPr>
      </p:sp>
      <p:sp>
        <p:nvSpPr>
          <p:cNvPr id="22" name="Shape 19"/>
          <p:cNvSpPr/>
          <p:nvPr/>
        </p:nvSpPr>
        <p:spPr>
          <a:xfrm>
            <a:off x="6790214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6BAEC"/>
          </a:solidFill>
          <a:ln/>
        </p:spPr>
      </p:sp>
      <p:sp>
        <p:nvSpPr>
          <p:cNvPr id="23" name="Shape 20"/>
          <p:cNvSpPr/>
          <p:nvPr/>
        </p:nvSpPr>
        <p:spPr>
          <a:xfrm>
            <a:off x="7181533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FC5EE"/>
          </a:solidFill>
          <a:ln/>
        </p:spPr>
      </p:sp>
      <p:sp>
        <p:nvSpPr>
          <p:cNvPr id="24" name="Shape 21"/>
          <p:cNvSpPr/>
          <p:nvPr/>
        </p:nvSpPr>
        <p:spPr>
          <a:xfrm>
            <a:off x="7572851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3A5EA"/>
          </a:solidFill>
          <a:ln/>
        </p:spPr>
      </p:sp>
      <p:sp>
        <p:nvSpPr>
          <p:cNvPr id="25" name="Shape 22"/>
          <p:cNvSpPr/>
          <p:nvPr/>
        </p:nvSpPr>
        <p:spPr>
          <a:xfrm>
            <a:off x="7964170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CC2ED"/>
          </a:solidFill>
          <a:ln/>
        </p:spPr>
      </p:sp>
      <p:sp>
        <p:nvSpPr>
          <p:cNvPr id="26" name="Shape 23"/>
          <p:cNvSpPr/>
          <p:nvPr/>
        </p:nvSpPr>
        <p:spPr>
          <a:xfrm>
            <a:off x="8355489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7CEEF"/>
          </a:solidFill>
          <a:ln/>
        </p:spPr>
      </p:sp>
      <p:sp>
        <p:nvSpPr>
          <p:cNvPr id="27" name="Shape 24"/>
          <p:cNvSpPr/>
          <p:nvPr/>
        </p:nvSpPr>
        <p:spPr>
          <a:xfrm>
            <a:off x="8746807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7AAEA"/>
          </a:solidFill>
          <a:ln/>
        </p:spPr>
      </p:sp>
      <p:sp>
        <p:nvSpPr>
          <p:cNvPr id="28" name="Shape 25"/>
          <p:cNvSpPr/>
          <p:nvPr/>
        </p:nvSpPr>
        <p:spPr>
          <a:xfrm>
            <a:off x="9138126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3EFF3"/>
          </a:solidFill>
          <a:ln/>
        </p:spPr>
      </p:sp>
      <p:sp>
        <p:nvSpPr>
          <p:cNvPr id="29" name="Shape 26"/>
          <p:cNvSpPr/>
          <p:nvPr/>
        </p:nvSpPr>
        <p:spPr>
          <a:xfrm>
            <a:off x="9529445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FD8F0"/>
          </a:solidFill>
          <a:ln/>
        </p:spPr>
      </p:sp>
      <p:sp>
        <p:nvSpPr>
          <p:cNvPr id="30" name="Shape 27"/>
          <p:cNvSpPr/>
          <p:nvPr/>
        </p:nvSpPr>
        <p:spPr>
          <a:xfrm>
            <a:off x="9920764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9BEED"/>
          </a:solidFill>
          <a:ln/>
        </p:spPr>
      </p:sp>
      <p:sp>
        <p:nvSpPr>
          <p:cNvPr id="31" name="Shape 28"/>
          <p:cNvSpPr/>
          <p:nvPr/>
        </p:nvSpPr>
        <p:spPr>
          <a:xfrm>
            <a:off x="10312083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DED"/>
          </a:solidFill>
          <a:ln/>
        </p:spPr>
      </p:sp>
      <p:sp>
        <p:nvSpPr>
          <p:cNvPr id="32" name="Shape 29"/>
          <p:cNvSpPr/>
          <p:nvPr/>
        </p:nvSpPr>
        <p:spPr>
          <a:xfrm>
            <a:off x="10703401" y="2160270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33" name="Text 30"/>
          <p:cNvSpPr/>
          <p:nvPr/>
        </p:nvSpPr>
        <p:spPr>
          <a:xfrm>
            <a:off x="1104900" y="2506436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화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1703070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3EFF3"/>
          </a:solidFill>
          <a:ln/>
        </p:spPr>
      </p:sp>
      <p:sp>
        <p:nvSpPr>
          <p:cNvPr id="35" name="Shape 32"/>
          <p:cNvSpPr/>
          <p:nvPr/>
        </p:nvSpPr>
        <p:spPr>
          <a:xfrm>
            <a:off x="2094389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3DDF1"/>
          </a:solidFill>
          <a:ln/>
        </p:spPr>
      </p:sp>
      <p:sp>
        <p:nvSpPr>
          <p:cNvPr id="36" name="Shape 33"/>
          <p:cNvSpPr/>
          <p:nvPr/>
        </p:nvSpPr>
        <p:spPr>
          <a:xfrm>
            <a:off x="2485708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AE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2877026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9D7D7"/>
          </a:solidFill>
          <a:ln/>
        </p:spPr>
      </p:sp>
      <p:sp>
        <p:nvSpPr>
          <p:cNvPr id="38" name="Shape 35"/>
          <p:cNvSpPr/>
          <p:nvPr/>
        </p:nvSpPr>
        <p:spPr>
          <a:xfrm>
            <a:off x="3268345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2E2"/>
          </a:solidFill>
          <a:ln/>
        </p:spPr>
      </p:sp>
      <p:sp>
        <p:nvSpPr>
          <p:cNvPr id="39" name="Shape 36"/>
          <p:cNvSpPr/>
          <p:nvPr/>
        </p:nvSpPr>
        <p:spPr>
          <a:xfrm>
            <a:off x="3659664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DE7E7"/>
          </a:solidFill>
          <a:ln/>
        </p:spPr>
      </p:sp>
      <p:sp>
        <p:nvSpPr>
          <p:cNvPr id="40" name="Shape 37"/>
          <p:cNvSpPr/>
          <p:nvPr/>
        </p:nvSpPr>
        <p:spPr>
          <a:xfrm>
            <a:off x="4050983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BDDDD"/>
          </a:solidFill>
          <a:ln/>
        </p:spPr>
      </p:sp>
      <p:sp>
        <p:nvSpPr>
          <p:cNvPr id="41" name="Shape 38"/>
          <p:cNvSpPr/>
          <p:nvPr/>
        </p:nvSpPr>
        <p:spPr>
          <a:xfrm>
            <a:off x="4442301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FF1"/>
          </a:solidFill>
          <a:ln/>
        </p:spPr>
      </p:sp>
      <p:sp>
        <p:nvSpPr>
          <p:cNvPr id="42" name="Shape 39"/>
          <p:cNvSpPr/>
          <p:nvPr/>
        </p:nvSpPr>
        <p:spPr>
          <a:xfrm>
            <a:off x="4833620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AE5F2"/>
          </a:solidFill>
          <a:ln/>
        </p:spPr>
      </p:sp>
      <p:sp>
        <p:nvSpPr>
          <p:cNvPr id="43" name="Shape 40"/>
          <p:cNvSpPr/>
          <p:nvPr/>
        </p:nvSpPr>
        <p:spPr>
          <a:xfrm>
            <a:off x="5224939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6E0F1"/>
          </a:solidFill>
          <a:ln/>
        </p:spPr>
      </p:sp>
      <p:sp>
        <p:nvSpPr>
          <p:cNvPr id="44" name="Shape 41"/>
          <p:cNvSpPr/>
          <p:nvPr/>
        </p:nvSpPr>
        <p:spPr>
          <a:xfrm>
            <a:off x="5616258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FEAF2"/>
          </a:solidFill>
          <a:ln/>
        </p:spPr>
      </p:sp>
      <p:sp>
        <p:nvSpPr>
          <p:cNvPr id="45" name="Shape 42"/>
          <p:cNvSpPr/>
          <p:nvPr/>
        </p:nvSpPr>
        <p:spPr>
          <a:xfrm>
            <a:off x="6007576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EC4EE"/>
          </a:solidFill>
          <a:ln/>
        </p:spPr>
      </p:sp>
      <p:sp>
        <p:nvSpPr>
          <p:cNvPr id="46" name="Shape 43"/>
          <p:cNvSpPr/>
          <p:nvPr/>
        </p:nvSpPr>
        <p:spPr>
          <a:xfrm>
            <a:off x="6398895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3DDF1"/>
          </a:solidFill>
          <a:ln/>
        </p:spPr>
      </p:sp>
      <p:sp>
        <p:nvSpPr>
          <p:cNvPr id="47" name="Shape 44"/>
          <p:cNvSpPr/>
          <p:nvPr/>
        </p:nvSpPr>
        <p:spPr>
          <a:xfrm>
            <a:off x="6790214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6CEEF"/>
          </a:solidFill>
          <a:ln/>
        </p:spPr>
      </p:sp>
      <p:sp>
        <p:nvSpPr>
          <p:cNvPr id="48" name="Shape 45"/>
          <p:cNvSpPr/>
          <p:nvPr/>
        </p:nvSpPr>
        <p:spPr>
          <a:xfrm>
            <a:off x="7181533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3CAEE"/>
          </a:solidFill>
          <a:ln/>
        </p:spPr>
      </p:sp>
      <p:sp>
        <p:nvSpPr>
          <p:cNvPr id="49" name="Shape 46"/>
          <p:cNvSpPr/>
          <p:nvPr/>
        </p:nvSpPr>
        <p:spPr>
          <a:xfrm>
            <a:off x="7572851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D9FE9"/>
          </a:solidFill>
          <a:ln/>
        </p:spPr>
      </p:sp>
      <p:sp>
        <p:nvSpPr>
          <p:cNvPr id="50" name="Shape 47"/>
          <p:cNvSpPr/>
          <p:nvPr/>
        </p:nvSpPr>
        <p:spPr>
          <a:xfrm>
            <a:off x="7964170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DD6F0"/>
          </a:solidFill>
          <a:ln/>
        </p:spPr>
      </p:sp>
      <p:sp>
        <p:nvSpPr>
          <p:cNvPr id="51" name="Shape 48"/>
          <p:cNvSpPr/>
          <p:nvPr/>
        </p:nvSpPr>
        <p:spPr>
          <a:xfrm>
            <a:off x="8355489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2EDF3"/>
          </a:solidFill>
          <a:ln/>
        </p:spPr>
      </p:sp>
      <p:sp>
        <p:nvSpPr>
          <p:cNvPr id="52" name="Shape 49"/>
          <p:cNvSpPr/>
          <p:nvPr/>
        </p:nvSpPr>
        <p:spPr>
          <a:xfrm>
            <a:off x="8746807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AADEB"/>
          </a:solidFill>
          <a:ln/>
        </p:spPr>
      </p:sp>
      <p:sp>
        <p:nvSpPr>
          <p:cNvPr id="53" name="Shape 50"/>
          <p:cNvSpPr/>
          <p:nvPr/>
        </p:nvSpPr>
        <p:spPr>
          <a:xfrm>
            <a:off x="9138126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1E1"/>
          </a:solidFill>
          <a:ln/>
        </p:spPr>
      </p:sp>
      <p:sp>
        <p:nvSpPr>
          <p:cNvPr id="54" name="Shape 51"/>
          <p:cNvSpPr/>
          <p:nvPr/>
        </p:nvSpPr>
        <p:spPr>
          <a:xfrm>
            <a:off x="9529445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3DCF1"/>
          </a:solidFill>
          <a:ln/>
        </p:spPr>
      </p:sp>
      <p:sp>
        <p:nvSpPr>
          <p:cNvPr id="55" name="Shape 52"/>
          <p:cNvSpPr/>
          <p:nvPr/>
        </p:nvSpPr>
        <p:spPr>
          <a:xfrm>
            <a:off x="9920764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2C9EE"/>
          </a:solidFill>
          <a:ln/>
        </p:spPr>
      </p:sp>
      <p:sp>
        <p:nvSpPr>
          <p:cNvPr id="56" name="Shape 53"/>
          <p:cNvSpPr/>
          <p:nvPr/>
        </p:nvSpPr>
        <p:spPr>
          <a:xfrm>
            <a:off x="10312083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3EFF3"/>
          </a:solidFill>
          <a:ln/>
        </p:spPr>
      </p:sp>
      <p:sp>
        <p:nvSpPr>
          <p:cNvPr id="57" name="Shape 54"/>
          <p:cNvSpPr/>
          <p:nvPr/>
        </p:nvSpPr>
        <p:spPr>
          <a:xfrm>
            <a:off x="10703401" y="2514056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DE9E9"/>
          </a:solidFill>
          <a:ln/>
        </p:spPr>
      </p:sp>
      <p:sp>
        <p:nvSpPr>
          <p:cNvPr id="58" name="Text 55"/>
          <p:cNvSpPr/>
          <p:nvPr/>
        </p:nvSpPr>
        <p:spPr>
          <a:xfrm>
            <a:off x="1104900" y="2860221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수</a:t>
            </a:r>
            <a:endParaRPr lang="en-US" sz="830" dirty="0"/>
          </a:p>
        </p:txBody>
      </p:sp>
      <p:sp>
        <p:nvSpPr>
          <p:cNvPr id="59" name="Shape 56"/>
          <p:cNvSpPr/>
          <p:nvPr/>
        </p:nvSpPr>
        <p:spPr>
          <a:xfrm>
            <a:off x="1703070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4E4"/>
          </a:solidFill>
          <a:ln/>
        </p:spPr>
      </p:sp>
      <p:sp>
        <p:nvSpPr>
          <p:cNvPr id="60" name="Shape 57"/>
          <p:cNvSpPr/>
          <p:nvPr/>
        </p:nvSpPr>
        <p:spPr>
          <a:xfrm>
            <a:off x="2094389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BDEDE"/>
          </a:solidFill>
          <a:ln/>
        </p:spPr>
      </p:sp>
      <p:sp>
        <p:nvSpPr>
          <p:cNvPr id="61" name="Shape 58"/>
          <p:cNvSpPr/>
          <p:nvPr/>
        </p:nvSpPr>
        <p:spPr>
          <a:xfrm>
            <a:off x="2485708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CEC"/>
          </a:solidFill>
          <a:ln/>
        </p:spPr>
      </p:sp>
      <p:sp>
        <p:nvSpPr>
          <p:cNvPr id="62" name="Shape 59"/>
          <p:cNvSpPr/>
          <p:nvPr/>
        </p:nvSpPr>
        <p:spPr>
          <a:xfrm>
            <a:off x="2877026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AD9D9"/>
          </a:solidFill>
          <a:ln/>
        </p:spPr>
      </p:sp>
      <p:sp>
        <p:nvSpPr>
          <p:cNvPr id="63" name="Shape 60"/>
          <p:cNvSpPr/>
          <p:nvPr/>
        </p:nvSpPr>
        <p:spPr>
          <a:xfrm>
            <a:off x="3268345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8D1D1"/>
          </a:solidFill>
          <a:ln/>
        </p:spPr>
      </p:sp>
      <p:sp>
        <p:nvSpPr>
          <p:cNvPr id="64" name="Shape 61"/>
          <p:cNvSpPr/>
          <p:nvPr/>
        </p:nvSpPr>
        <p:spPr>
          <a:xfrm>
            <a:off x="3659664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AEA"/>
          </a:solidFill>
          <a:ln/>
        </p:spPr>
      </p:sp>
      <p:sp>
        <p:nvSpPr>
          <p:cNvPr id="65" name="Shape 62"/>
          <p:cNvSpPr/>
          <p:nvPr/>
        </p:nvSpPr>
        <p:spPr>
          <a:xfrm>
            <a:off x="4050983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7CBCB"/>
          </a:solidFill>
          <a:ln/>
        </p:spPr>
      </p:sp>
      <p:sp>
        <p:nvSpPr>
          <p:cNvPr id="66" name="Shape 63"/>
          <p:cNvSpPr/>
          <p:nvPr/>
        </p:nvSpPr>
        <p:spPr>
          <a:xfrm>
            <a:off x="4442301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BE6F2"/>
          </a:solidFill>
          <a:ln/>
        </p:spPr>
      </p:sp>
      <p:sp>
        <p:nvSpPr>
          <p:cNvPr id="67" name="Shape 64"/>
          <p:cNvSpPr/>
          <p:nvPr/>
        </p:nvSpPr>
        <p:spPr>
          <a:xfrm>
            <a:off x="4833620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1C7EE"/>
          </a:solidFill>
          <a:ln/>
        </p:spPr>
      </p:sp>
      <p:sp>
        <p:nvSpPr>
          <p:cNvPr id="68" name="Shape 65"/>
          <p:cNvSpPr/>
          <p:nvPr/>
        </p:nvSpPr>
        <p:spPr>
          <a:xfrm>
            <a:off x="5224939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6F3F3"/>
          </a:solidFill>
          <a:ln/>
        </p:spPr>
      </p:sp>
      <p:sp>
        <p:nvSpPr>
          <p:cNvPr id="69" name="Shape 66"/>
          <p:cNvSpPr/>
          <p:nvPr/>
        </p:nvSpPr>
        <p:spPr>
          <a:xfrm>
            <a:off x="5616258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2B6EC"/>
          </a:solidFill>
          <a:ln/>
        </p:spPr>
      </p:sp>
      <p:sp>
        <p:nvSpPr>
          <p:cNvPr id="70" name="Shape 67"/>
          <p:cNvSpPr/>
          <p:nvPr/>
        </p:nvSpPr>
        <p:spPr>
          <a:xfrm>
            <a:off x="6007576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7F3F4"/>
          </a:solidFill>
          <a:ln/>
        </p:spPr>
      </p:sp>
      <p:sp>
        <p:nvSpPr>
          <p:cNvPr id="71" name="Shape 68"/>
          <p:cNvSpPr/>
          <p:nvPr/>
        </p:nvSpPr>
        <p:spPr>
          <a:xfrm>
            <a:off x="6398895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8BDED"/>
          </a:solidFill>
          <a:ln/>
        </p:spPr>
      </p:sp>
      <p:sp>
        <p:nvSpPr>
          <p:cNvPr id="72" name="Shape 69"/>
          <p:cNvSpPr/>
          <p:nvPr/>
        </p:nvSpPr>
        <p:spPr>
          <a:xfrm>
            <a:off x="6790214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DD6F0"/>
          </a:solidFill>
          <a:ln/>
        </p:spPr>
      </p:sp>
      <p:sp>
        <p:nvSpPr>
          <p:cNvPr id="73" name="Shape 70"/>
          <p:cNvSpPr/>
          <p:nvPr/>
        </p:nvSpPr>
        <p:spPr>
          <a:xfrm>
            <a:off x="7181533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6E0F1"/>
          </a:solidFill>
          <a:ln/>
        </p:spPr>
      </p:sp>
      <p:sp>
        <p:nvSpPr>
          <p:cNvPr id="74" name="Shape 71"/>
          <p:cNvSpPr/>
          <p:nvPr/>
        </p:nvSpPr>
        <p:spPr>
          <a:xfrm>
            <a:off x="7572851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1B5EC"/>
          </a:solidFill>
          <a:ln/>
        </p:spPr>
      </p:sp>
      <p:sp>
        <p:nvSpPr>
          <p:cNvPr id="75" name="Shape 72"/>
          <p:cNvSpPr/>
          <p:nvPr/>
        </p:nvSpPr>
        <p:spPr>
          <a:xfrm>
            <a:off x="7964170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DD6F0"/>
          </a:solidFill>
          <a:ln/>
        </p:spPr>
      </p:sp>
      <p:sp>
        <p:nvSpPr>
          <p:cNvPr id="76" name="Shape 73"/>
          <p:cNvSpPr/>
          <p:nvPr/>
        </p:nvSpPr>
        <p:spPr>
          <a:xfrm>
            <a:off x="8355489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5A8EA"/>
          </a:solidFill>
          <a:ln/>
        </p:spPr>
      </p:sp>
      <p:sp>
        <p:nvSpPr>
          <p:cNvPr id="77" name="Shape 74"/>
          <p:cNvSpPr/>
          <p:nvPr/>
        </p:nvSpPr>
        <p:spPr>
          <a:xfrm>
            <a:off x="8746807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1A3E9"/>
          </a:solidFill>
          <a:ln/>
        </p:spPr>
      </p:sp>
      <p:sp>
        <p:nvSpPr>
          <p:cNvPr id="78" name="Shape 75"/>
          <p:cNvSpPr/>
          <p:nvPr/>
        </p:nvSpPr>
        <p:spPr>
          <a:xfrm>
            <a:off x="9138126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9D1EF"/>
          </a:solidFill>
          <a:ln/>
        </p:spPr>
      </p:sp>
      <p:sp>
        <p:nvSpPr>
          <p:cNvPr id="79" name="Shape 76"/>
          <p:cNvSpPr/>
          <p:nvPr/>
        </p:nvSpPr>
        <p:spPr>
          <a:xfrm>
            <a:off x="9529445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0ECF3"/>
          </a:solidFill>
          <a:ln/>
        </p:spPr>
      </p:sp>
      <p:sp>
        <p:nvSpPr>
          <p:cNvPr id="80" name="Shape 77"/>
          <p:cNvSpPr/>
          <p:nvPr/>
        </p:nvSpPr>
        <p:spPr>
          <a:xfrm>
            <a:off x="9920764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AD2EF"/>
          </a:solidFill>
          <a:ln/>
        </p:spPr>
      </p:sp>
      <p:sp>
        <p:nvSpPr>
          <p:cNvPr id="81" name="Shape 78"/>
          <p:cNvSpPr/>
          <p:nvPr/>
        </p:nvSpPr>
        <p:spPr>
          <a:xfrm>
            <a:off x="10312083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DE8F2"/>
          </a:solidFill>
          <a:ln/>
        </p:spPr>
      </p:sp>
      <p:sp>
        <p:nvSpPr>
          <p:cNvPr id="82" name="Shape 79"/>
          <p:cNvSpPr/>
          <p:nvPr/>
        </p:nvSpPr>
        <p:spPr>
          <a:xfrm>
            <a:off x="10703401" y="2867841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7F4F4"/>
          </a:solidFill>
          <a:ln/>
        </p:spPr>
      </p:sp>
      <p:sp>
        <p:nvSpPr>
          <p:cNvPr id="83" name="Text 80"/>
          <p:cNvSpPr/>
          <p:nvPr/>
        </p:nvSpPr>
        <p:spPr>
          <a:xfrm>
            <a:off x="1104900" y="3214007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목</a:t>
            </a:r>
            <a:endParaRPr lang="en-US" sz="830" dirty="0"/>
          </a:p>
        </p:txBody>
      </p:sp>
      <p:sp>
        <p:nvSpPr>
          <p:cNvPr id="84" name="Shape 81"/>
          <p:cNvSpPr/>
          <p:nvPr/>
        </p:nvSpPr>
        <p:spPr>
          <a:xfrm>
            <a:off x="1703070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6F2F3"/>
          </a:solidFill>
          <a:ln/>
        </p:spPr>
      </p:sp>
      <p:sp>
        <p:nvSpPr>
          <p:cNvPr id="85" name="Shape 82"/>
          <p:cNvSpPr/>
          <p:nvPr/>
        </p:nvSpPr>
        <p:spPr>
          <a:xfrm>
            <a:off x="2094389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3DCF1"/>
          </a:solidFill>
          <a:ln/>
        </p:spPr>
      </p:sp>
      <p:sp>
        <p:nvSpPr>
          <p:cNvPr id="86" name="Shape 83"/>
          <p:cNvSpPr/>
          <p:nvPr/>
        </p:nvSpPr>
        <p:spPr>
          <a:xfrm>
            <a:off x="2485708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1E1"/>
          </a:solidFill>
          <a:ln/>
        </p:spPr>
      </p:sp>
      <p:sp>
        <p:nvSpPr>
          <p:cNvPr id="87" name="Shape 84"/>
          <p:cNvSpPr/>
          <p:nvPr/>
        </p:nvSpPr>
        <p:spPr>
          <a:xfrm>
            <a:off x="2877026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8D1D1"/>
          </a:solidFill>
          <a:ln/>
        </p:spPr>
      </p:sp>
      <p:sp>
        <p:nvSpPr>
          <p:cNvPr id="88" name="Shape 85"/>
          <p:cNvSpPr/>
          <p:nvPr/>
        </p:nvSpPr>
        <p:spPr>
          <a:xfrm>
            <a:off x="3268345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7CCCC"/>
          </a:solidFill>
          <a:ln/>
        </p:spPr>
      </p:sp>
      <p:sp>
        <p:nvSpPr>
          <p:cNvPr id="89" name="Shape 86"/>
          <p:cNvSpPr/>
          <p:nvPr/>
        </p:nvSpPr>
        <p:spPr>
          <a:xfrm>
            <a:off x="3659664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AD9D9"/>
          </a:solidFill>
          <a:ln/>
        </p:spPr>
      </p:sp>
      <p:sp>
        <p:nvSpPr>
          <p:cNvPr id="90" name="Shape 87"/>
          <p:cNvSpPr/>
          <p:nvPr/>
        </p:nvSpPr>
        <p:spPr>
          <a:xfrm>
            <a:off x="4050983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FEEEE"/>
          </a:solidFill>
          <a:ln/>
        </p:spPr>
      </p:sp>
      <p:sp>
        <p:nvSpPr>
          <p:cNvPr id="91" name="Shape 88"/>
          <p:cNvSpPr/>
          <p:nvPr/>
        </p:nvSpPr>
        <p:spPr>
          <a:xfrm>
            <a:off x="4442301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2EEF3"/>
          </a:solidFill>
          <a:ln/>
        </p:spPr>
      </p:sp>
      <p:sp>
        <p:nvSpPr>
          <p:cNvPr id="92" name="Shape 89"/>
          <p:cNvSpPr/>
          <p:nvPr/>
        </p:nvSpPr>
        <p:spPr>
          <a:xfrm>
            <a:off x="4833620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ED7F0"/>
          </a:solidFill>
          <a:ln/>
        </p:spPr>
      </p:sp>
      <p:sp>
        <p:nvSpPr>
          <p:cNvPr id="93" name="Shape 90"/>
          <p:cNvSpPr/>
          <p:nvPr/>
        </p:nvSpPr>
        <p:spPr>
          <a:xfrm>
            <a:off x="5224939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9E3F1"/>
          </a:solidFill>
          <a:ln/>
        </p:spPr>
      </p:sp>
      <p:sp>
        <p:nvSpPr>
          <p:cNvPr id="94" name="Shape 91"/>
          <p:cNvSpPr/>
          <p:nvPr/>
        </p:nvSpPr>
        <p:spPr>
          <a:xfrm>
            <a:off x="5616258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2C8EE"/>
          </a:solidFill>
          <a:ln/>
        </p:spPr>
      </p:sp>
      <p:sp>
        <p:nvSpPr>
          <p:cNvPr id="95" name="Shape 92"/>
          <p:cNvSpPr/>
          <p:nvPr/>
        </p:nvSpPr>
        <p:spPr>
          <a:xfrm>
            <a:off x="6007576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9D1EF"/>
          </a:solidFill>
          <a:ln/>
        </p:spPr>
      </p:sp>
      <p:sp>
        <p:nvSpPr>
          <p:cNvPr id="96" name="Shape 93"/>
          <p:cNvSpPr/>
          <p:nvPr/>
        </p:nvSpPr>
        <p:spPr>
          <a:xfrm>
            <a:off x="6398895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FF1"/>
          </a:solidFill>
          <a:ln/>
        </p:spPr>
      </p:sp>
      <p:sp>
        <p:nvSpPr>
          <p:cNvPr id="97" name="Shape 94"/>
          <p:cNvSpPr/>
          <p:nvPr/>
        </p:nvSpPr>
        <p:spPr>
          <a:xfrm>
            <a:off x="6790214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9BEED"/>
          </a:solidFill>
          <a:ln/>
        </p:spPr>
      </p:sp>
      <p:sp>
        <p:nvSpPr>
          <p:cNvPr id="98" name="Shape 95"/>
          <p:cNvSpPr/>
          <p:nvPr/>
        </p:nvSpPr>
        <p:spPr>
          <a:xfrm>
            <a:off x="7181533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AAEEB"/>
          </a:solidFill>
          <a:ln/>
        </p:spPr>
      </p:sp>
      <p:sp>
        <p:nvSpPr>
          <p:cNvPr id="99" name="Shape 96"/>
          <p:cNvSpPr/>
          <p:nvPr/>
        </p:nvSpPr>
        <p:spPr>
          <a:xfrm>
            <a:off x="7572851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FB3EB"/>
          </a:solidFill>
          <a:ln/>
        </p:spPr>
      </p:sp>
      <p:sp>
        <p:nvSpPr>
          <p:cNvPr id="100" name="Shape 97"/>
          <p:cNvSpPr/>
          <p:nvPr/>
        </p:nvSpPr>
        <p:spPr>
          <a:xfrm>
            <a:off x="7964170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FD7F0"/>
          </a:solidFill>
          <a:ln/>
        </p:spPr>
      </p:sp>
      <p:sp>
        <p:nvSpPr>
          <p:cNvPr id="101" name="Shape 98"/>
          <p:cNvSpPr/>
          <p:nvPr/>
        </p:nvSpPr>
        <p:spPr>
          <a:xfrm>
            <a:off x="8355489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102" name="Shape 99"/>
          <p:cNvSpPr/>
          <p:nvPr/>
        </p:nvSpPr>
        <p:spPr>
          <a:xfrm>
            <a:off x="8746807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BC1ED"/>
          </a:solidFill>
          <a:ln/>
        </p:spPr>
      </p:sp>
      <p:sp>
        <p:nvSpPr>
          <p:cNvPr id="103" name="Shape 100"/>
          <p:cNvSpPr/>
          <p:nvPr/>
        </p:nvSpPr>
        <p:spPr>
          <a:xfrm>
            <a:off x="9138126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AEA"/>
          </a:solidFill>
          <a:ln/>
        </p:spPr>
      </p:sp>
      <p:sp>
        <p:nvSpPr>
          <p:cNvPr id="104" name="Shape 101"/>
          <p:cNvSpPr/>
          <p:nvPr/>
        </p:nvSpPr>
        <p:spPr>
          <a:xfrm>
            <a:off x="9529445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105" name="Shape 102"/>
          <p:cNvSpPr/>
          <p:nvPr/>
        </p:nvSpPr>
        <p:spPr>
          <a:xfrm>
            <a:off x="9920764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0D9F0"/>
          </a:solidFill>
          <a:ln/>
        </p:spPr>
      </p:sp>
      <p:sp>
        <p:nvSpPr>
          <p:cNvPr id="106" name="Shape 103"/>
          <p:cNvSpPr/>
          <p:nvPr/>
        </p:nvSpPr>
        <p:spPr>
          <a:xfrm>
            <a:off x="10312083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1B3B3"/>
          </a:solidFill>
          <a:ln/>
        </p:spPr>
      </p:sp>
      <p:sp>
        <p:nvSpPr>
          <p:cNvPr id="107" name="Shape 104"/>
          <p:cNvSpPr/>
          <p:nvPr/>
        </p:nvSpPr>
        <p:spPr>
          <a:xfrm>
            <a:off x="10703401" y="3221627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5F1F3"/>
          </a:solidFill>
          <a:ln/>
        </p:spPr>
      </p:sp>
      <p:sp>
        <p:nvSpPr>
          <p:cNvPr id="108" name="Text 105"/>
          <p:cNvSpPr/>
          <p:nvPr/>
        </p:nvSpPr>
        <p:spPr>
          <a:xfrm>
            <a:off x="1104900" y="3567793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금</a:t>
            </a:r>
            <a:endParaRPr lang="en-US" sz="830" dirty="0"/>
          </a:p>
        </p:txBody>
      </p:sp>
      <p:sp>
        <p:nvSpPr>
          <p:cNvPr id="109" name="Shape 106"/>
          <p:cNvSpPr/>
          <p:nvPr/>
        </p:nvSpPr>
        <p:spPr>
          <a:xfrm>
            <a:off x="1703070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0ECF3"/>
          </a:solidFill>
          <a:ln/>
        </p:spPr>
      </p:sp>
      <p:sp>
        <p:nvSpPr>
          <p:cNvPr id="110" name="Shape 107"/>
          <p:cNvSpPr/>
          <p:nvPr/>
        </p:nvSpPr>
        <p:spPr>
          <a:xfrm>
            <a:off x="2094389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111" name="Shape 108"/>
          <p:cNvSpPr/>
          <p:nvPr/>
        </p:nvSpPr>
        <p:spPr>
          <a:xfrm>
            <a:off x="2485708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BEB"/>
          </a:solidFill>
          <a:ln/>
        </p:spPr>
      </p:sp>
      <p:sp>
        <p:nvSpPr>
          <p:cNvPr id="112" name="Shape 109"/>
          <p:cNvSpPr/>
          <p:nvPr/>
        </p:nvSpPr>
        <p:spPr>
          <a:xfrm>
            <a:off x="2877026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DE8E8"/>
          </a:solidFill>
          <a:ln/>
        </p:spPr>
      </p:sp>
      <p:sp>
        <p:nvSpPr>
          <p:cNvPr id="113" name="Shape 110"/>
          <p:cNvSpPr/>
          <p:nvPr/>
        </p:nvSpPr>
        <p:spPr>
          <a:xfrm>
            <a:off x="3268345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4BEBE"/>
          </a:solidFill>
          <a:ln/>
        </p:spPr>
      </p:sp>
      <p:sp>
        <p:nvSpPr>
          <p:cNvPr id="114" name="Shape 111"/>
          <p:cNvSpPr/>
          <p:nvPr/>
        </p:nvSpPr>
        <p:spPr>
          <a:xfrm>
            <a:off x="3659664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2E2"/>
          </a:solidFill>
          <a:ln/>
        </p:spPr>
      </p:sp>
      <p:sp>
        <p:nvSpPr>
          <p:cNvPr id="115" name="Shape 112"/>
          <p:cNvSpPr/>
          <p:nvPr/>
        </p:nvSpPr>
        <p:spPr>
          <a:xfrm>
            <a:off x="4050983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8F5F4"/>
          </a:solidFill>
          <a:ln/>
        </p:spPr>
      </p:sp>
      <p:sp>
        <p:nvSpPr>
          <p:cNvPr id="116" name="Shape 113"/>
          <p:cNvSpPr/>
          <p:nvPr/>
        </p:nvSpPr>
        <p:spPr>
          <a:xfrm>
            <a:off x="4442301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8BEED"/>
          </a:solidFill>
          <a:ln/>
        </p:spPr>
      </p:sp>
      <p:sp>
        <p:nvSpPr>
          <p:cNvPr id="117" name="Shape 114"/>
          <p:cNvSpPr/>
          <p:nvPr/>
        </p:nvSpPr>
        <p:spPr>
          <a:xfrm>
            <a:off x="4833620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2EDF3"/>
          </a:solidFill>
          <a:ln/>
        </p:spPr>
      </p:sp>
      <p:sp>
        <p:nvSpPr>
          <p:cNvPr id="118" name="Shape 115"/>
          <p:cNvSpPr/>
          <p:nvPr/>
        </p:nvSpPr>
        <p:spPr>
          <a:xfrm>
            <a:off x="5224939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9E3F1"/>
          </a:solidFill>
          <a:ln/>
        </p:spPr>
      </p:sp>
      <p:sp>
        <p:nvSpPr>
          <p:cNvPr id="119" name="Shape 116"/>
          <p:cNvSpPr/>
          <p:nvPr/>
        </p:nvSpPr>
        <p:spPr>
          <a:xfrm>
            <a:off x="5616258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CD4F0"/>
          </a:solidFill>
          <a:ln/>
        </p:spPr>
      </p:sp>
      <p:sp>
        <p:nvSpPr>
          <p:cNvPr id="120" name="Shape 117"/>
          <p:cNvSpPr/>
          <p:nvPr/>
        </p:nvSpPr>
        <p:spPr>
          <a:xfrm>
            <a:off x="6007576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BEB"/>
          </a:solidFill>
          <a:ln/>
        </p:spPr>
      </p:sp>
      <p:sp>
        <p:nvSpPr>
          <p:cNvPr id="121" name="Shape 118"/>
          <p:cNvSpPr/>
          <p:nvPr/>
        </p:nvSpPr>
        <p:spPr>
          <a:xfrm>
            <a:off x="6398895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3CAEE"/>
          </a:solidFill>
          <a:ln/>
        </p:spPr>
      </p:sp>
      <p:sp>
        <p:nvSpPr>
          <p:cNvPr id="122" name="Shape 119"/>
          <p:cNvSpPr/>
          <p:nvPr/>
        </p:nvSpPr>
        <p:spPr>
          <a:xfrm>
            <a:off x="6790214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5BAEC"/>
          </a:solidFill>
          <a:ln/>
        </p:spPr>
      </p:sp>
      <p:sp>
        <p:nvSpPr>
          <p:cNvPr id="123" name="Shape 120"/>
          <p:cNvSpPr/>
          <p:nvPr/>
        </p:nvSpPr>
        <p:spPr>
          <a:xfrm>
            <a:off x="7181533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696E8"/>
          </a:solidFill>
          <a:ln/>
        </p:spPr>
      </p:sp>
      <p:sp>
        <p:nvSpPr>
          <p:cNvPr id="124" name="Shape 121"/>
          <p:cNvSpPr/>
          <p:nvPr/>
        </p:nvSpPr>
        <p:spPr>
          <a:xfrm>
            <a:off x="7572851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393E7"/>
          </a:solidFill>
          <a:ln/>
        </p:spPr>
      </p:sp>
      <p:sp>
        <p:nvSpPr>
          <p:cNvPr id="125" name="Shape 122"/>
          <p:cNvSpPr/>
          <p:nvPr/>
        </p:nvSpPr>
        <p:spPr>
          <a:xfrm>
            <a:off x="7964170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9ACEA"/>
          </a:solidFill>
          <a:ln/>
        </p:spPr>
      </p:sp>
      <p:sp>
        <p:nvSpPr>
          <p:cNvPr id="126" name="Shape 123"/>
          <p:cNvSpPr/>
          <p:nvPr/>
        </p:nvSpPr>
        <p:spPr>
          <a:xfrm>
            <a:off x="8355489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0D9F0"/>
          </a:solidFill>
          <a:ln/>
        </p:spPr>
      </p:sp>
      <p:sp>
        <p:nvSpPr>
          <p:cNvPr id="127" name="Shape 124"/>
          <p:cNvSpPr/>
          <p:nvPr/>
        </p:nvSpPr>
        <p:spPr>
          <a:xfrm>
            <a:off x="8746807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BC1ED"/>
          </a:solidFill>
          <a:ln/>
        </p:spPr>
      </p:sp>
      <p:sp>
        <p:nvSpPr>
          <p:cNvPr id="128" name="Shape 125"/>
          <p:cNvSpPr/>
          <p:nvPr/>
        </p:nvSpPr>
        <p:spPr>
          <a:xfrm>
            <a:off x="9138126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0ECF3"/>
          </a:solidFill>
          <a:ln/>
        </p:spPr>
      </p:sp>
      <p:sp>
        <p:nvSpPr>
          <p:cNvPr id="129" name="Shape 126"/>
          <p:cNvSpPr/>
          <p:nvPr/>
        </p:nvSpPr>
        <p:spPr>
          <a:xfrm>
            <a:off x="9529445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6C9C9"/>
          </a:solidFill>
          <a:ln/>
        </p:spPr>
      </p:sp>
      <p:sp>
        <p:nvSpPr>
          <p:cNvPr id="130" name="Shape 127"/>
          <p:cNvSpPr/>
          <p:nvPr/>
        </p:nvSpPr>
        <p:spPr>
          <a:xfrm>
            <a:off x="9920764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FF1"/>
          </a:solidFill>
          <a:ln/>
        </p:spPr>
      </p:sp>
      <p:sp>
        <p:nvSpPr>
          <p:cNvPr id="131" name="Shape 128"/>
          <p:cNvSpPr/>
          <p:nvPr/>
        </p:nvSpPr>
        <p:spPr>
          <a:xfrm>
            <a:off x="10312083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9D4D4"/>
          </a:solidFill>
          <a:ln/>
        </p:spPr>
      </p:sp>
      <p:sp>
        <p:nvSpPr>
          <p:cNvPr id="132" name="Shape 129"/>
          <p:cNvSpPr/>
          <p:nvPr/>
        </p:nvSpPr>
        <p:spPr>
          <a:xfrm>
            <a:off x="10703401" y="3575413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BE6F2"/>
          </a:solidFill>
          <a:ln/>
        </p:spPr>
      </p:sp>
      <p:sp>
        <p:nvSpPr>
          <p:cNvPr id="133" name="Text 130"/>
          <p:cNvSpPr/>
          <p:nvPr/>
        </p:nvSpPr>
        <p:spPr>
          <a:xfrm>
            <a:off x="1104900" y="3921579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토</a:t>
            </a:r>
            <a:endParaRPr lang="en-US" sz="830" dirty="0"/>
          </a:p>
        </p:txBody>
      </p:sp>
      <p:sp>
        <p:nvSpPr>
          <p:cNvPr id="134" name="Shape 131"/>
          <p:cNvSpPr/>
          <p:nvPr/>
        </p:nvSpPr>
        <p:spPr>
          <a:xfrm>
            <a:off x="1703070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5F1F3"/>
          </a:solidFill>
          <a:ln/>
        </p:spPr>
      </p:sp>
      <p:sp>
        <p:nvSpPr>
          <p:cNvPr id="135" name="Shape 132"/>
          <p:cNvSpPr/>
          <p:nvPr/>
        </p:nvSpPr>
        <p:spPr>
          <a:xfrm>
            <a:off x="2094389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CE7F2"/>
          </a:solidFill>
          <a:ln/>
        </p:spPr>
      </p:sp>
      <p:sp>
        <p:nvSpPr>
          <p:cNvPr id="136" name="Shape 133"/>
          <p:cNvSpPr/>
          <p:nvPr/>
        </p:nvSpPr>
        <p:spPr>
          <a:xfrm>
            <a:off x="2485708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137" name="Shape 134"/>
          <p:cNvSpPr/>
          <p:nvPr/>
        </p:nvSpPr>
        <p:spPr>
          <a:xfrm>
            <a:off x="2877026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6E0F1"/>
          </a:solidFill>
          <a:ln/>
        </p:spPr>
      </p:sp>
      <p:sp>
        <p:nvSpPr>
          <p:cNvPr id="138" name="Shape 135"/>
          <p:cNvSpPr/>
          <p:nvPr/>
        </p:nvSpPr>
        <p:spPr>
          <a:xfrm>
            <a:off x="3268345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EEAEA"/>
          </a:solidFill>
          <a:ln/>
        </p:spPr>
      </p:sp>
      <p:sp>
        <p:nvSpPr>
          <p:cNvPr id="139" name="Shape 136"/>
          <p:cNvSpPr/>
          <p:nvPr/>
        </p:nvSpPr>
        <p:spPr>
          <a:xfrm>
            <a:off x="3659664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4BFBF"/>
          </a:solidFill>
          <a:ln/>
        </p:spPr>
      </p:sp>
      <p:sp>
        <p:nvSpPr>
          <p:cNvPr id="140" name="Shape 137"/>
          <p:cNvSpPr/>
          <p:nvPr/>
        </p:nvSpPr>
        <p:spPr>
          <a:xfrm>
            <a:off x="4050983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6CEEF"/>
          </a:solidFill>
          <a:ln/>
        </p:spPr>
      </p:sp>
      <p:sp>
        <p:nvSpPr>
          <p:cNvPr id="141" name="Shape 138"/>
          <p:cNvSpPr/>
          <p:nvPr/>
        </p:nvSpPr>
        <p:spPr>
          <a:xfrm>
            <a:off x="4442301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4B8EC"/>
          </a:solidFill>
          <a:ln/>
        </p:spPr>
      </p:sp>
      <p:sp>
        <p:nvSpPr>
          <p:cNvPr id="142" name="Shape 139"/>
          <p:cNvSpPr/>
          <p:nvPr/>
        </p:nvSpPr>
        <p:spPr>
          <a:xfrm>
            <a:off x="4833620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0B4EC"/>
          </a:solidFill>
          <a:ln/>
        </p:spPr>
      </p:sp>
      <p:sp>
        <p:nvSpPr>
          <p:cNvPr id="143" name="Shape 140"/>
          <p:cNvSpPr/>
          <p:nvPr/>
        </p:nvSpPr>
        <p:spPr>
          <a:xfrm>
            <a:off x="5224939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BE6F2"/>
          </a:solidFill>
          <a:ln/>
        </p:spPr>
      </p:sp>
      <p:sp>
        <p:nvSpPr>
          <p:cNvPr id="144" name="Shape 141"/>
          <p:cNvSpPr/>
          <p:nvPr/>
        </p:nvSpPr>
        <p:spPr>
          <a:xfrm>
            <a:off x="5616258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493E7"/>
          </a:solidFill>
          <a:ln/>
        </p:spPr>
      </p:sp>
      <p:sp>
        <p:nvSpPr>
          <p:cNvPr id="145" name="Shape 142"/>
          <p:cNvSpPr/>
          <p:nvPr/>
        </p:nvSpPr>
        <p:spPr>
          <a:xfrm>
            <a:off x="6007576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DE8F2"/>
          </a:solidFill>
          <a:ln/>
        </p:spPr>
      </p:sp>
      <p:sp>
        <p:nvSpPr>
          <p:cNvPr id="146" name="Shape 143"/>
          <p:cNvSpPr/>
          <p:nvPr/>
        </p:nvSpPr>
        <p:spPr>
          <a:xfrm>
            <a:off x="6398895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9BFED"/>
          </a:solidFill>
          <a:ln/>
        </p:spPr>
      </p:sp>
      <p:sp>
        <p:nvSpPr>
          <p:cNvPr id="147" name="Shape 144"/>
          <p:cNvSpPr/>
          <p:nvPr/>
        </p:nvSpPr>
        <p:spPr>
          <a:xfrm>
            <a:off x="6790214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DE9F2"/>
          </a:solidFill>
          <a:ln/>
        </p:spPr>
      </p:sp>
      <p:sp>
        <p:nvSpPr>
          <p:cNvPr id="148" name="Shape 145"/>
          <p:cNvSpPr/>
          <p:nvPr/>
        </p:nvSpPr>
        <p:spPr>
          <a:xfrm>
            <a:off x="7181533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EB2EB"/>
          </a:solidFill>
          <a:ln/>
        </p:spPr>
      </p:sp>
      <p:sp>
        <p:nvSpPr>
          <p:cNvPr id="149" name="Shape 146"/>
          <p:cNvSpPr/>
          <p:nvPr/>
        </p:nvSpPr>
        <p:spPr>
          <a:xfrm>
            <a:off x="7572851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BE6F2"/>
          </a:solidFill>
          <a:ln/>
        </p:spPr>
      </p:sp>
      <p:sp>
        <p:nvSpPr>
          <p:cNvPr id="150" name="Shape 147"/>
          <p:cNvSpPr/>
          <p:nvPr/>
        </p:nvSpPr>
        <p:spPr>
          <a:xfrm>
            <a:off x="7964170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EF1"/>
          </a:solidFill>
          <a:ln/>
        </p:spPr>
      </p:sp>
      <p:sp>
        <p:nvSpPr>
          <p:cNvPr id="151" name="Shape 148"/>
          <p:cNvSpPr/>
          <p:nvPr/>
        </p:nvSpPr>
        <p:spPr>
          <a:xfrm>
            <a:off x="8355489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8BDED"/>
          </a:solidFill>
          <a:ln/>
        </p:spPr>
      </p:sp>
      <p:sp>
        <p:nvSpPr>
          <p:cNvPr id="152" name="Shape 149"/>
          <p:cNvSpPr/>
          <p:nvPr/>
        </p:nvSpPr>
        <p:spPr>
          <a:xfrm>
            <a:off x="8746807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E6F3F3"/>
          </a:solidFill>
          <a:ln/>
        </p:spPr>
      </p:sp>
      <p:sp>
        <p:nvSpPr>
          <p:cNvPr id="153" name="Shape 150"/>
          <p:cNvSpPr/>
          <p:nvPr/>
        </p:nvSpPr>
        <p:spPr>
          <a:xfrm>
            <a:off x="9138126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4DEF1"/>
          </a:solidFill>
          <a:ln/>
        </p:spPr>
      </p:sp>
      <p:sp>
        <p:nvSpPr>
          <p:cNvPr id="154" name="Shape 151"/>
          <p:cNvSpPr/>
          <p:nvPr/>
        </p:nvSpPr>
        <p:spPr>
          <a:xfrm>
            <a:off x="9529445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8D0EF"/>
          </a:solidFill>
          <a:ln/>
        </p:spPr>
      </p:sp>
      <p:sp>
        <p:nvSpPr>
          <p:cNvPr id="155" name="Shape 152"/>
          <p:cNvSpPr/>
          <p:nvPr/>
        </p:nvSpPr>
        <p:spPr>
          <a:xfrm>
            <a:off x="9920764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6CDEF"/>
          </a:solidFill>
          <a:ln/>
        </p:spPr>
      </p:sp>
      <p:sp>
        <p:nvSpPr>
          <p:cNvPr id="156" name="Shape 153"/>
          <p:cNvSpPr/>
          <p:nvPr/>
        </p:nvSpPr>
        <p:spPr>
          <a:xfrm>
            <a:off x="10312083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DE9E9"/>
          </a:solidFill>
          <a:ln/>
        </p:spPr>
      </p:sp>
      <p:sp>
        <p:nvSpPr>
          <p:cNvPr id="157" name="Shape 154"/>
          <p:cNvSpPr/>
          <p:nvPr/>
        </p:nvSpPr>
        <p:spPr>
          <a:xfrm>
            <a:off x="10703401" y="3929199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1DAF0"/>
          </a:solidFill>
          <a:ln/>
        </p:spPr>
      </p:sp>
      <p:sp>
        <p:nvSpPr>
          <p:cNvPr id="158" name="Text 155"/>
          <p:cNvSpPr/>
          <p:nvPr/>
        </p:nvSpPr>
        <p:spPr>
          <a:xfrm>
            <a:off x="1104900" y="4275364"/>
            <a:ext cx="495300" cy="3537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3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</a:t>
            </a:r>
            <a:endParaRPr lang="en-US" sz="830" dirty="0"/>
          </a:p>
        </p:txBody>
      </p:sp>
      <p:sp>
        <p:nvSpPr>
          <p:cNvPr id="159" name="Shape 156"/>
          <p:cNvSpPr/>
          <p:nvPr/>
        </p:nvSpPr>
        <p:spPr>
          <a:xfrm>
            <a:off x="1703070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9E3F1"/>
          </a:solidFill>
          <a:ln/>
        </p:spPr>
      </p:sp>
      <p:sp>
        <p:nvSpPr>
          <p:cNvPr id="160" name="Shape 157"/>
          <p:cNvSpPr/>
          <p:nvPr/>
        </p:nvSpPr>
        <p:spPr>
          <a:xfrm>
            <a:off x="2094389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0D9F0"/>
          </a:solidFill>
          <a:ln/>
        </p:spPr>
      </p:sp>
      <p:sp>
        <p:nvSpPr>
          <p:cNvPr id="161" name="Shape 158"/>
          <p:cNvSpPr/>
          <p:nvPr/>
        </p:nvSpPr>
        <p:spPr>
          <a:xfrm>
            <a:off x="2485708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9E3F2"/>
          </a:solidFill>
          <a:ln/>
        </p:spPr>
      </p:sp>
      <p:sp>
        <p:nvSpPr>
          <p:cNvPr id="162" name="Shape 159"/>
          <p:cNvSpPr/>
          <p:nvPr/>
        </p:nvSpPr>
        <p:spPr>
          <a:xfrm>
            <a:off x="2877026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8E3F1"/>
          </a:solidFill>
          <a:ln/>
        </p:spPr>
      </p:sp>
      <p:sp>
        <p:nvSpPr>
          <p:cNvPr id="163" name="Shape 160"/>
          <p:cNvSpPr/>
          <p:nvPr/>
        </p:nvSpPr>
        <p:spPr>
          <a:xfrm>
            <a:off x="3268345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AE4F2"/>
          </a:solidFill>
          <a:ln/>
        </p:spPr>
      </p:sp>
      <p:sp>
        <p:nvSpPr>
          <p:cNvPr id="164" name="Shape 161"/>
          <p:cNvSpPr/>
          <p:nvPr/>
        </p:nvSpPr>
        <p:spPr>
          <a:xfrm>
            <a:off x="3659664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FF1"/>
          </a:solidFill>
          <a:ln/>
        </p:spPr>
      </p:sp>
      <p:sp>
        <p:nvSpPr>
          <p:cNvPr id="165" name="Shape 162"/>
          <p:cNvSpPr/>
          <p:nvPr/>
        </p:nvSpPr>
        <p:spPr>
          <a:xfrm>
            <a:off x="4050983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FD8F0"/>
          </a:solidFill>
          <a:ln/>
        </p:spPr>
      </p:sp>
      <p:sp>
        <p:nvSpPr>
          <p:cNvPr id="166" name="Shape 163"/>
          <p:cNvSpPr/>
          <p:nvPr/>
        </p:nvSpPr>
        <p:spPr>
          <a:xfrm>
            <a:off x="4442301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899E8"/>
          </a:solidFill>
          <a:ln/>
        </p:spPr>
      </p:sp>
      <p:sp>
        <p:nvSpPr>
          <p:cNvPr id="167" name="Shape 164"/>
          <p:cNvSpPr/>
          <p:nvPr/>
        </p:nvSpPr>
        <p:spPr>
          <a:xfrm>
            <a:off x="4833620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DD6F0"/>
          </a:solidFill>
          <a:ln/>
        </p:spPr>
      </p:sp>
      <p:sp>
        <p:nvSpPr>
          <p:cNvPr id="168" name="Shape 165"/>
          <p:cNvSpPr/>
          <p:nvPr/>
        </p:nvSpPr>
        <p:spPr>
          <a:xfrm>
            <a:off x="5224939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0C7EE"/>
          </a:solidFill>
          <a:ln/>
        </p:spPr>
      </p:sp>
      <p:sp>
        <p:nvSpPr>
          <p:cNvPr id="169" name="Shape 166"/>
          <p:cNvSpPr/>
          <p:nvPr/>
        </p:nvSpPr>
        <p:spPr>
          <a:xfrm>
            <a:off x="5616258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2DBF0"/>
          </a:solidFill>
          <a:ln/>
        </p:spPr>
      </p:sp>
      <p:sp>
        <p:nvSpPr>
          <p:cNvPr id="170" name="Shape 167"/>
          <p:cNvSpPr/>
          <p:nvPr/>
        </p:nvSpPr>
        <p:spPr>
          <a:xfrm>
            <a:off x="6007576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CE2E2"/>
          </a:solidFill>
          <a:ln/>
        </p:spPr>
      </p:sp>
      <p:sp>
        <p:nvSpPr>
          <p:cNvPr id="171" name="Shape 168"/>
          <p:cNvSpPr/>
          <p:nvPr/>
        </p:nvSpPr>
        <p:spPr>
          <a:xfrm>
            <a:off x="6398895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8CFCF"/>
          </a:solidFill>
          <a:ln/>
        </p:spPr>
      </p:sp>
      <p:sp>
        <p:nvSpPr>
          <p:cNvPr id="172" name="Shape 169"/>
          <p:cNvSpPr/>
          <p:nvPr/>
        </p:nvSpPr>
        <p:spPr>
          <a:xfrm>
            <a:off x="6790214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CD5F0"/>
          </a:solidFill>
          <a:ln/>
        </p:spPr>
      </p:sp>
      <p:sp>
        <p:nvSpPr>
          <p:cNvPr id="173" name="Shape 170"/>
          <p:cNvSpPr/>
          <p:nvPr/>
        </p:nvSpPr>
        <p:spPr>
          <a:xfrm>
            <a:off x="7181533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9494E7"/>
          </a:solidFill>
          <a:ln/>
        </p:spPr>
      </p:sp>
      <p:sp>
        <p:nvSpPr>
          <p:cNvPr id="174" name="Shape 171"/>
          <p:cNvSpPr/>
          <p:nvPr/>
        </p:nvSpPr>
        <p:spPr>
          <a:xfrm>
            <a:off x="7572851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A3A5EA"/>
          </a:solidFill>
          <a:ln/>
        </p:spPr>
      </p:sp>
      <p:sp>
        <p:nvSpPr>
          <p:cNvPr id="175" name="Shape 172"/>
          <p:cNvSpPr/>
          <p:nvPr/>
        </p:nvSpPr>
        <p:spPr>
          <a:xfrm>
            <a:off x="7964170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8582E5"/>
          </a:solidFill>
          <a:ln/>
        </p:spPr>
      </p:sp>
      <p:sp>
        <p:nvSpPr>
          <p:cNvPr id="176" name="Shape 173"/>
          <p:cNvSpPr/>
          <p:nvPr/>
        </p:nvSpPr>
        <p:spPr>
          <a:xfrm>
            <a:off x="8355489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8C8BE6"/>
          </a:solidFill>
          <a:ln/>
        </p:spPr>
      </p:sp>
      <p:sp>
        <p:nvSpPr>
          <p:cNvPr id="177" name="Shape 174"/>
          <p:cNvSpPr/>
          <p:nvPr/>
        </p:nvSpPr>
        <p:spPr>
          <a:xfrm>
            <a:off x="8746807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4DDF1"/>
          </a:solidFill>
          <a:ln/>
        </p:spPr>
      </p:sp>
      <p:sp>
        <p:nvSpPr>
          <p:cNvPr id="178" name="Shape 175"/>
          <p:cNvSpPr/>
          <p:nvPr/>
        </p:nvSpPr>
        <p:spPr>
          <a:xfrm>
            <a:off x="9138126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7E1F1"/>
          </a:solidFill>
          <a:ln/>
        </p:spPr>
      </p:sp>
      <p:sp>
        <p:nvSpPr>
          <p:cNvPr id="179" name="Shape 176"/>
          <p:cNvSpPr/>
          <p:nvPr/>
        </p:nvSpPr>
        <p:spPr>
          <a:xfrm>
            <a:off x="9529445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C9D1EF"/>
          </a:solidFill>
          <a:ln/>
        </p:spPr>
      </p:sp>
      <p:sp>
        <p:nvSpPr>
          <p:cNvPr id="180" name="Shape 177"/>
          <p:cNvSpPr/>
          <p:nvPr/>
        </p:nvSpPr>
        <p:spPr>
          <a:xfrm>
            <a:off x="9920764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B8BDED"/>
          </a:solidFill>
          <a:ln/>
        </p:spPr>
      </p:sp>
      <p:sp>
        <p:nvSpPr>
          <p:cNvPr id="181" name="Shape 178"/>
          <p:cNvSpPr/>
          <p:nvPr/>
        </p:nvSpPr>
        <p:spPr>
          <a:xfrm>
            <a:off x="10312083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F9D6D6"/>
          </a:solidFill>
          <a:ln/>
        </p:spPr>
      </p:sp>
      <p:sp>
        <p:nvSpPr>
          <p:cNvPr id="182" name="Shape 179"/>
          <p:cNvSpPr/>
          <p:nvPr/>
        </p:nvSpPr>
        <p:spPr>
          <a:xfrm>
            <a:off x="10703401" y="4282984"/>
            <a:ext cx="376079" cy="338546"/>
          </a:xfrm>
          <a:prstGeom prst="roundRect">
            <a:avLst>
              <a:gd name="adj" fmla="val 5627"/>
            </a:avLst>
          </a:prstGeom>
          <a:solidFill>
            <a:srgbClr val="D5DFF1"/>
          </a:solidFill>
          <a:ln/>
        </p:spPr>
      </p:sp>
      <p:sp>
        <p:nvSpPr>
          <p:cNvPr id="183" name="Text 180"/>
          <p:cNvSpPr/>
          <p:nvPr/>
        </p:nvSpPr>
        <p:spPr>
          <a:xfrm>
            <a:off x="1581150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2시</a:t>
            </a:r>
            <a:endParaRPr lang="en-US" sz="680" dirty="0"/>
          </a:p>
        </p:txBody>
      </p:sp>
      <p:sp>
        <p:nvSpPr>
          <p:cNvPr id="184" name="Text 181"/>
          <p:cNvSpPr/>
          <p:nvPr/>
        </p:nvSpPr>
        <p:spPr>
          <a:xfrm>
            <a:off x="2363788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4시</a:t>
            </a:r>
            <a:endParaRPr lang="en-US" sz="680" dirty="0"/>
          </a:p>
        </p:txBody>
      </p:sp>
      <p:sp>
        <p:nvSpPr>
          <p:cNvPr id="185" name="Text 182"/>
          <p:cNvSpPr/>
          <p:nvPr/>
        </p:nvSpPr>
        <p:spPr>
          <a:xfrm>
            <a:off x="3146425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6시</a:t>
            </a:r>
            <a:endParaRPr lang="en-US" sz="680" dirty="0"/>
          </a:p>
        </p:txBody>
      </p:sp>
      <p:sp>
        <p:nvSpPr>
          <p:cNvPr id="186" name="Text 183"/>
          <p:cNvSpPr/>
          <p:nvPr/>
        </p:nvSpPr>
        <p:spPr>
          <a:xfrm>
            <a:off x="3929063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8시</a:t>
            </a:r>
            <a:endParaRPr lang="en-US" sz="680" dirty="0"/>
          </a:p>
        </p:txBody>
      </p:sp>
      <p:sp>
        <p:nvSpPr>
          <p:cNvPr id="187" name="Text 184"/>
          <p:cNvSpPr/>
          <p:nvPr/>
        </p:nvSpPr>
        <p:spPr>
          <a:xfrm>
            <a:off x="4711700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10시</a:t>
            </a:r>
            <a:endParaRPr lang="en-US" sz="680" dirty="0"/>
          </a:p>
        </p:txBody>
      </p:sp>
      <p:sp>
        <p:nvSpPr>
          <p:cNvPr id="188" name="Text 185"/>
          <p:cNvSpPr/>
          <p:nvPr/>
        </p:nvSpPr>
        <p:spPr>
          <a:xfrm>
            <a:off x="5494338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12시</a:t>
            </a:r>
            <a:endParaRPr lang="en-US" sz="680" dirty="0"/>
          </a:p>
        </p:txBody>
      </p:sp>
      <p:sp>
        <p:nvSpPr>
          <p:cNvPr id="189" name="Text 186"/>
          <p:cNvSpPr/>
          <p:nvPr/>
        </p:nvSpPr>
        <p:spPr>
          <a:xfrm>
            <a:off x="6276975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14시</a:t>
            </a:r>
            <a:endParaRPr lang="en-US" sz="680" dirty="0"/>
          </a:p>
        </p:txBody>
      </p:sp>
      <p:sp>
        <p:nvSpPr>
          <p:cNvPr id="190" name="Text 187"/>
          <p:cNvSpPr/>
          <p:nvPr/>
        </p:nvSpPr>
        <p:spPr>
          <a:xfrm>
            <a:off x="7059613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16시</a:t>
            </a:r>
            <a:endParaRPr lang="en-US" sz="680" dirty="0"/>
          </a:p>
        </p:txBody>
      </p:sp>
      <p:sp>
        <p:nvSpPr>
          <p:cNvPr id="191" name="Text 188"/>
          <p:cNvSpPr/>
          <p:nvPr/>
        </p:nvSpPr>
        <p:spPr>
          <a:xfrm>
            <a:off x="7842250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18시</a:t>
            </a:r>
            <a:endParaRPr lang="en-US" sz="680" dirty="0"/>
          </a:p>
        </p:txBody>
      </p:sp>
      <p:sp>
        <p:nvSpPr>
          <p:cNvPr id="192" name="Text 189"/>
          <p:cNvSpPr/>
          <p:nvPr/>
        </p:nvSpPr>
        <p:spPr>
          <a:xfrm>
            <a:off x="8624888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20시</a:t>
            </a:r>
            <a:endParaRPr lang="en-US" sz="680" dirty="0"/>
          </a:p>
        </p:txBody>
      </p:sp>
      <p:sp>
        <p:nvSpPr>
          <p:cNvPr id="193" name="Text 190"/>
          <p:cNvSpPr/>
          <p:nvPr/>
        </p:nvSpPr>
        <p:spPr>
          <a:xfrm>
            <a:off x="9407525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22시</a:t>
            </a:r>
            <a:endParaRPr lang="en-US" sz="680" dirty="0"/>
          </a:p>
        </p:txBody>
      </p:sp>
      <p:sp>
        <p:nvSpPr>
          <p:cNvPr id="194" name="Text 191"/>
          <p:cNvSpPr/>
          <p:nvPr/>
        </p:nvSpPr>
        <p:spPr>
          <a:xfrm>
            <a:off x="10190163" y="4629150"/>
            <a:ext cx="6199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0시</a:t>
            </a:r>
            <a:endParaRPr lang="en-US" sz="680" dirty="0"/>
          </a:p>
        </p:txBody>
      </p:sp>
      <p:sp>
        <p:nvSpPr>
          <p:cNvPr id="195" name="Shape 192"/>
          <p:cNvSpPr/>
          <p:nvPr/>
        </p:nvSpPr>
        <p:spPr>
          <a:xfrm>
            <a:off x="9791700" y="1962150"/>
            <a:ext cx="39529" cy="76200"/>
          </a:xfrm>
          <a:prstGeom prst="roundRect">
            <a:avLst/>
          </a:prstGeom>
          <a:solidFill>
            <a:srgbClr val="D63B3B"/>
          </a:solidFill>
          <a:ln/>
        </p:spPr>
      </p:sp>
      <p:sp>
        <p:nvSpPr>
          <p:cNvPr id="196" name="Shape 193"/>
          <p:cNvSpPr/>
          <p:nvPr/>
        </p:nvSpPr>
        <p:spPr>
          <a:xfrm>
            <a:off x="9827419" y="1962150"/>
            <a:ext cx="39529" cy="76200"/>
          </a:xfrm>
          <a:prstGeom prst="roundRect">
            <a:avLst/>
          </a:prstGeom>
          <a:solidFill>
            <a:srgbClr val="DA4B4B"/>
          </a:solidFill>
          <a:ln/>
        </p:spPr>
      </p:sp>
      <p:sp>
        <p:nvSpPr>
          <p:cNvPr id="197" name="Shape 194"/>
          <p:cNvSpPr/>
          <p:nvPr/>
        </p:nvSpPr>
        <p:spPr>
          <a:xfrm>
            <a:off x="9863138" y="1962150"/>
            <a:ext cx="39529" cy="76200"/>
          </a:xfrm>
          <a:prstGeom prst="roundRect">
            <a:avLst/>
          </a:prstGeom>
          <a:solidFill>
            <a:srgbClr val="DD5A5A"/>
          </a:solidFill>
          <a:ln/>
        </p:spPr>
      </p:sp>
      <p:sp>
        <p:nvSpPr>
          <p:cNvPr id="198" name="Shape 195"/>
          <p:cNvSpPr/>
          <p:nvPr/>
        </p:nvSpPr>
        <p:spPr>
          <a:xfrm>
            <a:off x="9898856" y="1962150"/>
            <a:ext cx="39529" cy="76200"/>
          </a:xfrm>
          <a:prstGeom prst="roundRect">
            <a:avLst/>
          </a:prstGeom>
          <a:solidFill>
            <a:srgbClr val="E16A6A"/>
          </a:solidFill>
          <a:ln/>
        </p:spPr>
      </p:sp>
      <p:sp>
        <p:nvSpPr>
          <p:cNvPr id="199" name="Shape 196"/>
          <p:cNvSpPr/>
          <p:nvPr/>
        </p:nvSpPr>
        <p:spPr>
          <a:xfrm>
            <a:off x="9934575" y="1962150"/>
            <a:ext cx="39529" cy="76200"/>
          </a:xfrm>
          <a:prstGeom prst="roundRect">
            <a:avLst/>
          </a:prstGeom>
          <a:solidFill>
            <a:srgbClr val="E47A7A"/>
          </a:solidFill>
          <a:ln/>
        </p:spPr>
      </p:sp>
      <p:sp>
        <p:nvSpPr>
          <p:cNvPr id="200" name="Shape 197"/>
          <p:cNvSpPr/>
          <p:nvPr/>
        </p:nvSpPr>
        <p:spPr>
          <a:xfrm>
            <a:off x="9970294" y="1962150"/>
            <a:ext cx="39529" cy="76200"/>
          </a:xfrm>
          <a:prstGeom prst="roundRect">
            <a:avLst/>
          </a:prstGeom>
          <a:solidFill>
            <a:srgbClr val="E88A8A"/>
          </a:solidFill>
          <a:ln/>
        </p:spPr>
      </p:sp>
      <p:sp>
        <p:nvSpPr>
          <p:cNvPr id="201" name="Shape 198"/>
          <p:cNvSpPr/>
          <p:nvPr/>
        </p:nvSpPr>
        <p:spPr>
          <a:xfrm>
            <a:off x="10006013" y="1962150"/>
            <a:ext cx="39529" cy="76200"/>
          </a:xfrm>
          <a:prstGeom prst="roundRect">
            <a:avLst/>
          </a:prstGeom>
          <a:solidFill>
            <a:srgbClr val="EB9999"/>
          </a:solidFill>
          <a:ln/>
        </p:spPr>
      </p:sp>
      <p:sp>
        <p:nvSpPr>
          <p:cNvPr id="202" name="Shape 199"/>
          <p:cNvSpPr/>
          <p:nvPr/>
        </p:nvSpPr>
        <p:spPr>
          <a:xfrm>
            <a:off x="10041731" y="1962150"/>
            <a:ext cx="39529" cy="76200"/>
          </a:xfrm>
          <a:prstGeom prst="roundRect">
            <a:avLst/>
          </a:prstGeom>
          <a:solidFill>
            <a:srgbClr val="EFA9A9"/>
          </a:solidFill>
          <a:ln/>
        </p:spPr>
      </p:sp>
      <p:sp>
        <p:nvSpPr>
          <p:cNvPr id="203" name="Shape 200"/>
          <p:cNvSpPr/>
          <p:nvPr/>
        </p:nvSpPr>
        <p:spPr>
          <a:xfrm>
            <a:off x="10077450" y="1962150"/>
            <a:ext cx="39529" cy="76200"/>
          </a:xfrm>
          <a:prstGeom prst="roundRect">
            <a:avLst/>
          </a:prstGeom>
          <a:solidFill>
            <a:srgbClr val="F3B9B9"/>
          </a:solidFill>
          <a:ln/>
        </p:spPr>
      </p:sp>
      <p:sp>
        <p:nvSpPr>
          <p:cNvPr id="204" name="Shape 201"/>
          <p:cNvSpPr/>
          <p:nvPr/>
        </p:nvSpPr>
        <p:spPr>
          <a:xfrm>
            <a:off x="10113169" y="1962150"/>
            <a:ext cx="39529" cy="76200"/>
          </a:xfrm>
          <a:prstGeom prst="roundRect">
            <a:avLst/>
          </a:prstGeom>
          <a:solidFill>
            <a:srgbClr val="F6C9C9"/>
          </a:solidFill>
          <a:ln/>
        </p:spPr>
      </p:sp>
      <p:sp>
        <p:nvSpPr>
          <p:cNvPr id="205" name="Shape 202"/>
          <p:cNvSpPr/>
          <p:nvPr/>
        </p:nvSpPr>
        <p:spPr>
          <a:xfrm>
            <a:off x="10148888" y="1962150"/>
            <a:ext cx="39529" cy="76200"/>
          </a:xfrm>
          <a:prstGeom prst="roundRect">
            <a:avLst/>
          </a:prstGeom>
          <a:solidFill>
            <a:srgbClr val="FAD8D8"/>
          </a:solidFill>
          <a:ln/>
        </p:spPr>
      </p:sp>
      <p:sp>
        <p:nvSpPr>
          <p:cNvPr id="206" name="Shape 203"/>
          <p:cNvSpPr/>
          <p:nvPr/>
        </p:nvSpPr>
        <p:spPr>
          <a:xfrm>
            <a:off x="10184606" y="1962150"/>
            <a:ext cx="39529" cy="76200"/>
          </a:xfrm>
          <a:prstGeom prst="roundRect">
            <a:avLst/>
          </a:prstGeom>
          <a:solidFill>
            <a:srgbClr val="FDE8E8"/>
          </a:solidFill>
          <a:ln/>
        </p:spPr>
      </p:sp>
      <p:sp>
        <p:nvSpPr>
          <p:cNvPr id="207" name="Shape 204"/>
          <p:cNvSpPr/>
          <p:nvPr/>
        </p:nvSpPr>
        <p:spPr>
          <a:xfrm>
            <a:off x="10220325" y="1962150"/>
            <a:ext cx="39529" cy="76200"/>
          </a:xfrm>
          <a:prstGeom prst="roundRect">
            <a:avLst/>
          </a:prstGeom>
          <a:solidFill>
            <a:srgbClr val="E5F1F3"/>
          </a:solidFill>
          <a:ln/>
        </p:spPr>
      </p:sp>
      <p:sp>
        <p:nvSpPr>
          <p:cNvPr id="208" name="Shape 205"/>
          <p:cNvSpPr/>
          <p:nvPr/>
        </p:nvSpPr>
        <p:spPr>
          <a:xfrm>
            <a:off x="10256044" y="1962150"/>
            <a:ext cx="39529" cy="76200"/>
          </a:xfrm>
          <a:prstGeom prst="roundRect">
            <a:avLst/>
          </a:prstGeom>
          <a:solidFill>
            <a:srgbClr val="DAE4F2"/>
          </a:solidFill>
          <a:ln/>
        </p:spPr>
      </p:sp>
      <p:sp>
        <p:nvSpPr>
          <p:cNvPr id="209" name="Shape 206"/>
          <p:cNvSpPr/>
          <p:nvPr/>
        </p:nvSpPr>
        <p:spPr>
          <a:xfrm>
            <a:off x="10291763" y="1962150"/>
            <a:ext cx="39529" cy="76200"/>
          </a:xfrm>
          <a:prstGeom prst="roundRect">
            <a:avLst/>
          </a:prstGeom>
          <a:solidFill>
            <a:srgbClr val="CFD8F0"/>
          </a:solidFill>
          <a:ln/>
        </p:spPr>
      </p:sp>
      <p:sp>
        <p:nvSpPr>
          <p:cNvPr id="210" name="Shape 207"/>
          <p:cNvSpPr/>
          <p:nvPr/>
        </p:nvSpPr>
        <p:spPr>
          <a:xfrm>
            <a:off x="10327481" y="1962150"/>
            <a:ext cx="39529" cy="76200"/>
          </a:xfrm>
          <a:prstGeom prst="roundRect">
            <a:avLst/>
          </a:prstGeom>
          <a:solidFill>
            <a:srgbClr val="C5CCEF"/>
          </a:solidFill>
          <a:ln/>
        </p:spPr>
      </p:sp>
      <p:sp>
        <p:nvSpPr>
          <p:cNvPr id="211" name="Shape 208"/>
          <p:cNvSpPr/>
          <p:nvPr/>
        </p:nvSpPr>
        <p:spPr>
          <a:xfrm>
            <a:off x="10363200" y="1962150"/>
            <a:ext cx="39529" cy="76200"/>
          </a:xfrm>
          <a:prstGeom prst="roundRect">
            <a:avLst/>
          </a:prstGeom>
          <a:solidFill>
            <a:srgbClr val="BABFED"/>
          </a:solidFill>
          <a:ln/>
        </p:spPr>
      </p:sp>
      <p:sp>
        <p:nvSpPr>
          <p:cNvPr id="212" name="Shape 209"/>
          <p:cNvSpPr/>
          <p:nvPr/>
        </p:nvSpPr>
        <p:spPr>
          <a:xfrm>
            <a:off x="10398919" y="1962150"/>
            <a:ext cx="39529" cy="76200"/>
          </a:xfrm>
          <a:prstGeom prst="roundRect">
            <a:avLst/>
          </a:prstGeom>
          <a:solidFill>
            <a:srgbClr val="AFB3EB"/>
          </a:solidFill>
          <a:ln/>
        </p:spPr>
      </p:sp>
      <p:sp>
        <p:nvSpPr>
          <p:cNvPr id="213" name="Shape 210"/>
          <p:cNvSpPr/>
          <p:nvPr/>
        </p:nvSpPr>
        <p:spPr>
          <a:xfrm>
            <a:off x="10434638" y="1962150"/>
            <a:ext cx="39529" cy="76200"/>
          </a:xfrm>
          <a:prstGeom prst="roundRect">
            <a:avLst/>
          </a:prstGeom>
          <a:solidFill>
            <a:srgbClr val="A4A7EA"/>
          </a:solidFill>
          <a:ln/>
        </p:spPr>
      </p:sp>
      <p:sp>
        <p:nvSpPr>
          <p:cNvPr id="214" name="Shape 211"/>
          <p:cNvSpPr/>
          <p:nvPr/>
        </p:nvSpPr>
        <p:spPr>
          <a:xfrm>
            <a:off x="10470356" y="1962150"/>
            <a:ext cx="39529" cy="76200"/>
          </a:xfrm>
          <a:prstGeom prst="roundRect">
            <a:avLst/>
          </a:prstGeom>
          <a:solidFill>
            <a:srgbClr val="9A9AE8"/>
          </a:solidFill>
          <a:ln/>
        </p:spPr>
      </p:sp>
      <p:sp>
        <p:nvSpPr>
          <p:cNvPr id="215" name="Shape 212"/>
          <p:cNvSpPr/>
          <p:nvPr/>
        </p:nvSpPr>
        <p:spPr>
          <a:xfrm>
            <a:off x="10506075" y="1962150"/>
            <a:ext cx="39529" cy="76200"/>
          </a:xfrm>
          <a:prstGeom prst="roundRect">
            <a:avLst/>
          </a:prstGeom>
          <a:solidFill>
            <a:srgbClr val="8F8EE7"/>
          </a:solidFill>
          <a:ln/>
        </p:spPr>
      </p:sp>
      <p:sp>
        <p:nvSpPr>
          <p:cNvPr id="216" name="Shape 213"/>
          <p:cNvSpPr/>
          <p:nvPr/>
        </p:nvSpPr>
        <p:spPr>
          <a:xfrm>
            <a:off x="10541794" y="1962150"/>
            <a:ext cx="39529" cy="76200"/>
          </a:xfrm>
          <a:prstGeom prst="roundRect">
            <a:avLst/>
          </a:prstGeom>
          <a:solidFill>
            <a:srgbClr val="8482E5"/>
          </a:solidFill>
          <a:ln/>
        </p:spPr>
      </p:sp>
      <p:sp>
        <p:nvSpPr>
          <p:cNvPr id="217" name="Shape 214"/>
          <p:cNvSpPr/>
          <p:nvPr/>
        </p:nvSpPr>
        <p:spPr>
          <a:xfrm>
            <a:off x="10577513" y="1962150"/>
            <a:ext cx="39529" cy="76200"/>
          </a:xfrm>
          <a:prstGeom prst="roundRect">
            <a:avLst/>
          </a:prstGeom>
          <a:solidFill>
            <a:srgbClr val="7A75E4"/>
          </a:solidFill>
          <a:ln/>
        </p:spPr>
      </p:sp>
      <p:sp>
        <p:nvSpPr>
          <p:cNvPr id="218" name="Shape 215"/>
          <p:cNvSpPr/>
          <p:nvPr/>
        </p:nvSpPr>
        <p:spPr>
          <a:xfrm>
            <a:off x="10613231" y="1962150"/>
            <a:ext cx="39529" cy="76200"/>
          </a:xfrm>
          <a:prstGeom prst="roundRect">
            <a:avLst/>
          </a:prstGeom>
          <a:solidFill>
            <a:srgbClr val="6F69E2"/>
          </a:solidFill>
          <a:ln/>
        </p:spPr>
      </p:sp>
      <p:sp>
        <p:nvSpPr>
          <p:cNvPr id="219" name="Text 216"/>
          <p:cNvSpPr/>
          <p:nvPr/>
        </p:nvSpPr>
        <p:spPr>
          <a:xfrm>
            <a:off x="9296400" y="1924050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감소</a:t>
            </a:r>
            <a:endParaRPr lang="en-US" sz="680" dirty="0"/>
          </a:p>
        </p:txBody>
      </p:sp>
      <p:sp>
        <p:nvSpPr>
          <p:cNvPr id="220" name="Text 217"/>
          <p:cNvSpPr/>
          <p:nvPr/>
        </p:nvSpPr>
        <p:spPr>
          <a:xfrm>
            <a:off x="10687050" y="1924050"/>
            <a:ext cx="438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증가</a:t>
            </a:r>
            <a:endParaRPr lang="en-US" sz="680" dirty="0"/>
          </a:p>
        </p:txBody>
      </p:sp>
      <p:sp>
        <p:nvSpPr>
          <p:cNvPr id="221" name="Text 218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파란색이 개선 구간임.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오후~저녁 시간대가 요일 전반에서 고르게 좋아졌고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, 새벽 구간은 회색에 가깝거나 일부 붉게 나타남.</a:t>
            </a:r>
            <a:endParaRPr lang="en-US" sz="11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25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39000" y="4800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260032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2495550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5장 · 콘텐츠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57500"/>
            <a:ext cx="1038225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무엇이 성장을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만들었는가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2341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프로그램 성과 · 편성 비중 · 성장 기여 분해</a:t>
            </a:r>
            <a:endParaRPr lang="en-US" sz="12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성과 상위 프로그램 — 상위 3개가 축임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334000" cy="3276600"/>
          </a:xfrm>
          <a:prstGeom prst="roundRect">
            <a:avLst>
              <a:gd name="adj" fmla="val 407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067300" cy="2838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8768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방영 30회 이상 · 2025.01~2026.09 전체</a:t>
            </a:r>
            <a:endParaRPr lang="en-US" sz="86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05000"/>
          <a:ext cx="4648200" cy="914400"/>
        </p:xfrm>
        <a:graphic>
          <a:graphicData uri="http://schemas.openxmlformats.org/drawingml/2006/table">
            <a:tbl>
              <a:tblPr/>
              <a:tblGrid>
                <a:gridCol w="1690255"/>
                <a:gridCol w="845127"/>
                <a:gridCol w="1098665"/>
                <a:gridCol w="1014153"/>
              </a:tblGrid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방영 횟수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평균 시청률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시청시간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1,317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17분 45초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4,278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21분 22초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2,325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16분 41초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바닷가사람들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339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17분 18초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인간극장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542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15분 41초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순간포착세상에이런일이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189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15분 33초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인간과바다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259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18분 02초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다큐영화길위의인생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17분 24초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1,252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17분 03초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NEW코리아헌터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534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16분 54초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걸어서세계속으로·세계테마기행·극한직업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세 프로그램이 0.116 이상으로 다른 프로그램과 뚜렷이 구분됨.</a:t>
            </a:r>
            <a:endParaRPr lang="en-US" sz="113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실제 채널을 떠받친 것은 '평균 × 편성량'임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371850"/>
          </a:xfrm>
          <a:prstGeom prst="roundRect">
            <a:avLst>
              <a:gd name="adj" fmla="val 395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933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91490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기여량 = 평균 시청률 × 방영 횟수 (2025.01~2026.09 누적)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914400" y="52959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세계테마기행이 529으로 2위(극한직업 271)의 약 2배임. 평균 시청률은 걸어서세계속으로가 더 높지만,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편성량이 3.2배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여서 채널 기여도는 세계테마기행이 압도함.</a:t>
            </a:r>
            <a:endParaRPr lang="en-US" sz="11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최근 3개월, 주력 콘텐츠가 모두 좋아졌음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334000" cy="2895600"/>
          </a:xfrm>
          <a:prstGeom prst="roundRect">
            <a:avLst>
              <a:gd name="adj" fmla="val 460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57450" y="2019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A6A2EE"/>
          </a:solidFill>
          <a:ln/>
        </p:spPr>
      </p:sp>
      <p:sp>
        <p:nvSpPr>
          <p:cNvPr id="9" name="Text 6"/>
          <p:cNvSpPr/>
          <p:nvPr/>
        </p:nvSpPr>
        <p:spPr>
          <a:xfrm>
            <a:off x="2609850" y="19621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3~6월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562350" y="20193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11" name="Text 8"/>
          <p:cNvSpPr/>
          <p:nvPr/>
        </p:nvSpPr>
        <p:spPr>
          <a:xfrm>
            <a:off x="3714750" y="19621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6~9월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047750" y="2265589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한국기행</a:t>
            </a:r>
            <a:endParaRPr lang="en-US" sz="790" dirty="0"/>
          </a:p>
        </p:txBody>
      </p:sp>
      <p:sp>
        <p:nvSpPr>
          <p:cNvPr id="13" name="Shape 10"/>
          <p:cNvSpPr/>
          <p:nvPr/>
        </p:nvSpPr>
        <p:spPr>
          <a:xfrm>
            <a:off x="2780276" y="2327502"/>
            <a:ext cx="547716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4" name="Shape 11"/>
          <p:cNvSpPr/>
          <p:nvPr/>
        </p:nvSpPr>
        <p:spPr>
          <a:xfrm>
            <a:off x="2723126" y="2294164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15" name="Shape 12"/>
          <p:cNvSpPr/>
          <p:nvPr/>
        </p:nvSpPr>
        <p:spPr>
          <a:xfrm>
            <a:off x="3270842" y="2294164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16" name="Text 13"/>
          <p:cNvSpPr/>
          <p:nvPr/>
        </p:nvSpPr>
        <p:spPr>
          <a:xfrm>
            <a:off x="3423242" y="2265589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0.091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1047750" y="2586718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790" dirty="0"/>
          </a:p>
        </p:txBody>
      </p:sp>
      <p:sp>
        <p:nvSpPr>
          <p:cNvPr id="18" name="Shape 15"/>
          <p:cNvSpPr/>
          <p:nvPr/>
        </p:nvSpPr>
        <p:spPr>
          <a:xfrm>
            <a:off x="4145537" y="2648630"/>
            <a:ext cx="1072258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19" name="Shape 16"/>
          <p:cNvSpPr/>
          <p:nvPr/>
        </p:nvSpPr>
        <p:spPr>
          <a:xfrm>
            <a:off x="4088387" y="2615293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0" name="Shape 17"/>
          <p:cNvSpPr/>
          <p:nvPr/>
        </p:nvSpPr>
        <p:spPr>
          <a:xfrm>
            <a:off x="5160645" y="2615293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1" name="Text 18"/>
          <p:cNvSpPr/>
          <p:nvPr/>
        </p:nvSpPr>
        <p:spPr>
          <a:xfrm>
            <a:off x="5313045" y="2586718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0.185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1047750" y="2907846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790" dirty="0"/>
          </a:p>
        </p:txBody>
      </p:sp>
      <p:sp>
        <p:nvSpPr>
          <p:cNvPr id="23" name="Shape 20"/>
          <p:cNvSpPr/>
          <p:nvPr/>
        </p:nvSpPr>
        <p:spPr>
          <a:xfrm>
            <a:off x="4012739" y="2969759"/>
            <a:ext cx="950947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4" name="Shape 21"/>
          <p:cNvSpPr/>
          <p:nvPr/>
        </p:nvSpPr>
        <p:spPr>
          <a:xfrm>
            <a:off x="3955589" y="2936421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25" name="Shape 22"/>
          <p:cNvSpPr/>
          <p:nvPr/>
        </p:nvSpPr>
        <p:spPr>
          <a:xfrm>
            <a:off x="4906535" y="2936421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26" name="Text 23"/>
          <p:cNvSpPr/>
          <p:nvPr/>
        </p:nvSpPr>
        <p:spPr>
          <a:xfrm>
            <a:off x="5058935" y="2907846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0.172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1047750" y="3228975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</a:t>
            </a:r>
            <a:endParaRPr lang="en-US" sz="790" dirty="0"/>
          </a:p>
        </p:txBody>
      </p:sp>
      <p:sp>
        <p:nvSpPr>
          <p:cNvPr id="28" name="Shape 25"/>
          <p:cNvSpPr/>
          <p:nvPr/>
        </p:nvSpPr>
        <p:spPr>
          <a:xfrm>
            <a:off x="3613337" y="3290887"/>
            <a:ext cx="394767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29" name="Shape 26"/>
          <p:cNvSpPr/>
          <p:nvPr/>
        </p:nvSpPr>
        <p:spPr>
          <a:xfrm>
            <a:off x="3556187" y="3257550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0" name="Shape 27"/>
          <p:cNvSpPr/>
          <p:nvPr/>
        </p:nvSpPr>
        <p:spPr>
          <a:xfrm>
            <a:off x="3950954" y="3257550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1" name="Text 28"/>
          <p:cNvSpPr/>
          <p:nvPr/>
        </p:nvSpPr>
        <p:spPr>
          <a:xfrm>
            <a:off x="4103354" y="3228975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241DA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0.125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1047750" y="3550104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다문화고부열전</a:t>
            </a:r>
            <a:endParaRPr lang="en-US" sz="790" dirty="0"/>
          </a:p>
        </p:txBody>
      </p:sp>
      <p:sp>
        <p:nvSpPr>
          <p:cNvPr id="33" name="Shape 30"/>
          <p:cNvSpPr/>
          <p:nvPr/>
        </p:nvSpPr>
        <p:spPr>
          <a:xfrm>
            <a:off x="2457450" y="3612016"/>
            <a:ext cx="78591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4" name="Shape 31"/>
          <p:cNvSpPr/>
          <p:nvPr/>
        </p:nvSpPr>
        <p:spPr>
          <a:xfrm>
            <a:off x="2478891" y="3578679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35" name="Shape 32"/>
          <p:cNvSpPr/>
          <p:nvPr/>
        </p:nvSpPr>
        <p:spPr>
          <a:xfrm>
            <a:off x="2400300" y="3578679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36" name="Text 33"/>
          <p:cNvSpPr/>
          <p:nvPr/>
        </p:nvSpPr>
        <p:spPr>
          <a:xfrm>
            <a:off x="2631291" y="3550104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0.048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1047750" y="3871232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인간과바다</a:t>
            </a:r>
            <a:endParaRPr lang="en-US" sz="790" dirty="0"/>
          </a:p>
        </p:txBody>
      </p:sp>
      <p:sp>
        <p:nvSpPr>
          <p:cNvPr id="38" name="Shape 35"/>
          <p:cNvSpPr/>
          <p:nvPr/>
        </p:nvSpPr>
        <p:spPr>
          <a:xfrm>
            <a:off x="2812317" y="3933145"/>
            <a:ext cx="236376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39" name="Shape 36"/>
          <p:cNvSpPr/>
          <p:nvPr/>
        </p:nvSpPr>
        <p:spPr>
          <a:xfrm>
            <a:off x="2991543" y="3899807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0" name="Shape 37"/>
          <p:cNvSpPr/>
          <p:nvPr/>
        </p:nvSpPr>
        <p:spPr>
          <a:xfrm>
            <a:off x="2755167" y="3899807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1" name="Text 38"/>
          <p:cNvSpPr/>
          <p:nvPr/>
        </p:nvSpPr>
        <p:spPr>
          <a:xfrm>
            <a:off x="3143943" y="3871232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0.066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1047750" y="4192361"/>
            <a:ext cx="1276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9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NEW코리아헌터</a:t>
            </a:r>
            <a:endParaRPr lang="en-US" sz="790" dirty="0"/>
          </a:p>
        </p:txBody>
      </p:sp>
      <p:sp>
        <p:nvSpPr>
          <p:cNvPr id="43" name="Shape 40"/>
          <p:cNvSpPr/>
          <p:nvPr/>
        </p:nvSpPr>
        <p:spPr>
          <a:xfrm>
            <a:off x="2489491" y="4254273"/>
            <a:ext cx="246855" cy="47625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/>
        </p:spPr>
      </p:sp>
      <p:sp>
        <p:nvSpPr>
          <p:cNvPr id="44" name="Shape 41"/>
          <p:cNvSpPr/>
          <p:nvPr/>
        </p:nvSpPr>
        <p:spPr>
          <a:xfrm>
            <a:off x="2679196" y="4220936"/>
            <a:ext cx="114300" cy="114300"/>
          </a:xfrm>
          <a:prstGeom prst="ellipse">
            <a:avLst/>
          </a:prstGeom>
          <a:solidFill>
            <a:srgbClr val="A6A2EE"/>
          </a:solidFill>
          <a:ln/>
        </p:spPr>
      </p:sp>
      <p:sp>
        <p:nvSpPr>
          <p:cNvPr id="45" name="Shape 42"/>
          <p:cNvSpPr/>
          <p:nvPr/>
        </p:nvSpPr>
        <p:spPr>
          <a:xfrm>
            <a:off x="2432341" y="4220936"/>
            <a:ext cx="114300" cy="114300"/>
          </a:xfrm>
          <a:prstGeom prst="ellipse">
            <a:avLst/>
          </a:prstGeom>
          <a:solidFill>
            <a:srgbClr val="6F69E2"/>
          </a:solidFill>
          <a:ln/>
        </p:spPr>
      </p:sp>
      <p:sp>
        <p:nvSpPr>
          <p:cNvPr id="46" name="Text 43"/>
          <p:cNvSpPr/>
          <p:nvPr/>
        </p:nvSpPr>
        <p:spPr>
          <a:xfrm>
            <a:off x="2831596" y="4192361"/>
            <a:ext cx="590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9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0.050</a:t>
            </a:r>
            <a:endParaRPr lang="en-US" sz="790" dirty="0"/>
          </a:p>
        </p:txBody>
      </p:sp>
      <p:sp>
        <p:nvSpPr>
          <p:cNvPr id="47" name="Text 44"/>
          <p:cNvSpPr/>
          <p:nvPr/>
        </p:nvSpPr>
        <p:spPr>
          <a:xfrm>
            <a:off x="914400" y="44958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직전 3개월 대비 최근 3개월 평균</a:t>
            </a:r>
            <a:endParaRPr lang="en-US" sz="86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05000"/>
          <a:ext cx="4648200" cy="914400"/>
        </p:xfrm>
        <a:graphic>
          <a:graphicData uri="http://schemas.openxmlformats.org/drawingml/2006/table">
            <a:tbl>
              <a:tblPr/>
              <a:tblGrid>
                <a:gridCol w="1787769"/>
                <a:gridCol w="983273"/>
                <a:gridCol w="983273"/>
                <a:gridCol w="893885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직전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최근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변화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0.064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0.091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+42.4%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0.132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0.185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+40.4%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0.172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+37.7%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0.105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+18.6%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다문화고부열전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0.052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-7.5%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인간과바다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0.066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-15.1%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NEW코리아헌터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0.062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0.050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-19.8%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ext 45"/>
          <p:cNvSpPr/>
          <p:nvPr/>
        </p:nvSpPr>
        <p:spPr>
          <a:xfrm>
            <a:off x="914400" y="49530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주력 4개는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+18.6% ~ +42.4%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 개선됨. 반면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NEW코리아헌터(-19.8%)·인간과바다(-15.1%)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하락함.</a:t>
            </a:r>
            <a:endParaRPr lang="en-US" sz="11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 기여 분해 — 무엇이 얼마나 밀어올렸는가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276600"/>
          </a:xfrm>
          <a:prstGeom prst="roundRect">
            <a:avLst>
              <a:gd name="adj" fmla="val 407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838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81965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 → 2026년 채널 평균 시청률 변화(+0.016)에 대한 프로그램별 기여 · 시청률 기여를 1,000배 한 지수</a:t>
            </a:r>
            <a:endParaRPr lang="en-US" sz="860" dirty="0"/>
          </a:p>
        </p:txBody>
      </p:sp>
      <p:sp>
        <p:nvSpPr>
          <p:cNvPr id="10" name="Text 6"/>
          <p:cNvSpPr/>
          <p:nvPr/>
        </p:nvSpPr>
        <p:spPr>
          <a:xfrm>
            <a:off x="914400" y="52197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전체 변화량 중 편성 비중 변화(믹스 효과) 2.6, 프로그램 자체 성과 변화 13.5(×1000)임. 즉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성과 효과가 믹스 효과의 약 5배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로, 편성량 조정보다 콘텐츠 자체 성과 개선이 더 크게 작용함.</a:t>
            </a:r>
            <a:endParaRPr lang="en-US" sz="113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같은 총량 안에서 무엇을 빼고 무엇을 늘렸는가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05000"/>
          <a:ext cx="10363200" cy="914400"/>
        </p:xfrm>
        <a:graphic>
          <a:graphicData uri="http://schemas.openxmlformats.org/drawingml/2006/table">
            <a:tbl>
              <a:tblPr/>
              <a:tblGrid>
                <a:gridCol w="2198255"/>
                <a:gridCol w="1046788"/>
                <a:gridCol w="1046788"/>
                <a:gridCol w="1465503"/>
                <a:gridCol w="1256145"/>
                <a:gridCol w="1256145"/>
                <a:gridCol w="1046788"/>
                <a:gridCol w="1046788"/>
              </a:tblGrid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 방영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 방영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편성 비중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 시청률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 시청률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믹스 효과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성과 효과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1,135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1,190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15.48% → 24%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9.9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2,683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1,595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36.6% → 32.16%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0.112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0.143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-5.0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9.9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NEW코리아헌터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394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1.91% → 7.95%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4.8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-1.4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806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511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11% → 10.3%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0.109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0.147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-0.8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3.9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719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533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9.81% → 10.75%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다문화고부열전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117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1.15% → 2.36%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0.7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-0.1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바닷가사람들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251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3.42% → 1.77%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0.092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0.082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-1.5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-0.2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순간포착세상에이런일이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189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2.58% → 0%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0.079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-2.0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인간극장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408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5.57% → 2.7%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0.091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0.069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-2.6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-0.6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914400" y="54292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극한직업은 편성 비중을 15.5%→24.0%로 늘려 기여함(믹스형). 세계테마기행·걸어서세계속으로는 비중을 줄이고도 자체 시청률이 올라 기여함(성과형).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NEW코리아헌터는 비중을 늘렸지만 자체 성과는 떨어짐.</a:t>
            </a:r>
            <a:endParaRPr lang="en-US" sz="11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 콘텐츠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결정적 전환 — 2026년 4월과 7월의 편성표 비교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49911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3950" y="20383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4월</a:t>
            </a:r>
            <a:endParaRPr lang="en-US" sz="1280" dirty="0"/>
          </a:p>
        </p:txBody>
      </p:sp>
      <p:sp>
        <p:nvSpPr>
          <p:cNvPr id="9" name="Text 6"/>
          <p:cNvSpPr/>
          <p:nvPr/>
        </p:nvSpPr>
        <p:spPr>
          <a:xfrm>
            <a:off x="1123950" y="205740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 평균 0.095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1123950" y="2324100"/>
            <a:ext cx="4572000" cy="11430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11" name="Text 8"/>
          <p:cNvSpPr/>
          <p:nvPr/>
        </p:nvSpPr>
        <p:spPr>
          <a:xfrm>
            <a:off x="1123950" y="24003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3771900" y="24003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169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4648200" y="24003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0.118</a:t>
            </a:r>
            <a:endParaRPr lang="en-US" sz="1010" dirty="0"/>
          </a:p>
        </p:txBody>
      </p:sp>
      <p:sp>
        <p:nvSpPr>
          <p:cNvPr id="14" name="Shape 11"/>
          <p:cNvSpPr/>
          <p:nvPr/>
        </p:nvSpPr>
        <p:spPr>
          <a:xfrm>
            <a:off x="1123950" y="264795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5" name="Text 12"/>
          <p:cNvSpPr/>
          <p:nvPr/>
        </p:nvSpPr>
        <p:spPr>
          <a:xfrm>
            <a:off x="1123950" y="271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3771900" y="27146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164</a:t>
            </a:r>
            <a:endParaRPr lang="en-US" sz="1010" dirty="0"/>
          </a:p>
        </p:txBody>
      </p:sp>
      <p:sp>
        <p:nvSpPr>
          <p:cNvPr id="17" name="Text 14"/>
          <p:cNvSpPr/>
          <p:nvPr/>
        </p:nvSpPr>
        <p:spPr>
          <a:xfrm>
            <a:off x="4648200" y="27146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0.097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1123950" y="296227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9" name="Text 16"/>
          <p:cNvSpPr/>
          <p:nvPr/>
        </p:nvSpPr>
        <p:spPr>
          <a:xfrm>
            <a:off x="1123950" y="30289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NEW코리아헌터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3771900" y="30289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78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4648200" y="30289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0.061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1123950" y="327660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1123950" y="33432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3771900" y="334327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75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4648200" y="33432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0.123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1123950" y="359092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7" name="Text 24"/>
          <p:cNvSpPr/>
          <p:nvPr/>
        </p:nvSpPr>
        <p:spPr>
          <a:xfrm>
            <a:off x="1123950" y="36576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한국기행</a:t>
            </a:r>
            <a:endParaRPr lang="en-US" sz="1010" dirty="0"/>
          </a:p>
        </p:txBody>
      </p:sp>
      <p:sp>
        <p:nvSpPr>
          <p:cNvPr id="28" name="Text 25"/>
          <p:cNvSpPr/>
          <p:nvPr/>
        </p:nvSpPr>
        <p:spPr>
          <a:xfrm>
            <a:off x="3771900" y="36576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52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4648200" y="36576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0.059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1123950" y="390525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1" name="Text 28"/>
          <p:cNvSpPr/>
          <p:nvPr/>
        </p:nvSpPr>
        <p:spPr>
          <a:xfrm>
            <a:off x="1123950" y="39719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다문화고부열전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3771900" y="39719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27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4648200" y="39719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0.052</a:t>
            </a:r>
            <a:endParaRPr lang="en-US" sz="1010" dirty="0"/>
          </a:p>
        </p:txBody>
      </p:sp>
      <p:sp>
        <p:nvSpPr>
          <p:cNvPr id="34" name="Shape 31"/>
          <p:cNvSpPr/>
          <p:nvPr/>
        </p:nvSpPr>
        <p:spPr>
          <a:xfrm>
            <a:off x="1123950" y="421957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1123950" y="42862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인간과바다</a:t>
            </a:r>
            <a:endParaRPr lang="en-US" sz="1010" dirty="0"/>
          </a:p>
        </p:txBody>
      </p:sp>
      <p:sp>
        <p:nvSpPr>
          <p:cNvPr id="36" name="Text 33"/>
          <p:cNvSpPr/>
          <p:nvPr/>
        </p:nvSpPr>
        <p:spPr>
          <a:xfrm>
            <a:off x="3771900" y="42862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10" dirty="0"/>
          </a:p>
        </p:txBody>
      </p:sp>
      <p:sp>
        <p:nvSpPr>
          <p:cNvPr id="37" name="Text 34"/>
          <p:cNvSpPr/>
          <p:nvPr/>
        </p:nvSpPr>
        <p:spPr>
          <a:xfrm>
            <a:off x="4648200" y="42862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0.102</a:t>
            </a:r>
            <a:endParaRPr lang="en-US" sz="1010" dirty="0"/>
          </a:p>
        </p:txBody>
      </p:sp>
      <p:sp>
        <p:nvSpPr>
          <p:cNvPr id="38" name="Shape 35"/>
          <p:cNvSpPr/>
          <p:nvPr/>
        </p:nvSpPr>
        <p:spPr>
          <a:xfrm>
            <a:off x="6286500" y="1866900"/>
            <a:ext cx="4991100" cy="2857500"/>
          </a:xfrm>
          <a:prstGeom prst="roundRect">
            <a:avLst>
              <a:gd name="adj" fmla="val 4667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6050" y="20383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</a:t>
            </a:r>
            <a:endParaRPr lang="en-US" sz="1280" dirty="0"/>
          </a:p>
        </p:txBody>
      </p:sp>
      <p:sp>
        <p:nvSpPr>
          <p:cNvPr id="40" name="Text 37"/>
          <p:cNvSpPr/>
          <p:nvPr/>
        </p:nvSpPr>
        <p:spPr>
          <a:xfrm>
            <a:off x="6496050" y="2057400"/>
            <a:ext cx="457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채널 평균 0.136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6496050" y="2324100"/>
            <a:ext cx="4572000" cy="11430"/>
          </a:xfrm>
          <a:prstGeom prst="rect">
            <a:avLst/>
          </a:prstGeom>
          <a:solidFill>
            <a:srgbClr val="CFCFDA"/>
          </a:solidFill>
          <a:ln/>
        </p:spPr>
      </p:sp>
      <p:sp>
        <p:nvSpPr>
          <p:cNvPr id="42" name="Text 39"/>
          <p:cNvSpPr/>
          <p:nvPr/>
        </p:nvSpPr>
        <p:spPr>
          <a:xfrm>
            <a:off x="6496050" y="24003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1010" dirty="0"/>
          </a:p>
        </p:txBody>
      </p:sp>
      <p:sp>
        <p:nvSpPr>
          <p:cNvPr id="43" name="Text 40"/>
          <p:cNvSpPr/>
          <p:nvPr/>
        </p:nvSpPr>
        <p:spPr>
          <a:xfrm>
            <a:off x="9144000" y="24003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203</a:t>
            </a:r>
            <a:endParaRPr lang="en-US" sz="1010" dirty="0"/>
          </a:p>
        </p:txBody>
      </p:sp>
      <p:sp>
        <p:nvSpPr>
          <p:cNvPr id="44" name="Text 41"/>
          <p:cNvSpPr/>
          <p:nvPr/>
        </p:nvSpPr>
        <p:spPr>
          <a:xfrm>
            <a:off x="10020300" y="24003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0.180</a:t>
            </a:r>
            <a:endParaRPr lang="en-US" sz="1010" dirty="0"/>
          </a:p>
        </p:txBody>
      </p:sp>
      <p:sp>
        <p:nvSpPr>
          <p:cNvPr id="45" name="Shape 42"/>
          <p:cNvSpPr/>
          <p:nvPr/>
        </p:nvSpPr>
        <p:spPr>
          <a:xfrm>
            <a:off x="6496050" y="264795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6" name="Text 43"/>
          <p:cNvSpPr/>
          <p:nvPr/>
        </p:nvSpPr>
        <p:spPr>
          <a:xfrm>
            <a:off x="6496050" y="27146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9144000" y="27146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185</a:t>
            </a:r>
            <a:endParaRPr lang="en-US" sz="1010" dirty="0"/>
          </a:p>
        </p:txBody>
      </p:sp>
      <p:sp>
        <p:nvSpPr>
          <p:cNvPr id="48" name="Text 45"/>
          <p:cNvSpPr/>
          <p:nvPr/>
        </p:nvSpPr>
        <p:spPr>
          <a:xfrm>
            <a:off x="10020300" y="27146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0.134</a:t>
            </a:r>
            <a:endParaRPr lang="en-US" sz="1010" dirty="0"/>
          </a:p>
        </p:txBody>
      </p:sp>
      <p:sp>
        <p:nvSpPr>
          <p:cNvPr id="49" name="Shape 46"/>
          <p:cNvSpPr/>
          <p:nvPr/>
        </p:nvSpPr>
        <p:spPr>
          <a:xfrm>
            <a:off x="6496050" y="296227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0" name="Text 47"/>
          <p:cNvSpPr/>
          <p:nvPr/>
        </p:nvSpPr>
        <p:spPr>
          <a:xfrm>
            <a:off x="6496050" y="30289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한국기행</a:t>
            </a:r>
            <a:endParaRPr lang="en-US" sz="1010" dirty="0"/>
          </a:p>
        </p:txBody>
      </p:sp>
      <p:sp>
        <p:nvSpPr>
          <p:cNvPr id="51" name="Text 48"/>
          <p:cNvSpPr/>
          <p:nvPr/>
        </p:nvSpPr>
        <p:spPr>
          <a:xfrm>
            <a:off x="9144000" y="30289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87</a:t>
            </a:r>
            <a:endParaRPr lang="en-US" sz="1010" dirty="0"/>
          </a:p>
        </p:txBody>
      </p:sp>
      <p:sp>
        <p:nvSpPr>
          <p:cNvPr id="52" name="Text 49"/>
          <p:cNvSpPr/>
          <p:nvPr/>
        </p:nvSpPr>
        <p:spPr>
          <a:xfrm>
            <a:off x="10020300" y="30289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0.094</a:t>
            </a:r>
            <a:endParaRPr lang="en-US" sz="1010" dirty="0"/>
          </a:p>
        </p:txBody>
      </p:sp>
      <p:sp>
        <p:nvSpPr>
          <p:cNvPr id="53" name="Shape 50"/>
          <p:cNvSpPr/>
          <p:nvPr/>
        </p:nvSpPr>
        <p:spPr>
          <a:xfrm>
            <a:off x="6496050" y="327660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4" name="Text 51"/>
          <p:cNvSpPr/>
          <p:nvPr/>
        </p:nvSpPr>
        <p:spPr>
          <a:xfrm>
            <a:off x="6496050" y="334327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1010" dirty="0"/>
          </a:p>
        </p:txBody>
      </p:sp>
      <p:sp>
        <p:nvSpPr>
          <p:cNvPr id="55" name="Text 52"/>
          <p:cNvSpPr/>
          <p:nvPr/>
        </p:nvSpPr>
        <p:spPr>
          <a:xfrm>
            <a:off x="9144000" y="334327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53</a:t>
            </a:r>
            <a:endParaRPr lang="en-US" sz="1010" dirty="0"/>
          </a:p>
        </p:txBody>
      </p:sp>
      <p:sp>
        <p:nvSpPr>
          <p:cNvPr id="56" name="Text 53"/>
          <p:cNvSpPr/>
          <p:nvPr/>
        </p:nvSpPr>
        <p:spPr>
          <a:xfrm>
            <a:off x="10020300" y="334327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0.198</a:t>
            </a:r>
            <a:endParaRPr lang="en-US" sz="1010" dirty="0"/>
          </a:p>
        </p:txBody>
      </p:sp>
      <p:sp>
        <p:nvSpPr>
          <p:cNvPr id="57" name="Shape 54"/>
          <p:cNvSpPr/>
          <p:nvPr/>
        </p:nvSpPr>
        <p:spPr>
          <a:xfrm>
            <a:off x="6496050" y="359092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8" name="Text 55"/>
          <p:cNvSpPr/>
          <p:nvPr/>
        </p:nvSpPr>
        <p:spPr>
          <a:xfrm>
            <a:off x="6496050" y="36576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다문화고부열전</a:t>
            </a:r>
            <a:endParaRPr lang="en-US" sz="1010" dirty="0"/>
          </a:p>
        </p:txBody>
      </p:sp>
      <p:sp>
        <p:nvSpPr>
          <p:cNvPr id="59" name="Text 56"/>
          <p:cNvSpPr/>
          <p:nvPr/>
        </p:nvSpPr>
        <p:spPr>
          <a:xfrm>
            <a:off x="9144000" y="365760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37</a:t>
            </a:r>
            <a:endParaRPr lang="en-US" sz="1010" dirty="0"/>
          </a:p>
        </p:txBody>
      </p:sp>
      <p:sp>
        <p:nvSpPr>
          <p:cNvPr id="60" name="Text 57"/>
          <p:cNvSpPr/>
          <p:nvPr/>
        </p:nvSpPr>
        <p:spPr>
          <a:xfrm>
            <a:off x="10020300" y="365760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0.051</a:t>
            </a:r>
            <a:endParaRPr lang="en-US" sz="1010" dirty="0"/>
          </a:p>
        </p:txBody>
      </p:sp>
      <p:sp>
        <p:nvSpPr>
          <p:cNvPr id="61" name="Shape 58"/>
          <p:cNvSpPr/>
          <p:nvPr/>
        </p:nvSpPr>
        <p:spPr>
          <a:xfrm>
            <a:off x="6496050" y="3905250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62" name="Text 59"/>
          <p:cNvSpPr/>
          <p:nvPr/>
        </p:nvSpPr>
        <p:spPr>
          <a:xfrm>
            <a:off x="6496050" y="3971925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인간과바다</a:t>
            </a:r>
            <a:endParaRPr lang="en-US" sz="1010" dirty="0"/>
          </a:p>
        </p:txBody>
      </p:sp>
      <p:sp>
        <p:nvSpPr>
          <p:cNvPr id="63" name="Text 60"/>
          <p:cNvSpPr/>
          <p:nvPr/>
        </p:nvSpPr>
        <p:spPr>
          <a:xfrm>
            <a:off x="9144000" y="3971925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13</a:t>
            </a:r>
            <a:endParaRPr lang="en-US" sz="1010" dirty="0"/>
          </a:p>
        </p:txBody>
      </p:sp>
      <p:sp>
        <p:nvSpPr>
          <p:cNvPr id="64" name="Text 61"/>
          <p:cNvSpPr/>
          <p:nvPr/>
        </p:nvSpPr>
        <p:spPr>
          <a:xfrm>
            <a:off x="10020300" y="3971925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0.051</a:t>
            </a:r>
            <a:endParaRPr lang="en-US" sz="1010" dirty="0"/>
          </a:p>
        </p:txBody>
      </p:sp>
      <p:sp>
        <p:nvSpPr>
          <p:cNvPr id="65" name="Shape 62"/>
          <p:cNvSpPr/>
          <p:nvPr/>
        </p:nvSpPr>
        <p:spPr>
          <a:xfrm>
            <a:off x="6496050" y="4219575"/>
            <a:ext cx="45720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66" name="Text 63"/>
          <p:cNvSpPr/>
          <p:nvPr/>
        </p:nvSpPr>
        <p:spPr>
          <a:xfrm>
            <a:off x="6496050" y="42862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퍼슨오브인터레스트2</a:t>
            </a:r>
            <a:endParaRPr lang="en-US" sz="1010" dirty="0"/>
          </a:p>
        </p:txBody>
      </p:sp>
      <p:sp>
        <p:nvSpPr>
          <p:cNvPr id="67" name="Text 64"/>
          <p:cNvSpPr/>
          <p:nvPr/>
        </p:nvSpPr>
        <p:spPr>
          <a:xfrm>
            <a:off x="9144000" y="42862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10</a:t>
            </a:r>
            <a:endParaRPr lang="en-US" sz="1010" dirty="0"/>
          </a:p>
        </p:txBody>
      </p:sp>
      <p:sp>
        <p:nvSpPr>
          <p:cNvPr id="68" name="Text 65"/>
          <p:cNvSpPr/>
          <p:nvPr/>
        </p:nvSpPr>
        <p:spPr>
          <a:xfrm>
            <a:off x="10020300" y="4286250"/>
            <a:ext cx="1047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0.017</a:t>
            </a:r>
            <a:endParaRPr lang="en-US" sz="1010" dirty="0"/>
          </a:p>
        </p:txBody>
      </p:sp>
      <p:sp>
        <p:nvSpPr>
          <p:cNvPr id="69" name="Text 66"/>
          <p:cNvSpPr/>
          <p:nvPr/>
        </p:nvSpPr>
        <p:spPr>
          <a:xfrm>
            <a:off x="914400" y="49530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NEW코리아헌터의 방영을 78회 → 4회로 줄인 것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 가장 큰 변화임. 그 자리를 세계테마기행(169→203)·극한직업(164→185)·한국기행(52→87)이 채웠고, 채널 평균은 0.09461 → 0.13602로 올랐음.</a:t>
            </a:r>
            <a:endParaRPr lang="en-US" sz="11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32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39000" y="4800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06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260032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2495550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6장 · 편성 운영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57500"/>
            <a:ext cx="1038225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어떻게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운영했는가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2341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집중도 · 의존도 · 반복 · 회차 · 흐름</a:t>
            </a:r>
            <a:endParaRPr lang="en-US" sz="128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온에어 종수는 줄고, 상위 집중도는 올라갔음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790700"/>
            <a:ext cx="10363200" cy="2724150"/>
          </a:xfrm>
          <a:prstGeom prst="roundRect">
            <a:avLst>
              <a:gd name="adj" fmla="val 489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05000"/>
          <a:ext cx="100965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58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19.3종 → 16.4종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858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월평균 온에어 프로그램 수</a:t>
            </a:r>
            <a:endParaRPr lang="en-US" sz="940" dirty="0"/>
          </a:p>
        </p:txBody>
      </p:sp>
      <p:sp>
        <p:nvSpPr>
          <p:cNvPr id="12" name="Shape 8"/>
          <p:cNvSpPr/>
          <p:nvPr/>
        </p:nvSpPr>
        <p:spPr>
          <a:xfrm>
            <a:off x="44196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910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80.5% → 86.3%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910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상위 5개 편성 집중도</a:t>
            </a:r>
            <a:endParaRPr lang="en-US" sz="940" dirty="0"/>
          </a:p>
        </p:txBody>
      </p:sp>
      <p:sp>
        <p:nvSpPr>
          <p:cNvPr id="15" name="Shape 11"/>
          <p:cNvSpPr/>
          <p:nvPr/>
        </p:nvSpPr>
        <p:spPr>
          <a:xfrm>
            <a:off x="79248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0962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72종 → 46종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80962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연간 등장 프로그램 총수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914400" y="56007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확보한 콘텐츠는 넓히되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실제 온에어는 검증된 소수에 좁혔음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. 2026년 9월은 6일치뿐이라 제외함.</a:t>
            </a:r>
            <a:endParaRPr lang="en-US" sz="113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&lt;세계테마기행&gt; 한 편에 기대던 구조에서 벗어났음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715000" cy="2667000"/>
          </a:xfrm>
          <a:prstGeom prst="roundRect">
            <a:avLst>
              <a:gd name="adj" fmla="val 5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448300" cy="2457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7048500" y="1905000"/>
            <a:ext cx="42291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239000" y="2038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 8월 · 1위</a:t>
            </a:r>
            <a:endParaRPr lang="en-US" sz="860" dirty="0"/>
          </a:p>
        </p:txBody>
      </p:sp>
      <p:sp>
        <p:nvSpPr>
          <p:cNvPr id="11" name="Text 7"/>
          <p:cNvSpPr/>
          <p:nvPr/>
        </p:nvSpPr>
        <p:spPr>
          <a:xfrm>
            <a:off x="7239000" y="22288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1430" dirty="0"/>
          </a:p>
        </p:txBody>
      </p:sp>
      <p:sp>
        <p:nvSpPr>
          <p:cNvPr id="12" name="Text 8"/>
          <p:cNvSpPr/>
          <p:nvPr/>
        </p:nvSpPr>
        <p:spPr>
          <a:xfrm>
            <a:off x="9525000" y="2228850"/>
            <a:ext cx="156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272회  43.0%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39000" y="25717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2위 극한직업 92회 — 3배 격차</a:t>
            </a:r>
            <a:endParaRPr lang="en-US" sz="860" dirty="0"/>
          </a:p>
        </p:txBody>
      </p:sp>
      <p:sp>
        <p:nvSpPr>
          <p:cNvPr id="14" name="Shape 10"/>
          <p:cNvSpPr/>
          <p:nvPr/>
        </p:nvSpPr>
        <p:spPr>
          <a:xfrm>
            <a:off x="7048500" y="3009900"/>
            <a:ext cx="4229100" cy="990600"/>
          </a:xfrm>
          <a:prstGeom prst="roundRect">
            <a:avLst>
              <a:gd name="adj" fmla="val 13462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39000" y="31432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8월 · 1위</a:t>
            </a:r>
            <a:endParaRPr lang="en-US" sz="860" dirty="0"/>
          </a:p>
        </p:txBody>
      </p:sp>
      <p:sp>
        <p:nvSpPr>
          <p:cNvPr id="16" name="Text 12"/>
          <p:cNvSpPr/>
          <p:nvPr/>
        </p:nvSpPr>
        <p:spPr>
          <a:xfrm>
            <a:off x="7239000" y="3333750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3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</a:t>
            </a:r>
            <a:endParaRPr lang="en-US" sz="1430" dirty="0"/>
          </a:p>
        </p:txBody>
      </p:sp>
      <p:sp>
        <p:nvSpPr>
          <p:cNvPr id="17" name="Text 13"/>
          <p:cNvSpPr/>
          <p:nvPr/>
        </p:nvSpPr>
        <p:spPr>
          <a:xfrm>
            <a:off x="9525000" y="3333750"/>
            <a:ext cx="1562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185회  29.9%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239000" y="367665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2위 세계테마기행 178회 — 거의 대등</a:t>
            </a:r>
            <a:endParaRPr lang="en-US" sz="860" dirty="0"/>
          </a:p>
        </p:txBody>
      </p:sp>
      <p:sp>
        <p:nvSpPr>
          <p:cNvPr id="19" name="Shape 15"/>
          <p:cNvSpPr/>
          <p:nvPr/>
        </p:nvSpPr>
        <p:spPr>
          <a:xfrm>
            <a:off x="7048500" y="42767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0" name="Text 16"/>
          <p:cNvSpPr/>
          <p:nvPr/>
        </p:nvSpPr>
        <p:spPr>
          <a:xfrm>
            <a:off x="7181850" y="4210050"/>
            <a:ext cx="4095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2025년에는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&lt;세계테마기행&gt;이 12개월 내내 1위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였고, 8월에는 혼자 월 편성의 43.0%를 가져감</a:t>
            </a:r>
            <a:endParaRPr lang="en-US" sz="1160" dirty="0"/>
          </a:p>
        </p:txBody>
      </p:sp>
      <p:sp>
        <p:nvSpPr>
          <p:cNvPr id="21" name="Shape 17"/>
          <p:cNvSpPr/>
          <p:nvPr/>
        </p:nvSpPr>
        <p:spPr>
          <a:xfrm>
            <a:off x="7048500" y="48101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2" name="Text 18"/>
          <p:cNvSpPr/>
          <p:nvPr/>
        </p:nvSpPr>
        <p:spPr>
          <a:xfrm>
            <a:off x="7181850" y="4743450"/>
            <a:ext cx="409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2026년 8월에는 1위가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&lt;극한직업&gt;으로 바뀌었고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2위와의 격차가 7회로 좁혀짐</a:t>
            </a:r>
            <a:endParaRPr lang="en-US" sz="1160" dirty="0"/>
          </a:p>
        </p:txBody>
      </p:sp>
      <p:sp>
        <p:nvSpPr>
          <p:cNvPr id="23" name="Shape 19"/>
          <p:cNvSpPr/>
          <p:nvPr/>
        </p:nvSpPr>
        <p:spPr>
          <a:xfrm>
            <a:off x="7048500" y="53435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4" name="Text 20"/>
          <p:cNvSpPr/>
          <p:nvPr/>
        </p:nvSpPr>
        <p:spPr>
          <a:xfrm>
            <a:off x="7181850" y="5276850"/>
            <a:ext cx="409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즉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한 편 몰아주기에서 검증된 3~5편 분산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으로 바뀐 구조임</a:t>
            </a:r>
            <a:endParaRPr lang="en-US" sz="116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35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들어온 것과 나간 것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18097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2026년에 사라진 프로그램</a:t>
            </a:r>
            <a:endParaRPr lang="en-US" sz="1160" dirty="0"/>
          </a:p>
        </p:txBody>
      </p:sp>
      <p:sp>
        <p:nvSpPr>
          <p:cNvPr id="8" name="Shape 5"/>
          <p:cNvSpPr/>
          <p:nvPr/>
        </p:nvSpPr>
        <p:spPr>
          <a:xfrm>
            <a:off x="914400" y="2076450"/>
            <a:ext cx="4991100" cy="2381250"/>
          </a:xfrm>
          <a:prstGeom prst="roundRect">
            <a:avLst>
              <a:gd name="adj" fmla="val 56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1047750" y="2190750"/>
          <a:ext cx="4724400" cy="2171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286500" y="18097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2026년에 새로 들어온 프로그램</a:t>
            </a:r>
            <a:endParaRPr lang="en-US" sz="1160" dirty="0"/>
          </a:p>
        </p:txBody>
      </p:sp>
      <p:sp>
        <p:nvSpPr>
          <p:cNvPr id="11" name="Shape 7"/>
          <p:cNvSpPr/>
          <p:nvPr/>
        </p:nvSpPr>
        <p:spPr>
          <a:xfrm>
            <a:off x="6286500" y="2076450"/>
            <a:ext cx="4991100" cy="2381250"/>
          </a:xfrm>
          <a:prstGeom prst="roundRect">
            <a:avLst>
              <a:gd name="adj" fmla="val 56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12" name="Chart 1" descr=""/>
          <p:cNvGraphicFramePr/>
          <p:nvPr/>
        </p:nvGraphicFramePr>
        <p:xfrm>
          <a:off x="6419850" y="2190750"/>
          <a:ext cx="4724400" cy="21717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 8"/>
          <p:cNvSpPr/>
          <p:nvPr/>
        </p:nvSpPr>
        <p:spPr>
          <a:xfrm>
            <a:off x="914400" y="47625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이탈은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&lt;순간포착 세상에 이런일이&gt;(2025년 189회 방영)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처럼 방영량이 큰 프로그램이었던 반면, 신규 유입은 모두 연간 14회 이하의 소규모 시험 편성임. 1회 = 특정 날짜·시작시간에 방송된 1건임.</a:t>
            </a:r>
            <a:endParaRPr lang="en-US" sz="11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반복은 줄이지 않았음 — 다만 무엇을 반복할지 바꿨음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905000"/>
            <a:ext cx="4000500" cy="1409700"/>
          </a:xfrm>
          <a:prstGeom prst="roundRect">
            <a:avLst>
              <a:gd name="adj" fmla="val 9459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2114550"/>
            <a:ext cx="400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9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90.3%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914400" y="2781300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24시간 내 같은 프로그램이 다시 방영된 비율</a:t>
            </a:r>
            <a:endParaRPr lang="en-US" sz="1010" dirty="0"/>
          </a:p>
        </p:txBody>
      </p:sp>
      <p:sp>
        <p:nvSpPr>
          <p:cNvPr id="10" name="Shape 7"/>
          <p:cNvSpPr/>
          <p:nvPr/>
        </p:nvSpPr>
        <p:spPr>
          <a:xfrm>
            <a:off x="914400" y="3467100"/>
            <a:ext cx="4000500" cy="990600"/>
          </a:xfrm>
          <a:prstGeom prst="roundRect">
            <a:avLst>
              <a:gd name="adj" fmla="val 1346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3638550"/>
            <a:ext cx="400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88.8%</a:t>
            </a:r>
            <a:endParaRPr lang="en-US" sz="2700" dirty="0"/>
          </a:p>
        </p:txBody>
      </p:sp>
      <p:sp>
        <p:nvSpPr>
          <p:cNvPr id="12" name="Text 9"/>
          <p:cNvSpPr/>
          <p:nvPr/>
        </p:nvSpPr>
        <p:spPr>
          <a:xfrm>
            <a:off x="914400" y="41148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편성표 표본 12일 · 304건 중 재방 비율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5334000" y="1866900"/>
            <a:ext cx="5943600" cy="3048000"/>
          </a:xfrm>
          <a:prstGeom prst="roundRect">
            <a:avLst>
              <a:gd name="adj" fmla="val 437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5467350" y="1981200"/>
          <a:ext cx="5676900" cy="26098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5334000" y="4648200"/>
            <a:ext cx="5943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프로그램별 24시간 내 재등장 비율 (방영 60회 이상)</a:t>
            </a:r>
            <a:endParaRPr lang="en-US" sz="860" dirty="0"/>
          </a:p>
        </p:txBody>
      </p:sp>
      <p:sp>
        <p:nvSpPr>
          <p:cNvPr id="16" name="Text 12"/>
          <p:cNvSpPr/>
          <p:nvPr/>
        </p:nvSpPr>
        <p:spPr>
          <a:xfrm>
            <a:off x="914400" y="49911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주력 4개는 모두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95% 이상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24시간 내 재등장함. 반복 자체를 줄인 것이 아니라, 성과가 낮은 반복을 걷어내고 잘 되는 콘텐츠의 반복은 유지한 구조임.</a:t>
            </a:r>
            <a:endParaRPr lang="en-US" sz="113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회차 운용 — 같은 회차를 얼마나 다시 쓰는가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334000" cy="2419350"/>
          </a:xfrm>
          <a:prstGeom prst="roundRect">
            <a:avLst>
              <a:gd name="adj" fmla="val 551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067300" cy="1981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0195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· 방영 횟수 ÷ 고유 회차 수</a:t>
            </a:r>
            <a:endParaRPr lang="en-US" sz="86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05000"/>
          <a:ext cx="4648200" cy="914400"/>
        </p:xfrm>
        <a:graphic>
          <a:graphicData uri="http://schemas.openxmlformats.org/drawingml/2006/table">
            <a:tbl>
              <a:tblPr/>
              <a:tblGrid>
                <a:gridCol w="1162050"/>
                <a:gridCol w="1162050"/>
                <a:gridCol w="1162050"/>
                <a:gridCol w="1162050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방영 횟수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고유 회차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재사용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315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1.77배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406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326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1.25배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117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1.19배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133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128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1.04배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629400" y="35528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2" name="Text 7"/>
          <p:cNvSpPr/>
          <p:nvPr/>
        </p:nvSpPr>
        <p:spPr>
          <a:xfrm>
            <a:off x="6762750" y="34861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 1.04배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— 거의 매번 다른 회차임</a:t>
            </a:r>
            <a:endParaRPr lang="en-US" sz="1160" dirty="0"/>
          </a:p>
        </p:txBody>
      </p:sp>
      <p:sp>
        <p:nvSpPr>
          <p:cNvPr id="13" name="Shape 8"/>
          <p:cNvSpPr/>
          <p:nvPr/>
        </p:nvSpPr>
        <p:spPr>
          <a:xfrm>
            <a:off x="6629400" y="39528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4" name="Text 9"/>
          <p:cNvSpPr/>
          <p:nvPr/>
        </p:nvSpPr>
        <p:spPr>
          <a:xfrm>
            <a:off x="6762750" y="388620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 1.77배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— 같은 회차를 평균 두 번 가까이 씀</a:t>
            </a:r>
            <a:endParaRPr lang="en-US" sz="1160" dirty="0"/>
          </a:p>
        </p:txBody>
      </p:sp>
      <p:sp>
        <p:nvSpPr>
          <p:cNvPr id="15" name="Shape 10"/>
          <p:cNvSpPr/>
          <p:nvPr/>
        </p:nvSpPr>
        <p:spPr>
          <a:xfrm>
            <a:off x="6629400" y="43529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6" name="Text 11"/>
          <p:cNvSpPr/>
          <p:nvPr/>
        </p:nvSpPr>
        <p:spPr>
          <a:xfrm>
            <a:off x="6762750" y="4286250"/>
            <a:ext cx="45148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회차 정보는 2026년 방영 건의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22.7%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에만 있어 부분 표본임</a:t>
            </a:r>
            <a:endParaRPr lang="en-US" sz="11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하루 종일 세계여행이 되도록 지역을 설계했음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3352800" cy="914400"/>
          </a:xfrm>
          <a:prstGeom prst="roundRect">
            <a:avLst>
              <a:gd name="adj" fmla="val 14583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5850" y="1905000"/>
            <a:ext cx="3009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5.1</a:t>
            </a:r>
            <a:pPr indent="0" marL="0"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개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85850" y="228600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하루에 등장한 여행 지역 수(평균)</a:t>
            </a:r>
            <a:endParaRPr lang="en-US" sz="94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최대 8개 · 1개 지역만 나온 날 0일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4419600" y="1809750"/>
            <a:ext cx="33528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91050" y="1905000"/>
            <a:ext cx="3009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89.3</a:t>
            </a:r>
            <a:pPr indent="0" marL="0"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%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4591050" y="228600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이어지는 여행 편성에서</a:t>
            </a:r>
            <a:endParaRPr lang="en-US" sz="94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직전과 다른 지역으로 넘어간 비율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7924800" y="1809750"/>
            <a:ext cx="33528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96250" y="1905000"/>
            <a:ext cx="3009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10</a:t>
            </a:r>
            <a:pPr indent="0" marL="0"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개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8096250" y="2286000"/>
            <a:ext cx="3009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편성에 등장한 지역</a:t>
            </a:r>
            <a:endParaRPr lang="en-US" sz="94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아시아·유럽·중남미·아프리카 전 대륙</a:t>
            </a:r>
            <a:endParaRPr lang="en-US" sz="940" dirty="0"/>
          </a:p>
        </p:txBody>
      </p:sp>
      <p:sp>
        <p:nvSpPr>
          <p:cNvPr id="16" name="Text 13"/>
          <p:cNvSpPr/>
          <p:nvPr/>
        </p:nvSpPr>
        <p:spPr>
          <a:xfrm>
            <a:off x="914400" y="2876550"/>
            <a:ext cx="5143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하루 편성 예시 · 2026-08-02 (8개 지역)</a:t>
            </a:r>
            <a:endParaRPr lang="en-US" sz="1160" dirty="0"/>
          </a:p>
        </p:txBody>
      </p:sp>
      <p:sp>
        <p:nvSpPr>
          <p:cNvPr id="17" name="Text 14"/>
          <p:cNvSpPr/>
          <p:nvPr/>
        </p:nvSpPr>
        <p:spPr>
          <a:xfrm>
            <a:off x="914400" y="31623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9시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428750" y="3152775"/>
            <a:ext cx="45720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19" name="Text 16"/>
          <p:cNvSpPr/>
          <p:nvPr/>
        </p:nvSpPr>
        <p:spPr>
          <a:xfrm>
            <a:off x="1428750" y="3190875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중동</a:t>
            </a:r>
            <a:endParaRPr lang="en-US" sz="860" dirty="0"/>
          </a:p>
        </p:txBody>
      </p:sp>
      <p:sp>
        <p:nvSpPr>
          <p:cNvPr id="20" name="Text 17"/>
          <p:cNvSpPr/>
          <p:nvPr/>
        </p:nvSpPr>
        <p:spPr>
          <a:xfrm>
            <a:off x="1981200" y="31623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튀르키예</a:t>
            </a:r>
            <a:endParaRPr lang="en-US" sz="980" dirty="0"/>
          </a:p>
        </p:txBody>
      </p:sp>
      <p:sp>
        <p:nvSpPr>
          <p:cNvPr id="21" name="Text 18"/>
          <p:cNvSpPr/>
          <p:nvPr/>
        </p:nvSpPr>
        <p:spPr>
          <a:xfrm>
            <a:off x="3810000" y="31623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14400" y="3381375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34194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11시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1428750" y="3409950"/>
            <a:ext cx="45720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25" name="Text 22"/>
          <p:cNvSpPr/>
          <p:nvPr/>
        </p:nvSpPr>
        <p:spPr>
          <a:xfrm>
            <a:off x="1428750" y="3448050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북미</a:t>
            </a:r>
            <a:endParaRPr lang="en-US" sz="860" dirty="0"/>
          </a:p>
        </p:txBody>
      </p:sp>
      <p:sp>
        <p:nvSpPr>
          <p:cNvPr id="26" name="Text 23"/>
          <p:cNvSpPr/>
          <p:nvPr/>
        </p:nvSpPr>
        <p:spPr>
          <a:xfrm>
            <a:off x="1981200" y="341947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캐나다</a:t>
            </a:r>
            <a:endParaRPr lang="en-US" sz="980" dirty="0"/>
          </a:p>
        </p:txBody>
      </p:sp>
      <p:sp>
        <p:nvSpPr>
          <p:cNvPr id="27" name="Text 24"/>
          <p:cNvSpPr/>
          <p:nvPr/>
        </p:nvSpPr>
        <p:spPr>
          <a:xfrm>
            <a:off x="3810000" y="341947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914400" y="3638550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9" name="Text 26"/>
          <p:cNvSpPr/>
          <p:nvPr/>
        </p:nvSpPr>
        <p:spPr>
          <a:xfrm>
            <a:off x="914400" y="36766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12시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428750" y="3667125"/>
            <a:ext cx="70485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1" name="Text 28"/>
          <p:cNvSpPr/>
          <p:nvPr/>
        </p:nvSpPr>
        <p:spPr>
          <a:xfrm>
            <a:off x="1428750" y="3705225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남아시아</a:t>
            </a:r>
            <a:endParaRPr lang="en-US" sz="860" dirty="0"/>
          </a:p>
        </p:txBody>
      </p:sp>
      <p:sp>
        <p:nvSpPr>
          <p:cNvPr id="32" name="Text 29"/>
          <p:cNvSpPr/>
          <p:nvPr/>
        </p:nvSpPr>
        <p:spPr>
          <a:xfrm>
            <a:off x="2228850" y="36766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스리랑카</a:t>
            </a:r>
            <a:endParaRPr lang="en-US" sz="980" dirty="0"/>
          </a:p>
        </p:txBody>
      </p:sp>
      <p:sp>
        <p:nvSpPr>
          <p:cNvPr id="33" name="Text 30"/>
          <p:cNvSpPr/>
          <p:nvPr/>
        </p:nvSpPr>
        <p:spPr>
          <a:xfrm>
            <a:off x="3810000" y="36766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914400" y="3895725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5" name="Text 32"/>
          <p:cNvSpPr/>
          <p:nvPr/>
        </p:nvSpPr>
        <p:spPr>
          <a:xfrm>
            <a:off x="914400" y="39338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16시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1428750" y="3924300"/>
            <a:ext cx="828675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37" name="Text 34"/>
          <p:cNvSpPr/>
          <p:nvPr/>
        </p:nvSpPr>
        <p:spPr>
          <a:xfrm>
            <a:off x="1428750" y="3962400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중앙아시아</a:t>
            </a:r>
            <a:endParaRPr lang="en-US" sz="860" dirty="0"/>
          </a:p>
        </p:txBody>
      </p:sp>
      <p:sp>
        <p:nvSpPr>
          <p:cNvPr id="38" name="Text 35"/>
          <p:cNvSpPr/>
          <p:nvPr/>
        </p:nvSpPr>
        <p:spPr>
          <a:xfrm>
            <a:off x="2352675" y="39338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파미르</a:t>
            </a:r>
            <a:endParaRPr lang="en-US" sz="980" dirty="0"/>
          </a:p>
        </p:txBody>
      </p:sp>
      <p:sp>
        <p:nvSpPr>
          <p:cNvPr id="39" name="Text 36"/>
          <p:cNvSpPr/>
          <p:nvPr/>
        </p:nvSpPr>
        <p:spPr>
          <a:xfrm>
            <a:off x="3810000" y="39338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914400" y="4152900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1" name="Text 38"/>
          <p:cNvSpPr/>
          <p:nvPr/>
        </p:nvSpPr>
        <p:spPr>
          <a:xfrm>
            <a:off x="914400" y="41910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18시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428750" y="4181475"/>
            <a:ext cx="70485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43" name="Text 40"/>
          <p:cNvSpPr/>
          <p:nvPr/>
        </p:nvSpPr>
        <p:spPr>
          <a:xfrm>
            <a:off x="1428750" y="4219575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동아시아</a:t>
            </a:r>
            <a:endParaRPr lang="en-US" sz="860" dirty="0"/>
          </a:p>
        </p:txBody>
      </p:sp>
      <p:sp>
        <p:nvSpPr>
          <p:cNvPr id="44" name="Text 41"/>
          <p:cNvSpPr/>
          <p:nvPr/>
        </p:nvSpPr>
        <p:spPr>
          <a:xfrm>
            <a:off x="2228850" y="41910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일본</a:t>
            </a:r>
            <a:endParaRPr lang="en-US" sz="980" dirty="0"/>
          </a:p>
        </p:txBody>
      </p:sp>
      <p:sp>
        <p:nvSpPr>
          <p:cNvPr id="45" name="Text 42"/>
          <p:cNvSpPr/>
          <p:nvPr/>
        </p:nvSpPr>
        <p:spPr>
          <a:xfrm>
            <a:off x="3810000" y="41910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14400" y="4410075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47" name="Text 44"/>
          <p:cNvSpPr/>
          <p:nvPr/>
        </p:nvSpPr>
        <p:spPr>
          <a:xfrm>
            <a:off x="914400" y="44481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19시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1428750" y="4438650"/>
            <a:ext cx="828675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49" name="Text 46"/>
          <p:cNvSpPr/>
          <p:nvPr/>
        </p:nvSpPr>
        <p:spPr>
          <a:xfrm>
            <a:off x="1428750" y="4476750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오세아니아</a:t>
            </a:r>
            <a:endParaRPr lang="en-US" sz="860" dirty="0"/>
          </a:p>
        </p:txBody>
      </p:sp>
      <p:sp>
        <p:nvSpPr>
          <p:cNvPr id="50" name="Text 47"/>
          <p:cNvSpPr/>
          <p:nvPr/>
        </p:nvSpPr>
        <p:spPr>
          <a:xfrm>
            <a:off x="2352675" y="444817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뉴질랜드</a:t>
            </a:r>
            <a:endParaRPr lang="en-US" sz="980" dirty="0"/>
          </a:p>
        </p:txBody>
      </p:sp>
      <p:sp>
        <p:nvSpPr>
          <p:cNvPr id="51" name="Text 48"/>
          <p:cNvSpPr/>
          <p:nvPr/>
        </p:nvSpPr>
        <p:spPr>
          <a:xfrm>
            <a:off x="3810000" y="444817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14400" y="4667250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3" name="Text 50"/>
          <p:cNvSpPr/>
          <p:nvPr/>
        </p:nvSpPr>
        <p:spPr>
          <a:xfrm>
            <a:off x="914400" y="47053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20시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428750" y="4695825"/>
            <a:ext cx="70485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5" name="Text 52"/>
          <p:cNvSpPr/>
          <p:nvPr/>
        </p:nvSpPr>
        <p:spPr>
          <a:xfrm>
            <a:off x="1428750" y="4733925"/>
            <a:ext cx="704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남아시아</a:t>
            </a:r>
            <a:endParaRPr lang="en-US" sz="860" dirty="0"/>
          </a:p>
        </p:txBody>
      </p:sp>
      <p:sp>
        <p:nvSpPr>
          <p:cNvPr id="56" name="Text 53"/>
          <p:cNvSpPr/>
          <p:nvPr/>
        </p:nvSpPr>
        <p:spPr>
          <a:xfrm>
            <a:off x="2228850" y="470535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히말라야</a:t>
            </a:r>
            <a:endParaRPr lang="en-US" sz="980" dirty="0"/>
          </a:p>
        </p:txBody>
      </p:sp>
      <p:sp>
        <p:nvSpPr>
          <p:cNvPr id="57" name="Text 54"/>
          <p:cNvSpPr/>
          <p:nvPr/>
        </p:nvSpPr>
        <p:spPr>
          <a:xfrm>
            <a:off x="3810000" y="470535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914400" y="4924425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59" name="Text 56"/>
          <p:cNvSpPr/>
          <p:nvPr/>
        </p:nvSpPr>
        <p:spPr>
          <a:xfrm>
            <a:off x="914400" y="49625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23시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1428750" y="4953000"/>
            <a:ext cx="457200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1" name="Text 58"/>
          <p:cNvSpPr/>
          <p:nvPr/>
        </p:nvSpPr>
        <p:spPr>
          <a:xfrm>
            <a:off x="1428750" y="4991100"/>
            <a:ext cx="457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유럽</a:t>
            </a:r>
            <a:endParaRPr lang="en-US" sz="860" dirty="0"/>
          </a:p>
        </p:txBody>
      </p:sp>
      <p:sp>
        <p:nvSpPr>
          <p:cNvPr id="62" name="Text 59"/>
          <p:cNvSpPr/>
          <p:nvPr/>
        </p:nvSpPr>
        <p:spPr>
          <a:xfrm>
            <a:off x="1981200" y="4962525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오스트리아</a:t>
            </a:r>
            <a:endParaRPr lang="en-US" sz="980" dirty="0"/>
          </a:p>
        </p:txBody>
      </p:sp>
      <p:sp>
        <p:nvSpPr>
          <p:cNvPr id="63" name="Text 60"/>
          <p:cNvSpPr/>
          <p:nvPr/>
        </p:nvSpPr>
        <p:spPr>
          <a:xfrm>
            <a:off x="3810000" y="49625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914400" y="5181600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65" name="Text 62"/>
          <p:cNvSpPr/>
          <p:nvPr/>
        </p:nvSpPr>
        <p:spPr>
          <a:xfrm>
            <a:off x="914400" y="52197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1시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1428750" y="5210175"/>
            <a:ext cx="828675" cy="2095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7" name="Text 64"/>
          <p:cNvSpPr/>
          <p:nvPr/>
        </p:nvSpPr>
        <p:spPr>
          <a:xfrm>
            <a:off x="1428750" y="5248275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동남아시아</a:t>
            </a:r>
            <a:endParaRPr lang="en-US" sz="860" dirty="0"/>
          </a:p>
        </p:txBody>
      </p:sp>
      <p:sp>
        <p:nvSpPr>
          <p:cNvPr id="68" name="Text 65"/>
          <p:cNvSpPr/>
          <p:nvPr/>
        </p:nvSpPr>
        <p:spPr>
          <a:xfrm>
            <a:off x="2352675" y="52197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필리핀</a:t>
            </a:r>
            <a:endParaRPr lang="en-US" sz="980" dirty="0"/>
          </a:p>
        </p:txBody>
      </p:sp>
      <p:sp>
        <p:nvSpPr>
          <p:cNvPr id="69" name="Text 66"/>
          <p:cNvSpPr/>
          <p:nvPr/>
        </p:nvSpPr>
        <p:spPr>
          <a:xfrm>
            <a:off x="3810000" y="52197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세계테마기행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914400" y="5438775"/>
            <a:ext cx="49911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71" name="Text 68"/>
          <p:cNvSpPr/>
          <p:nvPr/>
        </p:nvSpPr>
        <p:spPr>
          <a:xfrm>
            <a:off x="6286500" y="28765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지역별 편성 횟수</a:t>
            </a:r>
            <a:endParaRPr lang="en-US" sz="1160" dirty="0"/>
          </a:p>
        </p:txBody>
      </p:sp>
      <p:sp>
        <p:nvSpPr>
          <p:cNvPr id="72" name="Shape 69"/>
          <p:cNvSpPr/>
          <p:nvPr/>
        </p:nvSpPr>
        <p:spPr>
          <a:xfrm>
            <a:off x="6286500" y="3124200"/>
            <a:ext cx="4991100" cy="2343150"/>
          </a:xfrm>
          <a:prstGeom prst="roundRect">
            <a:avLst>
              <a:gd name="adj" fmla="val 5691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73" name="Chart 0" descr=""/>
          <p:cNvGraphicFramePr/>
          <p:nvPr/>
        </p:nvGraphicFramePr>
        <p:xfrm>
          <a:off x="6419850" y="3238500"/>
          <a:ext cx="4724400" cy="213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4" name="Text 70"/>
          <p:cNvSpPr/>
          <p:nvPr/>
        </p:nvSpPr>
        <p:spPr>
          <a:xfrm>
            <a:off x="914400" y="57150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오전·오후는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동아시아·동남아시아가 절반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이고, 저녁·심야는 유럽 26.5%·중남미 14.8%로 1위가 바뀜 — 아침엔 가까운 아시아, 밤엔 먼 대륙임.</a:t>
            </a:r>
            <a:endParaRPr lang="en-US" sz="1130" dirty="0"/>
          </a:p>
        </p:txBody>
      </p:sp>
      <p:sp>
        <p:nvSpPr>
          <p:cNvPr id="75" name="Text 71"/>
          <p:cNvSpPr/>
          <p:nvPr/>
        </p:nvSpPr>
        <p:spPr>
          <a:xfrm>
            <a:off x="914400" y="611505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편성 자막 67일치(2026-07-01~2026-09-07) · 여행 편성 563건 중 488건에서 지역 판별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39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같은 프로그램도 회차 순서가 아니라 소재로 배치했음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2590800" cy="914400"/>
          </a:xfrm>
          <a:prstGeom prst="roundRect">
            <a:avLst>
              <a:gd name="adj" fmla="val 14583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5850" y="1962150"/>
            <a:ext cx="2247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1.6</a:t>
            </a:r>
            <a:pPr indent="0" marL="0"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%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85850" y="23431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연속 편성에서 바로 다음 회차를</a:t>
            </a:r>
            <a:endParaRPr lang="en-US" sz="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이어 튼 비율 (252쌍 중 4쌍)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0" y="1866900"/>
            <a:ext cx="259080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29050" y="1962150"/>
            <a:ext cx="2247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5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77.9</a:t>
            </a:r>
            <a:pPr indent="0" marL="0">
              <a:buNone/>
            </a:pPr>
            <a:r>
              <a:rPr lang="en-US" sz="14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%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3829050" y="2343150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연속 편성에서 직전과</a:t>
            </a:r>
            <a:endParaRPr lang="en-US" sz="9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다른 소재로 바꾼 비율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914400" y="293370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&lt;극한직업&gt; 소재 구성</a:t>
            </a:r>
            <a:endParaRPr lang="en-US" sz="1160" dirty="0"/>
          </a:p>
        </p:txBody>
      </p:sp>
      <p:sp>
        <p:nvSpPr>
          <p:cNvPr id="14" name="Shape 11"/>
          <p:cNvSpPr/>
          <p:nvPr/>
        </p:nvSpPr>
        <p:spPr>
          <a:xfrm>
            <a:off x="914400" y="3181350"/>
            <a:ext cx="5334000" cy="1905000"/>
          </a:xfrm>
          <a:prstGeom prst="roundRect">
            <a:avLst>
              <a:gd name="adj" fmla="val 7000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15" name="Chart 0" descr=""/>
          <p:cNvGraphicFramePr/>
          <p:nvPr/>
        </p:nvGraphicFramePr>
        <p:xfrm>
          <a:off x="1047750" y="3295650"/>
          <a:ext cx="5067300" cy="1695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629400" y="1866900"/>
            <a:ext cx="38100" cy="914400"/>
          </a:xfrm>
          <a:prstGeom prst="roundRect">
            <a:avLst/>
          </a:prstGeom>
          <a:solidFill>
            <a:srgbClr val="2C24CE"/>
          </a:solidFill>
          <a:ln/>
        </p:spPr>
      </p:sp>
      <p:sp>
        <p:nvSpPr>
          <p:cNvPr id="17" name="Shape 13"/>
          <p:cNvSpPr/>
          <p:nvPr/>
        </p:nvSpPr>
        <p:spPr>
          <a:xfrm>
            <a:off x="6667500" y="1866900"/>
            <a:ext cx="4610100" cy="914400"/>
          </a:xfrm>
          <a:prstGeom prst="roundRect">
            <a:avLst/>
          </a:prstGeom>
          <a:solidFill>
            <a:srgbClr val="F3F3FD"/>
          </a:solidFill>
          <a:ln/>
        </p:spPr>
      </p:sp>
      <p:sp>
        <p:nvSpPr>
          <p:cNvPr id="18" name="Text 14"/>
          <p:cNvSpPr/>
          <p:nvPr/>
        </p:nvSpPr>
        <p:spPr>
          <a:xfrm>
            <a:off x="6858000" y="2019300"/>
            <a:ext cx="42672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회차를 1화 → 2화 순서로 트는 방식이었다면 연속 편성의 회차 간격이 1이어야 함. 실제 </a:t>
            </a:r>
            <a:pPr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회차 간격의 중위값은 253</a:t>
            </a:r>
            <a:pPr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으로, 순서가 아니라 소재를 기준으로 골라 배치했다는 뜻임.</a:t>
            </a:r>
            <a:endParaRPr lang="en-US" sz="1010" dirty="0"/>
          </a:p>
        </p:txBody>
      </p:sp>
      <p:sp>
        <p:nvSpPr>
          <p:cNvPr id="19" name="Text 15"/>
          <p:cNvSpPr/>
          <p:nvPr/>
        </p:nvSpPr>
        <p:spPr>
          <a:xfrm>
            <a:off x="6629400" y="2914650"/>
            <a:ext cx="464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소재를 바꿔 붙인 예시 · 2026-08-02</a:t>
            </a:r>
            <a:endParaRPr lang="en-US" sz="1160" dirty="0"/>
          </a:p>
        </p:txBody>
      </p:sp>
      <p:sp>
        <p:nvSpPr>
          <p:cNvPr id="20" name="Text 16"/>
          <p:cNvSpPr/>
          <p:nvPr/>
        </p:nvSpPr>
        <p:spPr>
          <a:xfrm>
            <a:off x="6629400" y="318135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21시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7143750" y="3171825"/>
            <a:ext cx="581025" cy="2095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22" name="Text 18"/>
          <p:cNvSpPr/>
          <p:nvPr/>
        </p:nvSpPr>
        <p:spPr>
          <a:xfrm>
            <a:off x="7143750" y="3209925"/>
            <a:ext cx="581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농축산</a:t>
            </a:r>
            <a:endParaRPr lang="en-US" sz="860" dirty="0"/>
          </a:p>
        </p:txBody>
      </p:sp>
      <p:sp>
        <p:nvSpPr>
          <p:cNvPr id="23" name="Text 19"/>
          <p:cNvSpPr/>
          <p:nvPr/>
        </p:nvSpPr>
        <p:spPr>
          <a:xfrm>
            <a:off x="7820025" y="31813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가을 산의 대물! 석청과 버섯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6629400" y="3409950"/>
            <a:ext cx="46482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5" name="Text 21"/>
          <p:cNvSpPr/>
          <p:nvPr/>
        </p:nvSpPr>
        <p:spPr>
          <a:xfrm>
            <a:off x="6629400" y="3467100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22시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143750" y="3457575"/>
            <a:ext cx="828675" cy="209550"/>
          </a:xfrm>
          <a:prstGeom prst="roundRect">
            <a:avLst>
              <a:gd name="adj" fmla="val 50000"/>
            </a:avLst>
          </a:prstGeom>
          <a:solidFill>
            <a:srgbClr val="6F69E2"/>
          </a:solidFill>
          <a:ln/>
        </p:spPr>
      </p:sp>
      <p:sp>
        <p:nvSpPr>
          <p:cNvPr id="27" name="Text 23"/>
          <p:cNvSpPr/>
          <p:nvPr/>
        </p:nvSpPr>
        <p:spPr>
          <a:xfrm>
            <a:off x="7143750" y="3495675"/>
            <a:ext cx="8286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공장·제조</a:t>
            </a:r>
            <a:endParaRPr lang="en-US" sz="860" dirty="0"/>
          </a:p>
        </p:txBody>
      </p:sp>
      <p:sp>
        <p:nvSpPr>
          <p:cNvPr id="28" name="Text 24"/>
          <p:cNvSpPr/>
          <p:nvPr/>
        </p:nvSpPr>
        <p:spPr>
          <a:xfrm>
            <a:off x="8067675" y="34671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연탄 공장</a:t>
            </a:r>
            <a:endParaRPr lang="en-US" sz="940" dirty="0"/>
          </a:p>
        </p:txBody>
      </p:sp>
      <p:sp>
        <p:nvSpPr>
          <p:cNvPr id="29" name="Shape 25"/>
          <p:cNvSpPr/>
          <p:nvPr/>
        </p:nvSpPr>
        <p:spPr>
          <a:xfrm>
            <a:off x="6629400" y="3695700"/>
            <a:ext cx="4648200" cy="7620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30" name="Shape 26"/>
          <p:cNvSpPr/>
          <p:nvPr/>
        </p:nvSpPr>
        <p:spPr>
          <a:xfrm>
            <a:off x="6629400" y="3829050"/>
            <a:ext cx="4648200" cy="1009650"/>
          </a:xfrm>
          <a:prstGeom prst="roundRect">
            <a:avLst>
              <a:gd name="adj" fmla="val 11321"/>
            </a:avLst>
          </a:prstGeom>
          <a:solidFill>
            <a:srgbClr val="F7F7FA"/>
          </a:solidFill>
          <a:ln w="12700">
            <a:solidFill>
              <a:srgbClr val="CFCFD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819900" y="3962400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80" dirty="0">
                <a:solidFill>
                  <a:srgbClr val="26262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편성에서 함께 운영한 것</a:t>
            </a:r>
            <a:endParaRPr lang="en-US" sz="980" dirty="0"/>
          </a:p>
        </p:txBody>
      </p:sp>
      <p:sp>
        <p:nvSpPr>
          <p:cNvPr id="32" name="Text 28"/>
          <p:cNvSpPr/>
          <p:nvPr/>
        </p:nvSpPr>
        <p:spPr>
          <a:xfrm>
            <a:off x="8572500" y="3971925"/>
            <a:ext cx="25527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83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PD 메모 기준 · 시청률 자료에는 기록되지 않음</a:t>
            </a:r>
            <a:endParaRPr lang="en-US" sz="830" dirty="0"/>
          </a:p>
        </p:txBody>
      </p:sp>
      <p:sp>
        <p:nvSpPr>
          <p:cNvPr id="33" name="Text 29"/>
          <p:cNvSpPr/>
          <p:nvPr/>
        </p:nvSpPr>
        <p:spPr>
          <a:xfrm>
            <a:off x="6819900" y="4191000"/>
            <a:ext cx="4305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콘텐츠라도 시간대 분위기에 맞게 보여주기 위해 </a:t>
            </a:r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안내 자막</a:t>
            </a:r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을 함께 운영했고, "한국인이 사랑하는 여행지", "유럽 라이징 여행지", "황금연휴 동남아" 등 </a:t>
            </a:r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테마 묶음 편성</a:t>
            </a:r>
            <a:pPr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 병행했음.</a:t>
            </a:r>
            <a:endParaRPr lang="en-US" sz="980" dirty="0"/>
          </a:p>
        </p:txBody>
      </p:sp>
      <p:sp>
        <p:nvSpPr>
          <p:cNvPr id="34" name="Text 30"/>
          <p:cNvSpPr/>
          <p:nvPr/>
        </p:nvSpPr>
        <p:spPr>
          <a:xfrm>
            <a:off x="914400" y="53911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반복해서 트는 콘텐츠라도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"또 이 프로그램이네"라는 피로도를 낮추는 것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 목적이었음. 소재 판별은 자막 기준으로 319건 중 157건(49.2%)에서 가능했음.</a:t>
            </a:r>
            <a:endParaRPr lang="en-US" sz="11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콘텐츠 흐름 — 같은 프로그램이 이어질 때 유지력이 높음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05000"/>
          <a:ext cx="4762500" cy="914400"/>
        </p:xfrm>
        <a:graphic>
          <a:graphicData uri="http://schemas.openxmlformats.org/drawingml/2006/table">
            <a:tbl>
              <a:tblPr/>
              <a:tblGrid>
                <a:gridCol w="1587500"/>
                <a:gridCol w="1587500"/>
                <a:gridCol w="158750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연결 형태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표본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중위 비율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같은 프로그램 연속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3,610쌍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1.077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다른 프로그램 전환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7,984쌍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1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0.951</a:t>
                      </a:r>
                      <a:endParaRPr lang="en-US" sz="101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14400" y="2857500"/>
            <a:ext cx="38100" cy="1219200"/>
          </a:xfrm>
          <a:prstGeom prst="roundRect">
            <a:avLst/>
          </a:prstGeom>
          <a:solidFill>
            <a:srgbClr val="2C24CE"/>
          </a:solidFill>
          <a:ln/>
        </p:spPr>
      </p:sp>
      <p:sp>
        <p:nvSpPr>
          <p:cNvPr id="9" name="Shape 5"/>
          <p:cNvSpPr/>
          <p:nvPr/>
        </p:nvSpPr>
        <p:spPr>
          <a:xfrm>
            <a:off x="952500" y="2857500"/>
            <a:ext cx="4724400" cy="1219200"/>
          </a:xfrm>
          <a:prstGeom prst="roundRect">
            <a:avLst/>
          </a:prstGeom>
          <a:solidFill>
            <a:srgbClr val="F3F3FD"/>
          </a:solidFill>
          <a:ln/>
        </p:spPr>
      </p:sp>
      <p:sp>
        <p:nvSpPr>
          <p:cNvPr id="10" name="Text 6"/>
          <p:cNvSpPr/>
          <p:nvPr/>
        </p:nvSpPr>
        <p:spPr>
          <a:xfrm>
            <a:off x="1143000" y="3028950"/>
            <a:ext cx="4343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프로그램이 연속 편성되면 바로 다음 방송의 시청률이 중위 1.077배로 올라가고, 다른 프로그램으로 바뀌면 0.951배로 떨어짐. 평균 대신 중위값을 쓴 것은 새벽 시간대의 극단값이 평균을 왜곡하기 때문임.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96000" y="186690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유지력이 높은 연결 (상위)</a:t>
            </a:r>
            <a:endParaRPr lang="en-US" sz="1130" dirty="0"/>
          </a:p>
        </p:txBody>
      </p:sp>
      <p:graphicFrame>
        <p:nvGraphicFramePr>
          <p:cNvPr id="8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2114550"/>
          <a:ext cx="5181600" cy="9144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앞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뒤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표본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비율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407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2.82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293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2.52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인간과바다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48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2.35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NEW코리아헌터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68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1.99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걸어서세계속으로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55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1.76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6096000" y="3771900"/>
            <a:ext cx="514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유지력이 낮은 연결 (하위)</a:t>
            </a:r>
            <a:endParaRPr lang="en-US" sz="1130" dirty="0"/>
          </a:p>
        </p:txBody>
      </p:sp>
      <p:graphicFrame>
        <p:nvGraphicFramePr>
          <p:cNvPr id="12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0" y="4019550"/>
          <a:ext cx="5181600" cy="914400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  <a:gridCol w="1295400"/>
              </a:tblGrid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앞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뒤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표본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비율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NEW코리아헌터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84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0.83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순간포착세상에이런일이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0.84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순간포착세상에이런일이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47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0.88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522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0.89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9"/>
          <p:cNvSpPr/>
          <p:nvPr/>
        </p:nvSpPr>
        <p:spPr>
          <a:xfrm>
            <a:off x="914400" y="54292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이는 개인 시청자의 이동을 추적한 값이 아니라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단위 대리지표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흐름 설계의 방향성을 판단하는 용도로만 씀.</a:t>
            </a:r>
            <a:endParaRPr lang="en-US" sz="11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 편성 운영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실제 편성표는 이렇게 생겼음 (12일 표본)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334000" cy="2895600"/>
          </a:xfrm>
          <a:prstGeom prst="roundRect">
            <a:avLst>
              <a:gd name="adj" fmla="val 460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81200"/>
          <a:ext cx="5067300" cy="2457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49580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시간대별 본방/재방 편성 건수 (2026.08.26~09.06)</a:t>
            </a:r>
            <a:endParaRPr lang="en-US" sz="86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905000"/>
          <a:ext cx="4648200" cy="914400"/>
        </p:xfrm>
        <a:graphic>
          <a:graphicData uri="http://schemas.openxmlformats.org/drawingml/2006/table">
            <a:tbl>
              <a:tblPr/>
              <a:tblGrid>
                <a:gridCol w="1893711"/>
                <a:gridCol w="860778"/>
                <a:gridCol w="860778"/>
                <a:gridCol w="1032933"/>
              </a:tblGrid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노출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재방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고유 회차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41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28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 세계속으로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걸어서 세계속으로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4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</a:t>
                      </a:r>
                      <a:endParaRPr lang="en-US" sz="94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6629400" y="4419600"/>
            <a:ext cx="4648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하루 편성은 19회가 기본이며, 폐쇄자막 트랙이 함께 잡히는 날은 38건으로 집계됨.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914400" y="51435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본방은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새벽 03~04시와 오후 15~16시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 주로 배치됨. 표본 기간이 12일로 짧아 구조 파악용으로만 씀.</a:t>
            </a:r>
            <a:endParaRPr lang="en-US" sz="11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42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 결정적 증거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같은 콘텐츠를 다른 채널이 틀면</a:t>
            </a:r>
            <a:endParaRPr lang="en-US" sz="2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결과가 이렇게 달라짐</a:t>
            </a:r>
            <a:endParaRPr lang="en-US" sz="2850" dirty="0"/>
          </a:p>
        </p:txBody>
      </p:sp>
      <p:sp>
        <p:nvSpPr>
          <p:cNvPr id="7" name="Shape 4"/>
          <p:cNvSpPr/>
          <p:nvPr/>
        </p:nvSpPr>
        <p:spPr>
          <a:xfrm>
            <a:off x="914400" y="2209800"/>
            <a:ext cx="5334000" cy="2800350"/>
          </a:xfrm>
          <a:prstGeom prst="roundRect">
            <a:avLst>
              <a:gd name="adj" fmla="val 4762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2324100"/>
          <a:ext cx="5067300" cy="2362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7434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2026.01.01~02.28 · 동일 기간 · 전국 유료방송가구</a:t>
            </a:r>
            <a:endParaRPr lang="en-US" sz="86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247900"/>
          <a:ext cx="4648200" cy="914400"/>
        </p:xfrm>
        <a:graphic>
          <a:graphicData uri="http://schemas.openxmlformats.org/drawingml/2006/table">
            <a:tbl>
              <a:tblPr/>
              <a:tblGrid>
                <a:gridCol w="1162050"/>
                <a:gridCol w="1162050"/>
                <a:gridCol w="1162050"/>
                <a:gridCol w="1162050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OLIFE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ONT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배수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극한직업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0.121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0.022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5.44배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세계테마기행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0.128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2.74배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한국기행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0.057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0.053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1.07배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다문화고부열전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0.038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0.043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80" dirty="0">
                          <a:solidFill>
                            <a:srgbClr val="D63B3B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0.89배</a:t>
                      </a:r>
                      <a:endParaRPr lang="en-US" sz="98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629400" y="3771900"/>
            <a:ext cx="38100" cy="1009650"/>
          </a:xfrm>
          <a:prstGeom prst="roundRect">
            <a:avLst/>
          </a:prstGeom>
          <a:solidFill>
            <a:srgbClr val="2C24CE"/>
          </a:solidFill>
          <a:ln/>
        </p:spPr>
      </p:sp>
      <p:sp>
        <p:nvSpPr>
          <p:cNvPr id="12" name="Shape 7"/>
          <p:cNvSpPr/>
          <p:nvPr/>
        </p:nvSpPr>
        <p:spPr>
          <a:xfrm>
            <a:off x="6667500" y="3771900"/>
            <a:ext cx="4610100" cy="1009650"/>
          </a:xfrm>
          <a:prstGeom prst="roundRect">
            <a:avLst/>
          </a:prstGeom>
          <a:solidFill>
            <a:srgbClr val="F3F3FD"/>
          </a:solidFill>
          <a:ln/>
        </p:spPr>
      </p:sp>
      <p:sp>
        <p:nvSpPr>
          <p:cNvPr id="13" name="Text 8"/>
          <p:cNvSpPr/>
          <p:nvPr/>
        </p:nvSpPr>
        <p:spPr>
          <a:xfrm>
            <a:off x="6858000" y="3924300"/>
            <a:ext cx="422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9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극한직업 5.44배 · 세계테마기행 2.74배</a:t>
            </a:r>
            <a:endParaRPr lang="en-US" sz="1090" dirty="0"/>
          </a:p>
        </p:txBody>
      </p:sp>
      <p:sp>
        <p:nvSpPr>
          <p:cNvPr id="14" name="Text 9"/>
          <p:cNvSpPr/>
          <p:nvPr/>
        </p:nvSpPr>
        <p:spPr>
          <a:xfrm>
            <a:off x="6858000" y="4171950"/>
            <a:ext cx="42291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1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완전히 같은 프로그램인데도 채널에 따라 결과가 크게 갈림. 콘텐츠 자체가 아니라 언제·어떤 흐름으로 배치했는가가 성과를 만들었다는 직접 증거임.</a:t>
            </a:r>
            <a:endParaRPr lang="en-US" sz="10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43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 결정적 증거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시간대별로 봐도 전 구간에서 앞섬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3105150"/>
          </a:xfrm>
          <a:prstGeom prst="roundRect">
            <a:avLst>
              <a:gd name="adj" fmla="val 4294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895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52578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기간 채널 평균은 OLIFE 0.099 대 ONT 0.035로 약 2.8배 차이임. 격차는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저녁 17~20시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에서 가장 크게 벌어짐. ONT 데이터는 2026년 1~2월 1,358건만 확보돼 있어 해당 기간에 한정한 비교임.</a:t>
            </a:r>
            <a:endParaRPr lang="en-US" sz="11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44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07 결정적 증거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시청률 순위보다 체류 순위가 9계단 앞섬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14400" y="1809750"/>
            <a:ext cx="533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 — 주요 채널 비교</a:t>
            </a:r>
            <a:endParaRPr lang="en-US" sz="1160" dirty="0"/>
          </a:p>
        </p:txBody>
      </p:sp>
      <p:sp>
        <p:nvSpPr>
          <p:cNvPr id="8" name="Shape 5"/>
          <p:cNvSpPr/>
          <p:nvPr/>
        </p:nvSpPr>
        <p:spPr>
          <a:xfrm>
            <a:off x="914400" y="2076450"/>
            <a:ext cx="5334000" cy="3086100"/>
          </a:xfrm>
          <a:prstGeom prst="roundRect">
            <a:avLst>
              <a:gd name="adj" fmla="val 4321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1047750" y="2190750"/>
          <a:ext cx="5067300" cy="2647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914400" y="4895850"/>
            <a:ext cx="533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평균 시청시간(분) · 2026-01-01~2026-09-06 누적 · 전국 유료방송가구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6629400" y="1809750"/>
            <a:ext cx="2247900" cy="9906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29400" y="1981200"/>
            <a:ext cx="2247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35위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6629400" y="243840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시청률 순위</a:t>
            </a:r>
            <a:endParaRPr lang="en-US" sz="940" dirty="0"/>
          </a:p>
        </p:txBody>
      </p:sp>
      <p:sp>
        <p:nvSpPr>
          <p:cNvPr id="14" name="Shape 10"/>
          <p:cNvSpPr/>
          <p:nvPr/>
        </p:nvSpPr>
        <p:spPr>
          <a:xfrm>
            <a:off x="9029700" y="1809750"/>
            <a:ext cx="2247900" cy="990600"/>
          </a:xfrm>
          <a:prstGeom prst="roundRect">
            <a:avLst>
              <a:gd name="adj" fmla="val 13462"/>
            </a:avLst>
          </a:prstGeom>
          <a:solidFill>
            <a:srgbClr val="2C24CE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29700" y="1981200"/>
            <a:ext cx="2247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26위</a:t>
            </a:r>
            <a:endParaRPr lang="en-US" sz="2700" dirty="0"/>
          </a:p>
        </p:txBody>
      </p:sp>
      <p:sp>
        <p:nvSpPr>
          <p:cNvPr id="16" name="Text 12"/>
          <p:cNvSpPr/>
          <p:nvPr/>
        </p:nvSpPr>
        <p:spPr>
          <a:xfrm>
            <a:off x="9029700" y="243840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FFFFFF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1인당 시청시간 순위</a:t>
            </a:r>
            <a:endParaRPr lang="en-US" sz="940" dirty="0"/>
          </a:p>
        </p:txBody>
      </p:sp>
      <p:sp>
        <p:nvSpPr>
          <p:cNvPr id="17" name="Text 13"/>
          <p:cNvSpPr/>
          <p:nvPr/>
        </p:nvSpPr>
        <p:spPr>
          <a:xfrm>
            <a:off x="6629400" y="2857500"/>
            <a:ext cx="464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7C7C8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시청시간이 집계된 전체 216개 채널 기준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6629400" y="3162300"/>
            <a:ext cx="464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OLIFE 인근 체류 순위</a:t>
            </a:r>
            <a:endParaRPr lang="en-US" sz="116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352800"/>
          <a:ext cx="4648200" cy="914400"/>
        </p:xfrm>
        <a:graphic>
          <a:graphicData uri="http://schemas.openxmlformats.org/drawingml/2006/table">
            <a:tbl>
              <a:tblPr/>
              <a:tblGrid>
                <a:gridCol w="968375"/>
                <a:gridCol w="1549400"/>
                <a:gridCol w="1065212"/>
                <a:gridCol w="1065212"/>
              </a:tblGrid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체류 순위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시청률 순위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시청시간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22위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ONCE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57위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42분 48초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23위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가톨릭평화방송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148위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42분 39초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24위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MBN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42분 32초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25위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Animax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109위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42분 03초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C24CE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26위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OLIFE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35위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41분 43초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D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27위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tvN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10위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41분 29초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28위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애니플러스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135위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40분 35초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29위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채널나우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68위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40분 02초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30위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뽀요TV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179위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6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39분 33초</a:t>
                      </a:r>
                      <a:endParaRPr lang="en-US" sz="86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914400" y="5638800"/>
            <a:ext cx="10363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 10위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tvN(체류 27위)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과 12위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ENA(체류 35위)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보다 OLIFE의 체류 순위가 앞섬. 시청률 규모는 작아도 한 번 켜면 오래 보는 채널이라는 뜻임.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914400" y="6115050"/>
            <a:ext cx="10363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6A6B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출처 · 닐슨 코리아 · 2026-01-01~2026-09-06 누적 · 시청시간이 집계된 216개 채널 기준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45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39000" y="48006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8000" dirty="0">
                <a:solidFill>
                  <a:srgbClr val="F3F3FD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08</a:t>
            </a:r>
            <a:endParaRPr lang="en-US" sz="18000" dirty="0"/>
          </a:p>
        </p:txBody>
      </p:sp>
      <p:sp>
        <p:nvSpPr>
          <p:cNvPr id="5" name="Shape 2"/>
          <p:cNvSpPr/>
          <p:nvPr/>
        </p:nvSpPr>
        <p:spPr>
          <a:xfrm>
            <a:off x="914400" y="2600325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6" name="Text 3"/>
          <p:cNvSpPr/>
          <p:nvPr/>
        </p:nvSpPr>
        <p:spPr>
          <a:xfrm>
            <a:off x="1314450" y="2495550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8장 · 리스크와 방향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57500"/>
            <a:ext cx="1038225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다음에 무엇을</a:t>
            </a:r>
            <a:endParaRPr lang="en-US" sz="4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2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할 것인가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914400" y="4423410"/>
            <a:ext cx="857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정점 이후 신호 · 구조적 한계 · 남은 기회</a:t>
            </a:r>
            <a:endParaRPr lang="en-US" sz="12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46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리스크와 방향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7월 정점 이후 두 달째 조정 중임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09750"/>
            <a:ext cx="10363200" cy="2895600"/>
          </a:xfrm>
          <a:prstGeom prst="roundRect">
            <a:avLst>
              <a:gd name="adj" fmla="val 4605"/>
            </a:avLst>
          </a:prstGeom>
          <a:solidFill>
            <a:srgbClr val="F3F3FD"/>
          </a:solidFill>
          <a:ln w="12700">
            <a:solidFill>
              <a:srgbClr val="CDCBF6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1047750" y="1924050"/>
          <a:ext cx="10096500" cy="24574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914400" y="4438650"/>
            <a:ext cx="10363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주별 평균 시청률 (전국 유료가구, 프로그램 단위 집계)</a:t>
            </a:r>
            <a:endParaRPr lang="en-US" sz="860" dirty="0"/>
          </a:p>
        </p:txBody>
      </p:sp>
      <p:sp>
        <p:nvSpPr>
          <p:cNvPr id="10" name="Shape 6"/>
          <p:cNvSpPr/>
          <p:nvPr/>
        </p:nvSpPr>
        <p:spPr>
          <a:xfrm>
            <a:off x="9144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858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0.13336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858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7월 (최고월)</a:t>
            </a:r>
            <a:endParaRPr lang="en-US" sz="940" dirty="0"/>
          </a:p>
        </p:txBody>
      </p:sp>
      <p:sp>
        <p:nvSpPr>
          <p:cNvPr id="13" name="Shape 9"/>
          <p:cNvSpPr/>
          <p:nvPr/>
        </p:nvSpPr>
        <p:spPr>
          <a:xfrm>
            <a:off x="44196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910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0.12501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910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8월 (-6.3%)</a:t>
            </a:r>
            <a:endParaRPr lang="en-US" sz="940" dirty="0"/>
          </a:p>
        </p:txBody>
      </p:sp>
      <p:sp>
        <p:nvSpPr>
          <p:cNvPr id="16" name="Shape 12"/>
          <p:cNvSpPr/>
          <p:nvPr/>
        </p:nvSpPr>
        <p:spPr>
          <a:xfrm>
            <a:off x="7924800" y="4686300"/>
            <a:ext cx="33528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96250" y="4819650"/>
            <a:ext cx="3009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0.12202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096250" y="5105400"/>
            <a:ext cx="3009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40" dirty="0">
                <a:solidFill>
                  <a:srgbClr val="585866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2026년 9월 1~6일</a:t>
            </a:r>
            <a:endParaRPr lang="en-US" sz="940" dirty="0"/>
          </a:p>
        </p:txBody>
      </p:sp>
      <p:sp>
        <p:nvSpPr>
          <p:cNvPr id="19" name="Text 15"/>
          <p:cNvSpPr/>
          <p:nvPr/>
        </p:nvSpPr>
        <p:spPr>
          <a:xfrm>
            <a:off x="914400" y="56007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하락 폭은 크지 않지만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2개월 연속 조정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7월 수준이 계절 요인인지 편성 효과인지 구분하려면 다음 분기 데이터가 필요함.</a:t>
            </a:r>
            <a:endParaRPr lang="en-US" sz="113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47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리스크와 방향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구조적으로 확인된 세 가지 리스크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905000"/>
            <a:ext cx="33528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211455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6F69E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01</a:t>
            </a:r>
            <a:endParaRPr lang="en-US" sz="1730" dirty="0"/>
          </a:p>
        </p:txBody>
      </p:sp>
      <p:sp>
        <p:nvSpPr>
          <p:cNvPr id="9" name="Text 6"/>
          <p:cNvSpPr/>
          <p:nvPr/>
        </p:nvSpPr>
        <p:spPr>
          <a:xfrm>
            <a:off x="1143000" y="2419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 상한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2781300"/>
            <a:ext cx="2895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시청률은 +39.1% 올랐지만 도달률은 +2.9%에 그침. 체류 심화만으로 올릴 수 있는 폭에는 한계가 있음.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143000" y="4191000"/>
            <a:ext cx="28956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32435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0.03621 → 0.03726</a:t>
            </a:r>
            <a:endParaRPr lang="en-US" sz="1010" dirty="0"/>
          </a:p>
        </p:txBody>
      </p:sp>
      <p:sp>
        <p:nvSpPr>
          <p:cNvPr id="13" name="Shape 10"/>
          <p:cNvSpPr/>
          <p:nvPr/>
        </p:nvSpPr>
        <p:spPr>
          <a:xfrm>
            <a:off x="4419600" y="1905000"/>
            <a:ext cx="33528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8200" y="211455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6F69E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02</a:t>
            </a:r>
            <a:endParaRPr lang="en-US" sz="1730" dirty="0"/>
          </a:p>
        </p:txBody>
      </p:sp>
      <p:sp>
        <p:nvSpPr>
          <p:cNvPr id="15" name="Text 12"/>
          <p:cNvSpPr/>
          <p:nvPr/>
        </p:nvSpPr>
        <p:spPr>
          <a:xfrm>
            <a:off x="4648200" y="2419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시청층 편중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48200" y="2781300"/>
            <a:ext cx="2895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60대 이상 비중이 64% → 74.3%로 커짐. 50대 이하는 대부분 정체하거나 줄어듦.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48200" y="4191000"/>
            <a:ext cx="28956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18" name="Text 15"/>
          <p:cNvSpPr/>
          <p:nvPr/>
        </p:nvSpPr>
        <p:spPr>
          <a:xfrm>
            <a:off x="4648200" y="432435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여 50대 -14.2% · 남 30대 -6.2%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7924800" y="1905000"/>
            <a:ext cx="3352800" cy="28575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53400" y="211455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30" dirty="0">
                <a:solidFill>
                  <a:srgbClr val="6F69E2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03</a:t>
            </a:r>
            <a:endParaRPr lang="en-US" sz="1730" dirty="0"/>
          </a:p>
        </p:txBody>
      </p:sp>
      <p:sp>
        <p:nvSpPr>
          <p:cNvPr id="21" name="Text 18"/>
          <p:cNvSpPr/>
          <p:nvPr/>
        </p:nvSpPr>
        <p:spPr>
          <a:xfrm>
            <a:off x="8153400" y="241935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콘텐츠 집중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53400" y="2781300"/>
            <a:ext cx="28956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상위 5개가 편성의 86.3%를 차지함. 이 중 하나만 성과가 꺾여도 채널 전체가 흔들릴 수 있음.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8153400" y="4191000"/>
            <a:ext cx="2895600" cy="13335"/>
          </a:xfrm>
          <a:prstGeom prst="rect">
            <a:avLst/>
          </a:prstGeom>
          <a:solidFill>
            <a:srgbClr val="E2E2EA"/>
          </a:solidFill>
          <a:ln/>
        </p:spPr>
      </p:sp>
      <p:sp>
        <p:nvSpPr>
          <p:cNvPr id="24" name="Text 21"/>
          <p:cNvSpPr/>
          <p:nvPr/>
        </p:nvSpPr>
        <p:spPr>
          <a:xfrm>
            <a:off x="8153400" y="4324350"/>
            <a:ext cx="289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연간 등장 프로그램 72종 → 46종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914400" y="502920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세 리스크 모두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지금의 성장 방식이 만들어낸 그림자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성장을 부정하는 신호가 아니라, 다음 단계에서 관리해야 할 항목임.</a:t>
            </a:r>
            <a:endParaRPr lang="en-US" sz="113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48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리스크와 방향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데이터가 가리키는 남은 기회 네 곳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905000"/>
            <a:ext cx="2457450" cy="2762250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04900" y="21145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새벽 02~08시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4900" y="24003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0.060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104900" y="2857500"/>
            <a:ext cx="20764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증가율 +2.7%로 사실상 정체임. 전체 방영 횟수의 34.4%를 쓰면서 성과 기여는 가장 낮음.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3524250" y="1905000"/>
            <a:ext cx="2457450" cy="2762250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14750" y="21145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목요일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14750" y="24003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0.100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714750" y="2857500"/>
            <a:ext cx="20764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가장 강한 일요일(0.126) 대비 26% 낮음. 요일 중 유일하게 0.10 미만임.</a:t>
            </a:r>
            <a:endParaRPr lang="en-US" sz="980" dirty="0"/>
          </a:p>
        </p:txBody>
      </p:sp>
      <p:sp>
        <p:nvSpPr>
          <p:cNvPr id="15" name="Shape 12"/>
          <p:cNvSpPr/>
          <p:nvPr/>
        </p:nvSpPr>
        <p:spPr>
          <a:xfrm>
            <a:off x="6134100" y="1905000"/>
            <a:ext cx="2457450" cy="2762250"/>
          </a:xfrm>
          <a:prstGeom prst="roundRect">
            <a:avLst>
              <a:gd name="adj" fmla="val 5426"/>
            </a:avLst>
          </a:prstGeom>
          <a:solidFill>
            <a:srgbClr val="F3F3FD"/>
          </a:solidFill>
          <a:ln w="12700">
            <a:solidFill>
              <a:srgbClr val="2C24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4600" y="21145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걸어서세계속으로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24600" y="24003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0.124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6324600" y="2857500"/>
            <a:ext cx="20764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평균 시청률은 가장 높은데 편성은 세계테마기행의 31% 수준임. 편성 확대 여지가 남아 있음.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8743950" y="1905000"/>
            <a:ext cx="2457450" cy="2762250"/>
          </a:xfrm>
          <a:prstGeom prst="roundRect">
            <a:avLst>
              <a:gd name="adj" fmla="val 5426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34450" y="211455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 확대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934450" y="2400300"/>
            <a:ext cx="2076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C24CE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0.03726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934450" y="2857500"/>
            <a:ext cx="20764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8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2026년 5월 이후 도달률이 함께 오르기 시작함. 이 흐름을 이어갈 수 있는지가 다음 성장의 관건임.</a:t>
            </a:r>
            <a:endParaRPr lang="en-US" sz="980" dirty="0"/>
          </a:p>
        </p:txBody>
      </p:sp>
      <p:sp>
        <p:nvSpPr>
          <p:cNvPr id="23" name="Text 20"/>
          <p:cNvSpPr/>
          <p:nvPr/>
        </p:nvSpPr>
        <p:spPr>
          <a:xfrm>
            <a:off x="914400" y="4933950"/>
            <a:ext cx="10363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네 항목 모두 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이미 확보한 데이터로 검증 가능한 가설</a:t>
            </a:r>
            <a:pPr indent="0" marL="0">
              <a:lnSpc>
                <a:spcPct val="150000"/>
              </a:lnSpc>
              <a:buNone/>
            </a:pPr>
            <a:r>
              <a:rPr lang="en-US" sz="113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임. 실행 후 같은 지표로 다시 측정하면 효과를 판별할 수 있음.</a:t>
            </a:r>
            <a:endParaRPr lang="en-US" sz="113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49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리스크와 방향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성장은 세 가지가 겹친 자리에서 나왔음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866900"/>
            <a:ext cx="5257800" cy="38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38400" y="1827215"/>
            <a:ext cx="2209800" cy="2209800"/>
          </a:xfrm>
          <a:prstGeom prst="ellipse">
            <a:avLst/>
          </a:prstGeom>
          <a:solidFill>
            <a:srgbClr val="2C24CE">
              <a:alpha val="38000"/>
            </a:srgbClr>
          </a:solidFill>
          <a:ln w="15240">
            <a:solidFill>
              <a:srgbClr val="2C24CE">
                <a:alpha val="5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9156" y="2925044"/>
            <a:ext cx="2209800" cy="2209800"/>
          </a:xfrm>
          <a:prstGeom prst="ellipse">
            <a:avLst/>
          </a:prstGeom>
          <a:solidFill>
            <a:srgbClr val="6F69E2">
              <a:alpha val="38000"/>
            </a:srgbClr>
          </a:solidFill>
          <a:ln w="15240">
            <a:solidFill>
              <a:srgbClr val="6F69E2">
                <a:alpha val="5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07644" y="2925044"/>
            <a:ext cx="2209800" cy="2209800"/>
          </a:xfrm>
          <a:prstGeom prst="ellipse">
            <a:avLst/>
          </a:prstGeom>
          <a:solidFill>
            <a:srgbClr val="A6A2EE">
              <a:alpha val="38000"/>
            </a:srgbClr>
          </a:solidFill>
          <a:ln w="15240">
            <a:solidFill>
              <a:srgbClr val="A6A2EE">
                <a:alpha val="5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95550" y="2132777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무엇을 트는가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495550" y="2342327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A646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상위 3개 집중도 69%</a:t>
            </a:r>
            <a:endParaRPr lang="en-US" sz="940" dirty="0"/>
          </a:p>
        </p:txBody>
      </p:sp>
      <p:sp>
        <p:nvSpPr>
          <p:cNvPr id="13" name="Text 10"/>
          <p:cNvSpPr/>
          <p:nvPr/>
        </p:nvSpPr>
        <p:spPr>
          <a:xfrm>
            <a:off x="1550640" y="429131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언제 트는가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50640" y="450086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A646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시간대 비중 ±1%p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3440460" y="4291310"/>
            <a:ext cx="2095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무엇 뒤에 트는가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40460" y="450086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5A646C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연속 편성 유지 1.077</a:t>
            </a:r>
            <a:endParaRPr lang="en-US" sz="940" dirty="0"/>
          </a:p>
        </p:txBody>
      </p:sp>
      <p:sp>
        <p:nvSpPr>
          <p:cNvPr id="17" name="Text 14"/>
          <p:cNvSpPr/>
          <p:nvPr/>
        </p:nvSpPr>
        <p:spPr>
          <a:xfrm>
            <a:off x="2400300" y="340995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dirty="0">
                <a:solidFill>
                  <a:srgbClr val="101418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체류</a:t>
            </a:r>
            <a:endParaRPr lang="en-US" sz="1430" dirty="0"/>
          </a:p>
        </p:txBody>
      </p:sp>
      <p:sp>
        <p:nvSpPr>
          <p:cNvPr id="18" name="Text 15"/>
          <p:cNvSpPr/>
          <p:nvPr/>
        </p:nvSpPr>
        <p:spPr>
          <a:xfrm>
            <a:off x="2400300" y="36385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7897A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1인당 시청시간 +34.5%</a:t>
            </a:r>
            <a:endParaRPr lang="en-US" sz="940" dirty="0"/>
          </a:p>
        </p:txBody>
      </p:sp>
      <p:sp>
        <p:nvSpPr>
          <p:cNvPr id="19" name="Text 16"/>
          <p:cNvSpPr/>
          <p:nvPr/>
        </p:nvSpPr>
        <p:spPr>
          <a:xfrm>
            <a:off x="914400" y="5391150"/>
            <a:ext cx="5257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6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세 축은 이 보고서에서 각각 실측으로 확인한 항목임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553200" y="23526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1" name="Text 18"/>
          <p:cNvSpPr/>
          <p:nvPr/>
        </p:nvSpPr>
        <p:spPr>
          <a:xfrm>
            <a:off x="6686550" y="2286000"/>
            <a:ext cx="459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조합을 바꿨음.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온에어 종수는 19.3종 → 16.4종으로 줄었지만 상위 3개 집중도는 올라감</a:t>
            </a:r>
            <a:endParaRPr lang="en-US" sz="1160" dirty="0"/>
          </a:p>
        </p:txBody>
      </p:sp>
      <p:sp>
        <p:nvSpPr>
          <p:cNvPr id="22" name="Shape 19"/>
          <p:cNvSpPr/>
          <p:nvPr/>
        </p:nvSpPr>
        <p:spPr>
          <a:xfrm>
            <a:off x="6553200" y="30765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3" name="Text 20"/>
          <p:cNvSpPr/>
          <p:nvPr/>
        </p:nvSpPr>
        <p:spPr>
          <a:xfrm>
            <a:off x="6686550" y="3009900"/>
            <a:ext cx="459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총량은 그대로 뒀음.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시간대별 방영 비중은 1%p 이내로 유지한 채 내용만 교체함</a:t>
            </a:r>
            <a:endParaRPr lang="en-US" sz="1160" dirty="0"/>
          </a:p>
        </p:txBody>
      </p:sp>
      <p:sp>
        <p:nvSpPr>
          <p:cNvPr id="24" name="Shape 21"/>
          <p:cNvSpPr/>
          <p:nvPr/>
        </p:nvSpPr>
        <p:spPr>
          <a:xfrm>
            <a:off x="6553200" y="38004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5" name="Text 22"/>
          <p:cNvSpPr/>
          <p:nvPr/>
        </p:nvSpPr>
        <p:spPr>
          <a:xfrm>
            <a:off x="6686550" y="3733800"/>
            <a:ext cx="4591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앞뒤 연결을 설계했음.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같은 프로그램이 이어지면 다음 방송 유지 비율 중위 1.077, 바뀌면 0.951임</a:t>
            </a:r>
            <a:endParaRPr lang="en-US" sz="1160" dirty="0"/>
          </a:p>
        </p:txBody>
      </p:sp>
      <p:sp>
        <p:nvSpPr>
          <p:cNvPr id="26" name="Shape 23"/>
          <p:cNvSpPr/>
          <p:nvPr/>
        </p:nvSpPr>
        <p:spPr>
          <a:xfrm>
            <a:off x="6553200" y="452437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7" name="Text 24"/>
          <p:cNvSpPr/>
          <p:nvPr/>
        </p:nvSpPr>
        <p:spPr>
          <a:xfrm>
            <a:off x="6686550" y="4457700"/>
            <a:ext cx="459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세 가지가 동시에 성립한 구간에서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체류가 +34.5%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늘었음</a:t>
            </a:r>
            <a:endParaRPr lang="en-US" sz="116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50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08 리스크와 방향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이 분석에서 확인된 편성 원칙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914400" y="19240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85850" y="21145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01</a:t>
            </a:r>
            <a:endParaRPr lang="en-US" sz="1580" dirty="0"/>
          </a:p>
        </p:txBody>
      </p:sp>
      <p:sp>
        <p:nvSpPr>
          <p:cNvPr id="9" name="Text 6"/>
          <p:cNvSpPr/>
          <p:nvPr/>
        </p:nvSpPr>
        <p:spPr>
          <a:xfrm>
            <a:off x="1524000" y="20764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같은 시간, 다른 콘텐츠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24000" y="23431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시간대별 방영 비중은 1%p 이내로 유지하면서 내용만 바꿔 +39.1% 성장을 만들었음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6210300" y="19240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81750" y="21145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02</a:t>
            </a:r>
            <a:endParaRPr lang="en-US" sz="1580" dirty="0"/>
          </a:p>
        </p:txBody>
      </p:sp>
      <p:sp>
        <p:nvSpPr>
          <p:cNvPr id="13" name="Text 10"/>
          <p:cNvSpPr/>
          <p:nvPr/>
        </p:nvSpPr>
        <p:spPr>
          <a:xfrm>
            <a:off x="6819900" y="20764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저효율은 빠르게 철수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19900" y="23431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NEW코리아헌터 방영을 78회 → 4회로 줄인 뒤 채널 평균이 0.0946 → 0.1360으로 올랐음</a:t>
            </a:r>
            <a:endParaRPr lang="en-US" sz="1010" dirty="0"/>
          </a:p>
        </p:txBody>
      </p:sp>
      <p:sp>
        <p:nvSpPr>
          <p:cNvPr id="15" name="Shape 12"/>
          <p:cNvSpPr/>
          <p:nvPr/>
        </p:nvSpPr>
        <p:spPr>
          <a:xfrm>
            <a:off x="914400" y="30289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85850" y="32194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03</a:t>
            </a:r>
            <a:endParaRPr lang="en-US" sz="1580" dirty="0"/>
          </a:p>
        </p:txBody>
      </p:sp>
      <p:sp>
        <p:nvSpPr>
          <p:cNvPr id="17" name="Text 14"/>
          <p:cNvSpPr/>
          <p:nvPr/>
        </p:nvSpPr>
        <p:spPr>
          <a:xfrm>
            <a:off x="1524000" y="31813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1편이 아니라 3~5편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24000" y="34480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1위 의존도는 43% → 30%로 낮추고 상위 3개 집중도는 64% → 69%로 올렸음</a:t>
            </a:r>
            <a:endParaRPr lang="en-US" sz="1010" dirty="0"/>
          </a:p>
        </p:txBody>
      </p:sp>
      <p:sp>
        <p:nvSpPr>
          <p:cNvPr id="19" name="Shape 16"/>
          <p:cNvSpPr/>
          <p:nvPr/>
        </p:nvSpPr>
        <p:spPr>
          <a:xfrm>
            <a:off x="6210300" y="30289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81750" y="32194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04</a:t>
            </a:r>
            <a:endParaRPr lang="en-US" sz="1580" dirty="0"/>
          </a:p>
        </p:txBody>
      </p:sp>
      <p:sp>
        <p:nvSpPr>
          <p:cNvPr id="21" name="Text 18"/>
          <p:cNvSpPr/>
          <p:nvPr/>
        </p:nvSpPr>
        <p:spPr>
          <a:xfrm>
            <a:off x="6819900" y="31813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이어붙이기를 설계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819900" y="34480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같은 프로그램 연속 편성 시 다음 방송 유지 비율 중위 1.077, 전환 시 0.951임</a:t>
            </a:r>
            <a:endParaRPr lang="en-US" sz="1010" dirty="0"/>
          </a:p>
        </p:txBody>
      </p:sp>
      <p:sp>
        <p:nvSpPr>
          <p:cNvPr id="23" name="Shape 20"/>
          <p:cNvSpPr/>
          <p:nvPr/>
        </p:nvSpPr>
        <p:spPr>
          <a:xfrm>
            <a:off x="914400" y="41338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85850" y="43243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05</a:t>
            </a:r>
            <a:endParaRPr lang="en-US" sz="1580" dirty="0"/>
          </a:p>
        </p:txBody>
      </p:sp>
      <p:sp>
        <p:nvSpPr>
          <p:cNvPr id="25" name="Text 22"/>
          <p:cNvSpPr/>
          <p:nvPr/>
        </p:nvSpPr>
        <p:spPr>
          <a:xfrm>
            <a:off x="1524000" y="42862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도달보다 체류를 먼저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524000" y="45529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도달률 +2.9%, 시청시간 +34.5% — 성장의 축은 체류였음</a:t>
            </a:r>
            <a:endParaRPr lang="en-US" sz="1010" dirty="0"/>
          </a:p>
        </p:txBody>
      </p:sp>
      <p:sp>
        <p:nvSpPr>
          <p:cNvPr id="27" name="Shape 24"/>
          <p:cNvSpPr/>
          <p:nvPr/>
        </p:nvSpPr>
        <p:spPr>
          <a:xfrm>
            <a:off x="6210300" y="4133850"/>
            <a:ext cx="50673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2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81750" y="4324350"/>
            <a:ext cx="381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80" dirty="0">
                <a:solidFill>
                  <a:srgbClr val="6F69E2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06</a:t>
            </a:r>
            <a:endParaRPr lang="en-US" sz="1580" dirty="0"/>
          </a:p>
        </p:txBody>
      </p:sp>
      <p:sp>
        <p:nvSpPr>
          <p:cNvPr id="29" name="Text 26"/>
          <p:cNvSpPr/>
          <p:nvPr/>
        </p:nvSpPr>
        <p:spPr>
          <a:xfrm>
            <a:off x="6819900" y="4286250"/>
            <a:ext cx="428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41A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실패한 실험도 기록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19900" y="4552950"/>
            <a:ext cx="4286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0" dirty="0">
                <a:solidFill>
                  <a:srgbClr val="585866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NEW코리아헌터 재해석은 최근 3개월 -19.8%로 성과가 확인되지 않았음</a:t>
            </a:r>
            <a:endParaRPr lang="en-US" sz="101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assets/olife-logo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6228" y="419100"/>
            <a:ext cx="852372" cy="381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87100" y="6324600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7C7C8C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51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914400" y="100965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/>
        </p:spPr>
      </p:sp>
      <p:sp>
        <p:nvSpPr>
          <p:cNvPr id="5" name="Text 2"/>
          <p:cNvSpPr/>
          <p:nvPr/>
        </p:nvSpPr>
        <p:spPr>
          <a:xfrm>
            <a:off x="1314450" y="904875"/>
            <a:ext cx="66675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spc="100" kern="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부록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14400" y="1266825"/>
            <a:ext cx="10382250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50" dirty="0">
                <a:solidFill>
                  <a:srgbClr val="14141A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데이터 출처와 한계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914400" y="18097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사용한 데이터</a:t>
            </a:r>
            <a:endParaRPr lang="en-US" sz="116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57400"/>
          <a:ext cx="4991100" cy="914400"/>
        </p:xfrm>
        <a:graphic>
          <a:graphicData uri="http://schemas.openxmlformats.org/drawingml/2006/table">
            <a:tbl>
              <a:tblPr/>
              <a:tblGrid>
                <a:gridCol w="1928380"/>
                <a:gridCol w="1928380"/>
                <a:gridCol w="1134341"/>
              </a:tblGrid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구분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기간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7C7C8C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규모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CF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일별 유료방송가구 지표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2024-01-01 ~ 2026-09-06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980일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월별 성·연령 지표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2024-01 ~ 2026-09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10개 × 33개월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월별 플랫폼 지표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2024-01 ~ 2026-09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IPTV·케이블·위성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프로그램 단위 시청률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2025-01-01 ~ 2026-09-06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83개 프로그램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월간·주간 채널 순위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2026-01 ~ 2026-09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8개 타깃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시장 누적 순위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2026-01-01 ~ 2026-09-06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216개 채널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편성표 표본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2026-08-26 ~ 09-06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12일 · 304건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경쟁 채널(ONT)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2026-01-01 ~ 02-28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6262F"/>
                          </a:solidFill>
                          <a:latin typeface="KT Flow Bold" pitchFamily="34" charset="0"/>
                          <a:ea typeface="KT Flow Bold" pitchFamily="34" charset="-122"/>
                          <a:cs typeface="KT Flow Bold" pitchFamily="34" charset="-120"/>
                        </a:rPr>
                        <a:t>1,358건</a:t>
                      </a:r>
                      <a:endParaRPr lang="en-US" sz="900" dirty="0">
                        <a:latin typeface="KT Flow Bold" charset="0"/>
                        <a:ea typeface="KT Flow Bold" charset="0"/>
                        <a:cs typeface="KT Flow Bold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160" cap="flat" cmpd="sng" algn="ctr">
                      <a:solidFill>
                        <a:srgbClr val="E2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6286500" y="18097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60" dirty="0">
                <a:solidFill>
                  <a:srgbClr val="D63B3B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해석 시 유의할 점</a:t>
            </a:r>
            <a:endParaRPr lang="en-US" sz="1160" dirty="0"/>
          </a:p>
        </p:txBody>
      </p:sp>
      <p:sp>
        <p:nvSpPr>
          <p:cNvPr id="10" name="Shape 6"/>
          <p:cNvSpPr/>
          <p:nvPr/>
        </p:nvSpPr>
        <p:spPr>
          <a:xfrm>
            <a:off x="6286500" y="21431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1" name="Text 7"/>
          <p:cNvSpPr/>
          <p:nvPr/>
        </p:nvSpPr>
        <p:spPr>
          <a:xfrm>
            <a:off x="6419850" y="20764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프로그램 단위 자료는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2025년 1월부터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 존재함. 2024년과의 프로그램별 비교는 불가함</a:t>
            </a:r>
            <a:endParaRPr lang="en-US" sz="1160" dirty="0"/>
          </a:p>
        </p:txBody>
      </p:sp>
      <p:sp>
        <p:nvSpPr>
          <p:cNvPr id="12" name="Shape 8"/>
          <p:cNvSpPr/>
          <p:nvPr/>
        </p:nvSpPr>
        <p:spPr>
          <a:xfrm>
            <a:off x="6286500" y="26384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3" name="Text 9"/>
          <p:cNvSpPr/>
          <p:nvPr/>
        </p:nvSpPr>
        <p:spPr>
          <a:xfrm>
            <a:off x="6419850" y="25717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2026년은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9월 6일까지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의 누적임. 연간 확정치가 아님</a:t>
            </a:r>
            <a:endParaRPr lang="en-US" sz="1160" dirty="0"/>
          </a:p>
        </p:txBody>
      </p:sp>
      <p:sp>
        <p:nvSpPr>
          <p:cNvPr id="14" name="Shape 10"/>
          <p:cNvSpPr/>
          <p:nvPr/>
        </p:nvSpPr>
        <p:spPr>
          <a:xfrm>
            <a:off x="6286500" y="31337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5" name="Text 11"/>
          <p:cNvSpPr/>
          <p:nvPr/>
        </p:nvSpPr>
        <p:spPr>
          <a:xfrm>
            <a:off x="6419850" y="30670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본방/재방 구분은 시청률 자료에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기록돼 있지 않음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. 재방 비율은 편성표 표본과 재등장률로 대체함</a:t>
            </a:r>
            <a:endParaRPr lang="en-US" sz="1160" dirty="0"/>
          </a:p>
        </p:txBody>
      </p:sp>
      <p:sp>
        <p:nvSpPr>
          <p:cNvPr id="16" name="Shape 12"/>
          <p:cNvSpPr/>
          <p:nvPr/>
        </p:nvSpPr>
        <p:spPr>
          <a:xfrm>
            <a:off x="6286500" y="36290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7" name="Text 13"/>
          <p:cNvSpPr/>
          <p:nvPr/>
        </p:nvSpPr>
        <p:spPr>
          <a:xfrm>
            <a:off x="6419850" y="35623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흐름 지표는 개인 시청자 이동이 아니라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편성 단위 대리지표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임</a:t>
            </a:r>
            <a:endParaRPr lang="en-US" sz="1160" dirty="0"/>
          </a:p>
        </p:txBody>
      </p:sp>
      <p:sp>
        <p:nvSpPr>
          <p:cNvPr id="18" name="Shape 14"/>
          <p:cNvSpPr/>
          <p:nvPr/>
        </p:nvSpPr>
        <p:spPr>
          <a:xfrm>
            <a:off x="6286500" y="41243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19" name="Text 15"/>
          <p:cNvSpPr/>
          <p:nvPr/>
        </p:nvSpPr>
        <p:spPr>
          <a:xfrm>
            <a:off x="6419850" y="40576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방영 횟수(회)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는 특정 날짜·시작시간에 방송된 1건을 1회로 센 값임. 시간대 자리 수가 아님</a:t>
            </a:r>
            <a:endParaRPr lang="en-US" sz="1160" dirty="0"/>
          </a:p>
        </p:txBody>
      </p:sp>
      <p:sp>
        <p:nvSpPr>
          <p:cNvPr id="20" name="Shape 16"/>
          <p:cNvSpPr/>
          <p:nvPr/>
        </p:nvSpPr>
        <p:spPr>
          <a:xfrm>
            <a:off x="6286500" y="46196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1" name="Text 17"/>
          <p:cNvSpPr/>
          <p:nvPr/>
        </p:nvSpPr>
        <p:spPr>
          <a:xfrm>
            <a:off x="6419850" y="45529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시청률은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소수 셋째 자리까지 반올림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해 표기함. 점유율·도달률은 값이 작아 다섯째 자리까지 표기함</a:t>
            </a:r>
            <a:endParaRPr lang="en-US" sz="1160" dirty="0"/>
          </a:p>
        </p:txBody>
      </p:sp>
      <p:sp>
        <p:nvSpPr>
          <p:cNvPr id="22" name="Shape 18"/>
          <p:cNvSpPr/>
          <p:nvPr/>
        </p:nvSpPr>
        <p:spPr>
          <a:xfrm>
            <a:off x="6286500" y="51149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3" name="Text 19"/>
          <p:cNvSpPr/>
          <p:nvPr/>
        </p:nvSpPr>
        <p:spPr>
          <a:xfrm>
            <a:off x="6419850" y="50482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경쟁 비교는 ONT 1개 채널, 2개월치만 확보돼 있음</a:t>
            </a:r>
            <a:endParaRPr lang="en-US" sz="1160" dirty="0"/>
          </a:p>
        </p:txBody>
      </p:sp>
      <p:sp>
        <p:nvSpPr>
          <p:cNvPr id="24" name="Shape 20"/>
          <p:cNvSpPr/>
          <p:nvPr/>
        </p:nvSpPr>
        <p:spPr>
          <a:xfrm>
            <a:off x="6286500" y="5610225"/>
            <a:ext cx="76200" cy="76200"/>
          </a:xfrm>
          <a:prstGeom prst="roundRect">
            <a:avLst>
              <a:gd name="adj" fmla="val 37500"/>
            </a:avLst>
          </a:prstGeom>
          <a:solidFill>
            <a:srgbClr val="2C24CE"/>
          </a:solidFill>
          <a:ln/>
        </p:spPr>
      </p:sp>
      <p:sp>
        <p:nvSpPr>
          <p:cNvPr id="25" name="Text 21"/>
          <p:cNvSpPr/>
          <p:nvPr/>
        </p:nvSpPr>
        <p:spPr>
          <a:xfrm>
            <a:off x="6419850" y="5543550"/>
            <a:ext cx="4857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6262F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구매비·계약 조건은 자료에 없어 </a:t>
            </a:r>
            <a:pPr indent="0" marL="0">
              <a:lnSpc>
                <a:spcPct val="145000"/>
              </a:lnSpc>
              <a:buNone/>
            </a:pPr>
            <a:r>
              <a:rPr lang="en-US" sz="1160" dirty="0">
                <a:solidFill>
                  <a:srgbClr val="2C24CE"/>
                </a:solidFill>
                <a:latin typeface="KT Flow Bold" pitchFamily="34" charset="0"/>
                <a:ea typeface="KT Flow Bold" pitchFamily="34" charset="-122"/>
                <a:cs typeface="KT Flow Bold" pitchFamily="34" charset="-120"/>
              </a:rPr>
              <a:t>투자 대비 효과는 산출하지 않았음</a:t>
            </a:r>
            <a:endParaRPr lang="en-US" sz="116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ripts/_ppt/_gra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cripts/_ppt/assets/olife-bang-w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1000"/>
            <a:ext cx="1135673" cy="5905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2381250"/>
            <a:ext cx="1219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E4E1FA"/>
                </a:solidFill>
                <a:latin typeface="KT Flow Medium" pitchFamily="34" charset="0"/>
                <a:ea typeface="KT Flow Medium" pitchFamily="34" charset="-122"/>
                <a:cs typeface="KT Flow Medium" pitchFamily="34" charset="-120"/>
              </a:rPr>
              <a:t>삶의 여유,</a:t>
            </a:r>
            <a:endParaRPr lang="en-US" sz="1800" dirty="0"/>
          </a:p>
        </p:txBody>
      </p:sp>
      <p:pic>
        <p:nvPicPr>
          <p:cNvPr id="5" name="Image 2" descr="scripts/_ppt/assets/olife-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391" y="2895600"/>
            <a:ext cx="1875218" cy="838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5734050"/>
            <a:ext cx="1219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000" spc="800" kern="0" dirty="0">
                <a:solidFill>
                  <a:srgbClr val="FFFFFF"/>
                </a:solidFill>
                <a:latin typeface="KT Flow Black" pitchFamily="34" charset="0"/>
                <a:ea typeface="KT Flow Black" pitchFamily="34" charset="-122"/>
                <a:cs typeface="KT Flow Black" pitchFamily="34" charset="-120"/>
              </a:rPr>
              <a:t>E.O.D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KT ENA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OLIFE 심층 성과 분석</dc:title>
  <dc:subject>PptxGenJS Presentation</dc:subject>
  <dc:creator>KT ENA</dc:creator>
  <cp:lastModifiedBy>KT ENA</cp:lastModifiedBy>
  <cp:revision>1</cp:revision>
  <dcterms:created xsi:type="dcterms:W3CDTF">2026-09-08T22:25:48Z</dcterms:created>
  <dcterms:modified xsi:type="dcterms:W3CDTF">2026-09-08T22:25:48Z</dcterms:modified>
</cp:coreProperties>
</file>